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fab7a1e1b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2fab7a1e1b_3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" name="Google Shape;21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1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5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0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5" name="Google Shape;29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2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4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0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42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4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6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5" name="Google Shape;38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8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50:notes"/>
          <p:cNvSpPr/>
          <p:nvPr>
            <p:ph idx="2" type="sldImg"/>
          </p:nvPr>
        </p:nvSpPr>
        <p:spPr>
          <a:xfrm>
            <a:off x="1144588" y="685800"/>
            <a:ext cx="4568825" cy="34274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5" name="Google Shape;405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fab7a1e1b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g2fab7a1e1b_3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5334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2"/>
          <p:cNvSpPr txBox="1"/>
          <p:nvPr/>
        </p:nvSpPr>
        <p:spPr>
          <a:xfrm>
            <a:off x="0" y="6578100"/>
            <a:ext cx="145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https://goo.gl/cndxp1</a:t>
            </a:r>
            <a:endParaRPr sz="10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3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0" y="6578100"/>
            <a:ext cx="1459500" cy="2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/>
              <a:t>https://goo.gl/cndxp1</a:t>
            </a:r>
            <a:endParaRPr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457200" y="838200"/>
            <a:ext cx="4038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48200" y="838200"/>
            <a:ext cx="4038600" cy="5287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1889918" y="-670719"/>
            <a:ext cx="53641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553200"/>
            <a:ext cx="2895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0" lvl="0" mar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7772400" y="6689725"/>
            <a:ext cx="1371600" cy="16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1.png"/><Relationship Id="rId2" Type="http://schemas.openxmlformats.org/officeDocument/2006/relationships/image" Target="../media/image2.jp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0"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0"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0"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0"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0"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0"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0"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762000"/>
            <a:ext cx="8229600" cy="53641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2" name="Google Shape;1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4775" y="95250"/>
            <a:ext cx="1073905" cy="26595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RC_logo_grey.jpg" id="13" name="Google Shape;1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772400" y="76199"/>
            <a:ext cx="1295400" cy="40376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7792348" y="6611779"/>
            <a:ext cx="1351652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s.riley@imperial.ac.uk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oo.gl/cndxp1" TargetMode="External"/><Relationship Id="rId4" Type="http://schemas.openxmlformats.org/officeDocument/2006/relationships/hyperlink" Target="https://docs.google.com/spreadsheets/d/1UIUxzi8IlZ8IWLjVCjdO8vDjFNzqtiaefYdW38SKuxA/edit?usp=sharing" TargetMode="External"/><Relationship Id="rId5" Type="http://schemas.openxmlformats.org/officeDocument/2006/relationships/hyperlink" Target="https://github.com/c97sr/idd/blob/master/R/comp_seir.R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ithub.com/c97sr/idd/blob/master/R/comp_seir.R" TargetMode="External"/><Relationship Id="rId4" Type="http://schemas.openxmlformats.org/officeDocument/2006/relationships/image" Target="../media/image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3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32200" y="6471625"/>
            <a:ext cx="1339500" cy="408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3"/>
          <p:cNvSpPr txBox="1"/>
          <p:nvPr>
            <p:ph type="ctrTitle"/>
          </p:nvPr>
        </p:nvSpPr>
        <p:spPr>
          <a:xfrm>
            <a:off x="438850" y="2136457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2520"/>
              <a:t>Introduction to </a:t>
            </a: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 Infectious Disease Modelling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slides</a:t>
            </a: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520" u="sng">
                <a:solidFill>
                  <a:schemeClr val="hlink"/>
                </a:solidFill>
                <a:hlinkClick r:id="rId3"/>
              </a:rPr>
              <a:t>https://goo.gl/cndxp1</a:t>
            </a:r>
            <a:endParaRPr sz="252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2520"/>
              <a:t>A </a:t>
            </a:r>
            <a:r>
              <a:rPr lang="en-US" sz="2520" u="sng">
                <a:solidFill>
                  <a:schemeClr val="hlink"/>
                </a:solidFill>
                <a:hlinkClick r:id="rId4"/>
              </a:rPr>
              <a:t>Spreadsheet</a:t>
            </a:r>
            <a:r>
              <a:rPr lang="en-US" sz="2520"/>
              <a:t> and and </a:t>
            </a:r>
            <a:r>
              <a:rPr lang="en-US" sz="2520" u="sng">
                <a:solidFill>
                  <a:schemeClr val="hlink"/>
                </a:solidFill>
                <a:hlinkClick r:id="rId5"/>
              </a:rPr>
              <a:t>R Script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>
            <p:ph idx="1" type="subTitle"/>
          </p:nvPr>
        </p:nvSpPr>
        <p:spPr>
          <a:xfrm>
            <a:off x="1371600" y="3886200"/>
            <a:ext cx="6400800" cy="4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Steven Riley</a:t>
            </a:r>
            <a:endParaRPr b="0" i="0" sz="18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1219200" y="3068960"/>
            <a:ext cx="65532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Introductions warning!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6800"/>
            <a:ext cx="8839200" cy="52661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OBJECTIVES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6"/>
          <p:cNvSpPr txBox="1"/>
          <p:nvPr>
            <p:ph idx="1" type="body"/>
          </p:nvPr>
        </p:nvSpPr>
        <p:spPr>
          <a:xfrm>
            <a:off x="1568152" y="2227312"/>
            <a:ext cx="6172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objectives of the course</a:t>
            </a:r>
            <a:endParaRPr/>
          </a:p>
          <a:p>
            <a:pPr indent="-34290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 what will be expected of you in the </a:t>
            </a:r>
            <a:r>
              <a:rPr lang="en-US" sz="1665"/>
              <a:t>assessments</a:t>
            </a:r>
            <a:endParaRPr/>
          </a:p>
          <a:p>
            <a:pPr indent="-34290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fully an implementation of the SEIR model in excel</a:t>
            </a:r>
            <a:endParaRPr/>
          </a:p>
          <a:p>
            <a:pPr indent="-34290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how an R implementation of an SEIR model can be constructed</a:t>
            </a:r>
            <a:endParaRPr/>
          </a:p>
          <a:p>
            <a:pPr indent="-34290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a useful inference from the model</a:t>
            </a:r>
            <a:endParaRPr/>
          </a:p>
          <a:p>
            <a:pPr indent="-34290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the sensitivity of your inference to certain assumptions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/>
        </p:nvSpPr>
        <p:spPr>
          <a:xfrm>
            <a:off x="3048000" y="1676400"/>
            <a:ext cx="3276600" cy="3810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7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048000" y="1676401"/>
            <a:ext cx="32004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objectives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of assessment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a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excel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R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998240" y="1844824"/>
            <a:ext cx="69951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Successful students will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Identify the correct model type and structure for a given epidemiological question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Write key sections  of the R implementation of different model-types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Describe precisely how a specific implementation of a model can be used to address a disease dynamic hypothesis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Interpret detailed evidence from infectious disease models similar to that typically presented in non-specialist journals.</a:t>
            </a:r>
            <a:endParaRPr/>
          </a:p>
          <a:p>
            <a:pPr indent="-228600" lvl="0" marL="342900" marR="0" rtl="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/>
          <p:nvPr/>
        </p:nvSpPr>
        <p:spPr>
          <a:xfrm>
            <a:off x="3048000" y="1828800"/>
            <a:ext cx="3276600" cy="3810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9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9"/>
          <p:cNvSpPr txBox="1"/>
          <p:nvPr>
            <p:ph idx="1" type="body"/>
          </p:nvPr>
        </p:nvSpPr>
        <p:spPr>
          <a:xfrm>
            <a:off x="3048000" y="1143001"/>
            <a:ext cx="3200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objectives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of assessment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a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excel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R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Experimenting with your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1219200" y="46038"/>
            <a:ext cx="65532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533400" y="685800"/>
            <a:ext cx="82296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Two in-class coursework sessions </a:t>
            </a:r>
            <a:endParaRPr/>
          </a:p>
          <a:p>
            <a:pPr indent="-3175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Not intended to be time pressured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First will be designed to be completed within 40 minutes, but students will have up to 60 minutes if needed. 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The second will be designed to take 2 hours but students will have 3 hours available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Two types of question</a:t>
            </a:r>
            <a:endParaRPr/>
          </a:p>
          <a:p>
            <a:pPr indent="-3175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Journal article comprehension questions. </a:t>
            </a:r>
            <a:endParaRPr/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We will also ask model interpretation questions. 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Computers will be available so that the code can be executed during the session.</a:t>
            </a:r>
            <a:endParaRPr/>
          </a:p>
          <a:p>
            <a:pPr indent="-3175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Students may not use the computer for any other purpose than running and editing the example script in RStudio.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Similar assessment has been used for a number of years with the exception that computers have not been available for code to be executed. </a:t>
            </a:r>
            <a:endParaRPr/>
          </a:p>
          <a:p>
            <a:pPr indent="-3175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Char char="●"/>
            </a:pPr>
            <a:r>
              <a:rPr lang="en-US"/>
              <a:t>Examples of these questions will be made available during the course introduction session.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/>
          <p:nvPr/>
        </p:nvSpPr>
        <p:spPr>
          <a:xfrm>
            <a:off x="3048000" y="2438400"/>
            <a:ext cx="3276600" cy="3810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1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3048000" y="1143001"/>
            <a:ext cx="3200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objectives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of assessment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a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excel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R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Experimenting with your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1219200" y="260648"/>
            <a:ext cx="65532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THINGS TO KNOW WHEN PLANNING FOR AN INFLUENZA PANDEMIC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2699792" y="1988840"/>
            <a:ext cx="4044300" cy="29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people will be infected?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many people will seek treatment?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will be the peak number infected on a given day?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sure are we of these numbers?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685800" y="177800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COARSE ABSTRACTIONS CAN BE USEFUL</a:t>
            </a:r>
            <a:endParaRPr/>
          </a:p>
        </p:txBody>
      </p:sp>
      <p:grpSp>
        <p:nvGrpSpPr>
          <p:cNvPr id="152" name="Google Shape;152;p23"/>
          <p:cNvGrpSpPr/>
          <p:nvPr/>
        </p:nvGrpSpPr>
        <p:grpSpPr>
          <a:xfrm>
            <a:off x="4427538" y="1484313"/>
            <a:ext cx="4321175" cy="3300412"/>
            <a:chOff x="793" y="618"/>
            <a:chExt cx="4038" cy="3084"/>
          </a:xfrm>
        </p:grpSpPr>
        <p:sp>
          <p:nvSpPr>
            <p:cNvPr id="153" name="Google Shape;153;p23"/>
            <p:cNvSpPr/>
            <p:nvPr/>
          </p:nvSpPr>
          <p:spPr>
            <a:xfrm>
              <a:off x="2154" y="1933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23"/>
            <p:cNvSpPr/>
            <p:nvPr/>
          </p:nvSpPr>
          <p:spPr>
            <a:xfrm>
              <a:off x="4105" y="2976"/>
              <a:ext cx="227" cy="227"/>
            </a:xfrm>
            <a:prstGeom prst="ellipse">
              <a:avLst/>
            </a:prstGeom>
            <a:solidFill>
              <a:srgbClr val="CCFF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23"/>
            <p:cNvSpPr/>
            <p:nvPr/>
          </p:nvSpPr>
          <p:spPr>
            <a:xfrm>
              <a:off x="4604" y="3475"/>
              <a:ext cx="227" cy="227"/>
            </a:xfrm>
            <a:prstGeom prst="ellipse">
              <a:avLst/>
            </a:prstGeom>
            <a:solidFill>
              <a:srgbClr val="FF99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3"/>
            <p:cNvSpPr/>
            <p:nvPr/>
          </p:nvSpPr>
          <p:spPr>
            <a:xfrm>
              <a:off x="4490" y="1752"/>
              <a:ext cx="227" cy="227"/>
            </a:xfrm>
            <a:prstGeom prst="ellipse">
              <a:avLst/>
            </a:prstGeom>
            <a:solidFill>
              <a:srgbClr val="FFFF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23"/>
            <p:cNvSpPr/>
            <p:nvPr/>
          </p:nvSpPr>
          <p:spPr>
            <a:xfrm>
              <a:off x="1156" y="799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23"/>
            <p:cNvSpPr/>
            <p:nvPr/>
          </p:nvSpPr>
          <p:spPr>
            <a:xfrm>
              <a:off x="4014" y="2160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23"/>
            <p:cNvSpPr/>
            <p:nvPr/>
          </p:nvSpPr>
          <p:spPr>
            <a:xfrm>
              <a:off x="3016" y="1071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p23"/>
            <p:cNvSpPr/>
            <p:nvPr/>
          </p:nvSpPr>
          <p:spPr>
            <a:xfrm>
              <a:off x="1156" y="1797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2018" y="1389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3833" y="3294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1746" y="2432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3833" y="2614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2789" y="2432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3"/>
            <p:cNvSpPr/>
            <p:nvPr/>
          </p:nvSpPr>
          <p:spPr>
            <a:xfrm>
              <a:off x="2109" y="3113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3"/>
            <p:cNvSpPr/>
            <p:nvPr/>
          </p:nvSpPr>
          <p:spPr>
            <a:xfrm>
              <a:off x="4604" y="2795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1882" y="709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3"/>
            <p:cNvSpPr/>
            <p:nvPr/>
          </p:nvSpPr>
          <p:spPr>
            <a:xfrm>
              <a:off x="3470" y="618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3"/>
            <p:cNvSpPr/>
            <p:nvPr/>
          </p:nvSpPr>
          <p:spPr>
            <a:xfrm>
              <a:off x="4241" y="1207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3"/>
            <p:cNvSpPr/>
            <p:nvPr/>
          </p:nvSpPr>
          <p:spPr>
            <a:xfrm>
              <a:off x="3651" y="1706"/>
              <a:ext cx="227" cy="227"/>
            </a:xfrm>
            <a:prstGeom prst="ellipse">
              <a:avLst/>
            </a:prstGeom>
            <a:solidFill>
              <a:schemeClr val="accent1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3"/>
            <p:cNvSpPr/>
            <p:nvPr/>
          </p:nvSpPr>
          <p:spPr>
            <a:xfrm>
              <a:off x="3334" y="2568"/>
              <a:ext cx="227" cy="227"/>
            </a:xfrm>
            <a:prstGeom prst="ellipse">
              <a:avLst/>
            </a:prstGeom>
            <a:solidFill>
              <a:srgbClr val="CCFF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3"/>
            <p:cNvSpPr/>
            <p:nvPr/>
          </p:nvSpPr>
          <p:spPr>
            <a:xfrm>
              <a:off x="3016" y="2976"/>
              <a:ext cx="227" cy="227"/>
            </a:xfrm>
            <a:prstGeom prst="ellipse">
              <a:avLst/>
            </a:prstGeom>
            <a:solidFill>
              <a:srgbClr val="CCFF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3"/>
            <p:cNvSpPr/>
            <p:nvPr/>
          </p:nvSpPr>
          <p:spPr>
            <a:xfrm>
              <a:off x="2835" y="1842"/>
              <a:ext cx="227" cy="227"/>
            </a:xfrm>
            <a:prstGeom prst="ellipse">
              <a:avLst/>
            </a:prstGeom>
            <a:solidFill>
              <a:srgbClr val="CCFF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3"/>
            <p:cNvSpPr/>
            <p:nvPr/>
          </p:nvSpPr>
          <p:spPr>
            <a:xfrm>
              <a:off x="1474" y="1207"/>
              <a:ext cx="227" cy="227"/>
            </a:xfrm>
            <a:prstGeom prst="ellipse">
              <a:avLst/>
            </a:prstGeom>
            <a:solidFill>
              <a:srgbClr val="CCFF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793" y="1298"/>
              <a:ext cx="227" cy="227"/>
            </a:xfrm>
            <a:prstGeom prst="ellipse">
              <a:avLst/>
            </a:prstGeom>
            <a:solidFill>
              <a:srgbClr val="CCFF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1610" y="1933"/>
              <a:ext cx="227" cy="227"/>
            </a:xfrm>
            <a:prstGeom prst="ellipse">
              <a:avLst/>
            </a:prstGeom>
            <a:solidFill>
              <a:srgbClr val="CCFF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23"/>
            <p:cNvSpPr/>
            <p:nvPr/>
          </p:nvSpPr>
          <p:spPr>
            <a:xfrm>
              <a:off x="3787" y="1071"/>
              <a:ext cx="227" cy="227"/>
            </a:xfrm>
            <a:prstGeom prst="ellipse">
              <a:avLst/>
            </a:prstGeom>
            <a:solidFill>
              <a:srgbClr val="FFFF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23"/>
            <p:cNvSpPr/>
            <p:nvPr/>
          </p:nvSpPr>
          <p:spPr>
            <a:xfrm>
              <a:off x="3243" y="1525"/>
              <a:ext cx="227" cy="227"/>
            </a:xfrm>
            <a:prstGeom prst="ellipse">
              <a:avLst/>
            </a:prstGeom>
            <a:solidFill>
              <a:srgbClr val="FFFF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2472" y="1026"/>
              <a:ext cx="227" cy="227"/>
            </a:xfrm>
            <a:prstGeom prst="ellipse">
              <a:avLst/>
            </a:prstGeom>
            <a:solidFill>
              <a:srgbClr val="FFFF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23"/>
            <p:cNvSpPr/>
            <p:nvPr/>
          </p:nvSpPr>
          <p:spPr>
            <a:xfrm>
              <a:off x="1111" y="3385"/>
              <a:ext cx="227" cy="227"/>
            </a:xfrm>
            <a:prstGeom prst="ellipse">
              <a:avLst/>
            </a:prstGeom>
            <a:solidFill>
              <a:srgbClr val="FFFF99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3"/>
            <p:cNvSpPr/>
            <p:nvPr/>
          </p:nvSpPr>
          <p:spPr>
            <a:xfrm>
              <a:off x="3424" y="1253"/>
              <a:ext cx="227" cy="227"/>
            </a:xfrm>
            <a:prstGeom prst="ellipse">
              <a:avLst/>
            </a:prstGeom>
            <a:solidFill>
              <a:srgbClr val="FF99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3198" y="2046"/>
              <a:ext cx="227" cy="227"/>
            </a:xfrm>
            <a:prstGeom prst="ellipse">
              <a:avLst/>
            </a:prstGeom>
            <a:solidFill>
              <a:srgbClr val="FF99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2381" y="2568"/>
              <a:ext cx="227" cy="227"/>
            </a:xfrm>
            <a:prstGeom prst="ellipse">
              <a:avLst/>
            </a:prstGeom>
            <a:solidFill>
              <a:srgbClr val="FF99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1565" y="1525"/>
              <a:ext cx="227" cy="227"/>
            </a:xfrm>
            <a:prstGeom prst="ellipse">
              <a:avLst/>
            </a:prstGeom>
            <a:solidFill>
              <a:srgbClr val="FF99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3"/>
            <p:cNvSpPr/>
            <p:nvPr/>
          </p:nvSpPr>
          <p:spPr>
            <a:xfrm>
              <a:off x="1247" y="2795"/>
              <a:ext cx="227" cy="227"/>
            </a:xfrm>
            <a:prstGeom prst="ellipse">
              <a:avLst/>
            </a:prstGeom>
            <a:solidFill>
              <a:srgbClr val="FF99CC"/>
            </a:solidFill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7" name="Google Shape;187;p23"/>
          <p:cNvSpPr txBox="1"/>
          <p:nvPr/>
        </p:nvSpPr>
        <p:spPr>
          <a:xfrm>
            <a:off x="1258888" y="1916113"/>
            <a:ext cx="2552700" cy="327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 reality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Perfect computer simulation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mathematical models</a:t>
            </a:r>
            <a:endParaRPr/>
          </a:p>
        </p:txBody>
      </p:sp>
      <p:sp>
        <p:nvSpPr>
          <p:cNvPr id="188" name="Google Shape;188;p23"/>
          <p:cNvSpPr/>
          <p:nvPr/>
        </p:nvSpPr>
        <p:spPr>
          <a:xfrm>
            <a:off x="757238" y="2205038"/>
            <a:ext cx="358775" cy="2808287"/>
          </a:xfrm>
          <a:prstGeom prst="downArrow">
            <a:avLst>
              <a:gd fmla="val 50000" name="adj1"/>
              <a:gd fmla="val 195686" name="adj2"/>
            </a:avLst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3"/>
          <p:cNvSpPr txBox="1"/>
          <p:nvPr/>
        </p:nvSpPr>
        <p:spPr>
          <a:xfrm rot="-5400000">
            <a:off x="-329406" y="3075782"/>
            <a:ext cx="16208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Complexity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MODEL HOW “STATE VARIABLES” CHANGE OVER THE COURSE OF THE EPIDEMIC</a:t>
            </a:r>
            <a:endParaRPr/>
          </a:p>
        </p:txBody>
      </p:sp>
      <p:pic>
        <p:nvPicPr>
          <p:cNvPr id="196" name="Google Shape;19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0475" y="1557338"/>
            <a:ext cx="6480175" cy="196373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/>
          <p:nvPr/>
        </p:nvSpPr>
        <p:spPr>
          <a:xfrm>
            <a:off x="539750" y="4364038"/>
            <a:ext cx="1296988" cy="1152525"/>
          </a:xfrm>
          <a:prstGeom prst="rect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8" name="Google Shape;198;p24"/>
          <p:cNvCxnSpPr/>
          <p:nvPr/>
        </p:nvCxnSpPr>
        <p:spPr>
          <a:xfrm>
            <a:off x="1835150" y="4868863"/>
            <a:ext cx="936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24"/>
          <p:cNvSpPr txBox="1"/>
          <p:nvPr/>
        </p:nvSpPr>
        <p:spPr>
          <a:xfrm>
            <a:off x="828675" y="4652963"/>
            <a:ext cx="863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S(t)</a:t>
            </a: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2770188" y="4364038"/>
            <a:ext cx="1296987" cy="1152525"/>
          </a:xfrm>
          <a:prstGeom prst="rect">
            <a:avLst/>
          </a:prstGeom>
          <a:solidFill>
            <a:srgbClr val="CCFFCC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2986088" y="4652963"/>
            <a:ext cx="863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E(t)</a:t>
            </a:r>
            <a:endParaRPr/>
          </a:p>
        </p:txBody>
      </p:sp>
      <p:sp>
        <p:nvSpPr>
          <p:cNvPr id="202" name="Google Shape;202;p24"/>
          <p:cNvSpPr/>
          <p:nvPr/>
        </p:nvSpPr>
        <p:spPr>
          <a:xfrm>
            <a:off x="5003800" y="4364038"/>
            <a:ext cx="1296988" cy="1152525"/>
          </a:xfrm>
          <a:prstGeom prst="rect">
            <a:avLst/>
          </a:prstGeom>
          <a:solidFill>
            <a:srgbClr val="FF99CC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5364163" y="4652963"/>
            <a:ext cx="863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I(t)</a:t>
            </a:r>
            <a:endParaRPr/>
          </a:p>
        </p:txBody>
      </p:sp>
      <p:sp>
        <p:nvSpPr>
          <p:cNvPr id="204" name="Google Shape;204;p24"/>
          <p:cNvSpPr/>
          <p:nvPr/>
        </p:nvSpPr>
        <p:spPr>
          <a:xfrm>
            <a:off x="7235825" y="4364038"/>
            <a:ext cx="1296988" cy="1152525"/>
          </a:xfrm>
          <a:prstGeom prst="rect">
            <a:avLst/>
          </a:prstGeom>
          <a:solidFill>
            <a:srgbClr val="FFFF99"/>
          </a:solidFill>
          <a:ln cap="flat" cmpd="sng" w="190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4"/>
          <p:cNvSpPr txBox="1"/>
          <p:nvPr/>
        </p:nvSpPr>
        <p:spPr>
          <a:xfrm>
            <a:off x="7451725" y="4652963"/>
            <a:ext cx="863600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R(t)</a:t>
            </a:r>
            <a:endParaRPr/>
          </a:p>
        </p:txBody>
      </p:sp>
      <p:sp>
        <p:nvSpPr>
          <p:cNvPr id="206" name="Google Shape;206;p24"/>
          <p:cNvSpPr txBox="1"/>
          <p:nvPr/>
        </p:nvSpPr>
        <p:spPr>
          <a:xfrm>
            <a:off x="1851025" y="4552950"/>
            <a:ext cx="92075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Infection</a:t>
            </a:r>
            <a:endParaRPr/>
          </a:p>
        </p:txBody>
      </p:sp>
      <p:cxnSp>
        <p:nvCxnSpPr>
          <p:cNvPr id="207" name="Google Shape;207;p24"/>
          <p:cNvCxnSpPr/>
          <p:nvPr/>
        </p:nvCxnSpPr>
        <p:spPr>
          <a:xfrm>
            <a:off x="4051300" y="4895850"/>
            <a:ext cx="936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8" name="Google Shape;208;p24"/>
          <p:cNvSpPr txBox="1"/>
          <p:nvPr/>
        </p:nvSpPr>
        <p:spPr>
          <a:xfrm>
            <a:off x="4067175" y="4579938"/>
            <a:ext cx="850900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Become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4033838" y="4868863"/>
            <a:ext cx="1000125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Infectious</a:t>
            </a:r>
            <a:endParaRPr/>
          </a:p>
        </p:txBody>
      </p:sp>
      <p:cxnSp>
        <p:nvCxnSpPr>
          <p:cNvPr id="210" name="Google Shape;210;p24"/>
          <p:cNvCxnSpPr/>
          <p:nvPr/>
        </p:nvCxnSpPr>
        <p:spPr>
          <a:xfrm>
            <a:off x="6326188" y="4895850"/>
            <a:ext cx="936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11" name="Google Shape;211;p24"/>
          <p:cNvSpPr txBox="1"/>
          <p:nvPr/>
        </p:nvSpPr>
        <p:spPr>
          <a:xfrm>
            <a:off x="6342063" y="4579938"/>
            <a:ext cx="85491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Recover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TO START THE MODEL FROM SOMEWHERE: INITIAL CONDITIONS</a:t>
            </a:r>
            <a:endParaRPr/>
          </a:p>
        </p:txBody>
      </p:sp>
      <p:pic>
        <p:nvPicPr>
          <p:cNvPr id="218" name="Google Shape;21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27313" y="908050"/>
            <a:ext cx="4068762" cy="246856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5"/>
          <p:cNvSpPr/>
          <p:nvPr/>
        </p:nvSpPr>
        <p:spPr>
          <a:xfrm>
            <a:off x="3635375" y="5300663"/>
            <a:ext cx="360363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/>
          <p:nvPr/>
        </p:nvSpPr>
        <p:spPr>
          <a:xfrm>
            <a:off x="6516688" y="4724400"/>
            <a:ext cx="360362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7308850" y="5516563"/>
            <a:ext cx="360363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/>
          <p:nvPr/>
        </p:nvSpPr>
        <p:spPr>
          <a:xfrm>
            <a:off x="1547813" y="3716338"/>
            <a:ext cx="360362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067175" y="5157788"/>
            <a:ext cx="360363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5"/>
          <p:cNvSpPr/>
          <p:nvPr/>
        </p:nvSpPr>
        <p:spPr>
          <a:xfrm>
            <a:off x="5580063" y="3573463"/>
            <a:ext cx="360362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5435600" y="5229225"/>
            <a:ext cx="360363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2555875" y="4581525"/>
            <a:ext cx="360363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5867400" y="5805488"/>
            <a:ext cx="360363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6084888" y="5229225"/>
            <a:ext cx="360362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5"/>
          <p:cNvSpPr/>
          <p:nvPr/>
        </p:nvSpPr>
        <p:spPr>
          <a:xfrm>
            <a:off x="2771775" y="3860800"/>
            <a:ext cx="360363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5"/>
          <p:cNvSpPr/>
          <p:nvPr/>
        </p:nvSpPr>
        <p:spPr>
          <a:xfrm>
            <a:off x="6084888" y="4149725"/>
            <a:ext cx="360362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5"/>
          <p:cNvSpPr/>
          <p:nvPr/>
        </p:nvSpPr>
        <p:spPr>
          <a:xfrm>
            <a:off x="4427538" y="3860800"/>
            <a:ext cx="360362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3348038" y="4941888"/>
            <a:ext cx="360362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7308850" y="4437063"/>
            <a:ext cx="360363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4859338" y="5589588"/>
            <a:ext cx="360362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6948488" y="5373688"/>
            <a:ext cx="360362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5"/>
          <p:cNvSpPr/>
          <p:nvPr/>
        </p:nvSpPr>
        <p:spPr>
          <a:xfrm>
            <a:off x="4356100" y="5805488"/>
            <a:ext cx="360363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5"/>
          <p:cNvSpPr/>
          <p:nvPr/>
        </p:nvSpPr>
        <p:spPr>
          <a:xfrm>
            <a:off x="1547813" y="4797425"/>
            <a:ext cx="360362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5"/>
          <p:cNvSpPr/>
          <p:nvPr/>
        </p:nvSpPr>
        <p:spPr>
          <a:xfrm>
            <a:off x="5292725" y="4076700"/>
            <a:ext cx="360363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5"/>
          <p:cNvSpPr/>
          <p:nvPr/>
        </p:nvSpPr>
        <p:spPr>
          <a:xfrm>
            <a:off x="4787900" y="4724400"/>
            <a:ext cx="360363" cy="360363"/>
          </a:xfrm>
          <a:prstGeom prst="ellipse">
            <a:avLst/>
          </a:prstGeom>
          <a:solidFill>
            <a:srgbClr val="FF99CC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5"/>
          <p:cNvSpPr/>
          <p:nvPr/>
        </p:nvSpPr>
        <p:spPr>
          <a:xfrm>
            <a:off x="2339975" y="5734050"/>
            <a:ext cx="360363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5"/>
          <p:cNvSpPr/>
          <p:nvPr/>
        </p:nvSpPr>
        <p:spPr>
          <a:xfrm>
            <a:off x="5508625" y="4652963"/>
            <a:ext cx="360363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/>
          <p:nvPr/>
        </p:nvSpPr>
        <p:spPr>
          <a:xfrm>
            <a:off x="1187450" y="4292600"/>
            <a:ext cx="360363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4427538" y="4508500"/>
            <a:ext cx="360362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4859338" y="5157788"/>
            <a:ext cx="360362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6732588" y="4076700"/>
            <a:ext cx="360362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2195513" y="4005263"/>
            <a:ext cx="360362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3419475" y="5734050"/>
            <a:ext cx="360363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1763713" y="5373688"/>
            <a:ext cx="360362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2700338" y="5229225"/>
            <a:ext cx="360362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6443663" y="5661025"/>
            <a:ext cx="360362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3779838" y="4076700"/>
            <a:ext cx="360362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3203575" y="4292600"/>
            <a:ext cx="360363" cy="360363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1979613" y="4437063"/>
            <a:ext cx="360362" cy="360362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 txBox="1"/>
          <p:nvPr>
            <p:ph type="title"/>
          </p:nvPr>
        </p:nvSpPr>
        <p:spPr>
          <a:xfrm>
            <a:off x="685800" y="648488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2520"/>
              <a:t>COMMON PARAMETERS</a:t>
            </a:r>
            <a:endParaRPr/>
          </a:p>
        </p:txBody>
      </p:sp>
      <p:pic>
        <p:nvPicPr>
          <p:cNvPr id="260" name="Google Shape;26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31963" y="2636838"/>
            <a:ext cx="5719762" cy="19065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7"/>
          <p:cNvSpPr txBox="1"/>
          <p:nvPr>
            <p:ph type="title"/>
          </p:nvPr>
        </p:nvSpPr>
        <p:spPr>
          <a:xfrm>
            <a:off x="685800" y="322263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BASIC REPRODUCTIVE NUMBER AND THE GENERATION TIME CAN BE EXPRESSED IN TERMS OF MODEL PARAMETERS</a:t>
            </a:r>
            <a:endParaRPr/>
          </a:p>
        </p:txBody>
      </p:sp>
      <p:sp>
        <p:nvSpPr>
          <p:cNvPr id="267" name="Google Shape;267;p27"/>
          <p:cNvSpPr txBox="1"/>
          <p:nvPr>
            <p:ph idx="1" type="body"/>
          </p:nvPr>
        </p:nvSpPr>
        <p:spPr>
          <a:xfrm>
            <a:off x="971252" y="2960688"/>
            <a:ext cx="44625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“The average number of secondary cases generated by a typically infectious individual over the entire course of their infection”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8" name="Google Shape;26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0127" y="3090863"/>
            <a:ext cx="1800225" cy="674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8"/>
          <p:cNvSpPr txBox="1"/>
          <p:nvPr>
            <p:ph type="title"/>
          </p:nvPr>
        </p:nvSpPr>
        <p:spPr>
          <a:xfrm>
            <a:off x="685800" y="393700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HAZARDS AND PROBABILITIES ARE DIFFERENT</a:t>
            </a:r>
            <a:endParaRPr/>
          </a:p>
        </p:txBody>
      </p:sp>
      <p:sp>
        <p:nvSpPr>
          <p:cNvPr id="275" name="Google Shape;275;p28"/>
          <p:cNvSpPr txBox="1"/>
          <p:nvPr>
            <p:ph idx="1" type="body"/>
          </p:nvPr>
        </p:nvSpPr>
        <p:spPr>
          <a:xfrm>
            <a:off x="611188" y="1628775"/>
            <a:ext cx="7991400" cy="37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hazard is the instantaneous chance that an event happens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225" lvl="1" marL="542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Often thought of in relative terms</a:t>
            </a:r>
            <a:endParaRPr/>
          </a:p>
          <a:p>
            <a:pPr indent="-276225" lvl="1" marL="542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Shark attacks in the morning and at night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probability tells us how likely something is to happen during a certain period of 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6225" lvl="1" marL="542925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Lifetime risk of a shark attack for a regular ocean swimmer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Probabilities are often derived from hazards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9"/>
          <p:cNvSpPr/>
          <p:nvPr/>
        </p:nvSpPr>
        <p:spPr>
          <a:xfrm>
            <a:off x="3048000" y="3124200"/>
            <a:ext cx="3276600" cy="3810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9"/>
          <p:cNvSpPr txBox="1"/>
          <p:nvPr>
            <p:ph idx="1" type="body"/>
          </p:nvPr>
        </p:nvSpPr>
        <p:spPr>
          <a:xfrm>
            <a:off x="3048000" y="1143001"/>
            <a:ext cx="3200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objectives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of assessment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a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excel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R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Experimenting with your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0"/>
          <p:cNvSpPr txBox="1"/>
          <p:nvPr>
            <p:ph type="title"/>
          </p:nvPr>
        </p:nvSpPr>
        <p:spPr>
          <a:xfrm>
            <a:off x="685800" y="115888"/>
            <a:ext cx="7772400" cy="9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INFECTION HAZARDS FORM THE CORE OF ANY MODEL OF AN INFECTIOUS DISEASE</a:t>
            </a:r>
            <a:endParaRPr/>
          </a:p>
        </p:txBody>
      </p:sp>
      <p:pic>
        <p:nvPicPr>
          <p:cNvPr id="289" name="Google Shape;28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1075" y="1341438"/>
            <a:ext cx="4598988" cy="145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42025" y="1592263"/>
            <a:ext cx="1985963" cy="947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188" y="2997200"/>
            <a:ext cx="7993062" cy="33004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1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OTHER HAZARDS ARE EASY 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(FOR THIS TYPE OF MODEL)</a:t>
            </a:r>
            <a:endParaRPr/>
          </a:p>
        </p:txBody>
      </p:sp>
      <p:pic>
        <p:nvPicPr>
          <p:cNvPr id="298" name="Google Shape;2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484313"/>
            <a:ext cx="5719763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4188" y="1052513"/>
            <a:ext cx="1282700" cy="214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9750" y="3203575"/>
            <a:ext cx="8066088" cy="3249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2"/>
          <p:cNvSpPr txBox="1"/>
          <p:nvPr>
            <p:ph type="title"/>
          </p:nvPr>
        </p:nvSpPr>
        <p:spPr>
          <a:xfrm>
            <a:off x="685800" y="177800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CALCULATE THE PROBABILITY OF DIFFERENT EVENTS DURING THE NEXT TIME STEP...</a:t>
            </a:r>
            <a:endParaRPr/>
          </a:p>
        </p:txBody>
      </p:sp>
      <p:pic>
        <p:nvPicPr>
          <p:cNvPr id="307" name="Google Shape;30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4450" y="887413"/>
            <a:ext cx="6588125" cy="23256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650" y="3349625"/>
            <a:ext cx="7704138" cy="3103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3"/>
          <p:cNvSpPr txBox="1"/>
          <p:nvPr>
            <p:ph type="title"/>
          </p:nvPr>
        </p:nvSpPr>
        <p:spPr>
          <a:xfrm>
            <a:off x="685800" y="549275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THE TIME STEP IS SMALL ENOUGH, THIS PROCESS CAN BE APPROXIMATED 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 DIFFERENCE EQUATIONS</a:t>
            </a:r>
            <a:endParaRPr/>
          </a:p>
        </p:txBody>
      </p:sp>
      <p:pic>
        <p:nvPicPr>
          <p:cNvPr id="315" name="Google Shape;31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5263" y="1628775"/>
            <a:ext cx="1331912" cy="41751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3"/>
          <p:cNvSpPr txBox="1"/>
          <p:nvPr/>
        </p:nvSpPr>
        <p:spPr>
          <a:xfrm>
            <a:off x="1006475" y="1628775"/>
            <a:ext cx="165576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small x:</a:t>
            </a:r>
            <a:endParaRPr/>
          </a:p>
        </p:txBody>
      </p:sp>
      <p:pic>
        <p:nvPicPr>
          <p:cNvPr id="317" name="Google Shape;31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6013" y="2492375"/>
            <a:ext cx="2743200" cy="381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364163" y="2498725"/>
            <a:ext cx="2678112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4"/>
          <p:cNvSpPr/>
          <p:nvPr/>
        </p:nvSpPr>
        <p:spPr>
          <a:xfrm>
            <a:off x="3048000" y="3810000"/>
            <a:ext cx="3276600" cy="3810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4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4"/>
          <p:cNvSpPr txBox="1"/>
          <p:nvPr>
            <p:ph idx="1" type="body"/>
          </p:nvPr>
        </p:nvSpPr>
        <p:spPr>
          <a:xfrm>
            <a:off x="3048000" y="1143001"/>
            <a:ext cx="3200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objectives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of assessment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a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excel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R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Experimenting with your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5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STARTING THE SAME FUNCTION IN R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5"/>
          <p:cNvSpPr txBox="1"/>
          <p:nvPr/>
        </p:nvSpPr>
        <p:spPr>
          <a:xfrm>
            <a:off x="2539650" y="533275"/>
            <a:ext cx="41856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See SR’s “work in progress” IDD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R package</a:t>
            </a:r>
            <a:endParaRPr/>
          </a:p>
        </p:txBody>
      </p:sp>
      <p:sp>
        <p:nvSpPr>
          <p:cNvPr id="332" name="Google Shape;332;p35"/>
          <p:cNvSpPr txBox="1"/>
          <p:nvPr/>
        </p:nvSpPr>
        <p:spPr>
          <a:xfrm>
            <a:off x="4928000" y="1611250"/>
            <a:ext cx="3302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Function definition</a:t>
            </a:r>
            <a:endParaRPr/>
          </a:p>
        </p:txBody>
      </p:sp>
      <p:sp>
        <p:nvSpPr>
          <p:cNvPr id="333" name="Google Shape;333;p35"/>
          <p:cNvSpPr txBox="1"/>
          <p:nvPr/>
        </p:nvSpPr>
        <p:spPr>
          <a:xfrm>
            <a:off x="4904925" y="4708700"/>
            <a:ext cx="3302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Define the output of the function</a:t>
            </a:r>
            <a:endParaRPr/>
          </a:p>
        </p:txBody>
      </p:sp>
      <p:sp>
        <p:nvSpPr>
          <p:cNvPr id="334" name="Google Shape;334;p35"/>
          <p:cNvSpPr txBox="1"/>
          <p:nvPr/>
        </p:nvSpPr>
        <p:spPr>
          <a:xfrm>
            <a:off x="4959850" y="5572125"/>
            <a:ext cx="3302700" cy="3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Return empty results</a:t>
            </a:r>
            <a:endParaRPr/>
          </a:p>
        </p:txBody>
      </p:sp>
      <p:pic>
        <p:nvPicPr>
          <p:cNvPr id="335" name="Google Shape;33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926" y="969200"/>
            <a:ext cx="4756075" cy="5746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6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REFINE, REFINE, REFINE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6"/>
          <p:cNvSpPr txBox="1"/>
          <p:nvPr>
            <p:ph idx="1" type="body"/>
          </p:nvPr>
        </p:nvSpPr>
        <p:spPr>
          <a:xfrm>
            <a:off x="2231702" y="1790709"/>
            <a:ext cx="4680600" cy="327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 sz="2220"/>
              <a:t>Write the minimal function definition, then ...</a:t>
            </a:r>
            <a:endParaRPr sz="2220"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sz="2220"/>
          </a:p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the time loop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the calculation of the rates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the generation of the events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80000"/>
              </a:lnSpc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2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the updating of the state variables</a:t>
            </a:r>
            <a:endParaRPr b="0" i="0" sz="22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7"/>
          <p:cNvSpPr/>
          <p:nvPr/>
        </p:nvSpPr>
        <p:spPr>
          <a:xfrm>
            <a:off x="3048000" y="4419600"/>
            <a:ext cx="3276600" cy="381000"/>
          </a:xfrm>
          <a:prstGeom prst="rect">
            <a:avLst/>
          </a:prstGeom>
          <a:gradFill>
            <a:gsLst>
              <a:gs pos="0">
                <a:srgbClr val="3E7FCD"/>
              </a:gs>
              <a:gs pos="100000">
                <a:srgbClr val="96C0FF"/>
              </a:gs>
            </a:gsLst>
            <a:lin ang="16200000" scaled="0"/>
          </a:gra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7"/>
          <p:cNvSpPr txBox="1"/>
          <p:nvPr>
            <p:ph type="title"/>
          </p:nvPr>
        </p:nvSpPr>
        <p:spPr>
          <a:xfrm>
            <a:off x="1219200" y="46038"/>
            <a:ext cx="6553200" cy="563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OVERVIEW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7"/>
          <p:cNvSpPr txBox="1"/>
          <p:nvPr>
            <p:ph idx="1" type="body"/>
          </p:nvPr>
        </p:nvSpPr>
        <p:spPr>
          <a:xfrm>
            <a:off x="3048000" y="1143001"/>
            <a:ext cx="3200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objectives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of assessment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Defining a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excel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 up solutions in R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Experimenting with your model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Journal club</a:t>
            </a:r>
            <a:endParaRPr/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8"/>
          <p:cNvSpPr txBox="1"/>
          <p:nvPr>
            <p:ph type="title"/>
          </p:nvPr>
        </p:nvSpPr>
        <p:spPr>
          <a:xfrm>
            <a:off x="685800" y="177800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EXPECTED PROGRESS OF THE EPIDEMIC CAN 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 SEEN BY ITERATING THROUGH TIME STEPS </a:t>
            </a:r>
            <a:endParaRPr/>
          </a:p>
        </p:txBody>
      </p:sp>
      <p:sp>
        <p:nvSpPr>
          <p:cNvPr id="355" name="Google Shape;355;p38"/>
          <p:cNvSpPr txBox="1"/>
          <p:nvPr/>
        </p:nvSpPr>
        <p:spPr>
          <a:xfrm>
            <a:off x="3059113" y="739775"/>
            <a:ext cx="29733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Daily incidence curves</a:t>
            </a:r>
            <a:endParaRPr/>
          </a:p>
        </p:txBody>
      </p:sp>
      <p:pic>
        <p:nvPicPr>
          <p:cNvPr id="356" name="Google Shape;35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550" y="1196975"/>
            <a:ext cx="348615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71550" y="3284538"/>
            <a:ext cx="348615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8"/>
          <p:cNvSpPr txBox="1"/>
          <p:nvPr/>
        </p:nvSpPr>
        <p:spPr>
          <a:xfrm>
            <a:off x="107950" y="1196975"/>
            <a:ext cx="8588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=0.99</a:t>
            </a:r>
            <a:endParaRPr baseline="-25000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8"/>
          <p:cNvSpPr txBox="1"/>
          <p:nvPr/>
        </p:nvSpPr>
        <p:spPr>
          <a:xfrm>
            <a:off x="107950" y="3357563"/>
            <a:ext cx="858838" cy="33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=1.01</a:t>
            </a:r>
            <a:endParaRPr baseline="-25000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8"/>
          <p:cNvSpPr txBox="1"/>
          <p:nvPr/>
        </p:nvSpPr>
        <p:spPr>
          <a:xfrm>
            <a:off x="4572000" y="1268413"/>
            <a:ext cx="757238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=1.8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I(0)=1</a:t>
            </a:r>
            <a:endParaRPr baseline="-25000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8"/>
          <p:cNvSpPr txBox="1"/>
          <p:nvPr/>
        </p:nvSpPr>
        <p:spPr>
          <a:xfrm>
            <a:off x="2555875" y="6024563"/>
            <a:ext cx="4105275" cy="3651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8"/>
          <p:cNvSpPr txBox="1"/>
          <p:nvPr/>
        </p:nvSpPr>
        <p:spPr>
          <a:xfrm>
            <a:off x="2484438" y="5949950"/>
            <a:ext cx="4105275" cy="3603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Peak incidence 337,000 (5.0%)</a:t>
            </a:r>
            <a:endParaRPr/>
          </a:p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19700" y="1147763"/>
            <a:ext cx="3286125" cy="456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9"/>
          <p:cNvSpPr txBox="1"/>
          <p:nvPr>
            <p:ph type="title"/>
          </p:nvPr>
        </p:nvSpPr>
        <p:spPr>
          <a:xfrm>
            <a:off x="685800" y="177800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PREVELANCE FOLLOWS FROM INCIDENCE AND 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RECOVERY PROCESS </a:t>
            </a:r>
            <a:endParaRPr/>
          </a:p>
        </p:txBody>
      </p:sp>
      <p:sp>
        <p:nvSpPr>
          <p:cNvPr id="370" name="Google Shape;370;p39"/>
          <p:cNvSpPr txBox="1"/>
          <p:nvPr/>
        </p:nvSpPr>
        <p:spPr>
          <a:xfrm>
            <a:off x="2555875" y="5584825"/>
            <a:ext cx="4105275" cy="3651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9"/>
          <p:cNvSpPr txBox="1"/>
          <p:nvPr/>
        </p:nvSpPr>
        <p:spPr>
          <a:xfrm>
            <a:off x="2484438" y="5510213"/>
            <a:ext cx="4105275" cy="3603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Peak prevalence 367,000 (5.4%)</a:t>
            </a:r>
            <a:endParaRPr/>
          </a:p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2" name="Google Shape;372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8" y="1797050"/>
            <a:ext cx="7648575" cy="35036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0"/>
          <p:cNvSpPr txBox="1"/>
          <p:nvPr>
            <p:ph type="title"/>
          </p:nvPr>
        </p:nvSpPr>
        <p:spPr>
          <a:xfrm>
            <a:off x="685800" y="322263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LOW R0 SCENARIOS, THE EXPECTED PROPORTION INFECTED IS SUBSTANTIALLY LESS THAN 1</a:t>
            </a:r>
            <a:endParaRPr/>
          </a:p>
        </p:txBody>
      </p:sp>
      <p:sp>
        <p:nvSpPr>
          <p:cNvPr id="379" name="Google Shape;379;p40"/>
          <p:cNvSpPr txBox="1"/>
          <p:nvPr/>
        </p:nvSpPr>
        <p:spPr>
          <a:xfrm>
            <a:off x="2339975" y="5880100"/>
            <a:ext cx="4537075" cy="36512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0"/>
          <p:cNvSpPr txBox="1"/>
          <p:nvPr/>
        </p:nvSpPr>
        <p:spPr>
          <a:xfrm>
            <a:off x="2268538" y="5805488"/>
            <a:ext cx="4537075" cy="36036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Proportion of population infected = 74.0%</a:t>
            </a:r>
            <a:endParaRPr/>
          </a:p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3" y="1196975"/>
            <a:ext cx="8064500" cy="394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1"/>
          <p:cNvSpPr txBox="1"/>
          <p:nvPr>
            <p:ph type="title"/>
          </p:nvPr>
        </p:nvSpPr>
        <p:spPr>
          <a:xfrm>
            <a:off x="685800" y="549275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ARE SENSITIVE TO REPRODUCTIVE NUMBER AND THE DURATION OF THE LATENT PERIOD (I)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1"/>
          <p:cNvSpPr txBox="1"/>
          <p:nvPr/>
        </p:nvSpPr>
        <p:spPr>
          <a:xfrm>
            <a:off x="1763713" y="5375275"/>
            <a:ext cx="5688012" cy="71755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41"/>
          <p:cNvSpPr txBox="1"/>
          <p:nvPr/>
        </p:nvSpPr>
        <p:spPr>
          <a:xfrm>
            <a:off x="1692275" y="5300663"/>
            <a:ext cx="5697538" cy="70802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Incidence most sensitive to R0, but longer generation time reduces expected values substantially</a:t>
            </a:r>
            <a:endParaRPr/>
          </a:p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41"/>
          <p:cNvSpPr txBox="1"/>
          <p:nvPr/>
        </p:nvSpPr>
        <p:spPr>
          <a:xfrm>
            <a:off x="3563938" y="1603375"/>
            <a:ext cx="201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 incidence</a:t>
            </a:r>
            <a:endParaRPr/>
          </a:p>
        </p:txBody>
      </p:sp>
      <p:pic>
        <p:nvPicPr>
          <p:cNvPr id="391" name="Google Shape;391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750" y="2268538"/>
            <a:ext cx="7993063" cy="195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2"/>
          <p:cNvSpPr txBox="1"/>
          <p:nvPr>
            <p:ph type="title"/>
          </p:nvPr>
        </p:nvSpPr>
        <p:spPr>
          <a:xfrm>
            <a:off x="685800" y="549275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ARE SENSITIVE TO REPRODUCTIVE NUMBER AND THE DURATION OF THE LATENT PERIOD (II)</a:t>
            </a:r>
            <a:b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2"/>
          <p:cNvSpPr txBox="1"/>
          <p:nvPr/>
        </p:nvSpPr>
        <p:spPr>
          <a:xfrm>
            <a:off x="1835150" y="5375275"/>
            <a:ext cx="5688013" cy="35877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42"/>
          <p:cNvSpPr txBox="1"/>
          <p:nvPr/>
        </p:nvSpPr>
        <p:spPr>
          <a:xfrm>
            <a:off x="1763713" y="5300663"/>
            <a:ext cx="5697537" cy="354012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Longer generation times will increase prevalence</a:t>
            </a:r>
            <a:endParaRPr/>
          </a:p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2"/>
          <p:cNvSpPr txBox="1"/>
          <p:nvPr/>
        </p:nvSpPr>
        <p:spPr>
          <a:xfrm>
            <a:off x="3563938" y="1603375"/>
            <a:ext cx="21701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Peak prevalence</a:t>
            </a:r>
            <a:endParaRPr/>
          </a:p>
        </p:txBody>
      </p:sp>
      <p:pic>
        <p:nvPicPr>
          <p:cNvPr id="401" name="Google Shape;40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8" y="2133600"/>
            <a:ext cx="8351837" cy="2263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"/>
          <p:cNvSpPr txBox="1"/>
          <p:nvPr>
            <p:ph type="title"/>
          </p:nvPr>
        </p:nvSpPr>
        <p:spPr>
          <a:xfrm>
            <a:off x="685800" y="188913"/>
            <a:ext cx="77724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EXPECTED FINAL PROPORTION INFECTED IS ONLY SENSITIVE TO THE BASIC REPRODUCTIVE NUMBER</a:t>
            </a:r>
            <a:endParaRPr/>
          </a:p>
        </p:txBody>
      </p:sp>
      <p:sp>
        <p:nvSpPr>
          <p:cNvPr id="408" name="Google Shape;408;p43"/>
          <p:cNvSpPr txBox="1"/>
          <p:nvPr/>
        </p:nvSpPr>
        <p:spPr>
          <a:xfrm>
            <a:off x="3205163" y="1341438"/>
            <a:ext cx="32385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Proportion of population infected</a:t>
            </a:r>
            <a:endParaRPr/>
          </a:p>
        </p:txBody>
      </p:sp>
      <p:pic>
        <p:nvPicPr>
          <p:cNvPr id="409" name="Google Shape;40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1622425"/>
            <a:ext cx="6318250" cy="38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3"/>
          <p:cNvSpPr txBox="1"/>
          <p:nvPr/>
        </p:nvSpPr>
        <p:spPr>
          <a:xfrm>
            <a:off x="1835150" y="5519738"/>
            <a:ext cx="5761038" cy="803275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43"/>
          <p:cNvSpPr txBox="1"/>
          <p:nvPr/>
        </p:nvSpPr>
        <p:spPr>
          <a:xfrm>
            <a:off x="1763713" y="5445125"/>
            <a:ext cx="5773737" cy="79216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Below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=3, reductions in R</a:t>
            </a:r>
            <a:r>
              <a:rPr baseline="-25000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will substantially reduce proportion infected</a:t>
            </a:r>
            <a:endParaRPr baseline="-2500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80975" lvl="0" marL="180975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4"/>
          <p:cNvSpPr txBox="1"/>
          <p:nvPr>
            <p:ph type="title"/>
          </p:nvPr>
        </p:nvSpPr>
        <p:spPr>
          <a:xfrm>
            <a:off x="1219200" y="46038"/>
            <a:ext cx="65532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SESSION OBJECTIVES RECAP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4"/>
          <p:cNvSpPr txBox="1"/>
          <p:nvPr>
            <p:ph idx="1" type="body"/>
          </p:nvPr>
        </p:nvSpPr>
        <p:spPr>
          <a:xfrm>
            <a:off x="1568152" y="2227312"/>
            <a:ext cx="6172200" cy="22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objectives of the course</a:t>
            </a:r>
            <a:endParaRPr/>
          </a:p>
          <a:p>
            <a:pPr indent="-34290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 what will be expected of you in the </a:t>
            </a:r>
            <a:r>
              <a:rPr lang="en-US" sz="1665"/>
              <a:t>assessments</a:t>
            </a:r>
            <a:endParaRPr/>
          </a:p>
          <a:p>
            <a:pPr indent="-34290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fully an implementation of the SEIR model in excel</a:t>
            </a:r>
            <a:endParaRPr/>
          </a:p>
          <a:p>
            <a:pPr indent="-34290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how an R implementation of an SEIR model can be constructed</a:t>
            </a:r>
            <a:endParaRPr/>
          </a:p>
          <a:p>
            <a:pPr indent="-34290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Draw a useful inference from the model</a:t>
            </a:r>
            <a:endParaRPr/>
          </a:p>
          <a:p>
            <a:pPr indent="-342900" lvl="0" marL="342900" marR="0" rtl="0" algn="l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Char char="•"/>
            </a:pPr>
            <a:r>
              <a:rPr b="0" i="0" lang="en-US" sz="166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 the sensitivity of your inference to certain assumptions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 txBox="1"/>
          <p:nvPr>
            <p:ph type="title"/>
          </p:nvPr>
        </p:nvSpPr>
        <p:spPr>
          <a:xfrm>
            <a:off x="1219200" y="3429000"/>
            <a:ext cx="6553200" cy="5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-US"/>
              <a:t>ANY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