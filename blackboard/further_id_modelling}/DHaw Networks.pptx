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9" r:id="rId4"/>
    <p:sldId id="258" r:id="rId5"/>
    <p:sldId id="267" r:id="rId6"/>
    <p:sldId id="269" r:id="rId7"/>
    <p:sldId id="271" r:id="rId8"/>
    <p:sldId id="268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C5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BB0CA-DC24-44B6-BD6C-D79088EC9D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D9AF0B-B642-4562-892B-35393E3E36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BC33C-B43A-4938-AD7E-B460CBC6E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E11D-34CE-4637-BF83-282A4C460683}" type="datetimeFigureOut">
              <a:rPr lang="en-GB" smtClean="0"/>
              <a:t>07/02/2019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1BAD5-2E92-4798-9872-ABBF7226E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AA382-3279-4A2B-B541-97CE2AFEE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0E4C-D09B-45B8-B762-FE30004F29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3494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C8FBC-5FC1-49A3-B521-E346E6B36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EFCD0-B0B8-494F-B839-1AB2B4644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1364D-8103-401B-B861-24BF31DCF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E11D-34CE-4637-BF83-282A4C460683}" type="datetimeFigureOut">
              <a:rPr lang="en-GB" smtClean="0"/>
              <a:t>07/02/2019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AE225-0665-4A7B-AC95-D70AD5E5D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70CB7-DFA4-44A8-A4F0-A36B68F45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0E4C-D09B-45B8-B762-FE30004F29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037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CD9-2808-46B1-9A67-F0464A25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F4AC7-7FF7-40F2-AC51-BF0B613C9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BE4A2-017B-4367-BA9C-6F92E8780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E11D-34CE-4637-BF83-282A4C460683}" type="datetimeFigureOut">
              <a:rPr lang="en-GB" smtClean="0"/>
              <a:t>07/02/2019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99EE9C-2BD9-484A-999A-9D618DD70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F1800-E905-47B4-B8C3-90F9BCA83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0E4C-D09B-45B8-B762-FE30004F29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6156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BBFAB-AC7C-49C3-970C-3147BE637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E0C5E-4000-49AE-8F15-DB4827FCF0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D5A7FC-B6B0-4A5B-A524-722EA5BC8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1EED4-8E92-47EE-89DC-67B85C081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E11D-34CE-4637-BF83-282A4C460683}" type="datetimeFigureOut">
              <a:rPr lang="en-GB" smtClean="0"/>
              <a:t>07/02/2019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788CC-D5A2-4CD1-8B7F-6378F3922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6F72-D0CE-4194-9F43-465B6D683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0E4C-D09B-45B8-B762-FE30004F29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7043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36F86-12EE-43FC-9CA1-DDAED4D0D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D99A2F-11CC-4878-A44B-727D1B0A9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F8B2EC-AC70-4949-AB43-E5B14F713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20F95E-4D7C-4B4A-B631-707F4533DD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DA8EA7-D48E-4554-A143-77C68199DF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1CBE43-092F-416F-8E80-5A1573095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E11D-34CE-4637-BF83-282A4C460683}" type="datetimeFigureOut">
              <a:rPr lang="en-GB" smtClean="0"/>
              <a:t>07/02/2019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C00293-45B5-44AB-8FEC-31F2C8326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65DA5A-4904-4F33-969E-8D704232B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0E4C-D09B-45B8-B762-FE30004F29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3566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53354-2B6B-44F8-B663-271B26E04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1C5E94-836D-4BD3-B4C8-F95497B76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E11D-34CE-4637-BF83-282A4C460683}" type="datetimeFigureOut">
              <a:rPr lang="en-GB" smtClean="0"/>
              <a:t>07/02/2019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54421F-9E1A-429A-9209-CC09BD9BD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65DC66-13FB-45C2-9256-1904E0449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0E4C-D09B-45B8-B762-FE30004F29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5142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802ED7-D02F-498C-AD77-886093770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E11D-34CE-4637-BF83-282A4C460683}" type="datetimeFigureOut">
              <a:rPr lang="en-GB" smtClean="0"/>
              <a:t>07/02/2019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8F5BD9-2E2C-4C59-AEC7-4D7E050E0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518F8-CA91-4D7B-AEF9-820D7A110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0E4C-D09B-45B8-B762-FE30004F29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937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FF640-713C-4E55-9AB9-F0D2F27D3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7127E-E24A-4C7E-B01D-3E3D42F1A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02DA8-EE5B-4664-B421-D8CC35244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83E6C5-4DF2-4ADB-B13C-1A63BEC86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E11D-34CE-4637-BF83-282A4C460683}" type="datetimeFigureOut">
              <a:rPr lang="en-GB" smtClean="0"/>
              <a:t>07/02/2019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C4F4A-3411-46C3-BF13-4635061BB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34081-6BC0-4226-91BF-AC4716869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0E4C-D09B-45B8-B762-FE30004F29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9528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93CAC-4522-4980-82AC-88171BA3D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E632E6-5F74-45AF-AA2A-61DAB431CF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0AF36-1AF0-4672-AECE-1E4B286CA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DACAF2-858A-4D55-8613-E2DC4B8C3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E11D-34CE-4637-BF83-282A4C460683}" type="datetimeFigureOut">
              <a:rPr lang="en-GB" smtClean="0"/>
              <a:t>07/02/2019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234697-79DF-4A33-A3E8-02F8ACFD0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64E4A-9EE2-4B3E-A8F4-422271037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0E4C-D09B-45B8-B762-FE30004F29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398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AB63D-F37E-4084-B6FD-273057B86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F58AEC-0587-4514-B232-B1519D7916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CA400-BC5F-4C4F-882E-83D3C60CF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E11D-34CE-4637-BF83-282A4C460683}" type="datetimeFigureOut">
              <a:rPr lang="en-GB" smtClean="0"/>
              <a:t>07/02/2019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9B998-289F-4BDB-9908-DA56142AD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D49F56-FDE2-4EED-81B5-FEF37946F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0E4C-D09B-45B8-B762-FE30004F29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8284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571EA7-E627-4DEF-831A-10213BDE2E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AD00A1-2DF3-43CD-848C-CF249F4CB5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595FA-E951-40FF-BE9A-80AB6C7E5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E11D-34CE-4637-BF83-282A4C460683}" type="datetimeFigureOut">
              <a:rPr lang="en-GB" smtClean="0"/>
              <a:t>07/02/2019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043770-5A01-4AB8-A66C-9757A3E42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2F866-7A0E-48BF-839A-D64D039F0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B0E4C-D09B-45B8-B762-FE30004F29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6585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61DE83-5B69-4204-A0B1-732C16D60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8977C-CF57-4637-AA46-E49F2A4FF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06883-ED61-4E2A-B244-5C2DA6B274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92E11D-34CE-4637-BF83-282A4C460683}" type="datetimeFigureOut">
              <a:rPr lang="en-GB" smtClean="0"/>
              <a:t>07/02/2019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9209B-C91A-44DC-8646-E9DC7AD449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3F000-BF55-4594-9F76-3774C2011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2B0E4C-D09B-45B8-B762-FE30004F293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977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6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06EC2-0FD8-4A27-8FAB-B885E09E0F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It’s a Small World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A584A2-12CE-4B5C-828D-616947B320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Dr David J. Haw</a:t>
            </a:r>
          </a:p>
        </p:txBody>
      </p:sp>
    </p:spTree>
    <p:extLst>
      <p:ext uri="{BB962C8B-B14F-4D97-AF65-F5344CB8AC3E}">
        <p14:creationId xmlns:p14="http://schemas.microsoft.com/office/powerpoint/2010/main" val="884850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C6B19-4FB4-49B9-A95A-96B9B85A7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Session 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C4211-90CF-4AB4-A57E-80FA7826E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In 3 hours time, you will be able to: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Use simple rules to define large networks</a:t>
            </a:r>
          </a:p>
          <a:p>
            <a:r>
              <a:rPr lang="en-GB" b="1" dirty="0"/>
              <a:t>Define and compute the local clustering coefficient</a:t>
            </a:r>
          </a:p>
          <a:p>
            <a:r>
              <a:rPr lang="en-GB" dirty="0"/>
              <a:t>Compare and contrast different centrality measures</a:t>
            </a:r>
          </a:p>
          <a:p>
            <a:r>
              <a:rPr lang="en-GB" dirty="0"/>
              <a:t>Construct small networks that demonstrate</a:t>
            </a:r>
          </a:p>
        </p:txBody>
      </p:sp>
    </p:spTree>
    <p:extLst>
      <p:ext uri="{BB962C8B-B14F-4D97-AF65-F5344CB8AC3E}">
        <p14:creationId xmlns:p14="http://schemas.microsoft.com/office/powerpoint/2010/main" val="340622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7D13A-04A2-4DDD-82F2-6919B8835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Networks: basic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1E2FB-81C8-4D57-8515-EF56A9AD3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Networks consist of a set of </a:t>
            </a:r>
            <a:r>
              <a:rPr lang="en-GB" sz="2400" b="1" dirty="0"/>
              <a:t>nodes N </a:t>
            </a:r>
            <a:r>
              <a:rPr lang="en-GB" sz="2400" dirty="0"/>
              <a:t>and a set of </a:t>
            </a:r>
            <a:r>
              <a:rPr lang="en-GB" sz="2400" b="1" dirty="0"/>
              <a:t>edges E</a:t>
            </a:r>
          </a:p>
          <a:p>
            <a:r>
              <a:rPr lang="en-GB" sz="2400" dirty="0"/>
              <a:t>Simple: undirected, unweighted, no self loops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9FED1C-7875-46A0-9560-F4D6B4F76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134" y="2983906"/>
            <a:ext cx="7277731" cy="3193057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1338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643A0-DA68-4934-A372-F0573DA40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GB" sz="2400" dirty="0"/>
              <a:t>Characteristic path length L: </a:t>
            </a:r>
            <a:r>
              <a:rPr lang="en-GB" sz="2400" b="1" dirty="0"/>
              <a:t>average shortest path length between 2 nodes</a:t>
            </a:r>
          </a:p>
          <a:p>
            <a:r>
              <a:rPr lang="en-GB" sz="2400" dirty="0"/>
              <a:t>Clustering coefficient: </a:t>
            </a:r>
            <a:r>
              <a:rPr lang="en-GB" sz="2400" b="1" dirty="0"/>
              <a:t>density of edges between neighbours</a:t>
            </a:r>
            <a:br>
              <a:rPr lang="en-GB" sz="2400" dirty="0"/>
            </a:br>
            <a:br>
              <a:rPr lang="en-GB" sz="2400" dirty="0"/>
            </a:br>
            <a:r>
              <a:rPr lang="en-GB" sz="2400" dirty="0">
                <a:solidFill>
                  <a:srgbClr val="C00000"/>
                </a:solidFill>
              </a:rPr>
              <a:t>QUESTION: What is the clustering coefficient of the grey node (right)?</a:t>
            </a:r>
          </a:p>
          <a:p>
            <a:endParaRPr lang="en-GB" sz="2400" dirty="0"/>
          </a:p>
          <a:p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C24AAD-1985-48CC-A646-1299DAE9C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Metrics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EE38A5-C821-4C7B-8BEB-7BDE3559D5F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198" y="5846398"/>
            <a:ext cx="6848002" cy="6369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C82338-2B60-4A8F-9841-5B089B6D41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8338" y="3595774"/>
            <a:ext cx="5345723" cy="2115688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0225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102862A-F9CC-468B-A8AB-5ACD17CD3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b="1" dirty="0"/>
              <a:t>Centrality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55ED45F-E317-4120-9798-8242C3EA0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r>
              <a:rPr lang="en-GB" sz="2400" b="1" dirty="0"/>
              <a:t>Degree</a:t>
            </a:r>
          </a:p>
          <a:p>
            <a:r>
              <a:rPr lang="en-GB" sz="2400" dirty="0"/>
              <a:t>Eigenvector (dominant eigenvector of A):</a:t>
            </a:r>
          </a:p>
          <a:p>
            <a:endParaRPr lang="en-GB" sz="2400" dirty="0"/>
          </a:p>
          <a:p>
            <a:pPr marL="457200" lvl="1" indent="0">
              <a:buNone/>
            </a:pPr>
            <a:r>
              <a:rPr lang="en-GB" i="1" dirty="0">
                <a:solidFill>
                  <a:srgbClr val="7030A0"/>
                </a:solidFill>
              </a:rPr>
              <a:t>		</a:t>
            </a:r>
            <a:r>
              <a:rPr lang="en-GB" sz="1800" i="1" dirty="0">
                <a:solidFill>
                  <a:srgbClr val="7030A0"/>
                </a:solidFill>
              </a:rPr>
              <a:t>“the centrality of i is the mean of the centrality of its neighbours”</a:t>
            </a:r>
          </a:p>
          <a:p>
            <a:r>
              <a:rPr lang="en-GB" sz="2400" b="1" dirty="0"/>
              <a:t>Closeness: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>
                <a:solidFill>
                  <a:srgbClr val="7030A0"/>
                </a:solidFill>
              </a:rPr>
              <a:t>	</a:t>
            </a:r>
            <a:r>
              <a:rPr lang="en-GB" sz="1800" i="1" dirty="0">
                <a:solidFill>
                  <a:srgbClr val="7030A0"/>
                </a:solidFill>
              </a:rPr>
              <a:t>“inverse of the sum of all shortest paths to other nodes, accounting for network size”</a:t>
            </a:r>
            <a:endParaRPr lang="en-GB" sz="1800" dirty="0">
              <a:solidFill>
                <a:srgbClr val="7030A0"/>
              </a:solidFill>
            </a:endParaRPr>
          </a:p>
          <a:p>
            <a:r>
              <a:rPr lang="en-GB" sz="2400" b="1" dirty="0"/>
              <a:t>Betweenness:</a:t>
            </a:r>
          </a:p>
          <a:p>
            <a:endParaRPr lang="en-GB" sz="2400" dirty="0"/>
          </a:p>
          <a:p>
            <a:pPr marL="0" indent="0">
              <a:buNone/>
            </a:pPr>
            <a:r>
              <a:rPr lang="en-GB" sz="2400" dirty="0">
                <a:solidFill>
                  <a:srgbClr val="7030A0"/>
                </a:solidFill>
              </a:rPr>
              <a:t>		</a:t>
            </a:r>
            <a:r>
              <a:rPr lang="en-GB" sz="1800" i="1" dirty="0">
                <a:solidFill>
                  <a:srgbClr val="7030A0"/>
                </a:solidFill>
              </a:rPr>
              <a:t>“proportion of all shortest paths between nodes that pass through </a:t>
            </a:r>
            <a:r>
              <a:rPr lang="en-GB" sz="1800" i="1" dirty="0" err="1">
                <a:solidFill>
                  <a:srgbClr val="7030A0"/>
                </a:solidFill>
              </a:rPr>
              <a:t>i</a:t>
            </a:r>
            <a:r>
              <a:rPr lang="en-GB" sz="1800" i="1" dirty="0">
                <a:solidFill>
                  <a:srgbClr val="7030A0"/>
                </a:solidFill>
              </a:rPr>
              <a:t>”</a:t>
            </a:r>
            <a:endParaRPr lang="en-GB" sz="1800" dirty="0">
              <a:solidFill>
                <a:srgbClr val="7030A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BC404AE-5DD4-48E4-8343-5E07923A95D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257" y="3627220"/>
            <a:ext cx="2117486" cy="75702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C599B88-E3E5-4121-88DC-6D64ACF81D9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743" y="4929368"/>
            <a:ext cx="2112000" cy="7024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A741DB3-D8F1-440C-8EAA-96181A7652E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4971" y="2805987"/>
            <a:ext cx="2916571" cy="27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5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4F49E5-54EF-4721-BF8A-78DD820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b="1" dirty="0"/>
              <a:t>Centrality: discussion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F24C8B-3364-4A5A-90DD-60F51D5BA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endParaRPr lang="en-GB" sz="2400" dirty="0"/>
          </a:p>
          <a:p>
            <a:r>
              <a:rPr lang="en-GB" sz="2400" dirty="0"/>
              <a:t>Here is an airline network (passengers/day, undirected). </a:t>
            </a:r>
            <a:br>
              <a:rPr lang="en-GB" sz="2400" dirty="0"/>
            </a:br>
            <a:r>
              <a:rPr lang="en-GB" sz="2400" dirty="0">
                <a:solidFill>
                  <a:srgbClr val="C00000"/>
                </a:solidFill>
              </a:rPr>
              <a:t>What would different centrality measures tell you?</a:t>
            </a:r>
          </a:p>
          <a:p>
            <a:r>
              <a:rPr lang="en-GB" sz="2400" dirty="0"/>
              <a:t>There is long list of centrality measures and their variants.</a:t>
            </a:r>
            <a:br>
              <a:rPr lang="en-GB" sz="2400" dirty="0"/>
            </a:br>
            <a:r>
              <a:rPr lang="en-GB" sz="2400" dirty="0">
                <a:solidFill>
                  <a:srgbClr val="C00000"/>
                </a:solidFill>
              </a:rPr>
              <a:t>What conclusions can you draw from this observation?</a:t>
            </a:r>
          </a:p>
          <a:p>
            <a:r>
              <a:rPr lang="en-GB" sz="2400" dirty="0"/>
              <a:t>What will these measures tell you about disease transmission?</a:t>
            </a:r>
          </a:p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0EB778-CFAF-4ED5-A580-6AEE8F689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125" y="1377101"/>
            <a:ext cx="485775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910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4F49E5-54EF-4721-BF8A-78DD820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b="1" dirty="0"/>
              <a:t>Centrality: discussion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F24C8B-3364-4A5A-90DD-60F51D5BA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Draw a simple network with a node that has (relatively):</a:t>
            </a: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High degree, high closeness</a:t>
            </a:r>
          </a:p>
          <a:p>
            <a:r>
              <a:rPr lang="en-GB" sz="2400" dirty="0"/>
              <a:t>High degree, low closeness</a:t>
            </a:r>
          </a:p>
          <a:p>
            <a:r>
              <a:rPr lang="en-GB" sz="2400" dirty="0"/>
              <a:t>High degree, high betweenness</a:t>
            </a:r>
          </a:p>
          <a:p>
            <a:r>
              <a:rPr lang="en-GB" sz="2400" dirty="0"/>
              <a:t>Low degree, high betweenness</a:t>
            </a:r>
          </a:p>
          <a:p>
            <a:r>
              <a:rPr lang="en-GB" sz="2400" dirty="0"/>
              <a:t>Low closeness, high betweenness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565233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C082DFC-234C-42AB-8BC9-C1ECD9EFC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b="1" dirty="0"/>
              <a:t>Random graphs: discussion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312D5EB-61BD-4391-A460-12797F58A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GB" sz="2400" dirty="0"/>
              <a:t>N nodes, any pair connected with probability p</a:t>
            </a:r>
          </a:p>
          <a:p>
            <a:r>
              <a:rPr lang="en-GB" sz="2400" dirty="0"/>
              <a:t>What are the following:</a:t>
            </a:r>
          </a:p>
          <a:p>
            <a:pPr marL="0" indent="0">
              <a:buNone/>
            </a:pPr>
            <a:r>
              <a:rPr lang="en-GB" sz="2400" dirty="0"/>
              <a:t>	1. Mean degree </a:t>
            </a:r>
            <a:r>
              <a:rPr lang="en-GB" sz="2400" dirty="0">
                <a:solidFill>
                  <a:srgbClr val="7030A0"/>
                </a:solidFill>
              </a:rPr>
              <a:t>&lt;k&gt;</a:t>
            </a:r>
          </a:p>
          <a:p>
            <a:pPr marL="0" indent="0">
              <a:buNone/>
            </a:pPr>
            <a:r>
              <a:rPr lang="en-GB" sz="2400" dirty="0"/>
              <a:t>	2. Degree distribution </a:t>
            </a:r>
            <a:r>
              <a:rPr lang="en-GB" sz="2400" dirty="0">
                <a:solidFill>
                  <a:srgbClr val="7030A0"/>
                </a:solidFill>
              </a:rPr>
              <a:t>P(K=k)</a:t>
            </a:r>
          </a:p>
          <a:p>
            <a:pPr marL="0" indent="0">
              <a:buNone/>
            </a:pPr>
            <a:r>
              <a:rPr lang="en-GB" sz="2400" dirty="0"/>
              <a:t>	3. Expected clustering coefficient </a:t>
            </a:r>
            <a:r>
              <a:rPr lang="en-GB" sz="2400" dirty="0">
                <a:solidFill>
                  <a:srgbClr val="7030A0"/>
                </a:solidFill>
              </a:rPr>
              <a:t>&lt;</a:t>
            </a:r>
            <a:r>
              <a:rPr lang="en-GB" sz="2400" dirty="0" err="1">
                <a:solidFill>
                  <a:srgbClr val="7030A0"/>
                </a:solidFill>
              </a:rPr>
              <a:t>CC_i</a:t>
            </a:r>
            <a:r>
              <a:rPr lang="en-GB" sz="2400" dirty="0">
                <a:solidFill>
                  <a:srgbClr val="7030A0"/>
                </a:solidFill>
              </a:rPr>
              <a:t>&gt;</a:t>
            </a:r>
          </a:p>
          <a:p>
            <a:pPr marL="0" indent="0">
              <a:buNone/>
            </a:pPr>
            <a:r>
              <a:rPr lang="en-GB" sz="2400" dirty="0"/>
              <a:t>	</a:t>
            </a: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4. Characteristic path length </a:t>
            </a:r>
            <a:r>
              <a:rPr lang="en-GB" sz="2400" dirty="0">
                <a:solidFill>
                  <a:srgbClr val="7030A0"/>
                </a:solidFill>
              </a:rPr>
              <a:t>L</a:t>
            </a:r>
          </a:p>
          <a:p>
            <a:pPr marL="0" indent="0">
              <a:buNone/>
            </a:pPr>
            <a:r>
              <a:rPr lang="en-GB" sz="2400" dirty="0"/>
              <a:t>	</a:t>
            </a:r>
            <a:r>
              <a:rPr lang="en-GB" sz="2400" dirty="0">
                <a:solidFill>
                  <a:schemeClr val="bg1">
                    <a:lumMod val="50000"/>
                  </a:schemeClr>
                </a:solidFill>
              </a:rPr>
              <a:t>5. Expected closeness centrality </a:t>
            </a:r>
            <a:r>
              <a:rPr lang="en-GB" sz="2400" dirty="0">
                <a:solidFill>
                  <a:srgbClr val="7030A0"/>
                </a:solidFill>
              </a:rPr>
              <a:t>&lt; </a:t>
            </a:r>
            <a:r>
              <a:rPr lang="en-GB" sz="2400" dirty="0" err="1">
                <a:solidFill>
                  <a:srgbClr val="7030A0"/>
                </a:solidFill>
              </a:rPr>
              <a:t>CL_i</a:t>
            </a:r>
            <a:r>
              <a:rPr lang="en-GB" sz="2400" dirty="0">
                <a:solidFill>
                  <a:srgbClr val="7030A0"/>
                </a:solidFill>
              </a:rPr>
              <a:t>&gt;</a:t>
            </a:r>
          </a:p>
          <a:p>
            <a:pPr marL="0" indent="0">
              <a:buNone/>
            </a:pPr>
            <a:endParaRPr lang="en-GB" sz="2400" dirty="0">
              <a:solidFill>
                <a:srgbClr val="7030A0"/>
              </a:solidFill>
            </a:endParaRPr>
          </a:p>
          <a:p>
            <a:r>
              <a:rPr lang="en-GB" sz="2400" dirty="0"/>
              <a:t>Are random networks a good model for human contact patterns?</a:t>
            </a:r>
          </a:p>
          <a:p>
            <a:r>
              <a:rPr lang="en-GB" sz="2400" dirty="0"/>
              <a:t>Is there a good compartmental approximation?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5998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1C479-3DE7-4B2A-87A6-7C27EBC53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Modelling Social Contacts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9B4F3-61E3-4DEA-B63B-D6B63155D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solidFill>
                  <a:srgbClr val="C00000"/>
                </a:solidFill>
              </a:rPr>
              <a:t>QUESTION: how well do these networks model social contacts?</a:t>
            </a:r>
          </a:p>
          <a:p>
            <a:pPr marL="0" indent="0">
              <a:buNone/>
            </a:pPr>
            <a:r>
              <a:rPr lang="en-GB" sz="2400" dirty="0"/>
              <a:t>HINT: think characteristic path length/ clustering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F6632B-DD47-492A-9398-ACEAFDD180D8}"/>
              </a:ext>
            </a:extLst>
          </p:cNvPr>
          <p:cNvSpPr/>
          <p:nvPr/>
        </p:nvSpPr>
        <p:spPr>
          <a:xfrm>
            <a:off x="3338004" y="3089429"/>
            <a:ext cx="5486400" cy="3087534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C2D731-1477-4DCF-BA10-2EB8F67975A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83" b="15365"/>
          <a:stretch/>
        </p:blipFill>
        <p:spPr>
          <a:xfrm>
            <a:off x="6889123" y="3089427"/>
            <a:ext cx="2454491" cy="308753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EC8F75A-692D-4B6E-AE4E-05CC6DC348C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683" b="15365"/>
          <a:stretch/>
        </p:blipFill>
        <p:spPr>
          <a:xfrm>
            <a:off x="2848386" y="3089427"/>
            <a:ext cx="2454491" cy="308753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8773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1C479-3DE7-4B2A-87A6-7C27EBC53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Small Worlds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9B4F3-61E3-4DEA-B63B-D6B63155D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54931" cy="4351338"/>
          </a:xfrm>
        </p:spPr>
        <p:txBody>
          <a:bodyPr>
            <a:normAutofit/>
          </a:bodyPr>
          <a:lstStyle/>
          <a:p>
            <a:r>
              <a:rPr lang="en-GB" sz="2400" b="1" dirty="0"/>
              <a:t>Small CPL</a:t>
            </a:r>
            <a:br>
              <a:rPr lang="en-GB" sz="2400" b="1" dirty="0"/>
            </a:br>
            <a:r>
              <a:rPr lang="en-GB" sz="2400" b="1" dirty="0"/>
              <a:t>(“6 degrees of separation”) </a:t>
            </a:r>
            <a:br>
              <a:rPr lang="en-GB" sz="2400" b="1" dirty="0"/>
            </a:br>
            <a:br>
              <a:rPr lang="en-GB" sz="2400" dirty="0"/>
            </a:br>
            <a:r>
              <a:rPr lang="en-GB" sz="2400" dirty="0">
                <a:solidFill>
                  <a:srgbClr val="C00000"/>
                </a:solidFill>
              </a:rPr>
              <a:t>What’s your </a:t>
            </a:r>
            <a:br>
              <a:rPr lang="en-GB" sz="2400" dirty="0">
                <a:solidFill>
                  <a:srgbClr val="C00000"/>
                </a:solidFill>
              </a:rPr>
            </a:br>
            <a:r>
              <a:rPr lang="en-GB" sz="2400" dirty="0" err="1">
                <a:solidFill>
                  <a:srgbClr val="C00000"/>
                </a:solidFill>
              </a:rPr>
              <a:t>Erdos</a:t>
            </a:r>
            <a:r>
              <a:rPr lang="en-GB" sz="2400" dirty="0">
                <a:solidFill>
                  <a:srgbClr val="C00000"/>
                </a:solidFill>
              </a:rPr>
              <a:t>-Bacon number?</a:t>
            </a:r>
            <a:br>
              <a:rPr lang="en-GB" sz="2400" b="1" dirty="0"/>
            </a:br>
            <a:endParaRPr lang="en-GB" sz="2400" b="1" dirty="0"/>
          </a:p>
          <a:p>
            <a:r>
              <a:rPr lang="en-GB" sz="2400" b="1" dirty="0"/>
              <a:t>High clustering</a:t>
            </a:r>
            <a:br>
              <a:rPr lang="en-GB" sz="2400" dirty="0"/>
            </a:br>
            <a:endParaRPr lang="en-GB" sz="2400" dirty="0"/>
          </a:p>
          <a:p>
            <a:r>
              <a:rPr lang="en-GB" sz="2400" dirty="0"/>
              <a:t>Mean degree preserved</a:t>
            </a:r>
            <a:br>
              <a:rPr lang="en-GB" sz="2400" dirty="0"/>
            </a:br>
            <a:endParaRPr lang="en-GB" sz="2400" dirty="0"/>
          </a:p>
          <a:p>
            <a:r>
              <a:rPr lang="en-GB" sz="2400" dirty="0"/>
              <a:t>Best of both worlds?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8331C1CF-BE0D-4FF2-B7C5-B6E837404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131" y="1370443"/>
            <a:ext cx="5960669" cy="480652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3372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C0F29-D3E6-41BC-9451-42325884F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Further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F29B0-7DF6-4F36-88FD-5D946E058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Watts &amp; </a:t>
            </a:r>
            <a:r>
              <a:rPr lang="en-GB" sz="2400" b="1" dirty="0" err="1"/>
              <a:t>Strogatz</a:t>
            </a:r>
            <a:r>
              <a:rPr lang="en-GB" sz="2400" b="1" dirty="0"/>
              <a:t> 1998</a:t>
            </a:r>
            <a:br>
              <a:rPr lang="en-GB" sz="2400" dirty="0"/>
            </a:br>
            <a:r>
              <a:rPr lang="en-GB" sz="2400" dirty="0"/>
              <a:t>Collective dynamics of ‘small-world’ networks</a:t>
            </a:r>
            <a:br>
              <a:rPr lang="en-GB" sz="2400" dirty="0"/>
            </a:br>
            <a:endParaRPr lang="en-GB" sz="2400" dirty="0"/>
          </a:p>
          <a:p>
            <a:r>
              <a:rPr lang="en-GB" sz="2400" b="1" dirty="0" err="1"/>
              <a:t>Barabasi</a:t>
            </a:r>
            <a:r>
              <a:rPr lang="en-GB" sz="2400" b="1" dirty="0"/>
              <a:t> &amp; Albert 1999</a:t>
            </a:r>
            <a:br>
              <a:rPr lang="en-GB" sz="2400" dirty="0"/>
            </a:br>
            <a:r>
              <a:rPr lang="en-GB" sz="2400" dirty="0"/>
              <a:t>Emergence of Scaling in Random Networks</a:t>
            </a:r>
            <a:br>
              <a:rPr lang="en-GB" sz="2400" dirty="0"/>
            </a:br>
            <a:endParaRPr lang="en-GB" sz="2400" dirty="0"/>
          </a:p>
          <a:p>
            <a:r>
              <a:rPr lang="en-GB" sz="2400" b="1" dirty="0"/>
              <a:t>Newman 2002</a:t>
            </a:r>
            <a:br>
              <a:rPr lang="en-GB" sz="2400" dirty="0"/>
            </a:br>
            <a:r>
              <a:rPr lang="en-GB" sz="2400" dirty="0"/>
              <a:t>The spread of epidemic disease on networks</a:t>
            </a:r>
            <a:br>
              <a:rPr lang="en-GB" sz="2400" dirty="0"/>
            </a:br>
            <a:endParaRPr lang="en-GB" sz="2400" dirty="0"/>
          </a:p>
          <a:p>
            <a:r>
              <a:rPr lang="en-GB" sz="2400" b="1" dirty="0"/>
              <a:t>Albert &amp; </a:t>
            </a:r>
            <a:r>
              <a:rPr lang="en-GB" sz="2400" b="1" dirty="0" err="1"/>
              <a:t>Barabasi</a:t>
            </a:r>
            <a:br>
              <a:rPr lang="en-GB" sz="2400" dirty="0"/>
            </a:br>
            <a:r>
              <a:rPr lang="en-GB" sz="2400" dirty="0"/>
              <a:t>Statistical mechanics of complex networks</a:t>
            </a:r>
          </a:p>
          <a:p>
            <a:endParaRPr lang="en-GB" sz="2400" b="1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3336974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3.4608"/>
  <p:tag name="ORIGINALWIDTH" val="3370.079"/>
  <p:tag name="LATEXADDIN" val="\documentclass{article}&#10;\usepackage{amsmath}&#10;\pagestyle{empty}&#10;\begin{document}&#10;&#10;\begin{eqnarray}&#10;CC_i=\frac{|\text{links between $i$'s friends}|}{|\text{possible links between $i$'s friends}|}=\frac{\sum_{j,k\in H_i}A_{jk}}{|H_i|/(|H_i|-1)/2}\nonumber&#10;\end{eqnarray}&#10;&#10;\end{document}"/>
  <p:tag name="IGUANATEXSIZE" val="20"/>
  <p:tag name="IGUANATEXCURSOR" val="267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10.4612"/>
  <p:tag name="ORIGINALWIDTH" val="868.3914"/>
  <p:tag name="LATEXADDIN" val="\documentclass{article}&#10;\usepackage{amsmath}&#10;\pagestyle{empty}&#10;\begin{document}&#10;$$&#10;CL_i=\frac{N}{\sum_{j\neq i}d_{ij}}&#10;$$&#10;\end{document}"/>
  <p:tag name="IGUANATEXSIZE" val="24"/>
  <p:tag name="IGUANATEXCURSOR" val="11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45.7068"/>
  <p:tag name="ORIGINALWIDTH" val="1039.37"/>
  <p:tag name="LATEXADDIN" val="\documentclass{article}&#10;\usepackage{amsmath}&#10;\pagestyle{empty}&#10;\begin{document}&#10;$$&#10;BE_i=\sum_{j\neq i\neq k}\frac{\sigma_{jk}(i)}{\sigma_{jk}}&#10;$$&#10;\end{document}"/>
  <p:tag name="IGUANATEXSIZE" val="20"/>
  <p:tag name="IGUANATEXCURSOR" val="145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1196.1"/>
  <p:tag name="LATEXADDIN" val="\documentclass{article}&#10;\usepackage{amsmath}&#10;\pagestyle{empty}&#10;\begin{document}&#10;$$&#10;A\mathbf v=\lambda_1\mathbf v,\quad v_i&gt;0\ \forall i&#10;$$&#10;&#10;\end{document}"/>
  <p:tag name="IGUANATEXSIZE" val="24"/>
  <p:tag name="IGUANATEXCURSOR" val="138"/>
  <p:tag name="TRANSPARENCY" val="True"/>
  <p:tag name="FILENAME" val="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15814</TotalTime>
  <Words>209</Words>
  <Application>Microsoft Office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It’s a Small World</vt:lpstr>
      <vt:lpstr>Session aims</vt:lpstr>
      <vt:lpstr>Networks: basic properties</vt:lpstr>
      <vt:lpstr>Metrics</vt:lpstr>
      <vt:lpstr>Centrality</vt:lpstr>
      <vt:lpstr>Centrality: discussion</vt:lpstr>
      <vt:lpstr>Centrality: discussion</vt:lpstr>
      <vt:lpstr>Random graphs: discussion</vt:lpstr>
      <vt:lpstr>Modelling Social Contacts</vt:lpstr>
      <vt:lpstr>Small Worlds</vt:lpstr>
      <vt:lpstr>Further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Haw</dc:creator>
  <cp:lastModifiedBy>David Haw</cp:lastModifiedBy>
  <cp:revision>30</cp:revision>
  <dcterms:created xsi:type="dcterms:W3CDTF">2019-01-18T14:49:52Z</dcterms:created>
  <dcterms:modified xsi:type="dcterms:W3CDTF">2019-02-07T14:13:44Z</dcterms:modified>
</cp:coreProperties>
</file>