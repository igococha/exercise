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0836F8E6-C9E2-4F8E-8FED-D17185B378C8}">
  <a:tblStyle styleId="{0836F8E6-C9E2-4F8E-8FED-D17185B378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c9ef88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c9ef88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b0c1db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b0c1db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Nowcasting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b0c1dbf5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4b0c1dbf5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b0c1dbf5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4b0c1dbf5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Interventions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b0c1dbf5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4b0c1dbf5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Accuracy 1, parsimony 0.  Don’t want parameter estimates, wnat estimates of actual things.  Mechanism less important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dc6060a0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dc6060a0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4b0de9311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4b0de9311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4dc6060a0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4dc6060a0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dc6060a0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dc6060a0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4dc6060a0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4dc6060a0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dc6060a0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dc6060a0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b0c1dbf5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b0c1dbf5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Broadly, statistical vs mechanistic (lots covered in practical).  Pros and cons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Historical data: can be directly used in statistical, used to inform priors in mechanistic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dc6060a0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dc6060a0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Broadly, statistical vs mechanistic (lots covered in practical).  Pros and cons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Historical data: can be directly used in statistical, used to inform priors in mechanistic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b0c1dbf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b0c1dbf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Metrics in previous studies e.g. CDC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dc6060a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dc6060a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b0c1dbf5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4b0c1dbf5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far behind -- how far forward?  (see practical)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dc6060a0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dc6060a0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Metrics in previous studies e.g. CDC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4dc6060a0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4dc6060a0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Metrics in previous studies e.g. CDC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dc6060a0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dc6060a0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Metrics in previous studies e.g. CDC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dc6060a0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dc6060a0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dc6060a0c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dc6060a0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cd8f2ce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2cd8f2ce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dc6060a0c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4dc6060a0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Broadly, statistical vs mechanistic (lots covered in practical).  Pros and cons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Historical data: can be directly used in statistical, used to inform priors in mechanistic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4dc6060a0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4dc6060a0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4b1971ec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4b1971ec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R_Master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bit.ly/2CEdBpU" TargetMode="External"/><Relationship Id="rId4" Type="http://schemas.openxmlformats.org/officeDocument/2006/relationships/hyperlink" Target="mailto:s.riley@imperial.ac.uk" TargetMode="External"/><Relationship Id="rId5" Type="http://schemas.openxmlformats.org/officeDocument/2006/relationships/hyperlink" Target="mailto:c.walters@imperial.ac.uk" TargetMode="External"/><Relationship Id="rId6" Type="http://schemas.openxmlformats.org/officeDocument/2006/relationships/hyperlink" Target="mailto:haowei.wang@imperial.ac.uk" TargetMode="External"/><Relationship Id="rId7" Type="http://schemas.openxmlformats.org/officeDocument/2006/relationships/hyperlink" Target="mailto:a.yan@imperial.ac.u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reconlearn.org/post/simulated-evd-early.html" TargetMode="External"/><Relationship Id="rId4" Type="http://schemas.openxmlformats.org/officeDocument/2006/relationships/hyperlink" Target="https://predict.cdc.go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Forecasting Infectious Disease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632900" y="3714750"/>
            <a:ext cx="587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Slides: </a:t>
            </a:r>
            <a:r>
              <a:rPr lang="en-GB" sz="2400" u="sng">
                <a:solidFill>
                  <a:schemeClr val="hlink"/>
                </a:solidFill>
                <a:hlinkClick r:id="rId3"/>
              </a:rPr>
              <a:t>http://bit.ly/2CEdBpU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Steven Riley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s.riley@imperial.ac.uk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Caroline Walters </a:t>
            </a:r>
            <a:r>
              <a:rPr lang="en-GB" u="sng">
                <a:solidFill>
                  <a:schemeClr val="hlink"/>
                </a:solidFill>
                <a:hlinkClick r:id="rId5"/>
              </a:rPr>
              <a:t>c.walters@imperial.ac.uk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Haowei (Vivi) Wang </a:t>
            </a:r>
            <a:r>
              <a:rPr lang="en-GB" u="sng">
                <a:solidFill>
                  <a:schemeClr val="hlink"/>
                </a:solidFill>
                <a:hlinkClick r:id="rId6"/>
              </a:rPr>
              <a:t>haowei.wang@imperial.ac.uk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Ada Yan </a:t>
            </a:r>
            <a:r>
              <a:rPr lang="en-GB" u="sng">
                <a:solidFill>
                  <a:schemeClr val="hlink"/>
                </a:solidFill>
                <a:hlinkClick r:id="rId7"/>
              </a:rPr>
              <a:t>a.yan@imperial.ac.uk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OVERALL OBJECTIVES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* Understand the objectives of forecasting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* Understand how accuracy in forecasting is assessed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* Be able to use a linear model to make a forecast (appropriate R code provided)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* Be able to use a simple mechanistic model to make a forecast (appropriate R code provided)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* Be able to use a historical null model as a benchmark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-GB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forecasting?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</a:rPr>
              <a:t>Wu et al, EID 2010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6175"/>
            <a:ext cx="3521675" cy="26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49091" l="8122" r="0" t="0"/>
          <a:stretch/>
        </p:blipFill>
        <p:spPr>
          <a:xfrm>
            <a:off x="4620075" y="1152475"/>
            <a:ext cx="4194300" cy="17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8122" r="0" t="93532"/>
          <a:stretch/>
        </p:blipFill>
        <p:spPr>
          <a:xfrm>
            <a:off x="4638000" y="2868350"/>
            <a:ext cx="4194300" cy="2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Inputs and prediction targets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634" y="2162847"/>
            <a:ext cx="6751274" cy="27249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429125" y="510450"/>
            <a:ext cx="8022300" cy="16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Incidence data time series (aggregated or by age, location, …)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Data on vectors (for vector-borne diseases)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Contact data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Mobility data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Climate data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Social media/internet searches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Incidence data from previous outbreaks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852750" y="1287375"/>
            <a:ext cx="572100" cy="28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39725" y="4797825"/>
            <a:ext cx="3432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Reich et al. (2019) PNAS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Public health implications of predictions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Predicted incidence →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Public health burden e.g. hospital beds required, number of doctors required at each location, amount of antivirals/vaccines required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Economic burden e.g. number of work days missed, loss of GDP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effects of interventions e.g. social isolation, contact tracing, pharmaceutical treatments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5350" y="2933750"/>
            <a:ext cx="2423200" cy="20986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0" y="4824400"/>
            <a:ext cx="17661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Riley et al, Science, 2003 </a:t>
            </a:r>
            <a:endParaRPr sz="1000"/>
          </a:p>
        </p:txBody>
      </p:sp>
      <p:sp>
        <p:nvSpPr>
          <p:cNvPr id="89" name="Google Shape;89;p17"/>
          <p:cNvSpPr txBox="1"/>
          <p:nvPr/>
        </p:nvSpPr>
        <p:spPr>
          <a:xfrm>
            <a:off x="5209350" y="3212225"/>
            <a:ext cx="3746100" cy="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No intervention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 Faster onset to admission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 Faster onset and movement restriction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 Faster onset plus 50% reduced contact (Rt=1)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 Faster onset plus 70% reduced contact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Differences between model fitting and forecasting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Forecasting involves fitting a model to data, but with the specific objective of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Other reasons to fit a model to data: to understand the mechanisms of transmission, to estimate key quantities e.g. the incubation period…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When wanting to understand mechanisms, parsimony i.e. having the simplest model that explains the data is a consideration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For prediction, accuracy is the only important thing -- parsimony not important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Retrospective vs. prospective forecasting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Retrospective forecasting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used to develop forecasting methods and select between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pretend we don’t know what the historical data is → reveal data bit by bit → forecast → assess accuracy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Prospective forecasting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used to do a forecast with the available data now -- don’t know real answer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requires commitment to a single method and single prediction at a time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incidence data: influenza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510" y="470763"/>
            <a:ext cx="7316980" cy="42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58750" y="4758650"/>
            <a:ext cx="908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Adapted from slide by Allen Cheng (https://mvec.mcri.edu.au/wp-content/uploads/2018/07/Influenza_Prof.-Allen-Cheng.pdf) 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incidence data: influenza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258" l="0" r="0" t="258"/>
          <a:stretch/>
        </p:blipFill>
        <p:spPr>
          <a:xfrm>
            <a:off x="913510" y="470763"/>
            <a:ext cx="7316980" cy="42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58750" y="4758650"/>
            <a:ext cx="908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Adapted from slide by Allen Cheng (https://mvec.mcri.edu.au/wp-content/uploads/2018/07/Influenza_Prof.-Allen-Cheng.pdf) 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incidence data: influenza</a:t>
            </a: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58750" y="4758650"/>
            <a:ext cx="908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Adapted from slide by Allen Cheng (https://mvec.mcri.edu.au/wp-content/uploads/2018/07/Influenza_Prof.-Allen-Cheng.pdf) </a:t>
            </a:r>
            <a:endParaRPr sz="1000"/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952500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{0836F8E6-C9E2-4F8E-8FED-D17185B378C8}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Laboratory-confirmed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Influenza-like illness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Definitely influenza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May know strain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Large sample size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Faster reporting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Covers milder cases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Delays in processing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Small sample size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Sampling bias towards severe cases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Might be a different respiratory illness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Don’t know strain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Different types of incidence data: Ebola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0751" y="609200"/>
            <a:ext cx="5254625" cy="4458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149000" y="4911050"/>
            <a:ext cx="3432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https://www.who.int/ebola/situation-reports/drc-2018/en/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Practical Part 1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In RStudio, run devtools::install_github("c97sr/learnidd", build_opts = c("--no-manual"), force = TRUE)</a:t>
            </a:r>
            <a:endParaRPr sz="1400">
              <a:solidFill>
                <a:schemeClr val="dk1"/>
              </a:solidFill>
            </a:endParaRPr>
          </a:p>
          <a:p>
            <a:pPr indent="-85725" lvl="1" marL="6318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browseVignettes("learnidd")</a:t>
            </a:r>
            <a:endParaRPr>
              <a:solidFill>
                <a:schemeClr val="dk1"/>
              </a:solidFill>
            </a:endParaRPr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Click on forecasting (HTML)</a:t>
            </a:r>
            <a:endParaRPr>
              <a:solidFill>
                <a:schemeClr val="dk1"/>
              </a:solidFill>
            </a:endParaRPr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(Solutions are </a:t>
            </a:r>
            <a:r>
              <a:rPr lang="en-GB">
                <a:solidFill>
                  <a:schemeClr val="dk1"/>
                </a:solidFill>
              </a:rPr>
              <a:t>forecasting</a:t>
            </a:r>
            <a:r>
              <a:rPr lang="en-GB">
                <a:solidFill>
                  <a:schemeClr val="dk1"/>
                </a:solidFill>
              </a:rPr>
              <a:t>_ans)</a:t>
            </a:r>
            <a:endParaRPr>
              <a:solidFill>
                <a:schemeClr val="dk1"/>
              </a:solidFill>
            </a:endParaRPr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1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Backup link: http://bit.ly/2FF41qR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methods do we use? (more in practical)</a:t>
            </a:r>
            <a:endParaRPr/>
          </a:p>
        </p:txBody>
      </p:sp>
      <p:graphicFrame>
        <p:nvGraphicFramePr>
          <p:cNvPr id="141" name="Google Shape;141;p25"/>
          <p:cNvGraphicFramePr/>
          <p:nvPr/>
        </p:nvGraphicFramePr>
        <p:xfrm>
          <a:off x="952500" y="5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{0836F8E6-C9E2-4F8E-8FED-D17185B378C8}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Statistical models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Mechanistic models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Phenomenological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Can formulate model from data without knowing how transmission works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Cannot predict changes in incidence due to depletion of susceptibles/pharmaceutical interventions/behavioural interventions/organic changes in b</a:t>
                      </a:r>
                      <a:r>
                        <a:rPr lang="en-GB"/>
                        <a:t>ehaviour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Examples: generalised linear model, time series analysis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Incorporate infection dynamics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Need prior knowledge of how transmission works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Can predict changes in incidence due to depletion of susceptibles/pharmaceutical interventions/behavioural interventions/organic changes in behaviour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Examples: compartmental models, network models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>
                      <a:noAutofit/>
                    </a:bodyPr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Others: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Combination e.g. SEIR model with changing R_0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Human intervention (from crowdsourcing to selecting from forecasts from different models)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methods do we use? (more in practical)</a:t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500" y="598400"/>
            <a:ext cx="4159530" cy="420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we report forecasts?</a:t>
            </a: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46" y="789125"/>
            <a:ext cx="5306908" cy="4201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>
            <a:off x="3390900" y="2950200"/>
            <a:ext cx="3432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C4587"/>
                </a:solidFill>
              </a:rPr>
              <a:t>90% CI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3438575" y="3608375"/>
            <a:ext cx="3432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0000"/>
                </a:solidFill>
              </a:rPr>
              <a:t>50% CI</a:t>
            </a:r>
            <a:endParaRPr>
              <a:solidFill>
                <a:srgbClr val="660000"/>
              </a:solidFill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3412625" y="3931500"/>
            <a:ext cx="3432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74E13"/>
                </a:solidFill>
              </a:rPr>
              <a:t>Median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1525425" y="3799100"/>
            <a:ext cx="3432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74EA7"/>
                </a:solidFill>
              </a:rPr>
              <a:t>Data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2712750" y="1884650"/>
            <a:ext cx="3432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Peak</a:t>
            </a:r>
            <a:endParaRPr/>
          </a:p>
        </p:txBody>
      </p:sp>
      <p:sp>
        <p:nvSpPr>
          <p:cNvPr id="159" name="Google Shape;159;p27"/>
          <p:cNvSpPr txBox="1"/>
          <p:nvPr/>
        </p:nvSpPr>
        <p:spPr>
          <a:xfrm>
            <a:off x="142200" y="4788450"/>
            <a:ext cx="6568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Moss et al. (2018) Australian and New Zealand Journal of Public Health</a:t>
            </a:r>
            <a:endParaRPr sz="1000"/>
          </a:p>
        </p:txBody>
      </p:sp>
      <p:sp>
        <p:nvSpPr>
          <p:cNvPr id="160" name="Google Shape;160;p27"/>
          <p:cNvSpPr txBox="1"/>
          <p:nvPr/>
        </p:nvSpPr>
        <p:spPr>
          <a:xfrm>
            <a:off x="5864675" y="935725"/>
            <a:ext cx="3432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Point estimate?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Confidence interval?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Probability density function?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Practical part 2: up to Qu. 2.3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we choose which incidence timepoints to use?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Do we use all available incidence data?  A few data points closest to the current time?  Do we trust recent data points?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Some timepoints might not be well captured by the model → ignore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we assess accuracy?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Point estimate: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was it within a given range of the observed value?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absolute error, root mean squared error etc. (RAPIDD Ebola Forecasting Challenge, Viboud et al. (2018), Epidemics)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Time series of point estimates: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combine accuracy metrics from point estimates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bia</a:t>
            </a:r>
            <a:r>
              <a:rPr lang="en-GB"/>
              <a:t>s e.g. fitting a linear regression to predicted and observed incidences (</a:t>
            </a:r>
            <a:r>
              <a:rPr lang="en-GB"/>
              <a:t>RAPIDD Ebola Forecasting Challenge)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Probability distribution: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how much of the probability distribution was within a given range of the observed value? (CDC Influenza Forecasting Challenge)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 txBox="1"/>
          <p:nvPr/>
        </p:nvSpPr>
        <p:spPr>
          <a:xfrm>
            <a:off x="363550" y="4446175"/>
            <a:ext cx="8361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RAPIDD Ebola Forecasting Challenge: Viboud et al. (2018), Epidemics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CDC Influenza Forecasting Challenge: Biggerstaff et al. (2018), Epidemics</a:t>
            </a:r>
            <a:r>
              <a:rPr lang="en-GB" sz="1000"/>
              <a:t> 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we assess accuracy?</a:t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363550" y="4446175"/>
            <a:ext cx="8361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RAPIDD Ebola Forecasting Challenge: Viboud et al. (2018), Epidemics</a:t>
            </a:r>
            <a:endParaRPr sz="1000"/>
          </a:p>
        </p:txBody>
      </p:sp>
      <p:pic>
        <p:nvPicPr>
          <p:cNvPr id="186" name="Google Shape;186;p31"/>
          <p:cNvPicPr preferRelativeResize="0"/>
          <p:nvPr/>
        </p:nvPicPr>
        <p:blipFill rotWithShape="1">
          <a:blip r:embed="rId3">
            <a:alphaModFix/>
          </a:blip>
          <a:srcRect b="49710" l="0" r="0" t="0"/>
          <a:stretch/>
        </p:blipFill>
        <p:spPr>
          <a:xfrm>
            <a:off x="1150125" y="959550"/>
            <a:ext cx="3375000" cy="258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/>
          <p:cNvPicPr preferRelativeResize="0"/>
          <p:nvPr/>
        </p:nvPicPr>
        <p:blipFill rotWithShape="1">
          <a:blip r:embed="rId3">
            <a:alphaModFix/>
          </a:blip>
          <a:srcRect b="0" l="0" r="0" t="51844"/>
          <a:stretch/>
        </p:blipFill>
        <p:spPr>
          <a:xfrm>
            <a:off x="4525125" y="959549"/>
            <a:ext cx="3375000" cy="247682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 txBox="1"/>
          <p:nvPr/>
        </p:nvSpPr>
        <p:spPr>
          <a:xfrm>
            <a:off x="482750" y="3540250"/>
            <a:ext cx="75393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Fig. 2. Performance statistics for incidence forecasts, displaying data for all prediction time points. Left: Box plots of the mean absolute error by team, across all scenarios. Red indicates the Bayesian ensemble mean (smallest absolute error). Right: Agreement between synthetic and predicted incidences by team for data-rich scenario 1.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do we assess accuracy for a seasonal forecast?  Against a historic average</a:t>
            </a:r>
            <a:endParaRPr sz="1800"/>
          </a:p>
        </p:txBody>
      </p:sp>
      <p:sp>
        <p:nvSpPr>
          <p:cNvPr id="194" name="Google Shape;194;p32"/>
          <p:cNvSpPr txBox="1"/>
          <p:nvPr/>
        </p:nvSpPr>
        <p:spPr>
          <a:xfrm>
            <a:off x="363550" y="4446175"/>
            <a:ext cx="8361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00">
                <a:solidFill>
                  <a:schemeClr val="dk2"/>
                </a:solidFill>
              </a:rPr>
              <a:t>CDC Influenza Forecasting Challenge: Biggerstaff et al. (2018), Epidemics</a:t>
            </a:r>
            <a:r>
              <a:rPr lang="en-GB" sz="1000">
                <a:solidFill>
                  <a:schemeClr val="dk1"/>
                </a:solidFill>
              </a:rPr>
              <a:t>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482750" y="3540250"/>
            <a:ext cx="75393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Fig. 3a. 1-week- ahead point forecasts for the percent of visits due to influenza-like illness reported through the U.S. Outpatient Influenza-like Illness Surveillance Network (ILINet) and the actual ILINet value (in black).</a:t>
            </a:r>
            <a:endParaRPr/>
          </a:p>
        </p:txBody>
      </p:sp>
      <p:pic>
        <p:nvPicPr>
          <p:cNvPr id="196" name="Google Shape;196;p32"/>
          <p:cNvPicPr preferRelativeResize="0"/>
          <p:nvPr/>
        </p:nvPicPr>
        <p:blipFill rotWithShape="1">
          <a:blip r:embed="rId3">
            <a:alphaModFix/>
          </a:blip>
          <a:srcRect b="50553" l="0" r="50973" t="0"/>
          <a:stretch/>
        </p:blipFill>
        <p:spPr>
          <a:xfrm>
            <a:off x="1942075" y="636725"/>
            <a:ext cx="4526229" cy="2989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Practical part 2.4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Practical part 3</a:t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250" y="698125"/>
            <a:ext cx="6410197" cy="42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4"/>
          <p:cNvSpPr txBox="1"/>
          <p:nvPr/>
        </p:nvSpPr>
        <p:spPr>
          <a:xfrm>
            <a:off x="0" y="4824400"/>
            <a:ext cx="25797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WHO Ebola Response Team, NEJM, 2013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MODELS DON’T PREDICT THE PEAK</a:t>
            </a:r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1017725"/>
            <a:ext cx="7458075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0" y="4824400"/>
            <a:ext cx="1514700" cy="3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Meltzer et al</a:t>
            </a:r>
            <a:r>
              <a:rPr lang="en-GB" sz="1000"/>
              <a:t>, EID, 2001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methods do we use? (more in practical)</a:t>
            </a:r>
            <a:endParaRPr/>
          </a:p>
        </p:txBody>
      </p:sp>
      <p:graphicFrame>
        <p:nvGraphicFramePr>
          <p:cNvPr id="221" name="Google Shape;221;p36"/>
          <p:cNvGraphicFramePr/>
          <p:nvPr/>
        </p:nvGraphicFramePr>
        <p:xfrm>
          <a:off x="952500" y="5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{0836F8E6-C9E2-4F8E-8FED-D17185B378C8}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Statistical models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Mechanistic models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Phenomenological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Can formulate model from data without knowing how transmission works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Cannot predict changes in incidence due to depletion of susceptibles/pharmaceutical interventions/behavioural interventions/organic changes in behaviour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Examples: generalised linear model, time series analysis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Incorporate infection dynamics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Need prior knowledge of how transmission works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Can predict changes in incidence due to depletion of susceptibles/pharmaceutical interventions/behavioural interventions/organic changes in behaviour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Examples: compartmental models, network models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 gridSpan="2">
                  <a:txBody>
                    <a:bodyPr>
                      <a:noAutofit/>
                    </a:bodyPr>
                    <a:lstStyle/>
                    <a:p>
                      <a:pPr indent="-2286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Others: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Combination e.g. SEIR model with changing R_0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GB"/>
                        <a:t>Human intervention (from crowdsourcing to selecting from forecasts from different models)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Practical part 4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Web resources</a:t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311700" y="815400"/>
            <a:ext cx="85206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https://www.reconlearn.org/post/simulated-evd-early.html</a:t>
            </a:r>
            <a:r>
              <a:rPr lang="en-GB"/>
              <a:t> outbreak simulation using R packages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https://predict.cdc.gov/</a:t>
            </a:r>
            <a:r>
              <a:rPr lang="en-GB"/>
              <a:t> CDC flu forecasting competition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