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8" r:id="rId3"/>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y="6858000" cx="9144000"/>
  <p:notesSz cx="6858000" cy="9144000"/>
  <p:embeddedFontLst>
    <p:embeddedFont>
      <p:font typeface="Merriweather Sans"/>
      <p:regular r:id="rId66"/>
      <p:bold r:id="rId67"/>
      <p:italic r:id="rId68"/>
      <p:boldItalic r:id="rId69"/>
    </p:embeddedFont>
    <p:embeddedFont>
      <p:font typeface="Tahoma"/>
      <p:regular r:id="rId70"/>
      <p:bold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Tahoma-bold.fntdata"/><Relationship Id="rId70" Type="http://schemas.openxmlformats.org/officeDocument/2006/relationships/font" Target="fonts/Tahoma-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MerriweatherSans-regular.fntdata"/><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MerriweatherSans-italic.fntdata"/><Relationship Id="rId23" Type="http://schemas.openxmlformats.org/officeDocument/2006/relationships/slide" Target="slides/slide18.xml"/><Relationship Id="rId67" Type="http://schemas.openxmlformats.org/officeDocument/2006/relationships/font" Target="fonts/MerriweatherSans-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MerriweatherSans-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lstStyle>
            <a:lvl1pPr indent="-228600" lvl="0" marL="457200" marR="0" rtl="0" algn="l">
              <a:spcBef>
                <a:spcPts val="0"/>
              </a:spcBef>
              <a:spcAft>
                <a:spcPts val="0"/>
              </a:spcAft>
              <a:buSzPts val="1400"/>
              <a:buNone/>
              <a:defRPr b="0" i="0" sz="2200" u="none" cap="none" strike="noStrike">
                <a:latin typeface="Merriweather Sans"/>
                <a:ea typeface="Merriweather Sans"/>
                <a:cs typeface="Merriweather Sans"/>
                <a:sym typeface="Merriweather Sans"/>
              </a:defRPr>
            </a:lvl1pPr>
            <a:lvl2pPr indent="-228600" lvl="1" marL="914400" marR="0" rtl="0" algn="l">
              <a:spcBef>
                <a:spcPts val="0"/>
              </a:spcBef>
              <a:spcAft>
                <a:spcPts val="0"/>
              </a:spcAft>
              <a:buSzPts val="1400"/>
              <a:buNone/>
              <a:defRPr b="0" i="0" sz="2200" u="none" cap="none" strike="noStrike">
                <a:latin typeface="Merriweather Sans"/>
                <a:ea typeface="Merriweather Sans"/>
                <a:cs typeface="Merriweather Sans"/>
                <a:sym typeface="Merriweather Sans"/>
              </a:defRPr>
            </a:lvl2pPr>
            <a:lvl3pPr indent="-228600" lvl="2" marL="1371600" marR="0" rtl="0" algn="l">
              <a:spcBef>
                <a:spcPts val="0"/>
              </a:spcBef>
              <a:spcAft>
                <a:spcPts val="0"/>
              </a:spcAft>
              <a:buSzPts val="1400"/>
              <a:buNone/>
              <a:defRPr b="0" i="0" sz="2200" u="none" cap="none" strike="noStrike">
                <a:latin typeface="Merriweather Sans"/>
                <a:ea typeface="Merriweather Sans"/>
                <a:cs typeface="Merriweather Sans"/>
                <a:sym typeface="Merriweather Sans"/>
              </a:defRPr>
            </a:lvl3pPr>
            <a:lvl4pPr indent="-228600" lvl="3" marL="1828800" marR="0" rtl="0" algn="l">
              <a:spcBef>
                <a:spcPts val="0"/>
              </a:spcBef>
              <a:spcAft>
                <a:spcPts val="0"/>
              </a:spcAft>
              <a:buSzPts val="1400"/>
              <a:buNone/>
              <a:defRPr b="0" i="0" sz="2200" u="none" cap="none" strike="noStrike">
                <a:latin typeface="Merriweather Sans"/>
                <a:ea typeface="Merriweather Sans"/>
                <a:cs typeface="Merriweather Sans"/>
                <a:sym typeface="Merriweather Sans"/>
              </a:defRPr>
            </a:lvl4pPr>
            <a:lvl5pPr indent="-228600" lvl="4" marL="2286000" marR="0" rtl="0" algn="l">
              <a:spcBef>
                <a:spcPts val="0"/>
              </a:spcBef>
              <a:spcAft>
                <a:spcPts val="0"/>
              </a:spcAft>
              <a:buSzPts val="1400"/>
              <a:buNone/>
              <a:defRPr b="0" i="0" sz="2200" u="none" cap="none" strike="noStrike">
                <a:latin typeface="Merriweather Sans"/>
                <a:ea typeface="Merriweather Sans"/>
                <a:cs typeface="Merriweather Sans"/>
                <a:sym typeface="Merriweather Sans"/>
              </a:defRPr>
            </a:lvl5pPr>
            <a:lvl6pPr indent="-228600" lvl="5" marL="2743200" marR="0" rtl="0" algn="l">
              <a:spcBef>
                <a:spcPts val="0"/>
              </a:spcBef>
              <a:spcAft>
                <a:spcPts val="0"/>
              </a:spcAft>
              <a:buSzPts val="1400"/>
              <a:buNone/>
              <a:defRPr b="0" i="0" sz="2200" u="none" cap="none" strike="noStrike">
                <a:latin typeface="Merriweather Sans"/>
                <a:ea typeface="Merriweather Sans"/>
                <a:cs typeface="Merriweather Sans"/>
                <a:sym typeface="Merriweather Sans"/>
              </a:defRPr>
            </a:lvl6pPr>
            <a:lvl7pPr indent="-228600" lvl="6" marL="3200400" marR="0" rtl="0" algn="l">
              <a:spcBef>
                <a:spcPts val="0"/>
              </a:spcBef>
              <a:spcAft>
                <a:spcPts val="0"/>
              </a:spcAft>
              <a:buSzPts val="1400"/>
              <a:buNone/>
              <a:defRPr b="0" i="0" sz="2200" u="none" cap="none" strike="noStrike">
                <a:latin typeface="Merriweather Sans"/>
                <a:ea typeface="Merriweather Sans"/>
                <a:cs typeface="Merriweather Sans"/>
                <a:sym typeface="Merriweather Sans"/>
              </a:defRPr>
            </a:lvl7pPr>
            <a:lvl8pPr indent="-228600" lvl="7" marL="3657600" marR="0" rtl="0" algn="l">
              <a:spcBef>
                <a:spcPts val="0"/>
              </a:spcBef>
              <a:spcAft>
                <a:spcPts val="0"/>
              </a:spcAft>
              <a:buSzPts val="1400"/>
              <a:buNone/>
              <a:defRPr b="0" i="0" sz="2200" u="none" cap="none" strike="noStrike">
                <a:latin typeface="Merriweather Sans"/>
                <a:ea typeface="Merriweather Sans"/>
                <a:cs typeface="Merriweather Sans"/>
                <a:sym typeface="Merriweather Sans"/>
              </a:defRPr>
            </a:lvl8pPr>
            <a:lvl9pPr indent="-228600" lvl="8" marL="4114800" marR="0" rtl="0" algn="l">
              <a:spcBef>
                <a:spcPts val="0"/>
              </a:spcBef>
              <a:spcAft>
                <a:spcPts val="0"/>
              </a:spcAft>
              <a:buSzPts val="1400"/>
              <a:buNone/>
              <a:defRPr b="0" i="0" sz="2200" u="none" cap="none" strike="noStrike">
                <a:latin typeface="Merriweather Sans"/>
                <a:ea typeface="Merriweather Sans"/>
                <a:cs typeface="Merriweather Sans"/>
                <a:sym typeface="Merriweather Sans"/>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p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2" name="Shape 52"/>
        <p:cNvGrpSpPr/>
        <p:nvPr/>
      </p:nvGrpSpPr>
      <p:grpSpPr>
        <a:xfrm>
          <a:off x="0" y="0"/>
          <a:ext cx="0" cy="0"/>
          <a:chOff x="0" y="0"/>
          <a:chExt cx="0" cy="0"/>
        </a:xfrm>
      </p:grpSpPr>
      <p:sp>
        <p:nvSpPr>
          <p:cNvPr id="53" name="Google Shape;53;p1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8" name="Shape 58"/>
        <p:cNvGrpSpPr/>
        <p:nvPr/>
      </p:nvGrpSpPr>
      <p:grpSpPr>
        <a:xfrm>
          <a:off x="0" y="0"/>
          <a:ext cx="0" cy="0"/>
          <a:chOff x="0" y="0"/>
          <a:chExt cx="0" cy="0"/>
        </a:xfrm>
      </p:grpSpPr>
      <p:sp>
        <p:nvSpPr>
          <p:cNvPr id="59" name="Google Shape;59;g4c67df1247_0_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Hope-Simpson observed outbreaks in households and closed communities and systematically recorded information regarding infections and the household and community networks of individuals.</a:t>
            </a:r>
            <a:br>
              <a:rPr lang="en-US"/>
            </a:br>
            <a:br>
              <a:rPr lang="en-US"/>
            </a:br>
            <a:r>
              <a:rPr lang="en-US"/>
              <a:t>Allowed for evidence of theory that </a:t>
            </a:r>
            <a:r>
              <a:rPr lang="en-US"/>
              <a:t>chickenpox</a:t>
            </a:r>
            <a:r>
              <a:rPr lang="en-US"/>
              <a:t> and shingles are caused by a single virus.</a:t>
            </a:r>
            <a:endParaRPr/>
          </a:p>
        </p:txBody>
      </p:sp>
      <p:sp>
        <p:nvSpPr>
          <p:cNvPr id="60" name="Google Shape;60;g4c67df1247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5" name="Shape 65"/>
        <p:cNvGrpSpPr/>
        <p:nvPr/>
      </p:nvGrpSpPr>
      <p:grpSpPr>
        <a:xfrm>
          <a:off x="0" y="0"/>
          <a:ext cx="0" cy="0"/>
          <a:chOff x="0" y="0"/>
          <a:chExt cx="0" cy="0"/>
        </a:xfrm>
      </p:grpSpPr>
      <p:sp>
        <p:nvSpPr>
          <p:cNvPr id="66" name="Google Shape;66;g4c67df1247_0_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Hope-Simpson’s results, with rows representing different households and columns different generations of infection.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Example I: A infected, passes infection on to B, C, D, E.  At that point everyone in household has had the infection.</a:t>
            </a:r>
            <a:br>
              <a:rPr lang="en-US"/>
            </a:br>
            <a:br>
              <a:rPr lang="en-US"/>
            </a:br>
            <a:r>
              <a:rPr lang="en-US"/>
              <a:t>Compare with Example II: A infects B, B infects C, D, E. So 2 subsequent generations.</a:t>
            </a:r>
            <a:br>
              <a:rPr lang="en-US"/>
            </a:br>
            <a:br>
              <a:rPr lang="en-US"/>
            </a:br>
            <a:r>
              <a:rPr lang="en-US"/>
              <a:t>Compare with Example IV: A infected on Jan 2nd - infects no one.  B infected on Feb 3rd, from outside household, and goes on to infect C and D only.  E escapes infections.</a:t>
            </a:r>
            <a:endParaRPr/>
          </a:p>
        </p:txBody>
      </p:sp>
      <p:sp>
        <p:nvSpPr>
          <p:cNvPr id="67" name="Google Shape;67;g4c67df1247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2" name="Shape 72"/>
        <p:cNvGrpSpPr/>
        <p:nvPr/>
      </p:nvGrpSpPr>
      <p:grpSpPr>
        <a:xfrm>
          <a:off x="0" y="0"/>
          <a:ext cx="0" cy="0"/>
          <a:chOff x="0" y="0"/>
          <a:chExt cx="0" cy="0"/>
        </a:xfrm>
      </p:grpSpPr>
      <p:sp>
        <p:nvSpPr>
          <p:cNvPr id="73" name="Google Shape;73;g4c67df1247_0_2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Chickenpox cases could lead to other chickenpox cases; shingles cases could lead to infections of something very similar to chickenpox.</a:t>
            </a:r>
            <a:br>
              <a:rPr lang="en-US"/>
            </a:br>
            <a:r>
              <a:rPr lang="en-US"/>
              <a:t>Hypothesis at the time: varicella caused by the same organism as Z-varicella.</a:t>
            </a:r>
            <a:br>
              <a:rPr lang="en-US"/>
            </a:br>
            <a:br>
              <a:rPr lang="en-US"/>
            </a:br>
            <a:r>
              <a:rPr lang="en-US"/>
              <a:t>Hope-Simpson went to a closed community (small Shetland island of Yell) and documented case histories of shingles and chickenpox. Couldn’t use wider population as chickenpox too prevalent - couldn’t track generations of transmission. Small island population made this possible, then combined with data from his local practice (Gloucestershire) to formulate argument. Population of Yell - knew the households and also contact networks (children at school).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Argued that if varicella and Z-varicella we related but not the same then there would be cross-immunity, but not complete immunity. Found cross-protection was 100% in all cases.</a:t>
            </a:r>
            <a:br>
              <a:rPr lang="en-US"/>
            </a:br>
            <a:br>
              <a:rPr lang="en-US"/>
            </a:br>
            <a:r>
              <a:rPr lang="en-US"/>
              <a:t>In the conclusion, used some values from observations of the chickenpox, measles, mumps paper that we cannot access.</a:t>
            </a:r>
            <a:endParaRPr/>
          </a:p>
        </p:txBody>
      </p:sp>
      <p:sp>
        <p:nvSpPr>
          <p:cNvPr id="74" name="Google Shape;74;g4c67df1247_0_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6" name="Shape 86"/>
        <p:cNvGrpSpPr/>
        <p:nvPr/>
      </p:nvGrpSpPr>
      <p:grpSpPr>
        <a:xfrm>
          <a:off x="0" y="0"/>
          <a:ext cx="0" cy="0"/>
          <a:chOff x="0" y="0"/>
          <a:chExt cx="0" cy="0"/>
        </a:xfrm>
      </p:grpSpPr>
      <p:sp>
        <p:nvSpPr>
          <p:cNvPr id="87" name="Google Shape;87;p1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2538" lvl="0" marL="40638" marR="40638" rtl="0" algn="l">
              <a:spcBef>
                <a:spcPts val="0"/>
              </a:spcBef>
              <a:spcAft>
                <a:spcPts val="0"/>
              </a:spcAft>
              <a:buNone/>
            </a:pPr>
            <a:r>
              <a:rPr lang="en-US" sz="1600">
                <a:solidFill>
                  <a:schemeClr val="dk1"/>
                </a:solidFill>
                <a:latin typeface="Tahoma"/>
                <a:ea typeface="Tahoma"/>
                <a:cs typeface="Tahoma"/>
                <a:sym typeface="Tahoma"/>
              </a:rPr>
              <a:t>T</a:t>
            </a:r>
            <a:r>
              <a:rPr lang="en-US" sz="1600">
                <a:solidFill>
                  <a:schemeClr val="dk1"/>
                </a:solidFill>
                <a:latin typeface="Tahoma"/>
                <a:ea typeface="Tahoma"/>
                <a:cs typeface="Tahoma"/>
                <a:sym typeface="Tahoma"/>
              </a:rPr>
              <a:t>he protective efficacy of vaccination, VE_S , has been the main interest. The secondary attack rate (SAR), the proportion of susceptibles exposed to an infectious person who become infected, has been used to estimate protective effects of vaccination.</a:t>
            </a:r>
            <a:br>
              <a:rPr lang="en-US" sz="1600">
                <a:solidFill>
                  <a:schemeClr val="dk1"/>
                </a:solidFill>
                <a:latin typeface="Tahoma"/>
                <a:ea typeface="Tahoma"/>
                <a:cs typeface="Tahoma"/>
                <a:sym typeface="Tahoma"/>
              </a:rPr>
            </a:br>
            <a:br>
              <a:rPr lang="en-US" sz="1600">
                <a:solidFill>
                  <a:schemeClr val="dk1"/>
                </a:solidFill>
                <a:latin typeface="Tahoma"/>
                <a:ea typeface="Tahoma"/>
                <a:cs typeface="Tahoma"/>
                <a:sym typeface="Tahoma"/>
              </a:rPr>
            </a:br>
            <a:r>
              <a:rPr lang="en-US" sz="1600">
                <a:solidFill>
                  <a:schemeClr val="dk1"/>
                </a:solidFill>
                <a:latin typeface="Tahoma"/>
                <a:ea typeface="Tahoma"/>
                <a:cs typeface="Tahoma"/>
                <a:sym typeface="Tahoma"/>
              </a:rPr>
              <a:t>Recently, the effect of vaccination on reducing infectiousness in breakthrough cases, VE_I, based on the relative SAR from vaccinated cases compared with that from unvaccinated cases, has received more attention.</a:t>
            </a:r>
            <a:endParaRPr sz="1600">
              <a:solidFill>
                <a:schemeClr val="dk1"/>
              </a:solidFill>
              <a:latin typeface="Tahoma"/>
              <a:ea typeface="Tahoma"/>
              <a:cs typeface="Tahoma"/>
              <a:sym typeface="Tahoma"/>
            </a:endParaRPr>
          </a:p>
          <a:p>
            <a:pPr indent="-2538" lvl="0" marL="40638" marR="40638" rtl="0" algn="l">
              <a:spcBef>
                <a:spcPts val="0"/>
              </a:spcBef>
              <a:spcAft>
                <a:spcPts val="0"/>
              </a:spcAft>
              <a:buNone/>
            </a:pPr>
            <a:r>
              <a:t/>
            </a:r>
            <a:endParaRPr sz="1600">
              <a:solidFill>
                <a:schemeClr val="dk1"/>
              </a:solidFill>
              <a:latin typeface="Tahoma"/>
              <a:ea typeface="Tahoma"/>
              <a:cs typeface="Tahoma"/>
              <a:sym typeface="Tahoma"/>
            </a:endParaRPr>
          </a:p>
          <a:p>
            <a:pPr indent="-2538" lvl="0" marL="40638" marR="40638" rtl="0" algn="l">
              <a:spcBef>
                <a:spcPts val="0"/>
              </a:spcBef>
              <a:spcAft>
                <a:spcPts val="0"/>
              </a:spcAft>
              <a:buClr>
                <a:schemeClr val="dk1"/>
              </a:buClr>
              <a:buFont typeface="Tahoma"/>
              <a:buNone/>
            </a:pPr>
            <a:r>
              <a:rPr lang="en-US" sz="1600">
                <a:solidFill>
                  <a:schemeClr val="dk1"/>
                </a:solidFill>
                <a:latin typeface="Tahoma"/>
                <a:ea typeface="Tahoma"/>
                <a:cs typeface="Tahoma"/>
                <a:sym typeface="Tahoma"/>
              </a:rPr>
              <a:t>households/ clusters/ living units: can look at each unit separately and take into account the vaccination status of the infectious individual and all susceptibles.  Then can calculate SAR in each unit and compare units of different vax status.</a:t>
            </a:r>
            <a:endParaRPr sz="1600">
              <a:solidFill>
                <a:schemeClr val="dk1"/>
              </a:solidFill>
              <a:latin typeface="Tahoma"/>
              <a:ea typeface="Tahoma"/>
              <a:cs typeface="Tahoma"/>
              <a:sym typeface="Tahoma"/>
            </a:endParaRPr>
          </a:p>
          <a:p>
            <a:pPr indent="0" lvl="0" marL="0" rtl="0" algn="l">
              <a:spcBef>
                <a:spcPts val="0"/>
              </a:spcBef>
              <a:spcAft>
                <a:spcPts val="0"/>
              </a:spcAft>
              <a:buNone/>
            </a:pPr>
            <a:r>
              <a:t/>
            </a:r>
            <a:endParaRPr/>
          </a:p>
        </p:txBody>
      </p:sp>
      <p:sp>
        <p:nvSpPr>
          <p:cNvPr id="88" name="Google Shape;8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5" name="Shape 115"/>
        <p:cNvGrpSpPr/>
        <p:nvPr/>
      </p:nvGrpSpPr>
      <p:grpSpPr>
        <a:xfrm>
          <a:off x="0" y="0"/>
          <a:ext cx="0" cy="0"/>
          <a:chOff x="0" y="0"/>
          <a:chExt cx="0" cy="0"/>
        </a:xfrm>
      </p:grpSpPr>
      <p:sp>
        <p:nvSpPr>
          <p:cNvPr id="116" name="Google Shape;116;p1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Again a table recording index cases and subsequent infections. </a:t>
            </a:r>
            <a:endParaRPr/>
          </a:p>
        </p:txBody>
      </p:sp>
      <p:sp>
        <p:nvSpPr>
          <p:cNvPr id="117" name="Google Shape;11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2" name="Shape 122"/>
        <p:cNvGrpSpPr/>
        <p:nvPr/>
      </p:nvGrpSpPr>
      <p:grpSpPr>
        <a:xfrm>
          <a:off x="0" y="0"/>
          <a:ext cx="0" cy="0"/>
          <a:chOff x="0" y="0"/>
          <a:chExt cx="0" cy="0"/>
        </a:xfrm>
      </p:grpSpPr>
      <p:sp>
        <p:nvSpPr>
          <p:cNvPr id="123" name="Google Shape;123;p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No we look at a simple household model. </a:t>
            </a:r>
            <a:br>
              <a:rPr lang="en-US"/>
            </a:br>
            <a:br>
              <a:rPr lang="en-US"/>
            </a:br>
            <a:r>
              <a:rPr lang="en-US"/>
              <a:t>Good model to look at in detail - not too complicated, can work through the steps.</a:t>
            </a:r>
            <a:endParaRPr/>
          </a:p>
        </p:txBody>
      </p:sp>
      <p:sp>
        <p:nvSpPr>
          <p:cNvPr id="124" name="Google Shape;12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9" name="Shape 129"/>
        <p:cNvGrpSpPr/>
        <p:nvPr/>
      </p:nvGrpSpPr>
      <p:grpSpPr>
        <a:xfrm>
          <a:off x="0" y="0"/>
          <a:ext cx="0" cy="0"/>
          <a:chOff x="0" y="0"/>
          <a:chExt cx="0" cy="0"/>
        </a:xfrm>
      </p:grpSpPr>
      <p:sp>
        <p:nvSpPr>
          <p:cNvPr id="130" name="Google Shape;130;p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SIS model should be familiar to you.</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simple household model, take population N and divide by size of household to give number of households.</a:t>
            </a:r>
            <a:endParaRPr/>
          </a:p>
        </p:txBody>
      </p:sp>
      <p:sp>
        <p:nvSpPr>
          <p:cNvPr id="131" name="Google Shape;13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7" name="Shape 147"/>
        <p:cNvGrpSpPr/>
        <p:nvPr/>
      </p:nvGrpSpPr>
      <p:grpSpPr>
        <a:xfrm>
          <a:off x="0" y="0"/>
          <a:ext cx="0" cy="0"/>
          <a:chOff x="0" y="0"/>
          <a:chExt cx="0" cy="0"/>
        </a:xfrm>
      </p:grpSpPr>
      <p:sp>
        <p:nvSpPr>
          <p:cNvPr id="148" name="Google Shape;148;p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Split the population N into N/2 households with 2 people in each household.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There 2 people definitely </a:t>
            </a:r>
            <a:r>
              <a:rPr lang="en-US"/>
              <a:t>interact</a:t>
            </a:r>
            <a:r>
              <a:rPr lang="en-US"/>
              <a:t> with each other (permanent contacts), but also have a chance of </a:t>
            </a:r>
            <a:r>
              <a:rPr lang="en-US"/>
              <a:t>interact</a:t>
            </a:r>
            <a:r>
              <a:rPr lang="en-US"/>
              <a:t> with the population outside of their household (random contacts).</a:t>
            </a:r>
            <a:endParaRPr/>
          </a:p>
        </p:txBody>
      </p:sp>
      <p:sp>
        <p:nvSpPr>
          <p:cNvPr id="149" name="Google Shape;14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4" name="Shape 224"/>
        <p:cNvGrpSpPr/>
        <p:nvPr/>
      </p:nvGrpSpPr>
      <p:grpSpPr>
        <a:xfrm>
          <a:off x="0" y="0"/>
          <a:ext cx="0" cy="0"/>
          <a:chOff x="0" y="0"/>
          <a:chExt cx="0" cy="0"/>
        </a:xfrm>
      </p:grpSpPr>
      <p:sp>
        <p:nvSpPr>
          <p:cNvPr id="225" name="Google Shape;225;p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SS -&gt; SI: can only get infected from outside the household; 2 susceptibles so 2 x \beta_c I/N</a:t>
            </a:r>
            <a:endParaRPr/>
          </a:p>
          <a:p>
            <a:pPr indent="0" lvl="0" marL="0" rtl="0" algn="l">
              <a:spcBef>
                <a:spcPts val="0"/>
              </a:spcBef>
              <a:spcAft>
                <a:spcPts val="0"/>
              </a:spcAft>
              <a:buNone/>
            </a:pPr>
            <a:r>
              <a:rPr lang="en-US">
                <a:solidFill>
                  <a:schemeClr val="dk1"/>
                </a:solidFill>
              </a:rPr>
              <a:t>SI -&gt; II: Only 1 susceptible, can get infected from: within the household \beta_h (where we known interaction is definite); outside the household where we multiply \beta_c by I/N (chance of interacting with an infective).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\alpha is recovery rate, depends on how many infected individuals are in the household (1 or 2)</a:t>
            </a:r>
            <a:endParaRPr>
              <a:solidFill>
                <a:schemeClr val="dk1"/>
              </a:solidFill>
            </a:endParaRPr>
          </a:p>
        </p:txBody>
      </p:sp>
      <p:sp>
        <p:nvSpPr>
          <p:cNvPr id="226" name="Google Shape;22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2" name="Shape 282"/>
        <p:cNvGrpSpPr/>
        <p:nvPr/>
      </p:nvGrpSpPr>
      <p:grpSpPr>
        <a:xfrm>
          <a:off x="0" y="0"/>
          <a:ext cx="0" cy="0"/>
          <a:chOff x="0" y="0"/>
          <a:chExt cx="0" cy="0"/>
        </a:xfrm>
      </p:grpSpPr>
      <p:sp>
        <p:nvSpPr>
          <p:cNvPr id="283" name="Google Shape;283;g4d545a844a_0_34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4d545a844a_0_3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8" name="Shape 288"/>
        <p:cNvGrpSpPr/>
        <p:nvPr/>
      </p:nvGrpSpPr>
      <p:grpSpPr>
        <a:xfrm>
          <a:off x="0" y="0"/>
          <a:ext cx="0" cy="0"/>
          <a:chOff x="0" y="0"/>
          <a:chExt cx="0" cy="0"/>
        </a:xfrm>
      </p:grpSpPr>
      <p:sp>
        <p:nvSpPr>
          <p:cNvPr id="289" name="Google Shape;289;g4d545a844a_0_21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Split the population into households of size 4.  Within a household, individuals are connected by a complete network ie everyone has guaranteed contact with everyone else in the household.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Similar to before:</a:t>
            </a:r>
            <a:endParaRPr>
              <a:solidFill>
                <a:schemeClr val="dk1"/>
              </a:solidFill>
            </a:endParaRPr>
          </a:p>
          <a:p>
            <a:pPr indent="0" lvl="0" marL="0" rtl="0" algn="l">
              <a:spcBef>
                <a:spcPts val="0"/>
              </a:spcBef>
              <a:spcAft>
                <a:spcPts val="0"/>
              </a:spcAft>
              <a:buNone/>
            </a:pPr>
            <a:r>
              <a:rPr lang="en-US">
                <a:solidFill>
                  <a:schemeClr val="dk1"/>
                </a:solidFill>
              </a:rPr>
              <a:t>SSSS -&gt; SSSI: 4 x beta_c I/N</a:t>
            </a:r>
            <a:endParaRPr>
              <a:solidFill>
                <a:schemeClr val="dk1"/>
              </a:solidFill>
            </a:endParaRPr>
          </a:p>
          <a:p>
            <a:pPr indent="0" lvl="0" marL="0" rtl="0" algn="l">
              <a:spcBef>
                <a:spcPts val="0"/>
              </a:spcBef>
              <a:spcAft>
                <a:spcPts val="0"/>
              </a:spcAft>
              <a:buNone/>
            </a:pPr>
            <a:r>
              <a:rPr lang="en-US">
                <a:solidFill>
                  <a:schemeClr val="dk1"/>
                </a:solidFill>
              </a:rPr>
              <a:t>What is going on with SSII -&gt; SIII?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Look at the number of S-I pairs.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Chance of becoming infected from within household is \beta_h x number of Inf-Sus pairs within household. Model assumption - transmissions within a household from an infective are all independent.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Chance of becoming infected from outside household is number of susceptibles x \beta_c I/N.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Recovery is \alpha x number of infecteds.</a:t>
            </a:r>
            <a:endParaRPr>
              <a:solidFill>
                <a:schemeClr val="dk1"/>
              </a:solidFill>
            </a:endParaRPr>
          </a:p>
          <a:p>
            <a:pPr indent="0" lvl="0" marL="0" rtl="0" algn="l">
              <a:spcBef>
                <a:spcPts val="0"/>
              </a:spcBef>
              <a:spcAft>
                <a:spcPts val="0"/>
              </a:spcAft>
              <a:buNone/>
            </a:pPr>
            <a:r>
              <a:t/>
            </a:r>
            <a:endParaRPr/>
          </a:p>
        </p:txBody>
      </p:sp>
      <p:sp>
        <p:nvSpPr>
          <p:cNvPr id="290" name="Google Shape;290;g4d545a844a_0_2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02" name="Shape 402"/>
        <p:cNvGrpSpPr/>
        <p:nvPr/>
      </p:nvGrpSpPr>
      <p:grpSpPr>
        <a:xfrm>
          <a:off x="0" y="0"/>
          <a:ext cx="0" cy="0"/>
          <a:chOff x="0" y="0"/>
          <a:chExt cx="0" cy="0"/>
        </a:xfrm>
      </p:grpSpPr>
      <p:sp>
        <p:nvSpPr>
          <p:cNvPr id="403" name="Google Shape;403;p1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We will look at some plots illustrating the different results from a random mixing model vs household model.</a:t>
            </a:r>
            <a:endParaRPr/>
          </a:p>
          <a:p>
            <a:pPr indent="0" lvl="0" marL="0" rtl="0" algn="l">
              <a:spcBef>
                <a:spcPts val="0"/>
              </a:spcBef>
              <a:spcAft>
                <a:spcPts val="0"/>
              </a:spcAft>
              <a:buNone/>
            </a:pPr>
            <a:r>
              <a:rPr lang="en-US"/>
              <a:t>Potential impact: </a:t>
            </a:r>
            <a:endParaRPr/>
          </a:p>
          <a:p>
            <a:pPr indent="-317500" lvl="0" marL="457200" rtl="0" algn="l">
              <a:spcBef>
                <a:spcPts val="0"/>
              </a:spcBef>
              <a:spcAft>
                <a:spcPts val="0"/>
              </a:spcAft>
              <a:buSzPts val="1400"/>
              <a:buAutoNum type="arabicParenR"/>
            </a:pPr>
            <a:r>
              <a:rPr lang="en-US"/>
              <a:t>desired interventions to slower epidemic/ treat individuals may be guided by advice from modelling.  If household structure greatly impacts model </a:t>
            </a:r>
            <a:r>
              <a:rPr lang="en-US"/>
              <a:t>predictions</a:t>
            </a:r>
            <a:r>
              <a:rPr lang="en-US"/>
              <a:t> then optimal strategy may differ.</a:t>
            </a:r>
            <a:endParaRPr/>
          </a:p>
          <a:p>
            <a:pPr indent="-317500" lvl="0" marL="457200" rtl="0" algn="l">
              <a:spcBef>
                <a:spcPts val="0"/>
              </a:spcBef>
              <a:spcAft>
                <a:spcPts val="0"/>
              </a:spcAft>
              <a:buSzPts val="1400"/>
              <a:buAutoNum type="arabicParenR"/>
            </a:pPr>
            <a:r>
              <a:rPr lang="en-US"/>
              <a:t>May be important to highlight patterns which increase our understanding of diseases (eg Hope-Simpson, VZV)</a:t>
            </a:r>
            <a:br>
              <a:rPr lang="en-US"/>
            </a:br>
            <a:endParaRPr/>
          </a:p>
          <a:p>
            <a:pPr indent="0" lvl="0" marL="0" rtl="0" algn="l">
              <a:spcBef>
                <a:spcPts val="0"/>
              </a:spcBef>
              <a:spcAft>
                <a:spcPts val="0"/>
              </a:spcAft>
              <a:buNone/>
            </a:pPr>
            <a:r>
              <a:rPr lang="en-US"/>
              <a:t>\beta is from random mixing model</a:t>
            </a:r>
            <a:endParaRPr/>
          </a:p>
          <a:p>
            <a:pPr indent="0" lvl="0" marL="0" rtl="0" algn="l">
              <a:spcBef>
                <a:spcPts val="0"/>
              </a:spcBef>
              <a:spcAft>
                <a:spcPts val="0"/>
              </a:spcAft>
              <a:buNone/>
            </a:pPr>
            <a:r>
              <a:rPr lang="en-US"/>
              <a:t>\beta_c and \beta_h from household structured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 \beta = \beta_c + \beta_h.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household model: steeper curve for # infected; higher number of infecteds overall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do you think will happen if we reduce beta_h?</a:t>
            </a:r>
            <a:endParaRPr/>
          </a:p>
        </p:txBody>
      </p:sp>
      <p:sp>
        <p:nvSpPr>
          <p:cNvPr id="404" name="Google Shape;40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19" name="Shape 419"/>
        <p:cNvGrpSpPr/>
        <p:nvPr/>
      </p:nvGrpSpPr>
      <p:grpSpPr>
        <a:xfrm>
          <a:off x="0" y="0"/>
          <a:ext cx="0" cy="0"/>
          <a:chOff x="0" y="0"/>
          <a:chExt cx="0" cy="0"/>
        </a:xfrm>
      </p:grpSpPr>
      <p:sp>
        <p:nvSpPr>
          <p:cNvPr id="420" name="Google Shape;420;p1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Here, \beta = \beta_c + 3 \beta_h.</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So \beta_h is lower than before.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In household model: infected curve now lower gradient; fewer infecteds overall</a:t>
            </a:r>
            <a:endParaRPr/>
          </a:p>
        </p:txBody>
      </p:sp>
      <p:sp>
        <p:nvSpPr>
          <p:cNvPr id="421" name="Google Shape;42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35" name="Shape 435"/>
        <p:cNvGrpSpPr/>
        <p:nvPr/>
      </p:nvGrpSpPr>
      <p:grpSpPr>
        <a:xfrm>
          <a:off x="0" y="0"/>
          <a:ext cx="0" cy="0"/>
          <a:chOff x="0" y="0"/>
          <a:chExt cx="0" cy="0"/>
        </a:xfrm>
      </p:grpSpPr>
      <p:sp>
        <p:nvSpPr>
          <p:cNvPr id="436" name="Google Shape;436;p1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Matching models on prevalence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In household model: slower start to epidemic; more time may allow for more effective interventions to be initiated</a:t>
            </a:r>
            <a:endParaRPr/>
          </a:p>
        </p:txBody>
      </p:sp>
      <p:sp>
        <p:nvSpPr>
          <p:cNvPr id="437" name="Google Shape;43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50" name="Shape 450"/>
        <p:cNvGrpSpPr/>
        <p:nvPr/>
      </p:nvGrpSpPr>
      <p:grpSpPr>
        <a:xfrm>
          <a:off x="0" y="0"/>
          <a:ext cx="0" cy="0"/>
          <a:chOff x="0" y="0"/>
          <a:chExt cx="0" cy="0"/>
        </a:xfrm>
      </p:grpSpPr>
      <p:sp>
        <p:nvSpPr>
          <p:cNvPr id="451" name="Google Shape;451;p1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Matched epi growth rate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In household model: greater prevalence.</a:t>
            </a:r>
            <a:endParaRPr/>
          </a:p>
        </p:txBody>
      </p:sp>
      <p:sp>
        <p:nvSpPr>
          <p:cNvPr id="452" name="Google Shape;45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65" name="Shape 465"/>
        <p:cNvGrpSpPr/>
        <p:nvPr/>
      </p:nvGrpSpPr>
      <p:grpSpPr>
        <a:xfrm>
          <a:off x="0" y="0"/>
          <a:ext cx="0" cy="0"/>
          <a:chOff x="0" y="0"/>
          <a:chExt cx="0" cy="0"/>
        </a:xfrm>
      </p:grpSpPr>
      <p:sp>
        <p:nvSpPr>
          <p:cNvPr id="466" name="Google Shape;466;p2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Now we will look at the Reed-Frost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Mention assumptions</a:t>
            </a:r>
            <a:endParaRPr/>
          </a:p>
        </p:txBody>
      </p:sp>
      <p:sp>
        <p:nvSpPr>
          <p:cNvPr id="467" name="Google Shape;46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4" name="Shape 474"/>
        <p:cNvGrpSpPr/>
        <p:nvPr/>
      </p:nvGrpSpPr>
      <p:grpSpPr>
        <a:xfrm>
          <a:off x="0" y="0"/>
          <a:ext cx="0" cy="0"/>
          <a:chOff x="0" y="0"/>
          <a:chExt cx="0" cy="0"/>
        </a:xfrm>
      </p:grpSpPr>
      <p:sp>
        <p:nvSpPr>
          <p:cNvPr id="475" name="Google Shape;475;g1d0ca8bbf5_0_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Here is a link to a video of the Reed-Frost simulator. It is really good. Please watch in the lunch break/ at home.  The relevant sections and times are listed here. </a:t>
            </a:r>
            <a:br>
              <a:rPr lang="en-US"/>
            </a:br>
            <a:br>
              <a:rPr lang="en-US"/>
            </a:br>
            <a:r>
              <a:rPr lang="en-US"/>
              <a:t>Model was designed for teaching in lectures, therefore the video is better than subsequent write-ups of the model.  You should really watch the video.</a:t>
            </a:r>
            <a:br>
              <a:rPr lang="en-US"/>
            </a:br>
            <a:br>
              <a:rPr lang="en-US"/>
            </a:br>
            <a:endParaRPr/>
          </a:p>
        </p:txBody>
      </p:sp>
      <p:sp>
        <p:nvSpPr>
          <p:cNvPr id="476" name="Google Shape;476;g1d0ca8bbf5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82" name="Shape 482"/>
        <p:cNvGrpSpPr/>
        <p:nvPr/>
      </p:nvGrpSpPr>
      <p:grpSpPr>
        <a:xfrm>
          <a:off x="0" y="0"/>
          <a:ext cx="0" cy="0"/>
          <a:chOff x="0" y="0"/>
          <a:chExt cx="0" cy="0"/>
        </a:xfrm>
      </p:grpSpPr>
      <p:sp>
        <p:nvSpPr>
          <p:cNvPr id="483" name="Google Shape;483;g4c52f3ac9e_0_4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4c52f3ac9e_0_45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model - should be accessible for all rto go through and understand, even if you have little previous modelling experience.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we have an S-I-R framework.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Households of size 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every generation: Infecteds become recovered, susceptibles become infected with some probability.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 probability of success (transmission) within pairs</a:t>
            </a:r>
            <a:endParaRPr/>
          </a:p>
          <a:p>
            <a:pPr indent="0" lvl="0" marL="0" rtl="0" algn="l">
              <a:spcBef>
                <a:spcPts val="0"/>
              </a:spcBef>
              <a:spcAft>
                <a:spcPts val="0"/>
              </a:spcAft>
              <a:buNone/>
            </a:pPr>
            <a:r>
              <a:rPr lang="en-US"/>
              <a:t>q: fail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89" name="Shape 589"/>
        <p:cNvGrpSpPr/>
        <p:nvPr/>
      </p:nvGrpSpPr>
      <p:grpSpPr>
        <a:xfrm>
          <a:off x="0" y="0"/>
          <a:ext cx="0" cy="0"/>
          <a:chOff x="0" y="0"/>
          <a:chExt cx="0" cy="0"/>
        </a:xfrm>
      </p:grpSpPr>
      <p:sp>
        <p:nvSpPr>
          <p:cNvPr id="590" name="Google Shape;590;g4c52f3ac9e_0_7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4c52f3ac9e_0_77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probability in the previous slide is of the form of the pmf of the binomial distribution.</a:t>
            </a:r>
            <a:endParaRPr/>
          </a:p>
          <a:p>
            <a:pPr indent="0" lvl="0" marL="0" rtl="0" algn="l">
              <a:spcBef>
                <a:spcPts val="0"/>
              </a:spcBef>
              <a:spcAft>
                <a:spcPts val="0"/>
              </a:spcAft>
              <a:buNone/>
            </a:pPr>
            <a:r>
              <a:rPr lang="en-US"/>
              <a:t>n = number susceptibles</a:t>
            </a:r>
            <a:endParaRPr/>
          </a:p>
          <a:p>
            <a:pPr indent="0" lvl="0" marL="0" rtl="0" algn="l">
              <a:spcBef>
                <a:spcPts val="0"/>
              </a:spcBef>
              <a:spcAft>
                <a:spcPts val="0"/>
              </a:spcAft>
              <a:buNone/>
            </a:pPr>
            <a:r>
              <a:rPr lang="en-US"/>
              <a:t>k = number of transmissions</a:t>
            </a:r>
            <a:endParaRPr/>
          </a:p>
          <a:p>
            <a:pPr indent="0" lvl="0" marL="0" rtl="0" algn="l">
              <a:spcBef>
                <a:spcPts val="0"/>
              </a:spcBef>
              <a:spcAft>
                <a:spcPts val="0"/>
              </a:spcAft>
              <a:buNone/>
            </a:pPr>
            <a:r>
              <a:rPr lang="en-US"/>
              <a:t>p = probability of transmission</a:t>
            </a:r>
            <a:br>
              <a:rPr lang="en-US"/>
            </a:br>
            <a:br>
              <a:rPr lang="en-US"/>
            </a:br>
            <a:r>
              <a:rPr lang="en-US"/>
              <a:t>If we look at subsequent states of the household, we get chains of possible infection dynamics. At each step the probability of moving from one state to the next is of the form of the pmf of the </a:t>
            </a:r>
            <a:r>
              <a:rPr lang="en-US"/>
              <a:t>binomial</a:t>
            </a:r>
            <a:r>
              <a:rPr lang="en-US"/>
              <a:t> distribution.</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01" name="Shape 601"/>
        <p:cNvGrpSpPr/>
        <p:nvPr/>
      </p:nvGrpSpPr>
      <p:grpSpPr>
        <a:xfrm>
          <a:off x="0" y="0"/>
          <a:ext cx="0" cy="0"/>
          <a:chOff x="0" y="0"/>
          <a:chExt cx="0" cy="0"/>
        </a:xfrm>
      </p:grpSpPr>
      <p:sp>
        <p:nvSpPr>
          <p:cNvPr id="602" name="Google Shape;602;g4c52f3ac9e_0_26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arenR"/>
            </a:pPr>
            <a:r>
              <a:rPr lang="en-US"/>
              <a:t>Single infection result in no transmissions</a:t>
            </a:r>
            <a:endParaRPr/>
          </a:p>
          <a:p>
            <a:pPr indent="0" lvl="0" marL="0" rtl="0" algn="l">
              <a:spcBef>
                <a:spcPts val="0"/>
              </a:spcBef>
              <a:spcAft>
                <a:spcPts val="0"/>
              </a:spcAft>
              <a:buNone/>
            </a:pPr>
            <a:r>
              <a:rPr lang="en-US"/>
              <a:t>Talk through binomial for the first 2.</a:t>
            </a:r>
            <a:endParaRPr/>
          </a:p>
        </p:txBody>
      </p:sp>
      <p:sp>
        <p:nvSpPr>
          <p:cNvPr id="603" name="Google Shape;603;g4c52f3ac9e_0_2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95" name="Shape 795"/>
        <p:cNvGrpSpPr/>
        <p:nvPr/>
      </p:nvGrpSpPr>
      <p:grpSpPr>
        <a:xfrm>
          <a:off x="0" y="0"/>
          <a:ext cx="0" cy="0"/>
          <a:chOff x="0" y="0"/>
          <a:chExt cx="0" cy="0"/>
        </a:xfrm>
      </p:grpSpPr>
      <p:sp>
        <p:nvSpPr>
          <p:cNvPr id="796" name="Google Shape;796;g4c52f3ac9e_0_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4c52f3ac9e_0_4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Note line 3, 1-q^2, possibly confusing (see next slide)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60" name="Shape 960"/>
        <p:cNvGrpSpPr/>
        <p:nvPr/>
      </p:nvGrpSpPr>
      <p:grpSpPr>
        <a:xfrm>
          <a:off x="0" y="0"/>
          <a:ext cx="0" cy="0"/>
          <a:chOff x="0" y="0"/>
          <a:chExt cx="0" cy="0"/>
        </a:xfrm>
      </p:grpSpPr>
      <p:sp>
        <p:nvSpPr>
          <p:cNvPr id="961" name="Google Shape;961;g4c67df1247_0_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62" name="Google Shape;962;g4c67df1247_0_4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Can draw a probability tree - may make it clearer</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04" name="Shape 1004"/>
        <p:cNvGrpSpPr/>
        <p:nvPr/>
      </p:nvGrpSpPr>
      <p:grpSpPr>
        <a:xfrm>
          <a:off x="0" y="0"/>
          <a:ext cx="0" cy="0"/>
          <a:chOff x="0" y="0"/>
          <a:chExt cx="0" cy="0"/>
        </a:xfrm>
      </p:grpSpPr>
      <p:sp>
        <p:nvSpPr>
          <p:cNvPr id="1005" name="Google Shape;1005;g4c67df1247_0_19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Some R code… For interest.</a:t>
            </a:r>
            <a:endParaRPr/>
          </a:p>
        </p:txBody>
      </p:sp>
      <p:sp>
        <p:nvSpPr>
          <p:cNvPr id="1006" name="Google Shape;1006;g4c67df1247_0_1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10" name="Shape 1010"/>
        <p:cNvGrpSpPr/>
        <p:nvPr/>
      </p:nvGrpSpPr>
      <p:grpSpPr>
        <a:xfrm>
          <a:off x="0" y="0"/>
          <a:ext cx="0" cy="0"/>
          <a:chOff x="0" y="0"/>
          <a:chExt cx="0" cy="0"/>
        </a:xfrm>
      </p:grpSpPr>
      <p:sp>
        <p:nvSpPr>
          <p:cNvPr id="1011" name="Google Shape;1011;p2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Talk through the slide</a:t>
            </a:r>
            <a:endParaRPr/>
          </a:p>
        </p:txBody>
      </p:sp>
      <p:sp>
        <p:nvSpPr>
          <p:cNvPr id="1012" name="Google Shape;101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17" name="Shape 1017"/>
        <p:cNvGrpSpPr/>
        <p:nvPr/>
      </p:nvGrpSpPr>
      <p:grpSpPr>
        <a:xfrm>
          <a:off x="0" y="0"/>
          <a:ext cx="0" cy="0"/>
          <a:chOff x="0" y="0"/>
          <a:chExt cx="0" cy="0"/>
        </a:xfrm>
      </p:grpSpPr>
      <p:sp>
        <p:nvSpPr>
          <p:cNvPr id="1018" name="Google Shape;1018;p2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Circles - how we get final sizes of 1, 2, 3, 4. (ie total number of individuals within a household that get infected)</a:t>
            </a:r>
            <a:endParaRPr/>
          </a:p>
          <a:p>
            <a:pPr indent="0" lvl="0" marL="0" rtl="0" algn="l">
              <a:spcBef>
                <a:spcPts val="0"/>
              </a:spcBef>
              <a:spcAft>
                <a:spcPts val="0"/>
              </a:spcAft>
              <a:buNone/>
            </a:pPr>
            <a:br>
              <a:rPr lang="en-US"/>
            </a:br>
            <a:r>
              <a:rPr lang="en-US"/>
              <a:t>Plot: transmission probability of p (x-axis) yields a probability of outcome (y-axis) for different final size values.</a:t>
            </a:r>
            <a:endParaRPr/>
          </a:p>
        </p:txBody>
      </p:sp>
      <p:sp>
        <p:nvSpPr>
          <p:cNvPr id="1019" name="Google Shape;101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33" name="Shape 1033"/>
        <p:cNvGrpSpPr/>
        <p:nvPr/>
      </p:nvGrpSpPr>
      <p:grpSpPr>
        <a:xfrm>
          <a:off x="0" y="0"/>
          <a:ext cx="0" cy="0"/>
          <a:chOff x="0" y="0"/>
          <a:chExt cx="0" cy="0"/>
        </a:xfrm>
      </p:grpSpPr>
      <p:sp>
        <p:nvSpPr>
          <p:cNvPr id="1034" name="Google Shape;1034;p2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Example likelihood from the chain binomial calculations</a:t>
            </a:r>
            <a:endParaRPr/>
          </a:p>
        </p:txBody>
      </p:sp>
      <p:sp>
        <p:nvSpPr>
          <p:cNvPr id="1035" name="Google Shape;103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42" name="Shape 1042"/>
        <p:cNvGrpSpPr/>
        <p:nvPr/>
      </p:nvGrpSpPr>
      <p:grpSpPr>
        <a:xfrm>
          <a:off x="0" y="0"/>
          <a:ext cx="0" cy="0"/>
          <a:chOff x="0" y="0"/>
          <a:chExt cx="0" cy="0"/>
        </a:xfrm>
      </p:grpSpPr>
      <p:sp>
        <p:nvSpPr>
          <p:cNvPr id="1043" name="Google Shape;1043;g4c67df1247_0_20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g4c67df1247_0_2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48" name="Shape 1048"/>
        <p:cNvGrpSpPr/>
        <p:nvPr/>
      </p:nvGrpSpPr>
      <p:grpSpPr>
        <a:xfrm>
          <a:off x="0" y="0"/>
          <a:ext cx="0" cy="0"/>
          <a:chOff x="0" y="0"/>
          <a:chExt cx="0" cy="0"/>
        </a:xfrm>
      </p:grpSpPr>
      <p:sp>
        <p:nvSpPr>
          <p:cNvPr id="1049" name="Google Shape;1049;g4c67df1247_0_30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g4c67df1247_0_3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54" name="Shape 1054"/>
        <p:cNvGrpSpPr/>
        <p:nvPr/>
      </p:nvGrpSpPr>
      <p:grpSpPr>
        <a:xfrm>
          <a:off x="0" y="0"/>
          <a:ext cx="0" cy="0"/>
          <a:chOff x="0" y="0"/>
          <a:chExt cx="0" cy="0"/>
        </a:xfrm>
      </p:grpSpPr>
      <p:sp>
        <p:nvSpPr>
          <p:cNvPr id="1055" name="Google Shape;1055;g4c67df1247_0_30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g4c67df1247_0_3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60" name="Shape 1060"/>
        <p:cNvGrpSpPr/>
        <p:nvPr/>
      </p:nvGrpSpPr>
      <p:grpSpPr>
        <a:xfrm>
          <a:off x="0" y="0"/>
          <a:ext cx="0" cy="0"/>
          <a:chOff x="0" y="0"/>
          <a:chExt cx="0" cy="0"/>
        </a:xfrm>
      </p:grpSpPr>
      <p:sp>
        <p:nvSpPr>
          <p:cNvPr id="1061" name="Google Shape;1061;g4c62fd2abf_0_5:notes"/>
          <p:cNvSpPr txBox="1"/>
          <p:nvPr>
            <p:ph idx="12" type="sldNum"/>
          </p:nvPr>
        </p:nvSpPr>
        <p:spPr>
          <a:xfrm>
            <a:off x="3885466" y="8686221"/>
            <a:ext cx="2970900" cy="456600"/>
          </a:xfrm>
          <a:prstGeom prst="rect">
            <a:avLst/>
          </a:prstGeom>
          <a:noFill/>
          <a:ln>
            <a:noFill/>
          </a:ln>
        </p:spPr>
        <p:txBody>
          <a:bodyPr anchorCtr="0" anchor="b" bIns="47550" lIns="95100" spcFirstLastPara="1" rIns="95100" wrap="square" tIns="47550">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
        <p:nvSpPr>
          <p:cNvPr id="1062" name="Google Shape;1062;g4c62fd2abf_0_5: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3" name="Google Shape;1063;g4c62fd2abf_0_5:notes"/>
          <p:cNvSpPr txBox="1"/>
          <p:nvPr>
            <p:ph idx="1" type="body"/>
          </p:nvPr>
        </p:nvSpPr>
        <p:spPr>
          <a:xfrm>
            <a:off x="685484" y="4343110"/>
            <a:ext cx="5487000" cy="4114200"/>
          </a:xfrm>
          <a:prstGeom prst="rect">
            <a:avLst/>
          </a:prstGeom>
          <a:noFill/>
          <a:ln>
            <a:noFill/>
          </a:ln>
        </p:spPr>
        <p:txBody>
          <a:bodyPr anchorCtr="0" anchor="t" bIns="47550" lIns="95100" spcFirstLastPara="1" rIns="95100" wrap="square" tIns="4755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67" name="Shape 1067"/>
        <p:cNvGrpSpPr/>
        <p:nvPr/>
      </p:nvGrpSpPr>
      <p:grpSpPr>
        <a:xfrm>
          <a:off x="0" y="0"/>
          <a:ext cx="0" cy="0"/>
          <a:chOff x="0" y="0"/>
          <a:chExt cx="0" cy="0"/>
        </a:xfrm>
      </p:grpSpPr>
      <p:sp>
        <p:nvSpPr>
          <p:cNvPr id="1068" name="Google Shape;1068;g4c62fd2abf_0_11:notes"/>
          <p:cNvSpPr txBox="1"/>
          <p:nvPr>
            <p:ph idx="1" type="body"/>
          </p:nvPr>
        </p:nvSpPr>
        <p:spPr>
          <a:xfrm>
            <a:off x="685484" y="4343110"/>
            <a:ext cx="54870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g4c62fd2abf_0_11: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73" name="Shape 1073"/>
        <p:cNvGrpSpPr/>
        <p:nvPr/>
      </p:nvGrpSpPr>
      <p:grpSpPr>
        <a:xfrm>
          <a:off x="0" y="0"/>
          <a:ext cx="0" cy="0"/>
          <a:chOff x="0" y="0"/>
          <a:chExt cx="0" cy="0"/>
        </a:xfrm>
      </p:grpSpPr>
      <p:sp>
        <p:nvSpPr>
          <p:cNvPr id="1074" name="Google Shape;1074;g4c8377320e_0_0:notes"/>
          <p:cNvSpPr txBox="1"/>
          <p:nvPr>
            <p:ph idx="1" type="body"/>
          </p:nvPr>
        </p:nvSpPr>
        <p:spPr>
          <a:xfrm>
            <a:off x="685484" y="4343110"/>
            <a:ext cx="54870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g4c8377320e_0_0: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79" name="Shape 1079"/>
        <p:cNvGrpSpPr/>
        <p:nvPr/>
      </p:nvGrpSpPr>
      <p:grpSpPr>
        <a:xfrm>
          <a:off x="0" y="0"/>
          <a:ext cx="0" cy="0"/>
          <a:chOff x="0" y="0"/>
          <a:chExt cx="0" cy="0"/>
        </a:xfrm>
      </p:grpSpPr>
      <p:sp>
        <p:nvSpPr>
          <p:cNvPr id="1080" name="Google Shape;1080;g4c62fd2abf_0_21:notes"/>
          <p:cNvSpPr txBox="1"/>
          <p:nvPr>
            <p:ph idx="1" type="body"/>
          </p:nvPr>
        </p:nvSpPr>
        <p:spPr>
          <a:xfrm>
            <a:off x="685484" y="4343110"/>
            <a:ext cx="54870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g4c62fd2abf_0_21: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85" name="Shape 1085"/>
        <p:cNvGrpSpPr/>
        <p:nvPr/>
      </p:nvGrpSpPr>
      <p:grpSpPr>
        <a:xfrm>
          <a:off x="0" y="0"/>
          <a:ext cx="0" cy="0"/>
          <a:chOff x="0" y="0"/>
          <a:chExt cx="0" cy="0"/>
        </a:xfrm>
      </p:grpSpPr>
      <p:sp>
        <p:nvSpPr>
          <p:cNvPr id="1086" name="Google Shape;1086;g4c62fd2abf_0_26:notes"/>
          <p:cNvSpPr txBox="1"/>
          <p:nvPr>
            <p:ph idx="1" type="body"/>
          </p:nvPr>
        </p:nvSpPr>
        <p:spPr>
          <a:xfrm>
            <a:off x="685484" y="4343110"/>
            <a:ext cx="54870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g4c62fd2abf_0_26: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91" name="Shape 1091"/>
        <p:cNvGrpSpPr/>
        <p:nvPr/>
      </p:nvGrpSpPr>
      <p:grpSpPr>
        <a:xfrm>
          <a:off x="0" y="0"/>
          <a:ext cx="0" cy="0"/>
          <a:chOff x="0" y="0"/>
          <a:chExt cx="0" cy="0"/>
        </a:xfrm>
      </p:grpSpPr>
      <p:sp>
        <p:nvSpPr>
          <p:cNvPr id="1092" name="Google Shape;1092;g4c7fec812a_0_114:notes"/>
          <p:cNvSpPr txBox="1"/>
          <p:nvPr>
            <p:ph idx="12" type="sldNum"/>
          </p:nvPr>
        </p:nvSpPr>
        <p:spPr>
          <a:xfrm>
            <a:off x="3885466" y="8686221"/>
            <a:ext cx="2970900" cy="456600"/>
          </a:xfrm>
          <a:prstGeom prst="rect">
            <a:avLst/>
          </a:prstGeom>
          <a:noFill/>
          <a:ln>
            <a:noFill/>
          </a:ln>
        </p:spPr>
        <p:txBody>
          <a:bodyPr anchorCtr="0" anchor="b" bIns="47550" lIns="95100" spcFirstLastPara="1" rIns="95100" wrap="square" tIns="47550">
            <a:noAutofit/>
          </a:bodyPr>
          <a:lstStyle/>
          <a:p>
            <a:pPr indent="0" lvl="0" marL="0" marR="0" rtl="0" algn="r">
              <a:spcBef>
                <a:spcPts val="0"/>
              </a:spcBef>
              <a:spcAft>
                <a:spcPts val="0"/>
              </a:spcAft>
              <a:buNone/>
            </a:pPr>
            <a:fld id="{00000000-1234-1234-1234-123412341234}" type="slidenum">
              <a:rPr lang="en-US" sz="1300">
                <a:solidFill>
                  <a:schemeClr val="dk1"/>
                </a:solidFill>
                <a:latin typeface="Arial"/>
                <a:ea typeface="Arial"/>
                <a:cs typeface="Arial"/>
                <a:sym typeface="Arial"/>
              </a:rPr>
              <a:t>‹#›</a:t>
            </a:fld>
            <a:endParaRPr sz="1300">
              <a:solidFill>
                <a:schemeClr val="dk1"/>
              </a:solidFill>
              <a:latin typeface="Arial"/>
              <a:ea typeface="Arial"/>
              <a:cs typeface="Arial"/>
              <a:sym typeface="Arial"/>
            </a:endParaRPr>
          </a:p>
        </p:txBody>
      </p:sp>
      <p:sp>
        <p:nvSpPr>
          <p:cNvPr id="1093" name="Google Shape;1093;g4c7fec812a_0_114: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4" name="Google Shape;1094;g4c7fec812a_0_114:notes"/>
          <p:cNvSpPr txBox="1"/>
          <p:nvPr>
            <p:ph idx="1" type="body"/>
          </p:nvPr>
        </p:nvSpPr>
        <p:spPr>
          <a:xfrm>
            <a:off x="685484" y="4343110"/>
            <a:ext cx="5487000" cy="4114200"/>
          </a:xfrm>
          <a:prstGeom prst="rect">
            <a:avLst/>
          </a:prstGeom>
          <a:noFill/>
          <a:ln>
            <a:noFill/>
          </a:ln>
        </p:spPr>
        <p:txBody>
          <a:bodyPr anchorCtr="0" anchor="t" bIns="47550" lIns="95100" spcFirstLastPara="1" rIns="95100" wrap="square" tIns="4755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13" name="Shape 1113"/>
        <p:cNvGrpSpPr/>
        <p:nvPr/>
      </p:nvGrpSpPr>
      <p:grpSpPr>
        <a:xfrm>
          <a:off x="0" y="0"/>
          <a:ext cx="0" cy="0"/>
          <a:chOff x="0" y="0"/>
          <a:chExt cx="0" cy="0"/>
        </a:xfrm>
      </p:grpSpPr>
      <p:sp>
        <p:nvSpPr>
          <p:cNvPr id="1114" name="Google Shape;1114;g4afe827934_0_0:notes"/>
          <p:cNvSpPr txBox="1"/>
          <p:nvPr>
            <p:ph idx="12" type="sldNum"/>
          </p:nvPr>
        </p:nvSpPr>
        <p:spPr>
          <a:xfrm>
            <a:off x="3885466" y="8686221"/>
            <a:ext cx="2970900" cy="456600"/>
          </a:xfrm>
          <a:prstGeom prst="rect">
            <a:avLst/>
          </a:prstGeom>
          <a:noFill/>
          <a:ln>
            <a:noFill/>
          </a:ln>
        </p:spPr>
        <p:txBody>
          <a:bodyPr anchorCtr="0" anchor="b" bIns="47550" lIns="95100" spcFirstLastPara="1" rIns="95100" wrap="square" tIns="47550">
            <a:noAutofit/>
          </a:bodyPr>
          <a:lstStyle/>
          <a:p>
            <a:pPr indent="0" lvl="0" marL="0" marR="0" rtl="0" algn="r">
              <a:spcBef>
                <a:spcPts val="0"/>
              </a:spcBef>
              <a:spcAft>
                <a:spcPts val="0"/>
              </a:spcAft>
              <a:buNone/>
            </a:pPr>
            <a:fld id="{00000000-1234-1234-1234-123412341234}" type="slidenum">
              <a:rPr lang="en-US" sz="1300">
                <a:solidFill>
                  <a:schemeClr val="dk1"/>
                </a:solidFill>
                <a:latin typeface="Arial"/>
                <a:ea typeface="Arial"/>
                <a:cs typeface="Arial"/>
                <a:sym typeface="Arial"/>
              </a:rPr>
              <a:t>‹#›</a:t>
            </a:fld>
            <a:endParaRPr sz="1300">
              <a:solidFill>
                <a:schemeClr val="dk1"/>
              </a:solidFill>
              <a:latin typeface="Arial"/>
              <a:ea typeface="Arial"/>
              <a:cs typeface="Arial"/>
              <a:sym typeface="Arial"/>
            </a:endParaRPr>
          </a:p>
        </p:txBody>
      </p:sp>
      <p:sp>
        <p:nvSpPr>
          <p:cNvPr id="1115" name="Google Shape;1115;g4afe827934_0_0: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6" name="Google Shape;1116;g4afe827934_0_0:notes"/>
          <p:cNvSpPr txBox="1"/>
          <p:nvPr>
            <p:ph idx="1" type="body"/>
          </p:nvPr>
        </p:nvSpPr>
        <p:spPr>
          <a:xfrm>
            <a:off x="685484" y="4343110"/>
            <a:ext cx="5487000" cy="4114200"/>
          </a:xfrm>
          <a:prstGeom prst="rect">
            <a:avLst/>
          </a:prstGeom>
          <a:noFill/>
          <a:ln>
            <a:noFill/>
          </a:ln>
        </p:spPr>
        <p:txBody>
          <a:bodyPr anchorCtr="0" anchor="t" bIns="47550" lIns="95100" spcFirstLastPara="1" rIns="95100" wrap="square" tIns="4755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47" name="Shape 1147"/>
        <p:cNvGrpSpPr/>
        <p:nvPr/>
      </p:nvGrpSpPr>
      <p:grpSpPr>
        <a:xfrm>
          <a:off x="0" y="0"/>
          <a:ext cx="0" cy="0"/>
          <a:chOff x="0" y="0"/>
          <a:chExt cx="0" cy="0"/>
        </a:xfrm>
      </p:grpSpPr>
      <p:sp>
        <p:nvSpPr>
          <p:cNvPr id="1148" name="Google Shape;1148;g4c7fec812a_0_143:notes"/>
          <p:cNvSpPr txBox="1"/>
          <p:nvPr>
            <p:ph idx="12" type="sldNum"/>
          </p:nvPr>
        </p:nvSpPr>
        <p:spPr>
          <a:xfrm>
            <a:off x="3885466" y="8686221"/>
            <a:ext cx="2970900" cy="456600"/>
          </a:xfrm>
          <a:prstGeom prst="rect">
            <a:avLst/>
          </a:prstGeom>
          <a:noFill/>
          <a:ln>
            <a:noFill/>
          </a:ln>
        </p:spPr>
        <p:txBody>
          <a:bodyPr anchorCtr="0" anchor="b" bIns="47550" lIns="95100" spcFirstLastPara="1" rIns="95100" wrap="square" tIns="47550">
            <a:noAutofit/>
          </a:bodyPr>
          <a:lstStyle/>
          <a:p>
            <a:pPr indent="0" lvl="0" marL="0" marR="0" rtl="0" algn="r">
              <a:spcBef>
                <a:spcPts val="0"/>
              </a:spcBef>
              <a:spcAft>
                <a:spcPts val="0"/>
              </a:spcAft>
              <a:buNone/>
            </a:pPr>
            <a:fld id="{00000000-1234-1234-1234-123412341234}" type="slidenum">
              <a:rPr lang="en-US" sz="1300">
                <a:solidFill>
                  <a:schemeClr val="dk1"/>
                </a:solidFill>
                <a:latin typeface="Arial"/>
                <a:ea typeface="Arial"/>
                <a:cs typeface="Arial"/>
                <a:sym typeface="Arial"/>
              </a:rPr>
              <a:t>‹#›</a:t>
            </a:fld>
            <a:endParaRPr sz="1300">
              <a:solidFill>
                <a:schemeClr val="dk1"/>
              </a:solidFill>
              <a:latin typeface="Arial"/>
              <a:ea typeface="Arial"/>
              <a:cs typeface="Arial"/>
              <a:sym typeface="Arial"/>
            </a:endParaRPr>
          </a:p>
        </p:txBody>
      </p:sp>
      <p:sp>
        <p:nvSpPr>
          <p:cNvPr id="1149" name="Google Shape;1149;g4c7fec812a_0_143: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0" name="Google Shape;1150;g4c7fec812a_0_143:notes"/>
          <p:cNvSpPr txBox="1"/>
          <p:nvPr>
            <p:ph idx="1" type="body"/>
          </p:nvPr>
        </p:nvSpPr>
        <p:spPr>
          <a:xfrm>
            <a:off x="685484" y="4343110"/>
            <a:ext cx="5487000" cy="4114200"/>
          </a:xfrm>
          <a:prstGeom prst="rect">
            <a:avLst/>
          </a:prstGeom>
          <a:noFill/>
          <a:ln>
            <a:noFill/>
          </a:ln>
        </p:spPr>
        <p:txBody>
          <a:bodyPr anchorCtr="0" anchor="t" bIns="47550" lIns="95100" spcFirstLastPara="1" rIns="95100" wrap="square" tIns="4755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81" name="Shape 1181"/>
        <p:cNvGrpSpPr/>
        <p:nvPr/>
      </p:nvGrpSpPr>
      <p:grpSpPr>
        <a:xfrm>
          <a:off x="0" y="0"/>
          <a:ext cx="0" cy="0"/>
          <a:chOff x="0" y="0"/>
          <a:chExt cx="0" cy="0"/>
        </a:xfrm>
      </p:grpSpPr>
      <p:sp>
        <p:nvSpPr>
          <p:cNvPr id="1182" name="Google Shape;1182;g4c7fec812a_0_232:notes"/>
          <p:cNvSpPr txBox="1"/>
          <p:nvPr>
            <p:ph idx="12" type="sldNum"/>
          </p:nvPr>
        </p:nvSpPr>
        <p:spPr>
          <a:xfrm>
            <a:off x="3885466" y="8686221"/>
            <a:ext cx="2970900" cy="456600"/>
          </a:xfrm>
          <a:prstGeom prst="rect">
            <a:avLst/>
          </a:prstGeom>
          <a:noFill/>
          <a:ln>
            <a:noFill/>
          </a:ln>
        </p:spPr>
        <p:txBody>
          <a:bodyPr anchorCtr="0" anchor="b" bIns="47550" lIns="95100" spcFirstLastPara="1" rIns="95100" wrap="square" tIns="47550">
            <a:noAutofit/>
          </a:bodyPr>
          <a:lstStyle/>
          <a:p>
            <a:pPr indent="0" lvl="0" marL="0" marR="0" rtl="0" algn="r">
              <a:spcBef>
                <a:spcPts val="0"/>
              </a:spcBef>
              <a:spcAft>
                <a:spcPts val="0"/>
              </a:spcAft>
              <a:buNone/>
            </a:pPr>
            <a:fld id="{00000000-1234-1234-1234-123412341234}" type="slidenum">
              <a:rPr lang="en-US" sz="1300">
                <a:solidFill>
                  <a:schemeClr val="dk1"/>
                </a:solidFill>
                <a:latin typeface="Arial"/>
                <a:ea typeface="Arial"/>
                <a:cs typeface="Arial"/>
                <a:sym typeface="Arial"/>
              </a:rPr>
              <a:t>‹#›</a:t>
            </a:fld>
            <a:endParaRPr sz="1300">
              <a:solidFill>
                <a:schemeClr val="dk1"/>
              </a:solidFill>
              <a:latin typeface="Arial"/>
              <a:ea typeface="Arial"/>
              <a:cs typeface="Arial"/>
              <a:sym typeface="Arial"/>
            </a:endParaRPr>
          </a:p>
        </p:txBody>
      </p:sp>
      <p:sp>
        <p:nvSpPr>
          <p:cNvPr id="1183" name="Google Shape;1183;g4c7fec812a_0_232: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4" name="Google Shape;1184;g4c7fec812a_0_232:notes"/>
          <p:cNvSpPr txBox="1"/>
          <p:nvPr>
            <p:ph idx="1" type="body"/>
          </p:nvPr>
        </p:nvSpPr>
        <p:spPr>
          <a:xfrm>
            <a:off x="685484" y="4343110"/>
            <a:ext cx="5487000" cy="4114200"/>
          </a:xfrm>
          <a:prstGeom prst="rect">
            <a:avLst/>
          </a:prstGeom>
          <a:noFill/>
          <a:ln>
            <a:noFill/>
          </a:ln>
        </p:spPr>
        <p:txBody>
          <a:bodyPr anchorCtr="0" anchor="t" bIns="47550" lIns="95100" spcFirstLastPara="1" rIns="95100" wrap="square" tIns="4755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17" name="Shape 1217"/>
        <p:cNvGrpSpPr/>
        <p:nvPr/>
      </p:nvGrpSpPr>
      <p:grpSpPr>
        <a:xfrm>
          <a:off x="0" y="0"/>
          <a:ext cx="0" cy="0"/>
          <a:chOff x="0" y="0"/>
          <a:chExt cx="0" cy="0"/>
        </a:xfrm>
      </p:grpSpPr>
      <p:sp>
        <p:nvSpPr>
          <p:cNvPr id="1218" name="Google Shape;1218;g4c7fec812a_0_274:notes"/>
          <p:cNvSpPr txBox="1"/>
          <p:nvPr>
            <p:ph idx="12" type="sldNum"/>
          </p:nvPr>
        </p:nvSpPr>
        <p:spPr>
          <a:xfrm>
            <a:off x="3885466" y="8686221"/>
            <a:ext cx="2970900" cy="456600"/>
          </a:xfrm>
          <a:prstGeom prst="rect">
            <a:avLst/>
          </a:prstGeom>
          <a:noFill/>
          <a:ln>
            <a:noFill/>
          </a:ln>
        </p:spPr>
        <p:txBody>
          <a:bodyPr anchorCtr="0" anchor="b" bIns="47550" lIns="95100" spcFirstLastPara="1" rIns="95100" wrap="square" tIns="47550">
            <a:noAutofit/>
          </a:bodyPr>
          <a:lstStyle/>
          <a:p>
            <a:pPr indent="0" lvl="0" marL="0" marR="0" rtl="0" algn="r">
              <a:spcBef>
                <a:spcPts val="0"/>
              </a:spcBef>
              <a:spcAft>
                <a:spcPts val="0"/>
              </a:spcAft>
              <a:buNone/>
            </a:pPr>
            <a:fld id="{00000000-1234-1234-1234-123412341234}" type="slidenum">
              <a:rPr lang="en-US" sz="1300">
                <a:solidFill>
                  <a:schemeClr val="dk1"/>
                </a:solidFill>
                <a:latin typeface="Arial"/>
                <a:ea typeface="Arial"/>
                <a:cs typeface="Arial"/>
                <a:sym typeface="Arial"/>
              </a:rPr>
              <a:t>‹#›</a:t>
            </a:fld>
            <a:endParaRPr sz="1300">
              <a:solidFill>
                <a:schemeClr val="dk1"/>
              </a:solidFill>
              <a:latin typeface="Arial"/>
              <a:ea typeface="Arial"/>
              <a:cs typeface="Arial"/>
              <a:sym typeface="Arial"/>
            </a:endParaRPr>
          </a:p>
        </p:txBody>
      </p:sp>
      <p:sp>
        <p:nvSpPr>
          <p:cNvPr id="1219" name="Google Shape;1219;g4c7fec812a_0_274: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0" name="Google Shape;1220;g4c7fec812a_0_274:notes"/>
          <p:cNvSpPr txBox="1"/>
          <p:nvPr>
            <p:ph idx="1" type="body"/>
          </p:nvPr>
        </p:nvSpPr>
        <p:spPr>
          <a:xfrm>
            <a:off x="685484" y="4343110"/>
            <a:ext cx="5487000" cy="4114200"/>
          </a:xfrm>
          <a:prstGeom prst="rect">
            <a:avLst/>
          </a:prstGeom>
          <a:noFill/>
          <a:ln>
            <a:noFill/>
          </a:ln>
        </p:spPr>
        <p:txBody>
          <a:bodyPr anchorCtr="0" anchor="t" bIns="47550" lIns="95100" spcFirstLastPara="1" rIns="95100" wrap="square" tIns="4755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31" name="Shape 1231"/>
        <p:cNvGrpSpPr/>
        <p:nvPr/>
      </p:nvGrpSpPr>
      <p:grpSpPr>
        <a:xfrm>
          <a:off x="0" y="0"/>
          <a:ext cx="0" cy="0"/>
          <a:chOff x="0" y="0"/>
          <a:chExt cx="0" cy="0"/>
        </a:xfrm>
      </p:grpSpPr>
      <p:sp>
        <p:nvSpPr>
          <p:cNvPr id="1232" name="Google Shape;1232;g4c7fec812a_0_374:notes"/>
          <p:cNvSpPr txBox="1"/>
          <p:nvPr>
            <p:ph idx="1" type="body"/>
          </p:nvPr>
        </p:nvSpPr>
        <p:spPr>
          <a:xfrm>
            <a:off x="685484" y="4343110"/>
            <a:ext cx="54870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g4c7fec812a_0_374: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48" name="Shape 1248"/>
        <p:cNvGrpSpPr/>
        <p:nvPr/>
      </p:nvGrpSpPr>
      <p:grpSpPr>
        <a:xfrm>
          <a:off x="0" y="0"/>
          <a:ext cx="0" cy="0"/>
          <a:chOff x="0" y="0"/>
          <a:chExt cx="0" cy="0"/>
        </a:xfrm>
      </p:grpSpPr>
      <p:sp>
        <p:nvSpPr>
          <p:cNvPr id="1249" name="Google Shape;1249;g4c7fec812a_0_316:notes"/>
          <p:cNvSpPr txBox="1"/>
          <p:nvPr>
            <p:ph idx="1" type="body"/>
          </p:nvPr>
        </p:nvSpPr>
        <p:spPr>
          <a:xfrm>
            <a:off x="685484" y="4343110"/>
            <a:ext cx="54870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g4c7fec812a_0_316: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63" name="Shape 1263"/>
        <p:cNvGrpSpPr/>
        <p:nvPr/>
      </p:nvGrpSpPr>
      <p:grpSpPr>
        <a:xfrm>
          <a:off x="0" y="0"/>
          <a:ext cx="0" cy="0"/>
          <a:chOff x="0" y="0"/>
          <a:chExt cx="0" cy="0"/>
        </a:xfrm>
      </p:grpSpPr>
      <p:sp>
        <p:nvSpPr>
          <p:cNvPr id="1264" name="Google Shape;1264;g4c7fec812a_0_348:notes"/>
          <p:cNvSpPr txBox="1"/>
          <p:nvPr>
            <p:ph idx="1" type="body"/>
          </p:nvPr>
        </p:nvSpPr>
        <p:spPr>
          <a:xfrm>
            <a:off x="685484" y="4343110"/>
            <a:ext cx="54870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g4c7fec812a_0_348: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85" name="Shape 1285"/>
        <p:cNvGrpSpPr/>
        <p:nvPr/>
      </p:nvGrpSpPr>
      <p:grpSpPr>
        <a:xfrm>
          <a:off x="0" y="0"/>
          <a:ext cx="0" cy="0"/>
          <a:chOff x="0" y="0"/>
          <a:chExt cx="0" cy="0"/>
        </a:xfrm>
      </p:grpSpPr>
      <p:sp>
        <p:nvSpPr>
          <p:cNvPr id="1286" name="Google Shape;1286;g4c7fec812a_0_820:notes"/>
          <p:cNvSpPr txBox="1"/>
          <p:nvPr>
            <p:ph idx="1" type="body"/>
          </p:nvPr>
        </p:nvSpPr>
        <p:spPr>
          <a:xfrm>
            <a:off x="685484" y="4343110"/>
            <a:ext cx="54870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g4c7fec812a_0_820: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91" name="Shape 1291"/>
        <p:cNvGrpSpPr/>
        <p:nvPr/>
      </p:nvGrpSpPr>
      <p:grpSpPr>
        <a:xfrm>
          <a:off x="0" y="0"/>
          <a:ext cx="0" cy="0"/>
          <a:chOff x="0" y="0"/>
          <a:chExt cx="0" cy="0"/>
        </a:xfrm>
      </p:grpSpPr>
      <p:sp>
        <p:nvSpPr>
          <p:cNvPr id="1292" name="Google Shape;1292;g4c7fec812a_0_359:notes"/>
          <p:cNvSpPr txBox="1"/>
          <p:nvPr>
            <p:ph idx="1" type="body"/>
          </p:nvPr>
        </p:nvSpPr>
        <p:spPr>
          <a:xfrm>
            <a:off x="685484" y="4343110"/>
            <a:ext cx="54870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update</a:t>
            </a:r>
            <a:endParaRPr/>
          </a:p>
        </p:txBody>
      </p:sp>
      <p:sp>
        <p:nvSpPr>
          <p:cNvPr id="1293" name="Google Shape;1293;g4c7fec812a_0_359: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0" name="Shape 1300"/>
        <p:cNvGrpSpPr/>
        <p:nvPr/>
      </p:nvGrpSpPr>
      <p:grpSpPr>
        <a:xfrm>
          <a:off x="0" y="0"/>
          <a:ext cx="0" cy="0"/>
          <a:chOff x="0" y="0"/>
          <a:chExt cx="0" cy="0"/>
        </a:xfrm>
      </p:grpSpPr>
      <p:sp>
        <p:nvSpPr>
          <p:cNvPr id="1301" name="Google Shape;1301;g4c7fec812a_0_740:notes"/>
          <p:cNvSpPr txBox="1"/>
          <p:nvPr>
            <p:ph idx="1" type="body"/>
          </p:nvPr>
        </p:nvSpPr>
        <p:spPr>
          <a:xfrm>
            <a:off x="685484" y="4343110"/>
            <a:ext cx="54870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g4c7fec812a_0_740: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23" name="Shape 1323"/>
        <p:cNvGrpSpPr/>
        <p:nvPr/>
      </p:nvGrpSpPr>
      <p:grpSpPr>
        <a:xfrm>
          <a:off x="0" y="0"/>
          <a:ext cx="0" cy="0"/>
          <a:chOff x="0" y="0"/>
          <a:chExt cx="0" cy="0"/>
        </a:xfrm>
      </p:grpSpPr>
      <p:sp>
        <p:nvSpPr>
          <p:cNvPr id="1324" name="Google Shape;1324;g4afe827934_0_49:notes"/>
          <p:cNvSpPr txBox="1"/>
          <p:nvPr>
            <p:ph idx="1" type="body"/>
          </p:nvPr>
        </p:nvSpPr>
        <p:spPr>
          <a:xfrm>
            <a:off x="685484" y="4343110"/>
            <a:ext cx="54870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g4afe827934_0_49: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38" name="Shape 1338"/>
        <p:cNvGrpSpPr/>
        <p:nvPr/>
      </p:nvGrpSpPr>
      <p:grpSpPr>
        <a:xfrm>
          <a:off x="0" y="0"/>
          <a:ext cx="0" cy="0"/>
          <a:chOff x="0" y="0"/>
          <a:chExt cx="0" cy="0"/>
        </a:xfrm>
      </p:grpSpPr>
      <p:sp>
        <p:nvSpPr>
          <p:cNvPr id="1339" name="Google Shape;1339;g4afe827934_0_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40" name="Google Shape;1340;g4afe827934_0_3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53" name="Shape 1353"/>
        <p:cNvGrpSpPr/>
        <p:nvPr/>
      </p:nvGrpSpPr>
      <p:grpSpPr>
        <a:xfrm>
          <a:off x="0" y="0"/>
          <a:ext cx="0" cy="0"/>
          <a:chOff x="0" y="0"/>
          <a:chExt cx="0" cy="0"/>
        </a:xfrm>
      </p:grpSpPr>
      <p:sp>
        <p:nvSpPr>
          <p:cNvPr id="1354" name="Google Shape;1354;g4c7fec812a_0_498:notes"/>
          <p:cNvSpPr txBox="1"/>
          <p:nvPr>
            <p:ph idx="12" type="sldNum"/>
          </p:nvPr>
        </p:nvSpPr>
        <p:spPr>
          <a:xfrm>
            <a:off x="3885466" y="8686221"/>
            <a:ext cx="2970900" cy="456600"/>
          </a:xfrm>
          <a:prstGeom prst="rect">
            <a:avLst/>
          </a:prstGeom>
          <a:noFill/>
          <a:ln>
            <a:noFill/>
          </a:ln>
        </p:spPr>
        <p:txBody>
          <a:bodyPr anchorCtr="0" anchor="b" bIns="47550" lIns="95100" spcFirstLastPara="1" rIns="95100" wrap="square" tIns="47550">
            <a:noAutofit/>
          </a:bodyPr>
          <a:lstStyle/>
          <a:p>
            <a:pPr indent="0" lvl="0" marL="0" marR="0" rtl="0" algn="r">
              <a:spcBef>
                <a:spcPts val="0"/>
              </a:spcBef>
              <a:spcAft>
                <a:spcPts val="0"/>
              </a:spcAft>
              <a:buNone/>
            </a:pPr>
            <a:fld id="{00000000-1234-1234-1234-123412341234}" type="slidenum">
              <a:rPr lang="en-US" sz="1300">
                <a:solidFill>
                  <a:schemeClr val="dk1"/>
                </a:solidFill>
                <a:latin typeface="Arial"/>
                <a:ea typeface="Arial"/>
                <a:cs typeface="Arial"/>
                <a:sym typeface="Arial"/>
              </a:rPr>
              <a:t>‹#›</a:t>
            </a:fld>
            <a:endParaRPr sz="1300">
              <a:solidFill>
                <a:schemeClr val="dk1"/>
              </a:solidFill>
              <a:latin typeface="Arial"/>
              <a:ea typeface="Arial"/>
              <a:cs typeface="Arial"/>
              <a:sym typeface="Arial"/>
            </a:endParaRPr>
          </a:p>
        </p:txBody>
      </p:sp>
      <p:sp>
        <p:nvSpPr>
          <p:cNvPr id="1355" name="Google Shape;1355;g4c7fec812a_0_498: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6" name="Google Shape;1356;g4c7fec812a_0_498:notes"/>
          <p:cNvSpPr txBox="1"/>
          <p:nvPr>
            <p:ph idx="1" type="body"/>
          </p:nvPr>
        </p:nvSpPr>
        <p:spPr>
          <a:xfrm>
            <a:off x="685484" y="4343110"/>
            <a:ext cx="5487000" cy="4114200"/>
          </a:xfrm>
          <a:prstGeom prst="rect">
            <a:avLst/>
          </a:prstGeom>
          <a:noFill/>
          <a:ln>
            <a:noFill/>
          </a:ln>
        </p:spPr>
        <p:txBody>
          <a:bodyPr anchorCtr="0" anchor="t" bIns="47550" lIns="95100" spcFirstLastPara="1" rIns="95100" wrap="square" tIns="4755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83" name="Shape 1383"/>
        <p:cNvGrpSpPr/>
        <p:nvPr/>
      </p:nvGrpSpPr>
      <p:grpSpPr>
        <a:xfrm>
          <a:off x="0" y="0"/>
          <a:ext cx="0" cy="0"/>
          <a:chOff x="0" y="0"/>
          <a:chExt cx="0" cy="0"/>
        </a:xfrm>
      </p:grpSpPr>
      <p:sp>
        <p:nvSpPr>
          <p:cNvPr id="1384" name="Google Shape;1384;g4c7fec812a_0_50:notes"/>
          <p:cNvSpPr txBox="1"/>
          <p:nvPr>
            <p:ph idx="12" type="sldNum"/>
          </p:nvPr>
        </p:nvSpPr>
        <p:spPr>
          <a:xfrm>
            <a:off x="3885466" y="8686221"/>
            <a:ext cx="2970900" cy="456600"/>
          </a:xfrm>
          <a:prstGeom prst="rect">
            <a:avLst/>
          </a:prstGeom>
          <a:noFill/>
          <a:ln>
            <a:noFill/>
          </a:ln>
        </p:spPr>
        <p:txBody>
          <a:bodyPr anchorCtr="0" anchor="b" bIns="47550" lIns="95100" spcFirstLastPara="1" rIns="95100" wrap="square" tIns="47550">
            <a:noAutofit/>
          </a:bodyPr>
          <a:lstStyle/>
          <a:p>
            <a:pPr indent="0" lvl="0" marL="0" marR="0" rtl="0" algn="r">
              <a:spcBef>
                <a:spcPts val="0"/>
              </a:spcBef>
              <a:spcAft>
                <a:spcPts val="0"/>
              </a:spcAft>
              <a:buNone/>
            </a:pPr>
            <a:fld id="{00000000-1234-1234-1234-123412341234}" type="slidenum">
              <a:rPr lang="en-US" sz="1300">
                <a:solidFill>
                  <a:schemeClr val="dk1"/>
                </a:solidFill>
                <a:latin typeface="Arial"/>
                <a:ea typeface="Arial"/>
                <a:cs typeface="Arial"/>
                <a:sym typeface="Arial"/>
              </a:rPr>
              <a:t>‹#›</a:t>
            </a:fld>
            <a:endParaRPr sz="1300">
              <a:solidFill>
                <a:schemeClr val="dk1"/>
              </a:solidFill>
              <a:latin typeface="Arial"/>
              <a:ea typeface="Arial"/>
              <a:cs typeface="Arial"/>
              <a:sym typeface="Arial"/>
            </a:endParaRPr>
          </a:p>
        </p:txBody>
      </p:sp>
      <p:sp>
        <p:nvSpPr>
          <p:cNvPr id="1385" name="Google Shape;1385;g4c7fec812a_0_50: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6" name="Google Shape;1386;g4c7fec812a_0_50:notes"/>
          <p:cNvSpPr txBox="1"/>
          <p:nvPr>
            <p:ph idx="1" type="body"/>
          </p:nvPr>
        </p:nvSpPr>
        <p:spPr>
          <a:xfrm>
            <a:off x="685484" y="4343110"/>
            <a:ext cx="5487000" cy="4114200"/>
          </a:xfrm>
          <a:prstGeom prst="rect">
            <a:avLst/>
          </a:prstGeom>
          <a:noFill/>
          <a:ln>
            <a:noFill/>
          </a:ln>
        </p:spPr>
        <p:txBody>
          <a:bodyPr anchorCtr="0" anchor="t" bIns="47550" lIns="95100" spcFirstLastPara="1" rIns="95100" wrap="square" tIns="4755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10" name="Shape 1410"/>
        <p:cNvGrpSpPr/>
        <p:nvPr/>
      </p:nvGrpSpPr>
      <p:grpSpPr>
        <a:xfrm>
          <a:off x="0" y="0"/>
          <a:ext cx="0" cy="0"/>
          <a:chOff x="0" y="0"/>
          <a:chExt cx="0" cy="0"/>
        </a:xfrm>
      </p:grpSpPr>
      <p:sp>
        <p:nvSpPr>
          <p:cNvPr id="1411" name="Google Shape;1411;g4c7fec812a_0_453:notes"/>
          <p:cNvSpPr txBox="1"/>
          <p:nvPr>
            <p:ph idx="12" type="sldNum"/>
          </p:nvPr>
        </p:nvSpPr>
        <p:spPr>
          <a:xfrm>
            <a:off x="3885466" y="8686221"/>
            <a:ext cx="2970900" cy="456600"/>
          </a:xfrm>
          <a:prstGeom prst="rect">
            <a:avLst/>
          </a:prstGeom>
          <a:noFill/>
          <a:ln>
            <a:noFill/>
          </a:ln>
        </p:spPr>
        <p:txBody>
          <a:bodyPr anchorCtr="0" anchor="b" bIns="47550" lIns="95100" spcFirstLastPara="1" rIns="95100" wrap="square" tIns="47550">
            <a:noAutofit/>
          </a:bodyPr>
          <a:lstStyle/>
          <a:p>
            <a:pPr indent="0" lvl="0" marL="0" marR="0" rtl="0" algn="r">
              <a:spcBef>
                <a:spcPts val="0"/>
              </a:spcBef>
              <a:spcAft>
                <a:spcPts val="0"/>
              </a:spcAft>
              <a:buNone/>
            </a:pPr>
            <a:fld id="{00000000-1234-1234-1234-123412341234}" type="slidenum">
              <a:rPr lang="en-US" sz="1300">
                <a:solidFill>
                  <a:schemeClr val="dk1"/>
                </a:solidFill>
                <a:latin typeface="Arial"/>
                <a:ea typeface="Arial"/>
                <a:cs typeface="Arial"/>
                <a:sym typeface="Arial"/>
              </a:rPr>
              <a:t>‹#›</a:t>
            </a:fld>
            <a:endParaRPr sz="1300">
              <a:solidFill>
                <a:schemeClr val="dk1"/>
              </a:solidFill>
              <a:latin typeface="Arial"/>
              <a:ea typeface="Arial"/>
              <a:cs typeface="Arial"/>
              <a:sym typeface="Arial"/>
            </a:endParaRPr>
          </a:p>
        </p:txBody>
      </p:sp>
      <p:sp>
        <p:nvSpPr>
          <p:cNvPr id="1412" name="Google Shape;1412;g4c7fec812a_0_453: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3" name="Google Shape;1413;g4c7fec812a_0_453:notes"/>
          <p:cNvSpPr txBox="1"/>
          <p:nvPr>
            <p:ph idx="1" type="body"/>
          </p:nvPr>
        </p:nvSpPr>
        <p:spPr>
          <a:xfrm>
            <a:off x="685484" y="4343110"/>
            <a:ext cx="5487000" cy="4114200"/>
          </a:xfrm>
          <a:prstGeom prst="rect">
            <a:avLst/>
          </a:prstGeom>
          <a:noFill/>
          <a:ln>
            <a:noFill/>
          </a:ln>
        </p:spPr>
        <p:txBody>
          <a:bodyPr anchorCtr="0" anchor="t" bIns="47550" lIns="95100" spcFirstLastPara="1" rIns="95100" wrap="square" tIns="4755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38" name="Shape 1438"/>
        <p:cNvGrpSpPr/>
        <p:nvPr/>
      </p:nvGrpSpPr>
      <p:grpSpPr>
        <a:xfrm>
          <a:off x="0" y="0"/>
          <a:ext cx="0" cy="0"/>
          <a:chOff x="0" y="0"/>
          <a:chExt cx="0" cy="0"/>
        </a:xfrm>
      </p:grpSpPr>
      <p:sp>
        <p:nvSpPr>
          <p:cNvPr id="1439" name="Google Shape;1439;g4c7fec812a_0_399:notes"/>
          <p:cNvSpPr txBox="1"/>
          <p:nvPr>
            <p:ph idx="12" type="sldNum"/>
          </p:nvPr>
        </p:nvSpPr>
        <p:spPr>
          <a:xfrm>
            <a:off x="3885466" y="8686221"/>
            <a:ext cx="2970900" cy="456600"/>
          </a:xfrm>
          <a:prstGeom prst="rect">
            <a:avLst/>
          </a:prstGeom>
          <a:noFill/>
          <a:ln>
            <a:noFill/>
          </a:ln>
        </p:spPr>
        <p:txBody>
          <a:bodyPr anchorCtr="0" anchor="b" bIns="47550" lIns="95100" spcFirstLastPara="1" rIns="95100" wrap="square" tIns="47550">
            <a:noAutofit/>
          </a:bodyPr>
          <a:lstStyle/>
          <a:p>
            <a:pPr indent="0" lvl="0" marL="0" marR="0" rtl="0" algn="r">
              <a:spcBef>
                <a:spcPts val="0"/>
              </a:spcBef>
              <a:spcAft>
                <a:spcPts val="0"/>
              </a:spcAft>
              <a:buNone/>
            </a:pPr>
            <a:fld id="{00000000-1234-1234-1234-123412341234}" type="slidenum">
              <a:rPr lang="en-US" sz="1300">
                <a:solidFill>
                  <a:schemeClr val="dk1"/>
                </a:solidFill>
                <a:latin typeface="Arial"/>
                <a:ea typeface="Arial"/>
                <a:cs typeface="Arial"/>
                <a:sym typeface="Arial"/>
              </a:rPr>
              <a:t>‹#›</a:t>
            </a:fld>
            <a:endParaRPr sz="1300">
              <a:solidFill>
                <a:schemeClr val="dk1"/>
              </a:solidFill>
              <a:latin typeface="Arial"/>
              <a:ea typeface="Arial"/>
              <a:cs typeface="Arial"/>
              <a:sym typeface="Arial"/>
            </a:endParaRPr>
          </a:p>
        </p:txBody>
      </p:sp>
      <p:sp>
        <p:nvSpPr>
          <p:cNvPr id="1440" name="Google Shape;1440;g4c7fec812a_0_399: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1" name="Google Shape;1441;g4c7fec812a_0_399:notes"/>
          <p:cNvSpPr txBox="1"/>
          <p:nvPr>
            <p:ph idx="1" type="body"/>
          </p:nvPr>
        </p:nvSpPr>
        <p:spPr>
          <a:xfrm>
            <a:off x="685484" y="4343110"/>
            <a:ext cx="5487000" cy="4114200"/>
          </a:xfrm>
          <a:prstGeom prst="rect">
            <a:avLst/>
          </a:prstGeom>
          <a:noFill/>
          <a:ln>
            <a:noFill/>
          </a:ln>
        </p:spPr>
        <p:txBody>
          <a:bodyPr anchorCtr="0" anchor="t" bIns="47550" lIns="95100" spcFirstLastPara="1" rIns="95100" wrap="square" tIns="4755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64" name="Shape 1464"/>
        <p:cNvGrpSpPr/>
        <p:nvPr/>
      </p:nvGrpSpPr>
      <p:grpSpPr>
        <a:xfrm>
          <a:off x="0" y="0"/>
          <a:ext cx="0" cy="0"/>
          <a:chOff x="0" y="0"/>
          <a:chExt cx="0" cy="0"/>
        </a:xfrm>
      </p:grpSpPr>
      <p:sp>
        <p:nvSpPr>
          <p:cNvPr id="1465" name="Google Shape;1465;g4c7fec812a_0_531:notes"/>
          <p:cNvSpPr txBox="1"/>
          <p:nvPr>
            <p:ph idx="12" type="sldNum"/>
          </p:nvPr>
        </p:nvSpPr>
        <p:spPr>
          <a:xfrm>
            <a:off x="3885466" y="8686221"/>
            <a:ext cx="2970900" cy="456600"/>
          </a:xfrm>
          <a:prstGeom prst="rect">
            <a:avLst/>
          </a:prstGeom>
          <a:noFill/>
          <a:ln>
            <a:noFill/>
          </a:ln>
        </p:spPr>
        <p:txBody>
          <a:bodyPr anchorCtr="0" anchor="b" bIns="47550" lIns="95100" spcFirstLastPara="1" rIns="95100" wrap="square" tIns="47550">
            <a:noAutofit/>
          </a:bodyPr>
          <a:lstStyle/>
          <a:p>
            <a:pPr indent="0" lvl="0" marL="0" marR="0" rtl="0" algn="r">
              <a:spcBef>
                <a:spcPts val="0"/>
              </a:spcBef>
              <a:spcAft>
                <a:spcPts val="0"/>
              </a:spcAft>
              <a:buNone/>
            </a:pPr>
            <a:fld id="{00000000-1234-1234-1234-123412341234}" type="slidenum">
              <a:rPr lang="en-US" sz="1300">
                <a:solidFill>
                  <a:schemeClr val="dk1"/>
                </a:solidFill>
                <a:latin typeface="Arial"/>
                <a:ea typeface="Arial"/>
                <a:cs typeface="Arial"/>
                <a:sym typeface="Arial"/>
              </a:rPr>
              <a:t>‹#›</a:t>
            </a:fld>
            <a:endParaRPr sz="1300">
              <a:solidFill>
                <a:schemeClr val="dk1"/>
              </a:solidFill>
              <a:latin typeface="Arial"/>
              <a:ea typeface="Arial"/>
              <a:cs typeface="Arial"/>
              <a:sym typeface="Arial"/>
            </a:endParaRPr>
          </a:p>
        </p:txBody>
      </p:sp>
      <p:sp>
        <p:nvSpPr>
          <p:cNvPr id="1466" name="Google Shape;1466;g4c7fec812a_0_531: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7" name="Google Shape;1467;g4c7fec812a_0_531:notes"/>
          <p:cNvSpPr txBox="1"/>
          <p:nvPr>
            <p:ph idx="1" type="body"/>
          </p:nvPr>
        </p:nvSpPr>
        <p:spPr>
          <a:xfrm>
            <a:off x="685484" y="4343110"/>
            <a:ext cx="5487000" cy="4114200"/>
          </a:xfrm>
          <a:prstGeom prst="rect">
            <a:avLst/>
          </a:prstGeom>
          <a:noFill/>
          <a:ln>
            <a:noFill/>
          </a:ln>
        </p:spPr>
        <p:txBody>
          <a:bodyPr anchorCtr="0" anchor="t" bIns="47550" lIns="95100" spcFirstLastPara="1" rIns="95100" wrap="square" tIns="4755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85" name="Shape 1485"/>
        <p:cNvGrpSpPr/>
        <p:nvPr/>
      </p:nvGrpSpPr>
      <p:grpSpPr>
        <a:xfrm>
          <a:off x="0" y="0"/>
          <a:ext cx="0" cy="0"/>
          <a:chOff x="0" y="0"/>
          <a:chExt cx="0" cy="0"/>
        </a:xfrm>
      </p:grpSpPr>
      <p:sp>
        <p:nvSpPr>
          <p:cNvPr id="1486" name="Google Shape;1486;g4c7fec812a_0_568:notes"/>
          <p:cNvSpPr txBox="1"/>
          <p:nvPr>
            <p:ph idx="12" type="sldNum"/>
          </p:nvPr>
        </p:nvSpPr>
        <p:spPr>
          <a:xfrm>
            <a:off x="3885466" y="8686221"/>
            <a:ext cx="2970900" cy="456600"/>
          </a:xfrm>
          <a:prstGeom prst="rect">
            <a:avLst/>
          </a:prstGeom>
          <a:noFill/>
          <a:ln>
            <a:noFill/>
          </a:ln>
        </p:spPr>
        <p:txBody>
          <a:bodyPr anchorCtr="0" anchor="b" bIns="47550" lIns="95100" spcFirstLastPara="1" rIns="95100" wrap="square" tIns="47550">
            <a:noAutofit/>
          </a:bodyPr>
          <a:lstStyle/>
          <a:p>
            <a:pPr indent="0" lvl="0" marL="0" marR="0" rtl="0" algn="r">
              <a:spcBef>
                <a:spcPts val="0"/>
              </a:spcBef>
              <a:spcAft>
                <a:spcPts val="0"/>
              </a:spcAft>
              <a:buNone/>
            </a:pPr>
            <a:fld id="{00000000-1234-1234-1234-123412341234}" type="slidenum">
              <a:rPr lang="en-US" sz="1300">
                <a:solidFill>
                  <a:schemeClr val="dk1"/>
                </a:solidFill>
                <a:latin typeface="Arial"/>
                <a:ea typeface="Arial"/>
                <a:cs typeface="Arial"/>
                <a:sym typeface="Arial"/>
              </a:rPr>
              <a:t>‹#›</a:t>
            </a:fld>
            <a:endParaRPr sz="1300">
              <a:solidFill>
                <a:schemeClr val="dk1"/>
              </a:solidFill>
              <a:latin typeface="Arial"/>
              <a:ea typeface="Arial"/>
              <a:cs typeface="Arial"/>
              <a:sym typeface="Arial"/>
            </a:endParaRPr>
          </a:p>
        </p:txBody>
      </p:sp>
      <p:sp>
        <p:nvSpPr>
          <p:cNvPr id="1487" name="Google Shape;1487;g4c7fec812a_0_568: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8" name="Google Shape;1488;g4c7fec812a_0_568:notes"/>
          <p:cNvSpPr txBox="1"/>
          <p:nvPr>
            <p:ph idx="1" type="body"/>
          </p:nvPr>
        </p:nvSpPr>
        <p:spPr>
          <a:xfrm>
            <a:off x="685484" y="4343110"/>
            <a:ext cx="5487000" cy="4114200"/>
          </a:xfrm>
          <a:prstGeom prst="rect">
            <a:avLst/>
          </a:prstGeom>
          <a:noFill/>
          <a:ln>
            <a:noFill/>
          </a:ln>
        </p:spPr>
        <p:txBody>
          <a:bodyPr anchorCtr="0" anchor="t" bIns="47550" lIns="95100" spcFirstLastPara="1" rIns="95100" wrap="square" tIns="4755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19" name="Shape 1519"/>
        <p:cNvGrpSpPr/>
        <p:nvPr/>
      </p:nvGrpSpPr>
      <p:grpSpPr>
        <a:xfrm>
          <a:off x="0" y="0"/>
          <a:ext cx="0" cy="0"/>
          <a:chOff x="0" y="0"/>
          <a:chExt cx="0" cy="0"/>
        </a:xfrm>
      </p:grpSpPr>
      <p:sp>
        <p:nvSpPr>
          <p:cNvPr id="1520" name="Google Shape;1520;g4c7fec812a_0_622:notes"/>
          <p:cNvSpPr txBox="1"/>
          <p:nvPr>
            <p:ph idx="12" type="sldNum"/>
          </p:nvPr>
        </p:nvSpPr>
        <p:spPr>
          <a:xfrm>
            <a:off x="3885466" y="8686221"/>
            <a:ext cx="2970900" cy="456600"/>
          </a:xfrm>
          <a:prstGeom prst="rect">
            <a:avLst/>
          </a:prstGeom>
          <a:noFill/>
          <a:ln>
            <a:noFill/>
          </a:ln>
        </p:spPr>
        <p:txBody>
          <a:bodyPr anchorCtr="0" anchor="b" bIns="47550" lIns="95100" spcFirstLastPara="1" rIns="95100" wrap="square" tIns="47550">
            <a:noAutofit/>
          </a:bodyPr>
          <a:lstStyle/>
          <a:p>
            <a:pPr indent="0" lvl="0" marL="0" marR="0" rtl="0" algn="r">
              <a:spcBef>
                <a:spcPts val="0"/>
              </a:spcBef>
              <a:spcAft>
                <a:spcPts val="0"/>
              </a:spcAft>
              <a:buNone/>
            </a:pPr>
            <a:fld id="{00000000-1234-1234-1234-123412341234}" type="slidenum">
              <a:rPr lang="en-US" sz="1300">
                <a:solidFill>
                  <a:schemeClr val="dk1"/>
                </a:solidFill>
                <a:latin typeface="Arial"/>
                <a:ea typeface="Arial"/>
                <a:cs typeface="Arial"/>
                <a:sym typeface="Arial"/>
              </a:rPr>
              <a:t>‹#›</a:t>
            </a:fld>
            <a:endParaRPr sz="1300">
              <a:solidFill>
                <a:schemeClr val="dk1"/>
              </a:solidFill>
              <a:latin typeface="Arial"/>
              <a:ea typeface="Arial"/>
              <a:cs typeface="Arial"/>
              <a:sym typeface="Arial"/>
            </a:endParaRPr>
          </a:p>
        </p:txBody>
      </p:sp>
      <p:sp>
        <p:nvSpPr>
          <p:cNvPr id="1521" name="Google Shape;1521;g4c7fec812a_0_622: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2" name="Google Shape;1522;g4c7fec812a_0_622:notes"/>
          <p:cNvSpPr txBox="1"/>
          <p:nvPr>
            <p:ph idx="1" type="body"/>
          </p:nvPr>
        </p:nvSpPr>
        <p:spPr>
          <a:xfrm>
            <a:off x="685484" y="4343110"/>
            <a:ext cx="5487000" cy="4114200"/>
          </a:xfrm>
          <a:prstGeom prst="rect">
            <a:avLst/>
          </a:prstGeom>
          <a:noFill/>
          <a:ln>
            <a:noFill/>
          </a:ln>
        </p:spPr>
        <p:txBody>
          <a:bodyPr anchorCtr="0" anchor="t" bIns="47550" lIns="95100" spcFirstLastPara="1" rIns="95100" wrap="square" tIns="4755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48" name="Shape 1548"/>
        <p:cNvGrpSpPr/>
        <p:nvPr/>
      </p:nvGrpSpPr>
      <p:grpSpPr>
        <a:xfrm>
          <a:off x="0" y="0"/>
          <a:ext cx="0" cy="0"/>
          <a:chOff x="0" y="0"/>
          <a:chExt cx="0" cy="0"/>
        </a:xfrm>
      </p:grpSpPr>
      <p:sp>
        <p:nvSpPr>
          <p:cNvPr id="1549" name="Google Shape;1549;g4c62fd2abf_0_405:notes"/>
          <p:cNvSpPr txBox="1"/>
          <p:nvPr>
            <p:ph idx="12" type="sldNum"/>
          </p:nvPr>
        </p:nvSpPr>
        <p:spPr>
          <a:xfrm>
            <a:off x="3885466" y="8686221"/>
            <a:ext cx="2970900" cy="456600"/>
          </a:xfrm>
          <a:prstGeom prst="rect">
            <a:avLst/>
          </a:prstGeom>
          <a:noFill/>
          <a:ln>
            <a:noFill/>
          </a:ln>
        </p:spPr>
        <p:txBody>
          <a:bodyPr anchorCtr="0" anchor="b" bIns="47550" lIns="95100" spcFirstLastPara="1" rIns="95100" wrap="square" tIns="47550">
            <a:noAutofit/>
          </a:bodyPr>
          <a:lstStyle/>
          <a:p>
            <a:pPr indent="0" lvl="0" marL="0" marR="0" rtl="0" algn="r">
              <a:spcBef>
                <a:spcPts val="0"/>
              </a:spcBef>
              <a:spcAft>
                <a:spcPts val="0"/>
              </a:spcAft>
              <a:buNone/>
            </a:pPr>
            <a:fld id="{00000000-1234-1234-1234-123412341234}" type="slidenum">
              <a:rPr lang="en-US" sz="1300">
                <a:solidFill>
                  <a:schemeClr val="dk1"/>
                </a:solidFill>
                <a:latin typeface="Arial"/>
                <a:ea typeface="Arial"/>
                <a:cs typeface="Arial"/>
                <a:sym typeface="Arial"/>
              </a:rPr>
              <a:t>‹#›</a:t>
            </a:fld>
            <a:endParaRPr sz="1300">
              <a:solidFill>
                <a:schemeClr val="dk1"/>
              </a:solidFill>
              <a:latin typeface="Arial"/>
              <a:ea typeface="Arial"/>
              <a:cs typeface="Arial"/>
              <a:sym typeface="Arial"/>
            </a:endParaRPr>
          </a:p>
        </p:txBody>
      </p:sp>
      <p:sp>
        <p:nvSpPr>
          <p:cNvPr id="1550" name="Google Shape;1550;g4c62fd2abf_0_405: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1" name="Google Shape;1551;g4c62fd2abf_0_405:notes"/>
          <p:cNvSpPr txBox="1"/>
          <p:nvPr>
            <p:ph idx="1" type="body"/>
          </p:nvPr>
        </p:nvSpPr>
        <p:spPr>
          <a:xfrm>
            <a:off x="685484" y="4343110"/>
            <a:ext cx="5487000" cy="4114200"/>
          </a:xfrm>
          <a:prstGeom prst="rect">
            <a:avLst/>
          </a:prstGeom>
          <a:noFill/>
          <a:ln>
            <a:noFill/>
          </a:ln>
        </p:spPr>
        <p:txBody>
          <a:bodyPr anchorCtr="0" anchor="t" bIns="47550" lIns="95100" spcFirstLastPara="1" rIns="95100" wrap="square" tIns="4755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59" name="Shape 1559"/>
        <p:cNvGrpSpPr/>
        <p:nvPr/>
      </p:nvGrpSpPr>
      <p:grpSpPr>
        <a:xfrm>
          <a:off x="0" y="0"/>
          <a:ext cx="0" cy="0"/>
          <a:chOff x="0" y="0"/>
          <a:chExt cx="0" cy="0"/>
        </a:xfrm>
      </p:grpSpPr>
      <p:sp>
        <p:nvSpPr>
          <p:cNvPr id="1560" name="Google Shape;1560;g4c7fec812a_0_772:notes"/>
          <p:cNvSpPr txBox="1"/>
          <p:nvPr>
            <p:ph idx="1" type="body"/>
          </p:nvPr>
        </p:nvSpPr>
        <p:spPr>
          <a:xfrm>
            <a:off x="685484" y="4343110"/>
            <a:ext cx="54870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g4c7fec812a_0_772: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96" name="Shape 1596"/>
        <p:cNvGrpSpPr/>
        <p:nvPr/>
      </p:nvGrpSpPr>
      <p:grpSpPr>
        <a:xfrm>
          <a:off x="0" y="0"/>
          <a:ext cx="0" cy="0"/>
          <a:chOff x="0" y="0"/>
          <a:chExt cx="0" cy="0"/>
        </a:xfrm>
      </p:grpSpPr>
      <p:sp>
        <p:nvSpPr>
          <p:cNvPr id="1597" name="Google Shape;1597;g4c7fec812a_0_657:notes"/>
          <p:cNvSpPr txBox="1"/>
          <p:nvPr>
            <p:ph idx="1" type="body"/>
          </p:nvPr>
        </p:nvSpPr>
        <p:spPr>
          <a:xfrm>
            <a:off x="685484" y="4343110"/>
            <a:ext cx="54870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g4c7fec812a_0_657: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01" name="Shape 1601"/>
        <p:cNvGrpSpPr/>
        <p:nvPr/>
      </p:nvGrpSpPr>
      <p:grpSpPr>
        <a:xfrm>
          <a:off x="0" y="0"/>
          <a:ext cx="0" cy="0"/>
          <a:chOff x="0" y="0"/>
          <a:chExt cx="0" cy="0"/>
        </a:xfrm>
      </p:grpSpPr>
      <p:sp>
        <p:nvSpPr>
          <p:cNvPr id="1602" name="Google Shape;1602;g4c62fd2abf_0_455:notes"/>
          <p:cNvSpPr txBox="1"/>
          <p:nvPr>
            <p:ph idx="1" type="body"/>
          </p:nvPr>
        </p:nvSpPr>
        <p:spPr>
          <a:xfrm>
            <a:off x="685484" y="4343110"/>
            <a:ext cx="54870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g4c62fd2abf_0_455:notes"/>
          <p:cNvSpPr/>
          <p:nvPr>
            <p:ph idx="2" type="sldImg"/>
          </p:nvPr>
        </p:nvSpPr>
        <p:spPr>
          <a:xfrm>
            <a:off x="879903" y="687189"/>
            <a:ext cx="51012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mp; Bullets" type="tx">
  <p:cSld name="TITLE_AND_BODY">
    <p:spTree>
      <p:nvGrpSpPr>
        <p:cNvPr id="9" name="Shape 9"/>
        <p:cNvGrpSpPr/>
        <p:nvPr/>
      </p:nvGrpSpPr>
      <p:grpSpPr>
        <a:xfrm>
          <a:off x="0" y="0"/>
          <a:ext cx="0" cy="0"/>
          <a:chOff x="0" y="0"/>
          <a:chExt cx="0" cy="0"/>
        </a:xfrm>
      </p:grpSpPr>
      <p:sp>
        <p:nvSpPr>
          <p:cNvPr id="10" name="Google Shape;10;p2"/>
          <p:cNvSpPr txBox="1"/>
          <p:nvPr>
            <p:ph type="title"/>
          </p:nvPr>
        </p:nvSpPr>
        <p:spPr>
          <a:xfrm>
            <a:off x="457200" y="92074"/>
            <a:ext cx="8229600" cy="1508126"/>
          </a:xfrm>
          <a:prstGeom prst="rect">
            <a:avLst/>
          </a:prstGeom>
          <a:noFill/>
          <a:ln>
            <a:noFill/>
          </a:ln>
        </p:spPr>
        <p:txBody>
          <a:bodyPr anchorCtr="0" anchor="ctr" bIns="91425" lIns="91425" spcFirstLastPara="1" rIns="91425" wrap="square" tIns="91425"/>
          <a:lstStyle>
            <a:lvl1pPr indent="-2539" lvl="0" marL="40639" marR="40639" rtl="0" algn="ctr">
              <a:lnSpc>
                <a:spcPct val="100000"/>
              </a:lnSpc>
              <a:spcBef>
                <a:spcPts val="0"/>
              </a:spcBef>
              <a:spcAft>
                <a:spcPts val="0"/>
              </a:spcAft>
              <a:buClr>
                <a:srgbClr val="000000"/>
              </a:buClr>
              <a:buSzPts val="1400"/>
              <a:buFont typeface="Arial"/>
              <a:buNone/>
              <a:defRPr b="0" i="0" sz="4400" u="none" cap="none" strike="noStrike">
                <a:solidFill>
                  <a:srgbClr val="000000"/>
                </a:solidFill>
                <a:latin typeface="Arial"/>
                <a:ea typeface="Arial"/>
                <a:cs typeface="Arial"/>
                <a:sym typeface="Arial"/>
              </a:defRPr>
            </a:lvl1pPr>
            <a:lvl2pPr indent="226061" lvl="1" marL="40639" marR="40639" rtl="0" algn="ctr">
              <a:lnSpc>
                <a:spcPct val="100000"/>
              </a:lnSpc>
              <a:spcBef>
                <a:spcPts val="0"/>
              </a:spcBef>
              <a:spcAft>
                <a:spcPts val="0"/>
              </a:spcAft>
              <a:buClr>
                <a:srgbClr val="000000"/>
              </a:buClr>
              <a:buSzPts val="1400"/>
              <a:buFont typeface="Arial"/>
              <a:buNone/>
              <a:defRPr b="0" i="0" sz="4400" u="none" cap="none" strike="noStrike">
                <a:solidFill>
                  <a:srgbClr val="000000"/>
                </a:solidFill>
                <a:latin typeface="Arial"/>
                <a:ea typeface="Arial"/>
                <a:cs typeface="Arial"/>
                <a:sym typeface="Arial"/>
              </a:defRPr>
            </a:lvl2pPr>
            <a:lvl3pPr indent="454661" lvl="2" marL="40639" marR="40639" rtl="0" algn="ctr">
              <a:lnSpc>
                <a:spcPct val="100000"/>
              </a:lnSpc>
              <a:spcBef>
                <a:spcPts val="0"/>
              </a:spcBef>
              <a:spcAft>
                <a:spcPts val="0"/>
              </a:spcAft>
              <a:buClr>
                <a:srgbClr val="000000"/>
              </a:buClr>
              <a:buSzPts val="1400"/>
              <a:buFont typeface="Arial"/>
              <a:buNone/>
              <a:defRPr b="0" i="0" sz="4400" u="none" cap="none" strike="noStrike">
                <a:solidFill>
                  <a:srgbClr val="000000"/>
                </a:solidFill>
                <a:latin typeface="Arial"/>
                <a:ea typeface="Arial"/>
                <a:cs typeface="Arial"/>
                <a:sym typeface="Arial"/>
              </a:defRPr>
            </a:lvl3pPr>
            <a:lvl4pPr indent="683261" lvl="3" marL="40639" marR="40639" rtl="0" algn="ctr">
              <a:lnSpc>
                <a:spcPct val="100000"/>
              </a:lnSpc>
              <a:spcBef>
                <a:spcPts val="0"/>
              </a:spcBef>
              <a:spcAft>
                <a:spcPts val="0"/>
              </a:spcAft>
              <a:buClr>
                <a:srgbClr val="000000"/>
              </a:buClr>
              <a:buSzPts val="1400"/>
              <a:buFont typeface="Arial"/>
              <a:buNone/>
              <a:defRPr b="0" i="0" sz="4400" u="none" cap="none" strike="noStrike">
                <a:solidFill>
                  <a:srgbClr val="000000"/>
                </a:solidFill>
                <a:latin typeface="Arial"/>
                <a:ea typeface="Arial"/>
                <a:cs typeface="Arial"/>
                <a:sym typeface="Arial"/>
              </a:defRPr>
            </a:lvl4pPr>
            <a:lvl5pPr indent="911861" lvl="4" marL="40639" marR="40639" rtl="0" algn="ctr">
              <a:lnSpc>
                <a:spcPct val="100000"/>
              </a:lnSpc>
              <a:spcBef>
                <a:spcPts val="0"/>
              </a:spcBef>
              <a:spcAft>
                <a:spcPts val="0"/>
              </a:spcAft>
              <a:buClr>
                <a:srgbClr val="000000"/>
              </a:buClr>
              <a:buSzPts val="1400"/>
              <a:buFont typeface="Arial"/>
              <a:buNone/>
              <a:defRPr b="0" i="0" sz="4400" u="none" cap="none" strike="noStrike">
                <a:solidFill>
                  <a:srgbClr val="000000"/>
                </a:solidFill>
                <a:latin typeface="Arial"/>
                <a:ea typeface="Arial"/>
                <a:cs typeface="Arial"/>
                <a:sym typeface="Arial"/>
              </a:defRPr>
            </a:lvl5pPr>
            <a:lvl6pPr indent="1140461" lvl="5" marL="40639" marR="40639" rtl="0" algn="ctr">
              <a:lnSpc>
                <a:spcPct val="100000"/>
              </a:lnSpc>
              <a:spcBef>
                <a:spcPts val="0"/>
              </a:spcBef>
              <a:spcAft>
                <a:spcPts val="0"/>
              </a:spcAft>
              <a:buClr>
                <a:srgbClr val="000000"/>
              </a:buClr>
              <a:buSzPts val="1400"/>
              <a:buFont typeface="Arial"/>
              <a:buNone/>
              <a:defRPr b="0" i="0" sz="4400" u="none" cap="none" strike="noStrike">
                <a:solidFill>
                  <a:srgbClr val="000000"/>
                </a:solidFill>
                <a:latin typeface="Arial"/>
                <a:ea typeface="Arial"/>
                <a:cs typeface="Arial"/>
                <a:sym typeface="Arial"/>
              </a:defRPr>
            </a:lvl6pPr>
            <a:lvl7pPr indent="1369061" lvl="6" marL="40639" marR="40639" rtl="0" algn="ctr">
              <a:lnSpc>
                <a:spcPct val="100000"/>
              </a:lnSpc>
              <a:spcBef>
                <a:spcPts val="0"/>
              </a:spcBef>
              <a:spcAft>
                <a:spcPts val="0"/>
              </a:spcAft>
              <a:buClr>
                <a:srgbClr val="000000"/>
              </a:buClr>
              <a:buSzPts val="1400"/>
              <a:buFont typeface="Arial"/>
              <a:buNone/>
              <a:defRPr b="0" i="0" sz="4400" u="none" cap="none" strike="noStrike">
                <a:solidFill>
                  <a:srgbClr val="000000"/>
                </a:solidFill>
                <a:latin typeface="Arial"/>
                <a:ea typeface="Arial"/>
                <a:cs typeface="Arial"/>
                <a:sym typeface="Arial"/>
              </a:defRPr>
            </a:lvl7pPr>
            <a:lvl8pPr indent="1597661" lvl="7" marL="40639" marR="40639" rtl="0" algn="ctr">
              <a:lnSpc>
                <a:spcPct val="100000"/>
              </a:lnSpc>
              <a:spcBef>
                <a:spcPts val="0"/>
              </a:spcBef>
              <a:spcAft>
                <a:spcPts val="0"/>
              </a:spcAft>
              <a:buClr>
                <a:srgbClr val="000000"/>
              </a:buClr>
              <a:buSzPts val="1400"/>
              <a:buFont typeface="Arial"/>
              <a:buNone/>
              <a:defRPr b="0" i="0" sz="4400" u="none" cap="none" strike="noStrike">
                <a:solidFill>
                  <a:srgbClr val="000000"/>
                </a:solidFill>
                <a:latin typeface="Arial"/>
                <a:ea typeface="Arial"/>
                <a:cs typeface="Arial"/>
                <a:sym typeface="Arial"/>
              </a:defRPr>
            </a:lvl8pPr>
            <a:lvl9pPr indent="1826261" lvl="8" marL="40639" marR="40639" rtl="0" algn="ctr">
              <a:lnSpc>
                <a:spcPct val="100000"/>
              </a:lnSpc>
              <a:spcBef>
                <a:spcPts val="0"/>
              </a:spcBef>
              <a:spcAft>
                <a:spcPts val="0"/>
              </a:spcAft>
              <a:buClr>
                <a:srgbClr val="000000"/>
              </a:buClr>
              <a:buSzPts val="1400"/>
              <a:buFont typeface="Arial"/>
              <a:buNone/>
              <a:defRPr b="0" i="0" sz="4400" u="none" cap="none" strike="noStrike">
                <a:solidFill>
                  <a:srgbClr val="000000"/>
                </a:solidFill>
                <a:latin typeface="Arial"/>
                <a:ea typeface="Arial"/>
                <a:cs typeface="Arial"/>
                <a:sym typeface="Arial"/>
              </a:defRPr>
            </a:lvl9pPr>
          </a:lstStyle>
          <a:p/>
        </p:txBody>
      </p:sp>
      <p:sp>
        <p:nvSpPr>
          <p:cNvPr id="11" name="Google Shape;11;p2"/>
          <p:cNvSpPr txBox="1"/>
          <p:nvPr>
            <p:ph idx="1" type="body"/>
          </p:nvPr>
        </p:nvSpPr>
        <p:spPr>
          <a:xfrm>
            <a:off x="457200" y="1600200"/>
            <a:ext cx="8229600" cy="5257800"/>
          </a:xfrm>
          <a:prstGeom prst="rect">
            <a:avLst/>
          </a:prstGeom>
          <a:noFill/>
          <a:ln>
            <a:noFill/>
          </a:ln>
        </p:spPr>
        <p:txBody>
          <a:bodyPr anchorCtr="0" anchor="t" bIns="91425" lIns="91425" spcFirstLastPara="1" rIns="91425" wrap="square" tIns="91425"/>
          <a:lstStyle>
            <a:lvl1pPr indent="-431800" lvl="0" marL="457200" marR="40639"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Arial"/>
                <a:ea typeface="Arial"/>
                <a:cs typeface="Arial"/>
                <a:sym typeface="Arial"/>
              </a:defRPr>
            </a:lvl1pPr>
            <a:lvl2pPr indent="-406400" lvl="1" marL="914400" marR="40639" rtl="0" algn="l">
              <a:lnSpc>
                <a:spcPct val="100000"/>
              </a:lnSpc>
              <a:spcBef>
                <a:spcPts val="6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2pPr>
            <a:lvl3pPr indent="-381000" lvl="2" marL="1371600" marR="40639" rtl="0" algn="l">
              <a:lnSpc>
                <a:spcPct val="100000"/>
              </a:lnSpc>
              <a:spcBef>
                <a:spcPts val="50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3pPr>
            <a:lvl4pPr indent="-355600" lvl="3" marL="1828800" marR="40639"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Arial"/>
                <a:ea typeface="Arial"/>
                <a:cs typeface="Arial"/>
                <a:sym typeface="Arial"/>
              </a:defRPr>
            </a:lvl4pPr>
            <a:lvl5pPr indent="-355600" lvl="4" marL="2286000" marR="40639"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Arial"/>
                <a:ea typeface="Arial"/>
                <a:cs typeface="Arial"/>
                <a:sym typeface="Arial"/>
              </a:defRPr>
            </a:lvl5pPr>
            <a:lvl6pPr indent="-431800" lvl="5" marL="2743200" marR="40639"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Arial"/>
                <a:ea typeface="Arial"/>
                <a:cs typeface="Arial"/>
                <a:sym typeface="Arial"/>
              </a:defRPr>
            </a:lvl6pPr>
            <a:lvl7pPr indent="-431800" lvl="6" marL="3200400" marR="40639"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Arial"/>
                <a:ea typeface="Arial"/>
                <a:cs typeface="Arial"/>
                <a:sym typeface="Arial"/>
              </a:defRPr>
            </a:lvl7pPr>
            <a:lvl8pPr indent="-431800" lvl="7" marL="3657600" marR="40639"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Arial"/>
                <a:ea typeface="Arial"/>
                <a:cs typeface="Arial"/>
                <a:sym typeface="Arial"/>
              </a:defRPr>
            </a:lvl8pPr>
            <a:lvl9pPr indent="-431800" lvl="8" marL="4114800" marR="40639"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Arial"/>
                <a:ea typeface="Arial"/>
                <a:cs typeface="Arial"/>
                <a:sym typeface="Arial"/>
              </a:defRPr>
            </a:lvl9pPr>
          </a:lstStyle>
          <a:p/>
        </p:txBody>
      </p:sp>
      <p:sp>
        <p:nvSpPr>
          <p:cNvPr id="12" name="Google Shape;12;p2"/>
          <p:cNvSpPr txBox="1"/>
          <p:nvPr>
            <p:ph idx="12" type="sldNum"/>
          </p:nvPr>
        </p:nvSpPr>
        <p:spPr>
          <a:xfrm>
            <a:off x="7463966" y="6245225"/>
            <a:ext cx="312068" cy="298984"/>
          </a:xfrm>
          <a:prstGeom prst="rect">
            <a:avLst/>
          </a:prstGeom>
          <a:noFill/>
          <a:ln>
            <a:noFill/>
          </a:ln>
        </p:spPr>
        <p:txBody>
          <a:bodyPr anchorCtr="0" anchor="t" bIns="50800" lIns="50800" spcFirstLastPara="1" rIns="50800" wrap="square" tIns="50800">
            <a:noAutofit/>
          </a:bodyPr>
          <a:lstStyle>
            <a:lvl1pPr indent="0" lvl="0" marL="0" marR="0" rtl="0" algn="ctr">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ctr">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ctr">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ctr">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ctr">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ctr">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ctr">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ctr">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ctr">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17" name="Shape 17"/>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18" name="Shape 18"/>
        <p:cNvGrpSpPr/>
        <p:nvPr/>
      </p:nvGrpSpPr>
      <p:grpSpPr>
        <a:xfrm>
          <a:off x="0" y="0"/>
          <a:ext cx="0" cy="0"/>
          <a:chOff x="0" y="0"/>
          <a:chExt cx="0" cy="0"/>
        </a:xfrm>
      </p:grpSpPr>
      <p:sp>
        <p:nvSpPr>
          <p:cNvPr id="19" name="Google Shape;19;p5"/>
          <p:cNvSpPr txBox="1"/>
          <p:nvPr>
            <p:ph type="ctrTitle"/>
          </p:nvPr>
        </p:nvSpPr>
        <p:spPr>
          <a:xfrm>
            <a:off x="685800" y="2130425"/>
            <a:ext cx="7772400" cy="1470000"/>
          </a:xfrm>
          <a:prstGeom prst="rect">
            <a:avLst/>
          </a:prstGeom>
          <a:noFill/>
          <a:ln>
            <a:noFill/>
          </a:ln>
        </p:spPr>
        <p:txBody>
          <a:bodyPr anchorCtr="0" anchor="ctr" bIns="91425" lIns="91425" spcFirstLastPara="1" rIns="91425" wrap="square" tIns="91425"/>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20" name="Google Shape;20;p5"/>
          <p:cNvSpPr txBox="1"/>
          <p:nvPr>
            <p:ph idx="1" type="subTitle"/>
          </p:nvPr>
        </p:nvSpPr>
        <p:spPr>
          <a:xfrm>
            <a:off x="1371600" y="3886200"/>
            <a:ext cx="6400800" cy="1752600"/>
          </a:xfrm>
          <a:prstGeom prst="rect">
            <a:avLst/>
          </a:prstGeom>
          <a:noFill/>
          <a:ln>
            <a:noFill/>
          </a:ln>
        </p:spPr>
        <p:txBody>
          <a:bodyPr anchorCtr="0" anchor="t" bIns="91425" lIns="91425" spcFirstLastPara="1" rIns="91425" wrap="square" tIns="91425"/>
          <a:lstStyle>
            <a:lvl1pPr lvl="0" marR="0" rtl="0" algn="ctr">
              <a:spcBef>
                <a:spcPts val="640"/>
              </a:spcBef>
              <a:spcAft>
                <a:spcPts val="0"/>
              </a:spcAft>
              <a:buClr>
                <a:srgbClr val="888888"/>
              </a:buClr>
              <a:buSzPts val="3200"/>
              <a:buFont typeface="Arial"/>
              <a:buNone/>
              <a:defRPr b="0" i="0" sz="3200" u="none" cap="none" strike="noStrike">
                <a:solidFill>
                  <a:srgbClr val="888888"/>
                </a:solidFill>
                <a:latin typeface="Arial"/>
                <a:ea typeface="Arial"/>
                <a:cs typeface="Arial"/>
                <a:sym typeface="Arial"/>
              </a:defRPr>
            </a:lvl1pPr>
            <a:lvl2pPr lvl="1" marR="0" rtl="0" algn="ctr">
              <a:spcBef>
                <a:spcPts val="560"/>
              </a:spcBef>
              <a:spcAft>
                <a:spcPts val="0"/>
              </a:spcAft>
              <a:buClr>
                <a:srgbClr val="888888"/>
              </a:buClr>
              <a:buSzPts val="2800"/>
              <a:buFont typeface="Arial"/>
              <a:buNone/>
              <a:defRPr b="0" i="0" sz="2800" u="none" cap="none" strike="noStrike">
                <a:solidFill>
                  <a:srgbClr val="888888"/>
                </a:solidFill>
                <a:latin typeface="Arial"/>
                <a:ea typeface="Arial"/>
                <a:cs typeface="Arial"/>
                <a:sym typeface="Arial"/>
              </a:defRPr>
            </a:lvl2pPr>
            <a:lvl3pPr lvl="2" marR="0" rtl="0" algn="ctr">
              <a:spcBef>
                <a:spcPts val="480"/>
              </a:spcBef>
              <a:spcAft>
                <a:spcPts val="0"/>
              </a:spcAft>
              <a:buClr>
                <a:srgbClr val="888888"/>
              </a:buClr>
              <a:buSzPts val="2400"/>
              <a:buFont typeface="Arial"/>
              <a:buNone/>
              <a:defRPr b="0" i="0" sz="2400" u="none" cap="none" strike="noStrike">
                <a:solidFill>
                  <a:srgbClr val="888888"/>
                </a:solidFill>
                <a:latin typeface="Arial"/>
                <a:ea typeface="Arial"/>
                <a:cs typeface="Arial"/>
                <a:sym typeface="Arial"/>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21" name="Shape 21"/>
        <p:cNvGrpSpPr/>
        <p:nvPr/>
      </p:nvGrpSpPr>
      <p:grpSpPr>
        <a:xfrm>
          <a:off x="0" y="0"/>
          <a:ext cx="0" cy="0"/>
          <a:chOff x="0" y="0"/>
          <a:chExt cx="0" cy="0"/>
        </a:xfrm>
      </p:grpSpPr>
      <p:sp>
        <p:nvSpPr>
          <p:cNvPr id="22" name="Google Shape;22;p6"/>
          <p:cNvSpPr txBox="1"/>
          <p:nvPr>
            <p:ph type="title"/>
          </p:nvPr>
        </p:nvSpPr>
        <p:spPr>
          <a:xfrm>
            <a:off x="457200" y="274638"/>
            <a:ext cx="8229600" cy="1143000"/>
          </a:xfrm>
          <a:prstGeom prst="rect">
            <a:avLst/>
          </a:prstGeom>
          <a:noFill/>
          <a:ln>
            <a:noFill/>
          </a:ln>
        </p:spPr>
        <p:txBody>
          <a:bodyPr anchorCtr="0" anchor="ctr" bIns="91425" lIns="91425" spcFirstLastPara="1" rIns="91425" wrap="square" tIns="91425"/>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23" name="Google Shape;23;p6"/>
          <p:cNvSpPr txBox="1"/>
          <p:nvPr>
            <p:ph idx="1" type="body"/>
          </p:nvPr>
        </p:nvSpPr>
        <p:spPr>
          <a:xfrm>
            <a:off x="457200" y="1600200"/>
            <a:ext cx="8229600" cy="4526100"/>
          </a:xfrm>
          <a:prstGeom prst="rect">
            <a:avLst/>
          </a:prstGeom>
          <a:noFill/>
          <a:ln>
            <a:noFill/>
          </a:ln>
        </p:spPr>
        <p:txBody>
          <a:bodyPr anchorCtr="0" anchor="t" bIns="91425" lIns="91425" spcFirstLastPara="1" rIns="91425" wrap="square" tIns="91425"/>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24" name="Shape 24"/>
        <p:cNvGrpSpPr/>
        <p:nvPr/>
      </p:nvGrpSpPr>
      <p:grpSpPr>
        <a:xfrm>
          <a:off x="0" y="0"/>
          <a:ext cx="0" cy="0"/>
          <a:chOff x="0" y="0"/>
          <a:chExt cx="0" cy="0"/>
        </a:xfrm>
      </p:grpSpPr>
      <p:sp>
        <p:nvSpPr>
          <p:cNvPr id="25" name="Google Shape;25;p7"/>
          <p:cNvSpPr txBox="1"/>
          <p:nvPr>
            <p:ph type="title"/>
          </p:nvPr>
        </p:nvSpPr>
        <p:spPr>
          <a:xfrm>
            <a:off x="722313" y="4406900"/>
            <a:ext cx="7772400" cy="1362000"/>
          </a:xfrm>
          <a:prstGeom prst="rect">
            <a:avLst/>
          </a:prstGeom>
          <a:noFill/>
          <a:ln>
            <a:noFill/>
          </a:ln>
        </p:spPr>
        <p:txBody>
          <a:bodyPr anchorCtr="0" anchor="t" bIns="91425" lIns="91425" spcFirstLastPara="1" rIns="91425" wrap="square" tIns="91425"/>
          <a:lstStyle>
            <a:lvl1pPr lvl="0" marR="0" rtl="0" algn="l">
              <a:spcBef>
                <a:spcPts val="0"/>
              </a:spcBef>
              <a:spcAft>
                <a:spcPts val="0"/>
              </a:spcAft>
              <a:buSzPts val="1400"/>
              <a:buNone/>
              <a:defRPr b="1" i="0" sz="40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26" name="Google Shape;26;p7"/>
          <p:cNvSpPr txBox="1"/>
          <p:nvPr>
            <p:ph idx="1" type="body"/>
          </p:nvPr>
        </p:nvSpPr>
        <p:spPr>
          <a:xfrm>
            <a:off x="722313" y="2906713"/>
            <a:ext cx="7772400" cy="1500300"/>
          </a:xfrm>
          <a:prstGeom prst="rect">
            <a:avLst/>
          </a:prstGeom>
          <a:noFill/>
          <a:ln>
            <a:noFill/>
          </a:ln>
        </p:spPr>
        <p:txBody>
          <a:bodyPr anchorCtr="0" anchor="b" bIns="91425" lIns="91425" spcFirstLastPara="1" rIns="91425" wrap="square" tIns="91425"/>
          <a:lstStyle>
            <a:lvl1pPr indent="-228600" lvl="0" marL="457200" marR="0" rtl="0" algn="l">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1pPr>
            <a:lvl2pPr indent="-228600" lvl="1" marL="914400" marR="0" rtl="0" algn="l">
              <a:spcBef>
                <a:spcPts val="360"/>
              </a:spcBef>
              <a:spcAft>
                <a:spcPts val="0"/>
              </a:spcAft>
              <a:buClr>
                <a:srgbClr val="888888"/>
              </a:buClr>
              <a:buSzPts val="1800"/>
              <a:buFont typeface="Arial"/>
              <a:buNone/>
              <a:defRPr b="0" i="0" sz="1800" u="none" cap="none" strike="noStrike">
                <a:solidFill>
                  <a:srgbClr val="888888"/>
                </a:solidFill>
                <a:latin typeface="Arial"/>
                <a:ea typeface="Arial"/>
                <a:cs typeface="Arial"/>
                <a:sym typeface="Arial"/>
              </a:defRPr>
            </a:lvl2pPr>
            <a:lvl3pPr indent="-228600" lvl="2" marL="1371600" marR="0" rtl="0" algn="l">
              <a:spcBef>
                <a:spcPts val="320"/>
              </a:spcBef>
              <a:spcAft>
                <a:spcPts val="0"/>
              </a:spcAft>
              <a:buClr>
                <a:srgbClr val="888888"/>
              </a:buClr>
              <a:buSzPts val="1600"/>
              <a:buFont typeface="Arial"/>
              <a:buNone/>
              <a:defRPr b="0" i="0" sz="1600" u="none" cap="none" strike="noStrike">
                <a:solidFill>
                  <a:srgbClr val="888888"/>
                </a:solidFill>
                <a:latin typeface="Arial"/>
                <a:ea typeface="Arial"/>
                <a:cs typeface="Arial"/>
                <a:sym typeface="Arial"/>
              </a:defRPr>
            </a:lvl3pPr>
            <a:lvl4pPr indent="-228600" lvl="3" marL="1828800" marR="0" rtl="0" algn="l">
              <a:spcBef>
                <a:spcPts val="280"/>
              </a:spcBef>
              <a:spcAft>
                <a:spcPts val="0"/>
              </a:spcAft>
              <a:buClr>
                <a:srgbClr val="888888"/>
              </a:buClr>
              <a:buSzPts val="1400"/>
              <a:buFont typeface="Arial"/>
              <a:buNone/>
              <a:defRPr b="0" i="0" sz="1400" u="none" cap="none" strike="noStrike">
                <a:solidFill>
                  <a:srgbClr val="888888"/>
                </a:solidFill>
                <a:latin typeface="Arial"/>
                <a:ea typeface="Arial"/>
                <a:cs typeface="Arial"/>
                <a:sym typeface="Arial"/>
              </a:defRPr>
            </a:lvl4pPr>
            <a:lvl5pPr indent="-228600" lvl="4" marL="2286000" marR="0" rtl="0" algn="l">
              <a:spcBef>
                <a:spcPts val="280"/>
              </a:spcBef>
              <a:spcAft>
                <a:spcPts val="0"/>
              </a:spcAft>
              <a:buClr>
                <a:srgbClr val="888888"/>
              </a:buClr>
              <a:buSzPts val="1400"/>
              <a:buFont typeface="Arial"/>
              <a:buNone/>
              <a:defRPr b="0" i="0" sz="1400" u="none" cap="none" strike="noStrike">
                <a:solidFill>
                  <a:srgbClr val="888888"/>
                </a:solidFill>
                <a:latin typeface="Arial"/>
                <a:ea typeface="Arial"/>
                <a:cs typeface="Arial"/>
                <a:sym typeface="Arial"/>
              </a:defRPr>
            </a:lvl5pPr>
            <a:lvl6pPr indent="-228600" lvl="5" marL="2743200" marR="0" rtl="0" algn="l">
              <a:spcBef>
                <a:spcPts val="280"/>
              </a:spcBef>
              <a:spcAft>
                <a:spcPts val="0"/>
              </a:spcAft>
              <a:buClr>
                <a:srgbClr val="888888"/>
              </a:buClr>
              <a:buSzPts val="1400"/>
              <a:buFont typeface="Arial"/>
              <a:buNone/>
              <a:defRPr b="0" i="0" sz="1400" u="none" cap="none" strike="noStrike">
                <a:solidFill>
                  <a:srgbClr val="888888"/>
                </a:solidFill>
                <a:latin typeface="Arial"/>
                <a:ea typeface="Arial"/>
                <a:cs typeface="Arial"/>
                <a:sym typeface="Arial"/>
              </a:defRPr>
            </a:lvl6pPr>
            <a:lvl7pPr indent="-228600" lvl="6" marL="3200400" marR="0" rtl="0" algn="l">
              <a:spcBef>
                <a:spcPts val="280"/>
              </a:spcBef>
              <a:spcAft>
                <a:spcPts val="0"/>
              </a:spcAft>
              <a:buClr>
                <a:srgbClr val="888888"/>
              </a:buClr>
              <a:buSzPts val="1400"/>
              <a:buFont typeface="Arial"/>
              <a:buNone/>
              <a:defRPr b="0" i="0" sz="1400" u="none" cap="none" strike="noStrike">
                <a:solidFill>
                  <a:srgbClr val="888888"/>
                </a:solidFill>
                <a:latin typeface="Arial"/>
                <a:ea typeface="Arial"/>
                <a:cs typeface="Arial"/>
                <a:sym typeface="Arial"/>
              </a:defRPr>
            </a:lvl7pPr>
            <a:lvl8pPr indent="-228600" lvl="7" marL="3657600" marR="0" rtl="0" algn="l">
              <a:spcBef>
                <a:spcPts val="280"/>
              </a:spcBef>
              <a:spcAft>
                <a:spcPts val="0"/>
              </a:spcAft>
              <a:buClr>
                <a:srgbClr val="888888"/>
              </a:buClr>
              <a:buSzPts val="1400"/>
              <a:buFont typeface="Arial"/>
              <a:buNone/>
              <a:defRPr b="0" i="0" sz="1400" u="none" cap="none" strike="noStrike">
                <a:solidFill>
                  <a:srgbClr val="888888"/>
                </a:solidFill>
                <a:latin typeface="Arial"/>
                <a:ea typeface="Arial"/>
                <a:cs typeface="Arial"/>
                <a:sym typeface="Arial"/>
              </a:defRPr>
            </a:lvl8pPr>
            <a:lvl9pPr indent="-228600" lvl="8" marL="4114800" marR="0" rtl="0" algn="l">
              <a:spcBef>
                <a:spcPts val="280"/>
              </a:spcBef>
              <a:spcAft>
                <a:spcPts val="0"/>
              </a:spcAft>
              <a:buClr>
                <a:srgbClr val="888888"/>
              </a:buClr>
              <a:buSzPts val="1400"/>
              <a:buFont typeface="Arial"/>
              <a:buNone/>
              <a:defRPr b="0" i="0" sz="1400" u="none" cap="none" strike="noStrike">
                <a:solidFill>
                  <a:srgbClr val="888888"/>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27" name="Shape 27"/>
        <p:cNvGrpSpPr/>
        <p:nvPr/>
      </p:nvGrpSpPr>
      <p:grpSpPr>
        <a:xfrm>
          <a:off x="0" y="0"/>
          <a:ext cx="0" cy="0"/>
          <a:chOff x="0" y="0"/>
          <a:chExt cx="0" cy="0"/>
        </a:xfrm>
      </p:grpSpPr>
      <p:sp>
        <p:nvSpPr>
          <p:cNvPr id="28" name="Google Shape;28;p8"/>
          <p:cNvSpPr txBox="1"/>
          <p:nvPr>
            <p:ph type="title"/>
          </p:nvPr>
        </p:nvSpPr>
        <p:spPr>
          <a:xfrm>
            <a:off x="457200" y="274638"/>
            <a:ext cx="8229600" cy="1143000"/>
          </a:xfrm>
          <a:prstGeom prst="rect">
            <a:avLst/>
          </a:prstGeom>
          <a:noFill/>
          <a:ln>
            <a:noFill/>
          </a:ln>
        </p:spPr>
        <p:txBody>
          <a:bodyPr anchorCtr="0" anchor="ctr" bIns="91425" lIns="91425" spcFirstLastPara="1" rIns="91425" wrap="square" tIns="91425"/>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29" name="Google Shape;29;p8"/>
          <p:cNvSpPr txBox="1"/>
          <p:nvPr>
            <p:ph idx="1" type="body"/>
          </p:nvPr>
        </p:nvSpPr>
        <p:spPr>
          <a:xfrm>
            <a:off x="457200" y="1600200"/>
            <a:ext cx="4038600" cy="4526100"/>
          </a:xfrm>
          <a:prstGeom prst="rect">
            <a:avLst/>
          </a:prstGeom>
          <a:noFill/>
          <a:ln>
            <a:noFill/>
          </a:ln>
        </p:spPr>
        <p:txBody>
          <a:bodyPr anchorCtr="0" anchor="t" bIns="91425" lIns="91425" spcFirstLastPara="1" rIns="91425" wrap="square" tIns="91425"/>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0" name="Google Shape;30;p8"/>
          <p:cNvSpPr txBox="1"/>
          <p:nvPr>
            <p:ph idx="2" type="body"/>
          </p:nvPr>
        </p:nvSpPr>
        <p:spPr>
          <a:xfrm>
            <a:off x="4648200" y="1600200"/>
            <a:ext cx="4038600" cy="4526100"/>
          </a:xfrm>
          <a:prstGeom prst="rect">
            <a:avLst/>
          </a:prstGeom>
          <a:noFill/>
          <a:ln>
            <a:noFill/>
          </a:ln>
        </p:spPr>
        <p:txBody>
          <a:bodyPr anchorCtr="0" anchor="t" bIns="91425" lIns="91425" spcFirstLastPara="1" rIns="91425" wrap="square" tIns="91425"/>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31" name="Shape 31"/>
        <p:cNvGrpSpPr/>
        <p:nvPr/>
      </p:nvGrpSpPr>
      <p:grpSpPr>
        <a:xfrm>
          <a:off x="0" y="0"/>
          <a:ext cx="0" cy="0"/>
          <a:chOff x="0" y="0"/>
          <a:chExt cx="0" cy="0"/>
        </a:xfrm>
      </p:grpSpPr>
      <p:sp>
        <p:nvSpPr>
          <p:cNvPr id="32" name="Google Shape;32;p9"/>
          <p:cNvSpPr txBox="1"/>
          <p:nvPr>
            <p:ph type="title"/>
          </p:nvPr>
        </p:nvSpPr>
        <p:spPr>
          <a:xfrm>
            <a:off x="457200" y="274638"/>
            <a:ext cx="8229600" cy="1143000"/>
          </a:xfrm>
          <a:prstGeom prst="rect">
            <a:avLst/>
          </a:prstGeom>
          <a:noFill/>
          <a:ln>
            <a:noFill/>
          </a:ln>
        </p:spPr>
        <p:txBody>
          <a:bodyPr anchorCtr="0" anchor="ctr" bIns="91425" lIns="91425" spcFirstLastPara="1" rIns="91425" wrap="square" tIns="91425"/>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33" name="Google Shape;33;p9"/>
          <p:cNvSpPr txBox="1"/>
          <p:nvPr>
            <p:ph idx="1" type="body"/>
          </p:nvPr>
        </p:nvSpPr>
        <p:spPr>
          <a:xfrm>
            <a:off x="457200" y="1535113"/>
            <a:ext cx="4040100" cy="639900"/>
          </a:xfrm>
          <a:prstGeom prst="rect">
            <a:avLst/>
          </a:prstGeom>
          <a:noFill/>
          <a:ln>
            <a:noFill/>
          </a:ln>
        </p:spPr>
        <p:txBody>
          <a:bodyPr anchorCtr="0" anchor="b" bIns="91425" lIns="91425" spcFirstLastPara="1" rIns="91425" wrap="square" tIns="91425"/>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Arial"/>
                <a:ea typeface="Arial"/>
                <a:cs typeface="Arial"/>
                <a:sym typeface="Arial"/>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34" name="Google Shape;34;p9"/>
          <p:cNvSpPr txBox="1"/>
          <p:nvPr>
            <p:ph idx="2" type="body"/>
          </p:nvPr>
        </p:nvSpPr>
        <p:spPr>
          <a:xfrm>
            <a:off x="457200" y="2174875"/>
            <a:ext cx="4040100" cy="3951300"/>
          </a:xfrm>
          <a:prstGeom prst="rect">
            <a:avLst/>
          </a:prstGeom>
          <a:noFill/>
          <a:ln>
            <a:noFill/>
          </a:ln>
        </p:spPr>
        <p:txBody>
          <a:bodyPr anchorCtr="0" anchor="t" bIns="91425" lIns="91425" spcFirstLastPara="1" rIns="91425" wrap="square" tIns="91425"/>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35" name="Google Shape;35;p9"/>
          <p:cNvSpPr txBox="1"/>
          <p:nvPr>
            <p:ph idx="3" type="body"/>
          </p:nvPr>
        </p:nvSpPr>
        <p:spPr>
          <a:xfrm>
            <a:off x="4645025" y="1535113"/>
            <a:ext cx="4041900" cy="639900"/>
          </a:xfrm>
          <a:prstGeom prst="rect">
            <a:avLst/>
          </a:prstGeom>
          <a:noFill/>
          <a:ln>
            <a:noFill/>
          </a:ln>
        </p:spPr>
        <p:txBody>
          <a:bodyPr anchorCtr="0" anchor="b" bIns="91425" lIns="91425" spcFirstLastPara="1" rIns="91425" wrap="square" tIns="91425"/>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Arial"/>
                <a:ea typeface="Arial"/>
                <a:cs typeface="Arial"/>
                <a:sym typeface="Arial"/>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36" name="Google Shape;36;p9"/>
          <p:cNvSpPr txBox="1"/>
          <p:nvPr>
            <p:ph idx="4" type="body"/>
          </p:nvPr>
        </p:nvSpPr>
        <p:spPr>
          <a:xfrm>
            <a:off x="4645025" y="2174875"/>
            <a:ext cx="4041900" cy="3951300"/>
          </a:xfrm>
          <a:prstGeom prst="rect">
            <a:avLst/>
          </a:prstGeom>
          <a:noFill/>
          <a:ln>
            <a:noFill/>
          </a:ln>
        </p:spPr>
        <p:txBody>
          <a:bodyPr anchorCtr="0" anchor="t" bIns="91425" lIns="91425" spcFirstLastPara="1" rIns="91425" wrap="square" tIns="91425"/>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37" name="Shape 37"/>
        <p:cNvGrpSpPr/>
        <p:nvPr/>
      </p:nvGrpSpPr>
      <p:grpSpPr>
        <a:xfrm>
          <a:off x="0" y="0"/>
          <a:ext cx="0" cy="0"/>
          <a:chOff x="0" y="0"/>
          <a:chExt cx="0" cy="0"/>
        </a:xfrm>
      </p:grpSpPr>
      <p:sp>
        <p:nvSpPr>
          <p:cNvPr id="38" name="Google Shape;38;p10"/>
          <p:cNvSpPr txBox="1"/>
          <p:nvPr>
            <p:ph type="title"/>
          </p:nvPr>
        </p:nvSpPr>
        <p:spPr>
          <a:xfrm>
            <a:off x="457200" y="274638"/>
            <a:ext cx="8229600" cy="1143000"/>
          </a:xfrm>
          <a:prstGeom prst="rect">
            <a:avLst/>
          </a:prstGeom>
          <a:noFill/>
          <a:ln>
            <a:noFill/>
          </a:ln>
        </p:spPr>
        <p:txBody>
          <a:bodyPr anchorCtr="0" anchor="ctr" bIns="91425" lIns="91425" spcFirstLastPara="1" rIns="91425" wrap="square" tIns="91425"/>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type="objTx">
  <p:cSld name="OBJECT_WITH_CAPTION_TEXT">
    <p:spTree>
      <p:nvGrpSpPr>
        <p:cNvPr id="39" name="Shape 39"/>
        <p:cNvGrpSpPr/>
        <p:nvPr/>
      </p:nvGrpSpPr>
      <p:grpSpPr>
        <a:xfrm>
          <a:off x="0" y="0"/>
          <a:ext cx="0" cy="0"/>
          <a:chOff x="0" y="0"/>
          <a:chExt cx="0" cy="0"/>
        </a:xfrm>
      </p:grpSpPr>
      <p:sp>
        <p:nvSpPr>
          <p:cNvPr id="40" name="Google Shape;40;p11"/>
          <p:cNvSpPr txBox="1"/>
          <p:nvPr>
            <p:ph type="title"/>
          </p:nvPr>
        </p:nvSpPr>
        <p:spPr>
          <a:xfrm>
            <a:off x="457200" y="273050"/>
            <a:ext cx="3008400" cy="1161900"/>
          </a:xfrm>
          <a:prstGeom prst="rect">
            <a:avLst/>
          </a:prstGeom>
          <a:noFill/>
          <a:ln>
            <a:noFill/>
          </a:ln>
        </p:spPr>
        <p:txBody>
          <a:bodyPr anchorCtr="0" anchor="b" bIns="91425" lIns="91425" spcFirstLastPara="1" rIns="91425" wrap="square" tIns="91425"/>
          <a:lstStyle>
            <a:lvl1pPr lvl="0" marR="0" rtl="0" algn="l">
              <a:spcBef>
                <a:spcPts val="0"/>
              </a:spcBef>
              <a:spcAft>
                <a:spcPts val="0"/>
              </a:spcAft>
              <a:buSzPts val="1400"/>
              <a:buNone/>
              <a:defRPr b="1" i="0" sz="20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41" name="Google Shape;41;p11"/>
          <p:cNvSpPr txBox="1"/>
          <p:nvPr>
            <p:ph idx="1" type="body"/>
          </p:nvPr>
        </p:nvSpPr>
        <p:spPr>
          <a:xfrm>
            <a:off x="3575050" y="273050"/>
            <a:ext cx="5111700" cy="5853000"/>
          </a:xfrm>
          <a:prstGeom prst="rect">
            <a:avLst/>
          </a:prstGeom>
          <a:noFill/>
          <a:ln>
            <a:noFill/>
          </a:ln>
        </p:spPr>
        <p:txBody>
          <a:bodyPr anchorCtr="0" anchor="t" bIns="91425" lIns="91425" spcFirstLastPara="1" rIns="91425" wrap="square" tIns="91425"/>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42" name="Google Shape;42;p11"/>
          <p:cNvSpPr txBox="1"/>
          <p:nvPr>
            <p:ph idx="2" type="body"/>
          </p:nvPr>
        </p:nvSpPr>
        <p:spPr>
          <a:xfrm>
            <a:off x="457200" y="1435100"/>
            <a:ext cx="3008400" cy="4691100"/>
          </a:xfrm>
          <a:prstGeom prst="rect">
            <a:avLst/>
          </a:prstGeom>
          <a:noFill/>
          <a:ln>
            <a:noFill/>
          </a:ln>
        </p:spPr>
        <p:txBody>
          <a:bodyPr anchorCtr="0" anchor="t" bIns="91425" lIns="91425" spcFirstLastPara="1" rIns="91425" wrap="square" tIns="91425"/>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type="picTx">
  <p:cSld name="PICTURE_WITH_CAPTION_TEXT">
    <p:spTree>
      <p:nvGrpSpPr>
        <p:cNvPr id="43" name="Shape 43"/>
        <p:cNvGrpSpPr/>
        <p:nvPr/>
      </p:nvGrpSpPr>
      <p:grpSpPr>
        <a:xfrm>
          <a:off x="0" y="0"/>
          <a:ext cx="0" cy="0"/>
          <a:chOff x="0" y="0"/>
          <a:chExt cx="0" cy="0"/>
        </a:xfrm>
      </p:grpSpPr>
      <p:sp>
        <p:nvSpPr>
          <p:cNvPr id="44" name="Google Shape;44;p12"/>
          <p:cNvSpPr txBox="1"/>
          <p:nvPr>
            <p:ph type="title"/>
          </p:nvPr>
        </p:nvSpPr>
        <p:spPr>
          <a:xfrm>
            <a:off x="1792288" y="4800600"/>
            <a:ext cx="5486400" cy="566700"/>
          </a:xfrm>
          <a:prstGeom prst="rect">
            <a:avLst/>
          </a:prstGeom>
          <a:noFill/>
          <a:ln>
            <a:noFill/>
          </a:ln>
        </p:spPr>
        <p:txBody>
          <a:bodyPr anchorCtr="0" anchor="b" bIns="91425" lIns="91425" spcFirstLastPara="1" rIns="91425" wrap="square" tIns="91425"/>
          <a:lstStyle>
            <a:lvl1pPr lvl="0" marR="0" rtl="0" algn="l">
              <a:spcBef>
                <a:spcPts val="0"/>
              </a:spcBef>
              <a:spcAft>
                <a:spcPts val="0"/>
              </a:spcAft>
              <a:buSzPts val="1400"/>
              <a:buNone/>
              <a:defRPr b="1" i="0" sz="20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45" name="Google Shape;45;p12"/>
          <p:cNvSpPr/>
          <p:nvPr>
            <p:ph idx="2" type="pic"/>
          </p:nvPr>
        </p:nvSpPr>
        <p:spPr>
          <a:xfrm>
            <a:off x="1792288" y="612775"/>
            <a:ext cx="5486400" cy="4114800"/>
          </a:xfrm>
          <a:prstGeom prst="rect">
            <a:avLst/>
          </a:prstGeom>
          <a:noFill/>
          <a:ln>
            <a:noFill/>
          </a:ln>
        </p:spPr>
        <p:txBody>
          <a:bodyPr anchorCtr="0" anchor="t" bIns="91425" lIns="91425" spcFirstLastPara="1" rIns="91425" wrap="square" tIns="91425"/>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46" name="Google Shape;46;p12"/>
          <p:cNvSpPr txBox="1"/>
          <p:nvPr>
            <p:ph idx="1" type="body"/>
          </p:nvPr>
        </p:nvSpPr>
        <p:spPr>
          <a:xfrm>
            <a:off x="1792288" y="5367338"/>
            <a:ext cx="5486400" cy="804900"/>
          </a:xfrm>
          <a:prstGeom prst="rect">
            <a:avLst/>
          </a:prstGeom>
          <a:noFill/>
          <a:ln>
            <a:noFill/>
          </a:ln>
        </p:spPr>
        <p:txBody>
          <a:bodyPr anchorCtr="0" anchor="t" bIns="91425" lIns="91425" spcFirstLastPara="1" rIns="91425" wrap="square" tIns="91425"/>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92074"/>
            <a:ext cx="8229600" cy="1508126"/>
          </a:xfrm>
          <a:prstGeom prst="rect">
            <a:avLst/>
          </a:prstGeom>
          <a:noFill/>
          <a:ln>
            <a:noFill/>
          </a:ln>
        </p:spPr>
        <p:txBody>
          <a:bodyPr anchorCtr="0" anchor="ctr" bIns="91425" lIns="91425" spcFirstLastPara="1" rIns="91425" wrap="square" tIns="91425"/>
          <a:lstStyle>
            <a:lvl1pPr indent="-2539" lvl="0" marL="40639" marR="40639" rtl="0" algn="ctr">
              <a:lnSpc>
                <a:spcPct val="100000"/>
              </a:lnSpc>
              <a:spcBef>
                <a:spcPts val="0"/>
              </a:spcBef>
              <a:spcAft>
                <a:spcPts val="0"/>
              </a:spcAft>
              <a:buClr>
                <a:srgbClr val="000000"/>
              </a:buClr>
              <a:buSzPts val="1400"/>
              <a:buFont typeface="Arial"/>
              <a:buNone/>
              <a:defRPr b="0" i="0" sz="4400" u="none" cap="none" strike="noStrike">
                <a:solidFill>
                  <a:srgbClr val="000000"/>
                </a:solidFill>
                <a:latin typeface="Arial"/>
                <a:ea typeface="Arial"/>
                <a:cs typeface="Arial"/>
                <a:sym typeface="Arial"/>
              </a:defRPr>
            </a:lvl1pPr>
            <a:lvl2pPr indent="226061" lvl="1" marL="40639" marR="40639" rtl="0" algn="ctr">
              <a:lnSpc>
                <a:spcPct val="100000"/>
              </a:lnSpc>
              <a:spcBef>
                <a:spcPts val="0"/>
              </a:spcBef>
              <a:spcAft>
                <a:spcPts val="0"/>
              </a:spcAft>
              <a:buClr>
                <a:srgbClr val="000000"/>
              </a:buClr>
              <a:buSzPts val="1400"/>
              <a:buFont typeface="Arial"/>
              <a:buNone/>
              <a:defRPr b="0" i="0" sz="4400" u="none" cap="none" strike="noStrike">
                <a:solidFill>
                  <a:srgbClr val="000000"/>
                </a:solidFill>
                <a:latin typeface="Arial"/>
                <a:ea typeface="Arial"/>
                <a:cs typeface="Arial"/>
                <a:sym typeface="Arial"/>
              </a:defRPr>
            </a:lvl2pPr>
            <a:lvl3pPr indent="454661" lvl="2" marL="40639" marR="40639" rtl="0" algn="ctr">
              <a:lnSpc>
                <a:spcPct val="100000"/>
              </a:lnSpc>
              <a:spcBef>
                <a:spcPts val="0"/>
              </a:spcBef>
              <a:spcAft>
                <a:spcPts val="0"/>
              </a:spcAft>
              <a:buClr>
                <a:srgbClr val="000000"/>
              </a:buClr>
              <a:buSzPts val="1400"/>
              <a:buFont typeface="Arial"/>
              <a:buNone/>
              <a:defRPr b="0" i="0" sz="4400" u="none" cap="none" strike="noStrike">
                <a:solidFill>
                  <a:srgbClr val="000000"/>
                </a:solidFill>
                <a:latin typeface="Arial"/>
                <a:ea typeface="Arial"/>
                <a:cs typeface="Arial"/>
                <a:sym typeface="Arial"/>
              </a:defRPr>
            </a:lvl3pPr>
            <a:lvl4pPr indent="683261" lvl="3" marL="40639" marR="40639" rtl="0" algn="ctr">
              <a:lnSpc>
                <a:spcPct val="100000"/>
              </a:lnSpc>
              <a:spcBef>
                <a:spcPts val="0"/>
              </a:spcBef>
              <a:spcAft>
                <a:spcPts val="0"/>
              </a:spcAft>
              <a:buClr>
                <a:srgbClr val="000000"/>
              </a:buClr>
              <a:buSzPts val="1400"/>
              <a:buFont typeface="Arial"/>
              <a:buNone/>
              <a:defRPr b="0" i="0" sz="4400" u="none" cap="none" strike="noStrike">
                <a:solidFill>
                  <a:srgbClr val="000000"/>
                </a:solidFill>
                <a:latin typeface="Arial"/>
                <a:ea typeface="Arial"/>
                <a:cs typeface="Arial"/>
                <a:sym typeface="Arial"/>
              </a:defRPr>
            </a:lvl4pPr>
            <a:lvl5pPr indent="911861" lvl="4" marL="40639" marR="40639" rtl="0" algn="ctr">
              <a:lnSpc>
                <a:spcPct val="100000"/>
              </a:lnSpc>
              <a:spcBef>
                <a:spcPts val="0"/>
              </a:spcBef>
              <a:spcAft>
                <a:spcPts val="0"/>
              </a:spcAft>
              <a:buClr>
                <a:srgbClr val="000000"/>
              </a:buClr>
              <a:buSzPts val="1400"/>
              <a:buFont typeface="Arial"/>
              <a:buNone/>
              <a:defRPr b="0" i="0" sz="4400" u="none" cap="none" strike="noStrike">
                <a:solidFill>
                  <a:srgbClr val="000000"/>
                </a:solidFill>
                <a:latin typeface="Arial"/>
                <a:ea typeface="Arial"/>
                <a:cs typeface="Arial"/>
                <a:sym typeface="Arial"/>
              </a:defRPr>
            </a:lvl5pPr>
            <a:lvl6pPr indent="1140461" lvl="5" marL="40639" marR="40639" rtl="0" algn="ctr">
              <a:lnSpc>
                <a:spcPct val="100000"/>
              </a:lnSpc>
              <a:spcBef>
                <a:spcPts val="0"/>
              </a:spcBef>
              <a:spcAft>
                <a:spcPts val="0"/>
              </a:spcAft>
              <a:buClr>
                <a:srgbClr val="000000"/>
              </a:buClr>
              <a:buSzPts val="1400"/>
              <a:buFont typeface="Arial"/>
              <a:buNone/>
              <a:defRPr b="0" i="0" sz="4400" u="none" cap="none" strike="noStrike">
                <a:solidFill>
                  <a:srgbClr val="000000"/>
                </a:solidFill>
                <a:latin typeface="Arial"/>
                <a:ea typeface="Arial"/>
                <a:cs typeface="Arial"/>
                <a:sym typeface="Arial"/>
              </a:defRPr>
            </a:lvl6pPr>
            <a:lvl7pPr indent="1369061" lvl="6" marL="40639" marR="40639" rtl="0" algn="ctr">
              <a:lnSpc>
                <a:spcPct val="100000"/>
              </a:lnSpc>
              <a:spcBef>
                <a:spcPts val="0"/>
              </a:spcBef>
              <a:spcAft>
                <a:spcPts val="0"/>
              </a:spcAft>
              <a:buClr>
                <a:srgbClr val="000000"/>
              </a:buClr>
              <a:buSzPts val="1400"/>
              <a:buFont typeface="Arial"/>
              <a:buNone/>
              <a:defRPr b="0" i="0" sz="4400" u="none" cap="none" strike="noStrike">
                <a:solidFill>
                  <a:srgbClr val="000000"/>
                </a:solidFill>
                <a:latin typeface="Arial"/>
                <a:ea typeface="Arial"/>
                <a:cs typeface="Arial"/>
                <a:sym typeface="Arial"/>
              </a:defRPr>
            </a:lvl7pPr>
            <a:lvl8pPr indent="1597661" lvl="7" marL="40639" marR="40639" rtl="0" algn="ctr">
              <a:lnSpc>
                <a:spcPct val="100000"/>
              </a:lnSpc>
              <a:spcBef>
                <a:spcPts val="0"/>
              </a:spcBef>
              <a:spcAft>
                <a:spcPts val="0"/>
              </a:spcAft>
              <a:buClr>
                <a:srgbClr val="000000"/>
              </a:buClr>
              <a:buSzPts val="1400"/>
              <a:buFont typeface="Arial"/>
              <a:buNone/>
              <a:defRPr b="0" i="0" sz="4400" u="none" cap="none" strike="noStrike">
                <a:solidFill>
                  <a:srgbClr val="000000"/>
                </a:solidFill>
                <a:latin typeface="Arial"/>
                <a:ea typeface="Arial"/>
                <a:cs typeface="Arial"/>
                <a:sym typeface="Arial"/>
              </a:defRPr>
            </a:lvl8pPr>
            <a:lvl9pPr indent="1826261" lvl="8" marL="40639" marR="40639" rtl="0" algn="ctr">
              <a:lnSpc>
                <a:spcPct val="100000"/>
              </a:lnSpc>
              <a:spcBef>
                <a:spcPts val="0"/>
              </a:spcBef>
              <a:spcAft>
                <a:spcPts val="0"/>
              </a:spcAft>
              <a:buClr>
                <a:srgbClr val="000000"/>
              </a:buClr>
              <a:buSzPts val="1400"/>
              <a:buFont typeface="Arial"/>
              <a:buNone/>
              <a:defRPr b="0" i="0" sz="4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5257800"/>
          </a:xfrm>
          <a:prstGeom prst="rect">
            <a:avLst/>
          </a:prstGeom>
          <a:noFill/>
          <a:ln>
            <a:noFill/>
          </a:ln>
        </p:spPr>
        <p:txBody>
          <a:bodyPr anchorCtr="0" anchor="t" bIns="91425" lIns="91425" spcFirstLastPara="1" rIns="91425" wrap="square" tIns="91425"/>
          <a:lstStyle>
            <a:lvl1pPr indent="-431800" lvl="0" marL="457200" marR="40639"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Arial"/>
                <a:ea typeface="Arial"/>
                <a:cs typeface="Arial"/>
                <a:sym typeface="Arial"/>
              </a:defRPr>
            </a:lvl1pPr>
            <a:lvl2pPr indent="-406400" lvl="1" marL="914400" marR="40639" rtl="0" algn="l">
              <a:lnSpc>
                <a:spcPct val="100000"/>
              </a:lnSpc>
              <a:spcBef>
                <a:spcPts val="6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2pPr>
            <a:lvl3pPr indent="-381000" lvl="2" marL="1371600" marR="40639" rtl="0" algn="l">
              <a:lnSpc>
                <a:spcPct val="100000"/>
              </a:lnSpc>
              <a:spcBef>
                <a:spcPts val="50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3pPr>
            <a:lvl4pPr indent="-355600" lvl="3" marL="1828800" marR="40639"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Arial"/>
                <a:ea typeface="Arial"/>
                <a:cs typeface="Arial"/>
                <a:sym typeface="Arial"/>
              </a:defRPr>
            </a:lvl4pPr>
            <a:lvl5pPr indent="-355600" lvl="4" marL="2286000" marR="40639"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Arial"/>
                <a:ea typeface="Arial"/>
                <a:cs typeface="Arial"/>
                <a:sym typeface="Arial"/>
              </a:defRPr>
            </a:lvl5pPr>
            <a:lvl6pPr indent="-431800" lvl="5" marL="2743200" marR="40639"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Arial"/>
                <a:ea typeface="Arial"/>
                <a:cs typeface="Arial"/>
                <a:sym typeface="Arial"/>
              </a:defRPr>
            </a:lvl6pPr>
            <a:lvl7pPr indent="-431800" lvl="6" marL="3200400" marR="40639"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Arial"/>
                <a:ea typeface="Arial"/>
                <a:cs typeface="Arial"/>
                <a:sym typeface="Arial"/>
              </a:defRPr>
            </a:lvl7pPr>
            <a:lvl8pPr indent="-431800" lvl="7" marL="3657600" marR="40639"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Arial"/>
                <a:ea typeface="Arial"/>
                <a:cs typeface="Arial"/>
                <a:sym typeface="Arial"/>
              </a:defRPr>
            </a:lvl8pPr>
            <a:lvl9pPr indent="-431800" lvl="8" marL="4114800" marR="40639"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Arial"/>
                <a:ea typeface="Arial"/>
                <a:cs typeface="Arial"/>
                <a:sym typeface="Arial"/>
              </a:defRPr>
            </a:lvl9pPr>
          </a:lstStyle>
          <a:p/>
        </p:txBody>
      </p:sp>
      <p:sp>
        <p:nvSpPr>
          <p:cNvPr id="8" name="Google Shape;8;p1"/>
          <p:cNvSpPr txBox="1"/>
          <p:nvPr>
            <p:ph idx="12" type="sldNum"/>
          </p:nvPr>
        </p:nvSpPr>
        <p:spPr>
          <a:xfrm>
            <a:off x="7463966" y="6245225"/>
            <a:ext cx="312068" cy="298984"/>
          </a:xfrm>
          <a:prstGeom prst="rect">
            <a:avLst/>
          </a:prstGeom>
          <a:noFill/>
          <a:ln>
            <a:noFill/>
          </a:ln>
        </p:spPr>
        <p:txBody>
          <a:bodyPr anchorCtr="0" anchor="t" bIns="50800" lIns="50800" spcFirstLastPara="1" rIns="50800" wrap="square" tIns="50800">
            <a:noAutofit/>
          </a:bodyPr>
          <a:lstStyle>
            <a:lvl1pPr indent="0" lvl="0" marL="0" marR="0" rtl="0" algn="ctr">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ctr">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ctr">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ctr">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ctr">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ctr">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ctr">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ctr">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ctr">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13" name="Shape 13"/>
        <p:cNvGrpSpPr/>
        <p:nvPr/>
      </p:nvGrpSpPr>
      <p:grpSpPr>
        <a:xfrm>
          <a:off x="0" y="0"/>
          <a:ext cx="0" cy="0"/>
          <a:chOff x="0" y="0"/>
          <a:chExt cx="0" cy="0"/>
        </a:xfrm>
      </p:grpSpPr>
      <p:cxnSp>
        <p:nvCxnSpPr>
          <p:cNvPr id="14" name="Google Shape;14;p3"/>
          <p:cNvCxnSpPr/>
          <p:nvPr/>
        </p:nvCxnSpPr>
        <p:spPr>
          <a:xfrm>
            <a:off x="325438" y="1071563"/>
            <a:ext cx="8364600" cy="0"/>
          </a:xfrm>
          <a:prstGeom prst="straightConnector1">
            <a:avLst/>
          </a:prstGeom>
          <a:noFill/>
          <a:ln cap="flat" cmpd="thinThick" w="57150">
            <a:solidFill>
              <a:srgbClr val="0033CC"/>
            </a:solidFill>
            <a:prstDash val="solid"/>
            <a:round/>
            <a:headEnd len="sm" w="sm" type="none"/>
            <a:tailEnd len="sm" w="sm" type="none"/>
          </a:ln>
        </p:spPr>
      </p:cxnSp>
      <p:pic>
        <p:nvPicPr>
          <p:cNvPr id="15" name="Google Shape;15;p3"/>
          <p:cNvPicPr preferRelativeResize="0"/>
          <p:nvPr/>
        </p:nvPicPr>
        <p:blipFill rotWithShape="1">
          <a:blip r:embed="rId1">
            <a:alphaModFix/>
          </a:blip>
          <a:srcRect b="0" l="0" r="0" t="0"/>
          <a:stretch/>
        </p:blipFill>
        <p:spPr>
          <a:xfrm>
            <a:off x="104775" y="95250"/>
            <a:ext cx="1692275" cy="419100"/>
          </a:xfrm>
          <a:prstGeom prst="rect">
            <a:avLst/>
          </a:prstGeom>
          <a:noFill/>
          <a:ln>
            <a:noFill/>
          </a:ln>
        </p:spPr>
      </p:pic>
      <p:pic>
        <p:nvPicPr>
          <p:cNvPr id="16" name="Google Shape;16;p3"/>
          <p:cNvPicPr preferRelativeResize="0"/>
          <p:nvPr/>
        </p:nvPicPr>
        <p:blipFill rotWithShape="1">
          <a:blip r:embed="rId2">
            <a:alphaModFix/>
          </a:blip>
          <a:srcRect b="0" l="0" r="0" t="0"/>
          <a:stretch/>
        </p:blipFill>
        <p:spPr>
          <a:xfrm>
            <a:off x="7885113" y="115888"/>
            <a:ext cx="1177925" cy="50958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c.walters@imperial.ac.uk" TargetMode="External"/><Relationship Id="rId4" Type="http://schemas.openxmlformats.org/officeDocument/2006/relationships/hyperlink" Target="mailto:a.yan@imperial.ac.uk" TargetMode="External"/><Relationship Id="rId5" Type="http://schemas.openxmlformats.org/officeDocument/2006/relationships/hyperlink" Target="mailto:s.riley@imperial.ac.u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hyperlink" Target="https://www.sciencedirect.com/science/article/pii/S0140673652913573?via%3Dihub" TargetMode="External"/><Relationship Id="rId5" Type="http://schemas.openxmlformats.org/officeDocument/2006/relationships/hyperlink" Target="https://onlinelibrary.wiley.com/doi/epdf/10.1002/rmv.337"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30.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hyperlink" Target="https://www.jstor.org/stable/30045192"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www.youtube.com/watch?v=xYaFebO3kAU" TargetMode="External"/><Relationship Id="rId4" Type="http://schemas.openxmlformats.org/officeDocument/2006/relationships/hyperlink" Target="http://www.youtube.com/watch?v=xYaFebO3kAU" TargetMode="External"/><Relationship Id="rId5" Type="http://schemas.openxmlformats.org/officeDocument/2006/relationships/hyperlink" Target="http://www.youtube.com/watch?v=xYaFebO3kAU"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24.png"/><Relationship Id="rId5"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8.png"/><Relationship Id="rId4" Type="http://schemas.openxmlformats.org/officeDocument/2006/relationships/image" Target="../media/image29.png"/><Relationship Id="rId11" Type="http://schemas.openxmlformats.org/officeDocument/2006/relationships/image" Target="../media/image40.png"/><Relationship Id="rId10" Type="http://schemas.openxmlformats.org/officeDocument/2006/relationships/image" Target="../media/image36.png"/><Relationship Id="rId12" Type="http://schemas.openxmlformats.org/officeDocument/2006/relationships/image" Target="../media/image33.png"/><Relationship Id="rId9" Type="http://schemas.openxmlformats.org/officeDocument/2006/relationships/image" Target="../media/image32.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5.png"/><Relationship Id="rId8"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7.png"/><Relationship Id="rId4" Type="http://schemas.openxmlformats.org/officeDocument/2006/relationships/image" Target="../media/image39.png"/><Relationship Id="rId10" Type="http://schemas.openxmlformats.org/officeDocument/2006/relationships/image" Target="../media/image51.png"/><Relationship Id="rId9"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42.png"/><Relationship Id="rId7" Type="http://schemas.openxmlformats.org/officeDocument/2006/relationships/image" Target="../media/image44.png"/><Relationship Id="rId8"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6.png"/><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projecteuclid.org/download/pdf_1/euclid.aoap/1034625252"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journals.plos.org/plosone/article?id=10.1371/journal.pone.0000758"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1.png"/><Relationship Id="rId4" Type="http://schemas.openxmlformats.org/officeDocument/2006/relationships/image" Target="../media/image45.png"/><Relationship Id="rId5" Type="http://schemas.openxmlformats.org/officeDocument/2006/relationships/image" Target="../media/image4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1.png"/><Relationship Id="rId4" Type="http://schemas.openxmlformats.org/officeDocument/2006/relationships/image" Target="../media/image45.png"/><Relationship Id="rId5" Type="http://schemas.openxmlformats.org/officeDocument/2006/relationships/image" Target="../media/image5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1.png"/><Relationship Id="rId4" Type="http://schemas.openxmlformats.org/officeDocument/2006/relationships/image" Target="../media/image45.png"/><Relationship Id="rId5" Type="http://schemas.openxmlformats.org/officeDocument/2006/relationships/image" Target="../media/image53.png"/><Relationship Id="rId6" Type="http://schemas.openxmlformats.org/officeDocument/2006/relationships/image" Target="../media/image5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7.png"/><Relationship Id="rId4" Type="http://schemas.openxmlformats.org/officeDocument/2006/relationships/image" Target="../media/image60.png"/><Relationship Id="rId5" Type="http://schemas.openxmlformats.org/officeDocument/2006/relationships/image" Target="../media/image5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73.png"/><Relationship Id="rId4" Type="http://schemas.openxmlformats.org/officeDocument/2006/relationships/image" Target="../media/image64.png"/></Relationships>
</file>

<file path=ppt/slides/_rels/slide44.xml.rels><?xml version="1.0" encoding="UTF-8" standalone="yes"?><Relationships xmlns="http://schemas.openxmlformats.org/package/2006/relationships"><Relationship Id="rId11" Type="http://schemas.openxmlformats.org/officeDocument/2006/relationships/image" Target="../media/image66.png"/><Relationship Id="rId10" Type="http://schemas.openxmlformats.org/officeDocument/2006/relationships/image" Target="../media/image74.png"/><Relationship Id="rId13" Type="http://schemas.openxmlformats.org/officeDocument/2006/relationships/image" Target="../media/image63.png"/><Relationship Id="rId12" Type="http://schemas.openxmlformats.org/officeDocument/2006/relationships/image" Target="../media/image70.png"/><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61.png"/><Relationship Id="rId4" Type="http://schemas.openxmlformats.org/officeDocument/2006/relationships/image" Target="../media/image56.png"/><Relationship Id="rId9" Type="http://schemas.openxmlformats.org/officeDocument/2006/relationships/image" Target="../media/image65.png"/><Relationship Id="rId14" Type="http://schemas.openxmlformats.org/officeDocument/2006/relationships/image" Target="../media/image69.png"/><Relationship Id="rId5" Type="http://schemas.openxmlformats.org/officeDocument/2006/relationships/image" Target="../media/image59.png"/><Relationship Id="rId6" Type="http://schemas.openxmlformats.org/officeDocument/2006/relationships/image" Target="../media/image62.png"/><Relationship Id="rId7" Type="http://schemas.openxmlformats.org/officeDocument/2006/relationships/image" Target="../media/image68.png"/><Relationship Id="rId8" Type="http://schemas.openxmlformats.org/officeDocument/2006/relationships/image" Target="../media/image6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hyperlink" Target="https://chi-feng.github.io/mcmc-demo/app.html#RandomWalkMH,standard"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72.png"/><Relationship Id="rId4" Type="http://schemas.openxmlformats.org/officeDocument/2006/relationships/image" Target="../media/image71.png"/></Relationships>
</file>

<file path=ppt/slides/_rels/slide47.xml.rels><?xml version="1.0" encoding="UTF-8" standalone="yes"?><Relationships xmlns="http://schemas.openxmlformats.org/package/2006/relationships"><Relationship Id="rId11" Type="http://schemas.openxmlformats.org/officeDocument/2006/relationships/image" Target="../media/image76.png"/><Relationship Id="rId10" Type="http://schemas.openxmlformats.org/officeDocument/2006/relationships/image" Target="../media/image69.png"/><Relationship Id="rId13" Type="http://schemas.openxmlformats.org/officeDocument/2006/relationships/image" Target="../media/image103.png"/><Relationship Id="rId12" Type="http://schemas.openxmlformats.org/officeDocument/2006/relationships/image" Target="../media/image75.png"/><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61.png"/><Relationship Id="rId4" Type="http://schemas.openxmlformats.org/officeDocument/2006/relationships/image" Target="../media/image56.png"/><Relationship Id="rId9" Type="http://schemas.openxmlformats.org/officeDocument/2006/relationships/image" Target="../media/image63.png"/><Relationship Id="rId14" Type="http://schemas.openxmlformats.org/officeDocument/2006/relationships/image" Target="../media/image78.png"/><Relationship Id="rId5" Type="http://schemas.openxmlformats.org/officeDocument/2006/relationships/image" Target="../media/image59.png"/><Relationship Id="rId6" Type="http://schemas.openxmlformats.org/officeDocument/2006/relationships/image" Target="../media/image62.png"/><Relationship Id="rId7" Type="http://schemas.openxmlformats.org/officeDocument/2006/relationships/image" Target="../media/image66.png"/><Relationship Id="rId8" Type="http://schemas.openxmlformats.org/officeDocument/2006/relationships/image" Target="../media/image7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77.png"/><Relationship Id="rId6" Type="http://schemas.openxmlformats.org/officeDocument/2006/relationships/image" Target="../media/image89.png"/><Relationship Id="rId7" Type="http://schemas.openxmlformats.org/officeDocument/2006/relationships/image" Target="../media/image8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7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41.png"/><Relationship Id="rId4" Type="http://schemas.openxmlformats.org/officeDocument/2006/relationships/image" Target="../media/image45.png"/><Relationship Id="rId5" Type="http://schemas.openxmlformats.org/officeDocument/2006/relationships/image" Target="../media/image83.png"/><Relationship Id="rId6" Type="http://schemas.openxmlformats.org/officeDocument/2006/relationships/image" Target="../media/image91.png"/><Relationship Id="rId7" Type="http://schemas.openxmlformats.org/officeDocument/2006/relationships/image" Target="../media/image8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9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95.png"/><Relationship Id="rId4" Type="http://schemas.openxmlformats.org/officeDocument/2006/relationships/image" Target="../media/image8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image" Target="../media/image9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54.png"/><Relationship Id="rId4" Type="http://schemas.openxmlformats.org/officeDocument/2006/relationships/image" Target="../media/image98.png"/><Relationship Id="rId5" Type="http://schemas.openxmlformats.org/officeDocument/2006/relationships/image" Target="../media/image9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9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100.png"/><Relationship Id="rId4" Type="http://schemas.openxmlformats.org/officeDocument/2006/relationships/image" Target="../media/image96.png"/></Relationships>
</file>

<file path=ppt/slides/_rels/slide58.xml.rels><?xml version="1.0" encoding="UTF-8" standalone="yes"?><Relationships xmlns="http://schemas.openxmlformats.org/package/2006/relationships"><Relationship Id="rId20" Type="http://schemas.openxmlformats.org/officeDocument/2006/relationships/image" Target="../media/image110.png"/><Relationship Id="rId22" Type="http://schemas.openxmlformats.org/officeDocument/2006/relationships/image" Target="../media/image112.png"/><Relationship Id="rId21" Type="http://schemas.openxmlformats.org/officeDocument/2006/relationships/image" Target="../media/image106.png"/><Relationship Id="rId24" Type="http://schemas.openxmlformats.org/officeDocument/2006/relationships/image" Target="../media/image107.png"/><Relationship Id="rId23" Type="http://schemas.openxmlformats.org/officeDocument/2006/relationships/image" Target="../media/image111.png"/><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61.png"/><Relationship Id="rId4" Type="http://schemas.openxmlformats.org/officeDocument/2006/relationships/image" Target="../media/image56.png"/><Relationship Id="rId9" Type="http://schemas.openxmlformats.org/officeDocument/2006/relationships/image" Target="../media/image63.png"/><Relationship Id="rId25" Type="http://schemas.openxmlformats.org/officeDocument/2006/relationships/image" Target="../media/image108.png"/><Relationship Id="rId5" Type="http://schemas.openxmlformats.org/officeDocument/2006/relationships/image" Target="../media/image59.png"/><Relationship Id="rId6" Type="http://schemas.openxmlformats.org/officeDocument/2006/relationships/image" Target="../media/image62.png"/><Relationship Id="rId7" Type="http://schemas.openxmlformats.org/officeDocument/2006/relationships/image" Target="../media/image66.png"/><Relationship Id="rId8" Type="http://schemas.openxmlformats.org/officeDocument/2006/relationships/image" Target="../media/image70.png"/><Relationship Id="rId11" Type="http://schemas.openxmlformats.org/officeDocument/2006/relationships/image" Target="../media/image94.png"/><Relationship Id="rId10" Type="http://schemas.openxmlformats.org/officeDocument/2006/relationships/image" Target="../media/image69.png"/><Relationship Id="rId13" Type="http://schemas.openxmlformats.org/officeDocument/2006/relationships/image" Target="../media/image99.png"/><Relationship Id="rId12" Type="http://schemas.openxmlformats.org/officeDocument/2006/relationships/image" Target="../media/image113.png"/><Relationship Id="rId15" Type="http://schemas.openxmlformats.org/officeDocument/2006/relationships/image" Target="../media/image102.png"/><Relationship Id="rId14" Type="http://schemas.openxmlformats.org/officeDocument/2006/relationships/image" Target="../media/image101.png"/><Relationship Id="rId17" Type="http://schemas.openxmlformats.org/officeDocument/2006/relationships/image" Target="../media/image105.png"/><Relationship Id="rId16" Type="http://schemas.openxmlformats.org/officeDocument/2006/relationships/image" Target="../media/image104.png"/><Relationship Id="rId19" Type="http://schemas.openxmlformats.org/officeDocument/2006/relationships/image" Target="../media/image109.png"/><Relationship Id="rId18" Type="http://schemas.openxmlformats.org/officeDocument/2006/relationships/image" Target="../media/image9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p:nvPr/>
        </p:nvSpPr>
        <p:spPr>
          <a:xfrm>
            <a:off x="829468" y="981075"/>
            <a:ext cx="7569300" cy="4178400"/>
          </a:xfrm>
          <a:prstGeom prst="rect">
            <a:avLst/>
          </a:prstGeom>
          <a:noFill/>
          <a:ln>
            <a:noFill/>
          </a:ln>
        </p:spPr>
        <p:txBody>
          <a:bodyPr anchorCtr="0" anchor="t" bIns="50800" lIns="50800" spcFirstLastPara="1" rIns="50800" wrap="square" tIns="50800">
            <a:noAutofit/>
          </a:bodyPr>
          <a:lstStyle/>
          <a:p>
            <a:pPr indent="-2539" lvl="0" marL="40639" marR="40639" rtl="0" algn="ctr">
              <a:lnSpc>
                <a:spcPct val="100000"/>
              </a:lnSpc>
              <a:spcBef>
                <a:spcPts val="0"/>
              </a:spcBef>
              <a:spcAft>
                <a:spcPts val="0"/>
              </a:spcAft>
              <a:buClr>
                <a:srgbClr val="000000"/>
              </a:buClr>
              <a:buFont typeface="Tahoma"/>
              <a:buNone/>
            </a:pPr>
            <a:r>
              <a:rPr b="0" i="0" lang="en-US" sz="3600" u="none" cap="none" strike="noStrike">
                <a:solidFill>
                  <a:srgbClr val="000000"/>
                </a:solidFill>
                <a:latin typeface="Tahoma"/>
                <a:ea typeface="Tahoma"/>
                <a:cs typeface="Tahoma"/>
                <a:sym typeface="Tahoma"/>
              </a:rPr>
              <a:t>Infectious disease transmission in households</a:t>
            </a:r>
            <a:endParaRPr/>
          </a:p>
          <a:p>
            <a:pPr indent="-2539" lvl="0" marL="40639" marR="40639" rtl="0" algn="ctr">
              <a:lnSpc>
                <a:spcPct val="100000"/>
              </a:lnSpc>
              <a:spcBef>
                <a:spcPts val="2100"/>
              </a:spcBef>
              <a:spcAft>
                <a:spcPts val="0"/>
              </a:spcAft>
              <a:buClr>
                <a:srgbClr val="000000"/>
              </a:buClr>
              <a:buFont typeface="Tahoma"/>
              <a:buNone/>
            </a:pPr>
            <a:r>
              <a:t/>
            </a:r>
            <a:endParaRPr b="0" i="0" sz="3600" u="none" cap="none" strike="noStrike">
              <a:solidFill>
                <a:srgbClr val="000000"/>
              </a:solidFill>
              <a:latin typeface="Tahoma"/>
              <a:ea typeface="Tahoma"/>
              <a:cs typeface="Tahoma"/>
              <a:sym typeface="Tahoma"/>
            </a:endParaRPr>
          </a:p>
          <a:p>
            <a:pPr indent="-2538" lvl="0" marL="40638" marR="40638" rtl="0" algn="ctr">
              <a:lnSpc>
                <a:spcPct val="100000"/>
              </a:lnSpc>
              <a:spcBef>
                <a:spcPts val="1200"/>
              </a:spcBef>
              <a:spcAft>
                <a:spcPts val="0"/>
              </a:spcAft>
              <a:buClr>
                <a:srgbClr val="000000"/>
              </a:buClr>
              <a:buFont typeface="Tahoma"/>
              <a:buNone/>
            </a:pPr>
            <a:r>
              <a:rPr lang="en-US" sz="2000">
                <a:latin typeface="Tahoma"/>
                <a:ea typeface="Tahoma"/>
                <a:cs typeface="Tahoma"/>
                <a:sym typeface="Tahoma"/>
              </a:rPr>
              <a:t>Caroline Walters / Ada Yan </a:t>
            </a:r>
            <a:endParaRPr sz="2000">
              <a:latin typeface="Tahoma"/>
              <a:ea typeface="Tahoma"/>
              <a:cs typeface="Tahoma"/>
              <a:sym typeface="Tahoma"/>
            </a:endParaRPr>
          </a:p>
          <a:p>
            <a:pPr indent="-2538" lvl="0" marL="40638" marR="40638" rtl="0" algn="ctr">
              <a:lnSpc>
                <a:spcPct val="100000"/>
              </a:lnSpc>
              <a:spcBef>
                <a:spcPts val="1200"/>
              </a:spcBef>
              <a:spcAft>
                <a:spcPts val="0"/>
              </a:spcAft>
              <a:buClr>
                <a:srgbClr val="000000"/>
              </a:buClr>
              <a:buFont typeface="Tahoma"/>
              <a:buNone/>
            </a:pPr>
            <a:r>
              <a:rPr lang="en-US" u="sng">
                <a:solidFill>
                  <a:schemeClr val="hlink"/>
                </a:solidFill>
                <a:latin typeface="Tahoma"/>
                <a:ea typeface="Tahoma"/>
                <a:cs typeface="Tahoma"/>
                <a:sym typeface="Tahoma"/>
                <a:hlinkClick r:id="rId3"/>
              </a:rPr>
              <a:t>c.walters@imperial.ac.uk</a:t>
            </a:r>
            <a:endParaRPr>
              <a:latin typeface="Tahoma"/>
              <a:ea typeface="Tahoma"/>
              <a:cs typeface="Tahoma"/>
              <a:sym typeface="Tahoma"/>
            </a:endParaRPr>
          </a:p>
          <a:p>
            <a:pPr indent="-2538" lvl="0" marL="40638" marR="40638" rtl="0" algn="ctr">
              <a:lnSpc>
                <a:spcPct val="100000"/>
              </a:lnSpc>
              <a:spcBef>
                <a:spcPts val="1200"/>
              </a:spcBef>
              <a:spcAft>
                <a:spcPts val="0"/>
              </a:spcAft>
              <a:buClr>
                <a:srgbClr val="000000"/>
              </a:buClr>
              <a:buFont typeface="Tahoma"/>
              <a:buNone/>
            </a:pPr>
            <a:r>
              <a:rPr lang="en-US" u="sng">
                <a:solidFill>
                  <a:schemeClr val="hlink"/>
                </a:solidFill>
                <a:latin typeface="Tahoma"/>
                <a:ea typeface="Tahoma"/>
                <a:cs typeface="Tahoma"/>
                <a:sym typeface="Tahoma"/>
                <a:hlinkClick r:id="rId4"/>
              </a:rPr>
              <a:t>a.yan@imperial.ac.uk</a:t>
            </a:r>
            <a:endParaRPr>
              <a:latin typeface="Tahoma"/>
              <a:ea typeface="Tahoma"/>
              <a:cs typeface="Tahoma"/>
              <a:sym typeface="Tahoma"/>
            </a:endParaRPr>
          </a:p>
          <a:p>
            <a:pPr indent="-2538" lvl="0" marL="40638" marR="40638" rtl="0" algn="ctr">
              <a:lnSpc>
                <a:spcPct val="100000"/>
              </a:lnSpc>
              <a:spcBef>
                <a:spcPts val="1200"/>
              </a:spcBef>
              <a:spcAft>
                <a:spcPts val="0"/>
              </a:spcAft>
              <a:buClr>
                <a:srgbClr val="000000"/>
              </a:buClr>
              <a:buFont typeface="Tahoma"/>
              <a:buNone/>
            </a:pPr>
            <a:r>
              <a:t/>
            </a:r>
            <a:endParaRPr>
              <a:latin typeface="Tahoma"/>
              <a:ea typeface="Tahoma"/>
              <a:cs typeface="Tahoma"/>
              <a:sym typeface="Tahoma"/>
            </a:endParaRPr>
          </a:p>
          <a:p>
            <a:pPr indent="-2538" lvl="0" marL="40638" marR="40638" rtl="0" algn="ctr">
              <a:lnSpc>
                <a:spcPct val="100000"/>
              </a:lnSpc>
              <a:spcBef>
                <a:spcPts val="1200"/>
              </a:spcBef>
              <a:spcAft>
                <a:spcPts val="0"/>
              </a:spcAft>
              <a:buClr>
                <a:srgbClr val="000000"/>
              </a:buClr>
              <a:buFont typeface="Tahoma"/>
              <a:buNone/>
            </a:pPr>
            <a:r>
              <a:rPr lang="en-US"/>
              <a:t>Module lead: Steven Riley, </a:t>
            </a:r>
            <a:r>
              <a:rPr lang="en-US" u="sng">
                <a:solidFill>
                  <a:schemeClr val="hlink"/>
                </a:solidFill>
                <a:hlinkClick r:id="rId5"/>
              </a:rPr>
              <a:t>s.riley@imperial.ac.uk</a:t>
            </a:r>
            <a:endParaRPr/>
          </a:p>
          <a:p>
            <a:pPr indent="-2539" lvl="0" marL="40639" marR="40639" rtl="0" algn="ctr">
              <a:lnSpc>
                <a:spcPct val="100000"/>
              </a:lnSpc>
              <a:spcBef>
                <a:spcPts val="1200"/>
              </a:spcBef>
              <a:spcAft>
                <a:spcPts val="0"/>
              </a:spcAft>
              <a:buClr>
                <a:srgbClr val="000000"/>
              </a:buClr>
              <a:buFont typeface="Tahoma"/>
              <a:buNone/>
            </a:pPr>
            <a:r>
              <a:t/>
            </a:r>
            <a:endParaRPr/>
          </a:p>
          <a:p>
            <a:pPr indent="-2539" lvl="0" marL="40639" marR="40639" rtl="0" algn="ctr">
              <a:lnSpc>
                <a:spcPct val="100000"/>
              </a:lnSpc>
              <a:spcBef>
                <a:spcPts val="120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a:p>
            <a:pPr indent="-2539" lvl="0" marL="40639" marR="40639" rtl="0" algn="ctr">
              <a:lnSpc>
                <a:spcPct val="100000"/>
              </a:lnSpc>
              <a:spcBef>
                <a:spcPts val="900"/>
              </a:spcBef>
              <a:spcAft>
                <a:spcPts val="0"/>
              </a:spcAft>
              <a:buClr>
                <a:srgbClr val="000000"/>
              </a:buClr>
              <a:buFont typeface="Arial"/>
              <a:buNone/>
            </a:pPr>
            <a:r>
              <a:rPr i="1" lang="en-US" sz="2400"/>
              <a:t>These slides: http://bit.ly/2CtN5PY</a:t>
            </a:r>
            <a:endParaRPr i="1"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5" name="Shape 55"/>
        <p:cNvGrpSpPr/>
        <p:nvPr/>
      </p:nvGrpSpPr>
      <p:grpSpPr>
        <a:xfrm>
          <a:off x="0" y="0"/>
          <a:ext cx="0" cy="0"/>
          <a:chOff x="0" y="0"/>
          <a:chExt cx="0" cy="0"/>
        </a:xfrm>
      </p:grpSpPr>
      <p:sp>
        <p:nvSpPr>
          <p:cNvPr id="56" name="Google Shape;56;p14"/>
          <p:cNvSpPr/>
          <p:nvPr/>
        </p:nvSpPr>
        <p:spPr>
          <a:xfrm>
            <a:off x="0" y="333375"/>
            <a:ext cx="9156700" cy="533400"/>
          </a:xfrm>
          <a:prstGeom prst="rect">
            <a:avLst/>
          </a:prstGeom>
          <a:noFill/>
          <a:ln>
            <a:noFill/>
          </a:ln>
        </p:spPr>
        <p:txBody>
          <a:bodyPr anchorCtr="0" anchor="t" bIns="50800" lIns="50800" spcFirstLastPara="1" rIns="50800" wrap="square" tIns="50800">
            <a:noAutofit/>
          </a:bodyPr>
          <a:lstStyle/>
          <a:p>
            <a:pPr indent="-2539" lvl="0" marL="40639" marR="40639" rtl="0" algn="ctr">
              <a:lnSpc>
                <a:spcPct val="100000"/>
              </a:lnSpc>
              <a:spcBef>
                <a:spcPts val="0"/>
              </a:spcBef>
              <a:spcAft>
                <a:spcPts val="0"/>
              </a:spcAft>
              <a:buClr>
                <a:srgbClr val="0433FF"/>
              </a:buClr>
              <a:buFont typeface="Tahoma"/>
              <a:buNone/>
            </a:pPr>
            <a:r>
              <a:rPr b="1" lang="en-US" sz="2800">
                <a:solidFill>
                  <a:srgbClr val="0433FF"/>
                </a:solidFill>
                <a:latin typeface="Tahoma"/>
                <a:ea typeface="Tahoma"/>
                <a:cs typeface="Tahoma"/>
                <a:sym typeface="Tahoma"/>
              </a:rPr>
              <a:t>Introduction</a:t>
            </a:r>
            <a:endParaRPr/>
          </a:p>
        </p:txBody>
      </p:sp>
      <p:sp>
        <p:nvSpPr>
          <p:cNvPr id="57" name="Google Shape;57;p14"/>
          <p:cNvSpPr/>
          <p:nvPr/>
        </p:nvSpPr>
        <p:spPr>
          <a:xfrm>
            <a:off x="841375" y="1254125"/>
            <a:ext cx="7899300" cy="5079900"/>
          </a:xfrm>
          <a:prstGeom prst="rect">
            <a:avLst/>
          </a:prstGeom>
          <a:noFill/>
          <a:ln>
            <a:noFill/>
          </a:ln>
        </p:spPr>
        <p:txBody>
          <a:bodyPr anchorCtr="0" anchor="t" bIns="50800" lIns="50800" spcFirstLastPara="1" rIns="50800" wrap="square" tIns="50800">
            <a:noAutofit/>
          </a:bodyPr>
          <a:lstStyle/>
          <a:p>
            <a:pPr indent="-2538" lvl="0" marL="40638" marR="40638" rtl="0" algn="l">
              <a:lnSpc>
                <a:spcPct val="100000"/>
              </a:lnSpc>
              <a:spcBef>
                <a:spcPts val="1200"/>
              </a:spcBef>
              <a:spcAft>
                <a:spcPts val="0"/>
              </a:spcAft>
              <a:buClr>
                <a:srgbClr val="000000"/>
              </a:buClr>
              <a:buFont typeface="Tahoma"/>
              <a:buNone/>
            </a:pPr>
            <a:r>
              <a:rPr lang="en-US" sz="2000">
                <a:latin typeface="Tahoma"/>
                <a:ea typeface="Tahoma"/>
                <a:cs typeface="Tahoma"/>
                <a:sym typeface="Tahoma"/>
              </a:rPr>
              <a:t>Household: People living in the same house = population of close contacts.</a:t>
            </a:r>
            <a:endParaRPr sz="2000">
              <a:latin typeface="Tahoma"/>
              <a:ea typeface="Tahoma"/>
              <a:cs typeface="Tahoma"/>
              <a:sym typeface="Tahoma"/>
            </a:endParaRPr>
          </a:p>
          <a:p>
            <a:pPr indent="-2538" lvl="0" marL="40638" marR="40638" rtl="0" algn="l">
              <a:lnSpc>
                <a:spcPct val="100000"/>
              </a:lnSpc>
              <a:spcBef>
                <a:spcPts val="1200"/>
              </a:spcBef>
              <a:spcAft>
                <a:spcPts val="0"/>
              </a:spcAft>
              <a:buClr>
                <a:srgbClr val="000000"/>
              </a:buClr>
              <a:buFont typeface="Tahoma"/>
              <a:buNone/>
            </a:pPr>
            <a:r>
              <a:rPr lang="en-US" sz="2000">
                <a:latin typeface="Tahoma"/>
                <a:ea typeface="Tahoma"/>
                <a:cs typeface="Tahoma"/>
                <a:sym typeface="Tahoma"/>
              </a:rPr>
              <a:t>SIR-type models assume homogeneous mixing - households introduce </a:t>
            </a:r>
            <a:r>
              <a:rPr lang="en-US" sz="2000">
                <a:latin typeface="Tahoma"/>
                <a:ea typeface="Tahoma"/>
                <a:cs typeface="Tahoma"/>
                <a:sym typeface="Tahoma"/>
              </a:rPr>
              <a:t>heterogeneity.</a:t>
            </a:r>
            <a:endParaRPr sz="2000">
              <a:latin typeface="Tahoma"/>
              <a:ea typeface="Tahoma"/>
              <a:cs typeface="Tahoma"/>
              <a:sym typeface="Tahoma"/>
            </a:endParaRPr>
          </a:p>
          <a:p>
            <a:pPr indent="-2538" lvl="0" marL="40638" marR="40638" rtl="0" algn="l">
              <a:lnSpc>
                <a:spcPct val="100000"/>
              </a:lnSpc>
              <a:spcBef>
                <a:spcPts val="1200"/>
              </a:spcBef>
              <a:spcAft>
                <a:spcPts val="0"/>
              </a:spcAft>
              <a:buClr>
                <a:srgbClr val="000000"/>
              </a:buClr>
              <a:buFont typeface="Tahoma"/>
              <a:buNone/>
            </a:pPr>
            <a:r>
              <a:t/>
            </a:r>
            <a:endParaRPr sz="2000">
              <a:latin typeface="Tahoma"/>
              <a:ea typeface="Tahoma"/>
              <a:cs typeface="Tahoma"/>
              <a:sym typeface="Tahoma"/>
            </a:endParaRPr>
          </a:p>
          <a:p>
            <a:pPr indent="-2538" lvl="0" marL="40638" marR="40638" rtl="0" algn="l">
              <a:lnSpc>
                <a:spcPct val="100000"/>
              </a:lnSpc>
              <a:spcBef>
                <a:spcPts val="1200"/>
              </a:spcBef>
              <a:spcAft>
                <a:spcPts val="0"/>
              </a:spcAft>
              <a:buClr>
                <a:srgbClr val="000000"/>
              </a:buClr>
              <a:buFont typeface="Tahoma"/>
              <a:buNone/>
            </a:pPr>
            <a:r>
              <a:rPr lang="en-US" sz="2000">
                <a:latin typeface="Tahoma"/>
                <a:ea typeface="Tahoma"/>
                <a:cs typeface="Tahoma"/>
                <a:sym typeface="Tahoma"/>
              </a:rPr>
              <a:t>Today we will cover:</a:t>
            </a:r>
            <a:endParaRPr sz="2000">
              <a:latin typeface="Tahoma"/>
              <a:ea typeface="Tahoma"/>
              <a:cs typeface="Tahoma"/>
              <a:sym typeface="Tahoma"/>
            </a:endParaRPr>
          </a:p>
          <a:p>
            <a:pPr indent="-355600" lvl="0" marL="457200" marR="40638" rtl="0" algn="l">
              <a:lnSpc>
                <a:spcPct val="100000"/>
              </a:lnSpc>
              <a:spcBef>
                <a:spcPts val="1200"/>
              </a:spcBef>
              <a:spcAft>
                <a:spcPts val="0"/>
              </a:spcAft>
              <a:buSzPts val="2000"/>
              <a:buFont typeface="Tahoma"/>
              <a:buChar char="-"/>
            </a:pPr>
            <a:r>
              <a:rPr lang="en-US" sz="2000">
                <a:latin typeface="Tahoma"/>
                <a:ea typeface="Tahoma"/>
                <a:cs typeface="Tahoma"/>
                <a:sym typeface="Tahoma"/>
              </a:rPr>
              <a:t>Lecture: Examples of household studies</a:t>
            </a:r>
            <a:endParaRPr sz="2000">
              <a:latin typeface="Tahoma"/>
              <a:ea typeface="Tahoma"/>
              <a:cs typeface="Tahoma"/>
              <a:sym typeface="Tahoma"/>
            </a:endParaRPr>
          </a:p>
          <a:p>
            <a:pPr indent="-355600" lvl="0" marL="457200" marR="40638" rtl="0" algn="l">
              <a:lnSpc>
                <a:spcPct val="100000"/>
              </a:lnSpc>
              <a:spcBef>
                <a:spcPts val="0"/>
              </a:spcBef>
              <a:spcAft>
                <a:spcPts val="0"/>
              </a:spcAft>
              <a:buSzPts val="2000"/>
              <a:buFont typeface="Tahoma"/>
              <a:buChar char="-"/>
            </a:pPr>
            <a:r>
              <a:rPr lang="en-US" sz="2000">
                <a:latin typeface="Tahoma"/>
                <a:ea typeface="Tahoma"/>
                <a:cs typeface="Tahoma"/>
                <a:sym typeface="Tahoma"/>
              </a:rPr>
              <a:t>Lecture: A simple household model (sizes 2 and 4)</a:t>
            </a:r>
            <a:endParaRPr sz="2000">
              <a:latin typeface="Tahoma"/>
              <a:ea typeface="Tahoma"/>
              <a:cs typeface="Tahoma"/>
              <a:sym typeface="Tahoma"/>
            </a:endParaRPr>
          </a:p>
          <a:p>
            <a:pPr indent="-355600" lvl="0" marL="457200" marR="40639" rtl="0" algn="l">
              <a:lnSpc>
                <a:spcPct val="100000"/>
              </a:lnSpc>
              <a:spcBef>
                <a:spcPts val="0"/>
              </a:spcBef>
              <a:spcAft>
                <a:spcPts val="0"/>
              </a:spcAft>
              <a:buSzPts val="2000"/>
              <a:buFont typeface="Tahoma"/>
              <a:buChar char="-"/>
            </a:pPr>
            <a:r>
              <a:rPr lang="en-US" sz="2000">
                <a:latin typeface="Tahoma"/>
                <a:ea typeface="Tahoma"/>
                <a:cs typeface="Tahoma"/>
                <a:sym typeface="Tahoma"/>
              </a:rPr>
              <a:t>P</a:t>
            </a:r>
            <a:r>
              <a:rPr lang="en-US" sz="2000">
                <a:latin typeface="Tahoma"/>
                <a:ea typeface="Tahoma"/>
                <a:cs typeface="Tahoma"/>
                <a:sym typeface="Tahoma"/>
              </a:rPr>
              <a:t>ractical: </a:t>
            </a:r>
            <a:r>
              <a:rPr lang="en-US" sz="2000">
                <a:latin typeface="Tahoma"/>
                <a:ea typeface="Tahoma"/>
                <a:cs typeface="Tahoma"/>
                <a:sym typeface="Tahoma"/>
              </a:rPr>
              <a:t>Household (size 2) with temporal structure.</a:t>
            </a:r>
            <a:endParaRPr sz="2000">
              <a:latin typeface="Tahoma"/>
              <a:ea typeface="Tahoma"/>
              <a:cs typeface="Tahoma"/>
              <a:sym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1" name="Shape 61"/>
        <p:cNvGrpSpPr/>
        <p:nvPr/>
      </p:nvGrpSpPr>
      <p:grpSpPr>
        <a:xfrm>
          <a:off x="0" y="0"/>
          <a:ext cx="0" cy="0"/>
          <a:chOff x="0" y="0"/>
          <a:chExt cx="0" cy="0"/>
        </a:xfrm>
      </p:grpSpPr>
      <p:pic>
        <p:nvPicPr>
          <p:cNvPr id="62" name="Google Shape;62;p15"/>
          <p:cNvPicPr preferRelativeResize="0"/>
          <p:nvPr/>
        </p:nvPicPr>
        <p:blipFill rotWithShape="1">
          <a:blip r:embed="rId3">
            <a:alphaModFix/>
          </a:blip>
          <a:srcRect b="0" l="0" r="0" t="0"/>
          <a:stretch/>
        </p:blipFill>
        <p:spPr>
          <a:xfrm>
            <a:off x="733425" y="1444625"/>
            <a:ext cx="2473200" cy="3240000"/>
          </a:xfrm>
          <a:prstGeom prst="rect">
            <a:avLst/>
          </a:prstGeom>
          <a:noFill/>
          <a:ln>
            <a:noFill/>
          </a:ln>
        </p:spPr>
      </p:pic>
      <p:sp>
        <p:nvSpPr>
          <p:cNvPr id="63" name="Google Shape;63;p15"/>
          <p:cNvSpPr/>
          <p:nvPr/>
        </p:nvSpPr>
        <p:spPr>
          <a:xfrm>
            <a:off x="0" y="333375"/>
            <a:ext cx="9156600" cy="5334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433FF"/>
              </a:buClr>
              <a:buFont typeface="Tahoma"/>
              <a:buNone/>
            </a:pPr>
            <a:r>
              <a:rPr b="1" i="0" lang="en-US" sz="2800" u="none" cap="none" strike="noStrike">
                <a:solidFill>
                  <a:srgbClr val="0433FF"/>
                </a:solidFill>
                <a:latin typeface="Tahoma"/>
                <a:ea typeface="Tahoma"/>
                <a:cs typeface="Tahoma"/>
                <a:sym typeface="Tahoma"/>
              </a:rPr>
              <a:t>Household as a laboratory: Hope-Simpson </a:t>
            </a:r>
            <a:endParaRPr/>
          </a:p>
        </p:txBody>
      </p:sp>
      <p:sp>
        <p:nvSpPr>
          <p:cNvPr id="64" name="Google Shape;64;p15"/>
          <p:cNvSpPr/>
          <p:nvPr/>
        </p:nvSpPr>
        <p:spPr>
          <a:xfrm>
            <a:off x="3508375" y="1746250"/>
            <a:ext cx="5232300" cy="2540100"/>
          </a:xfrm>
          <a:prstGeom prst="rect">
            <a:avLst/>
          </a:prstGeom>
          <a:noFill/>
          <a:ln>
            <a:noFill/>
          </a:ln>
        </p:spPr>
        <p:txBody>
          <a:bodyPr anchorCtr="0" anchor="t"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Landmark study on transmission of childhood infections (measles, mumps, chickenpox) (Lancet 1952, pp549-554).</a:t>
            </a:r>
            <a:endParaRPr b="0" i="0" sz="2000" u="none" cap="none" strike="noStrike">
              <a:solidFill>
                <a:srgbClr val="000000"/>
              </a:solidFill>
              <a:latin typeface="Tahoma"/>
              <a:ea typeface="Tahoma"/>
              <a:cs typeface="Tahoma"/>
              <a:sym typeface="Tahoma"/>
            </a:endParaRPr>
          </a:p>
          <a:p>
            <a:pPr indent="-2538" lvl="0" marL="40638" marR="40638" rtl="0" algn="l">
              <a:lnSpc>
                <a:spcPct val="100000"/>
              </a:lnSpc>
              <a:spcBef>
                <a:spcPts val="0"/>
              </a:spcBef>
              <a:spcAft>
                <a:spcPts val="0"/>
              </a:spcAft>
              <a:buClr>
                <a:srgbClr val="000000"/>
              </a:buClr>
              <a:buFont typeface="Tahoma"/>
              <a:buNone/>
            </a:pPr>
            <a:r>
              <a:t/>
            </a:r>
            <a:endParaRPr sz="2000">
              <a:latin typeface="Tahoma"/>
              <a:ea typeface="Tahoma"/>
              <a:cs typeface="Tahoma"/>
              <a:sym typeface="Tahoma"/>
            </a:endParaRPr>
          </a:p>
          <a:p>
            <a:pPr indent="-2538" lvl="0" marL="40638" marR="40638" rtl="0" algn="l">
              <a:lnSpc>
                <a:spcPct val="100000"/>
              </a:lnSpc>
              <a:spcBef>
                <a:spcPts val="0"/>
              </a:spcBef>
              <a:spcAft>
                <a:spcPts val="0"/>
              </a:spcAft>
              <a:buClr>
                <a:srgbClr val="000000"/>
              </a:buClr>
              <a:buFont typeface="Tahoma"/>
              <a:buNone/>
            </a:pPr>
            <a:r>
              <a:rPr lang="en-US" sz="2000" u="sng">
                <a:solidFill>
                  <a:schemeClr val="hlink"/>
                </a:solidFill>
                <a:latin typeface="Tahoma"/>
                <a:ea typeface="Tahoma"/>
                <a:cs typeface="Tahoma"/>
                <a:sym typeface="Tahoma"/>
                <a:hlinkClick r:id="rId4"/>
              </a:rPr>
              <a:t>https://www.sciencedirect.com/science/article/pii/S0140673652913573?via%3Dihub</a:t>
            </a:r>
            <a:endParaRPr sz="2000">
              <a:latin typeface="Tahoma"/>
              <a:ea typeface="Tahoma"/>
              <a:cs typeface="Tahoma"/>
              <a:sym typeface="Tahoma"/>
            </a:endParaRPr>
          </a:p>
          <a:p>
            <a:pPr indent="-2538" lvl="0" marL="40638" marR="40638" rtl="0" algn="l">
              <a:lnSpc>
                <a:spcPct val="100000"/>
              </a:lnSpc>
              <a:spcBef>
                <a:spcPts val="0"/>
              </a:spcBef>
              <a:spcAft>
                <a:spcPts val="0"/>
              </a:spcAft>
              <a:buClr>
                <a:srgbClr val="000000"/>
              </a:buClr>
              <a:buFont typeface="Tahoma"/>
              <a:buNone/>
            </a:pPr>
            <a:r>
              <a:rPr lang="en-US" sz="2000">
                <a:latin typeface="Tahoma"/>
                <a:ea typeface="Tahoma"/>
                <a:cs typeface="Tahoma"/>
                <a:sym typeface="Tahoma"/>
              </a:rPr>
              <a:t>(full text not available)</a:t>
            </a:r>
            <a:endParaRPr sz="2000">
              <a:latin typeface="Tahoma"/>
              <a:ea typeface="Tahoma"/>
              <a:cs typeface="Tahoma"/>
              <a:sym typeface="Tahoma"/>
            </a:endParaRPr>
          </a:p>
          <a:p>
            <a:pPr indent="-2538" lvl="0" marL="40638" marR="40638" rtl="0" algn="l">
              <a:lnSpc>
                <a:spcPct val="100000"/>
              </a:lnSpc>
              <a:spcBef>
                <a:spcPts val="120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Established chickenpox and shingles caused by same virus (VZV) (1965 Proc R Soc Med).</a:t>
            </a:r>
            <a:endParaRPr b="0" i="0" sz="2000" u="none" cap="none" strike="noStrike">
              <a:solidFill>
                <a:srgbClr val="000000"/>
              </a:solidFill>
              <a:latin typeface="Tahoma"/>
              <a:ea typeface="Tahoma"/>
              <a:cs typeface="Tahoma"/>
              <a:sym typeface="Tahoma"/>
            </a:endParaRPr>
          </a:p>
          <a:p>
            <a:pPr indent="-2538" lvl="0" marL="40638" marR="40638" rtl="0" algn="l">
              <a:lnSpc>
                <a:spcPct val="100000"/>
              </a:lnSpc>
              <a:spcBef>
                <a:spcPts val="1200"/>
              </a:spcBef>
              <a:spcAft>
                <a:spcPts val="0"/>
              </a:spcAft>
              <a:buClr>
                <a:srgbClr val="000000"/>
              </a:buClr>
              <a:buFont typeface="Tahoma"/>
              <a:buNone/>
            </a:pPr>
            <a:r>
              <a:rPr lang="en-US" sz="2000" u="sng">
                <a:solidFill>
                  <a:schemeClr val="hlink"/>
                </a:solidFill>
                <a:latin typeface="Tahoma"/>
                <a:ea typeface="Tahoma"/>
                <a:cs typeface="Tahoma"/>
                <a:sym typeface="Tahoma"/>
                <a:hlinkClick r:id="rId5"/>
              </a:rPr>
              <a:t>https://onlinelibrary.wiley.com/doi/epdf/10.1002/rmv.337</a:t>
            </a:r>
            <a:endParaRPr sz="2000">
              <a:latin typeface="Tahoma"/>
              <a:ea typeface="Tahoma"/>
              <a:cs typeface="Tahoma"/>
              <a:sym typeface="Tahoma"/>
            </a:endParaRPr>
          </a:p>
          <a:p>
            <a:pPr indent="-2538" lvl="0" marL="40638" marR="40638" rtl="0" algn="l">
              <a:lnSpc>
                <a:spcPct val="100000"/>
              </a:lnSpc>
              <a:spcBef>
                <a:spcPts val="1200"/>
              </a:spcBef>
              <a:spcAft>
                <a:spcPts val="0"/>
              </a:spcAft>
              <a:buClr>
                <a:srgbClr val="000000"/>
              </a:buClr>
              <a:buFont typeface="Tahoma"/>
              <a:buNone/>
            </a:pPr>
            <a:r>
              <a:rPr lang="en-US" sz="2000">
                <a:latin typeface="Tahoma"/>
                <a:ea typeface="Tahoma"/>
                <a:cs typeface="Tahoma"/>
                <a:sym typeface="Tahoma"/>
              </a:rPr>
              <a:t>(reprint of the original article)</a:t>
            </a:r>
            <a:endParaRPr sz="2000">
              <a:latin typeface="Tahoma"/>
              <a:ea typeface="Tahoma"/>
              <a:cs typeface="Tahoma"/>
              <a:sym typeface="Tahoma"/>
            </a:endParaRPr>
          </a:p>
          <a:p>
            <a:pPr indent="-2538" lvl="0" marL="40638" marR="40638" rtl="0" algn="l">
              <a:lnSpc>
                <a:spcPct val="100000"/>
              </a:lnSpc>
              <a:spcBef>
                <a:spcPts val="1200"/>
              </a:spcBef>
              <a:spcAft>
                <a:spcPts val="0"/>
              </a:spcAft>
              <a:buClr>
                <a:srgbClr val="000000"/>
              </a:buClr>
              <a:buFont typeface="Tahoma"/>
              <a:buNone/>
            </a:pPr>
            <a:r>
              <a:t/>
            </a:r>
            <a:endParaRPr sz="2000">
              <a:latin typeface="Tahoma"/>
              <a:ea typeface="Tahoma"/>
              <a:cs typeface="Tahoma"/>
              <a:sym typeface="Tahoma"/>
            </a:endParaRPr>
          </a:p>
          <a:p>
            <a:pPr indent="-2538" lvl="0" marL="40638" marR="40638" rtl="0" algn="l">
              <a:lnSpc>
                <a:spcPct val="100000"/>
              </a:lnSpc>
              <a:spcBef>
                <a:spcPts val="1200"/>
              </a:spcBef>
              <a:spcAft>
                <a:spcPts val="0"/>
              </a:spcAft>
              <a:buClr>
                <a:srgbClr val="000000"/>
              </a:buClr>
              <a:buFont typeface="Tahoma"/>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8" name="Shape 68"/>
        <p:cNvGrpSpPr/>
        <p:nvPr/>
      </p:nvGrpSpPr>
      <p:grpSpPr>
        <a:xfrm>
          <a:off x="0" y="0"/>
          <a:ext cx="0" cy="0"/>
          <a:chOff x="0" y="0"/>
          <a:chExt cx="0" cy="0"/>
        </a:xfrm>
      </p:grpSpPr>
      <p:sp>
        <p:nvSpPr>
          <p:cNvPr id="69" name="Google Shape;69;p16"/>
          <p:cNvSpPr/>
          <p:nvPr/>
        </p:nvSpPr>
        <p:spPr>
          <a:xfrm>
            <a:off x="0" y="333375"/>
            <a:ext cx="9156600" cy="5334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433FF"/>
              </a:buClr>
              <a:buFont typeface="Tahoma"/>
              <a:buNone/>
            </a:pPr>
            <a:r>
              <a:rPr b="1" i="0" lang="en-US" sz="2800" u="none" cap="none" strike="noStrike">
                <a:solidFill>
                  <a:srgbClr val="0433FF"/>
                </a:solidFill>
                <a:latin typeface="Tahoma"/>
                <a:ea typeface="Tahoma"/>
                <a:cs typeface="Tahoma"/>
                <a:sym typeface="Tahoma"/>
              </a:rPr>
              <a:t>C</a:t>
            </a:r>
            <a:r>
              <a:rPr b="1" i="0" lang="en-US" sz="2800" u="none" cap="none" strike="noStrike">
                <a:solidFill>
                  <a:srgbClr val="0433FF"/>
                </a:solidFill>
                <a:latin typeface="Tahoma"/>
                <a:ea typeface="Tahoma"/>
                <a:cs typeface="Tahoma"/>
                <a:sym typeface="Tahoma"/>
              </a:rPr>
              <a:t>lassic study: Hope-Simpson 1952</a:t>
            </a:r>
            <a:endParaRPr/>
          </a:p>
        </p:txBody>
      </p:sp>
      <p:pic>
        <p:nvPicPr>
          <p:cNvPr id="70" name="Google Shape;70;p16"/>
          <p:cNvPicPr preferRelativeResize="0"/>
          <p:nvPr/>
        </p:nvPicPr>
        <p:blipFill rotWithShape="1">
          <a:blip r:embed="rId3">
            <a:alphaModFix/>
          </a:blip>
          <a:srcRect b="0" l="0" r="0" t="0"/>
          <a:stretch/>
        </p:blipFill>
        <p:spPr>
          <a:xfrm>
            <a:off x="286450" y="1295400"/>
            <a:ext cx="8857500" cy="4671900"/>
          </a:xfrm>
          <a:prstGeom prst="rect">
            <a:avLst/>
          </a:prstGeom>
          <a:noFill/>
          <a:ln>
            <a:noFill/>
          </a:ln>
        </p:spPr>
      </p:pic>
      <p:sp>
        <p:nvSpPr>
          <p:cNvPr id="71" name="Google Shape;71;p16"/>
          <p:cNvSpPr/>
          <p:nvPr/>
        </p:nvSpPr>
        <p:spPr>
          <a:xfrm>
            <a:off x="641350" y="5454225"/>
            <a:ext cx="8013600" cy="863700"/>
          </a:xfrm>
          <a:prstGeom prst="rect">
            <a:avLst/>
          </a:prstGeom>
          <a:noFill/>
          <a:ln>
            <a:noFill/>
          </a:ln>
        </p:spPr>
        <p:txBody>
          <a:bodyPr anchorCtr="0" anchor="t" bIns="50800" lIns="50800" spcFirstLastPara="1" rIns="50800" wrap="square" tIns="50800">
            <a:noAutofit/>
          </a:bodyPr>
          <a:lstStyle/>
          <a:p>
            <a:pPr indent="-2538" lvl="0" marL="40638" marR="40638" rtl="0" algn="l">
              <a:lnSpc>
                <a:spcPct val="100000"/>
              </a:lnSpc>
              <a:spcBef>
                <a:spcPts val="1200"/>
              </a:spcBef>
              <a:spcAft>
                <a:spcPts val="0"/>
              </a:spcAft>
              <a:buClr>
                <a:srgbClr val="000000"/>
              </a:buClr>
              <a:buFont typeface="Tahoma"/>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5" name="Shape 75"/>
        <p:cNvGrpSpPr/>
        <p:nvPr/>
      </p:nvGrpSpPr>
      <p:grpSpPr>
        <a:xfrm>
          <a:off x="0" y="0"/>
          <a:ext cx="0" cy="0"/>
          <a:chOff x="0" y="0"/>
          <a:chExt cx="0" cy="0"/>
        </a:xfrm>
      </p:grpSpPr>
      <p:sp>
        <p:nvSpPr>
          <p:cNvPr id="76" name="Google Shape;76;p17"/>
          <p:cNvSpPr/>
          <p:nvPr/>
        </p:nvSpPr>
        <p:spPr>
          <a:xfrm>
            <a:off x="0" y="333375"/>
            <a:ext cx="9156600" cy="5334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433FF"/>
              </a:buClr>
              <a:buFont typeface="Tahoma"/>
              <a:buNone/>
            </a:pPr>
            <a:r>
              <a:rPr b="1" i="0" lang="en-US" sz="2800" u="none" cap="none" strike="noStrike">
                <a:solidFill>
                  <a:srgbClr val="0433FF"/>
                </a:solidFill>
                <a:latin typeface="Tahoma"/>
                <a:ea typeface="Tahoma"/>
                <a:cs typeface="Tahoma"/>
                <a:sym typeface="Tahoma"/>
              </a:rPr>
              <a:t>C</a:t>
            </a:r>
            <a:r>
              <a:rPr b="1" lang="en-US" sz="2800">
                <a:solidFill>
                  <a:srgbClr val="0433FF"/>
                </a:solidFill>
                <a:latin typeface="Tahoma"/>
                <a:ea typeface="Tahoma"/>
                <a:cs typeface="Tahoma"/>
                <a:sym typeface="Tahoma"/>
              </a:rPr>
              <a:t>hickenpox - shingles</a:t>
            </a:r>
            <a:endParaRPr/>
          </a:p>
        </p:txBody>
      </p:sp>
      <p:sp>
        <p:nvSpPr>
          <p:cNvPr id="77" name="Google Shape;77;p17"/>
          <p:cNvSpPr/>
          <p:nvPr/>
        </p:nvSpPr>
        <p:spPr>
          <a:xfrm>
            <a:off x="641350" y="4539825"/>
            <a:ext cx="8013600" cy="863700"/>
          </a:xfrm>
          <a:prstGeom prst="rect">
            <a:avLst/>
          </a:prstGeom>
          <a:noFill/>
          <a:ln>
            <a:noFill/>
          </a:ln>
        </p:spPr>
        <p:txBody>
          <a:bodyPr anchorCtr="0" anchor="t" bIns="50800" lIns="50800" spcFirstLastPara="1" rIns="50800" wrap="square" tIns="50800">
            <a:noAutofit/>
          </a:bodyPr>
          <a:lstStyle/>
          <a:p>
            <a:pPr indent="-2538" lvl="0" marL="40638" marR="40638" rtl="0" algn="l">
              <a:lnSpc>
                <a:spcPct val="100000"/>
              </a:lnSpc>
              <a:spcBef>
                <a:spcPts val="1200"/>
              </a:spcBef>
              <a:spcAft>
                <a:spcPts val="0"/>
              </a:spcAft>
              <a:buClr>
                <a:srgbClr val="000000"/>
              </a:buClr>
              <a:buFont typeface="Tahoma"/>
              <a:buNone/>
            </a:pPr>
            <a:r>
              <a:t/>
            </a:r>
            <a:endParaRPr/>
          </a:p>
        </p:txBody>
      </p:sp>
      <p:sp>
        <p:nvSpPr>
          <p:cNvPr id="78" name="Google Shape;78;p17"/>
          <p:cNvSpPr/>
          <p:nvPr/>
        </p:nvSpPr>
        <p:spPr>
          <a:xfrm>
            <a:off x="1294075" y="1160475"/>
            <a:ext cx="1874400" cy="626700"/>
          </a:xfrm>
          <a:prstGeom prst="roundRect">
            <a:avLst>
              <a:gd fmla="val 16667" name="adj"/>
            </a:avLst>
          </a:prstGeom>
          <a:noFill/>
          <a:ln cap="flat" cmpd="sng" w="38100">
            <a:solidFill>
              <a:srgbClr val="6D9E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2400"/>
              <a:t>chickenpox</a:t>
            </a:r>
            <a:endParaRPr sz="2400"/>
          </a:p>
        </p:txBody>
      </p:sp>
      <p:sp>
        <p:nvSpPr>
          <p:cNvPr id="79" name="Google Shape;79;p17"/>
          <p:cNvSpPr/>
          <p:nvPr/>
        </p:nvSpPr>
        <p:spPr>
          <a:xfrm>
            <a:off x="1313725" y="2385650"/>
            <a:ext cx="1874400" cy="1091400"/>
          </a:xfrm>
          <a:prstGeom prst="roundRect">
            <a:avLst>
              <a:gd fmla="val 16667" name="adj"/>
            </a:avLst>
          </a:prstGeom>
          <a:noFill/>
          <a:ln cap="flat" cmpd="sng" w="38100">
            <a:solidFill>
              <a:srgbClr val="6D9E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2400"/>
              <a:t>chickenpox</a:t>
            </a:r>
            <a:endParaRPr sz="2400"/>
          </a:p>
          <a:p>
            <a:pPr indent="0" lvl="0" marL="0" rtl="0" algn="l">
              <a:spcBef>
                <a:spcPts val="0"/>
              </a:spcBef>
              <a:spcAft>
                <a:spcPts val="0"/>
              </a:spcAft>
              <a:buNone/>
            </a:pPr>
            <a:r>
              <a:rPr lang="en-US" sz="2400"/>
              <a:t>(varicella)</a:t>
            </a:r>
            <a:endParaRPr sz="2400"/>
          </a:p>
        </p:txBody>
      </p:sp>
      <p:sp>
        <p:nvSpPr>
          <p:cNvPr id="80" name="Google Shape;80;p17"/>
          <p:cNvSpPr/>
          <p:nvPr/>
        </p:nvSpPr>
        <p:spPr>
          <a:xfrm>
            <a:off x="5352325" y="1090250"/>
            <a:ext cx="1616400" cy="626700"/>
          </a:xfrm>
          <a:prstGeom prst="roundRect">
            <a:avLst>
              <a:gd fmla="val 16667" name="adj"/>
            </a:avLst>
          </a:prstGeom>
          <a:noFill/>
          <a:ln cap="flat" cmpd="sng" w="38100">
            <a:solidFill>
              <a:srgbClr val="6D9E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2400"/>
              <a:t>shingles</a:t>
            </a:r>
            <a:endParaRPr sz="2400"/>
          </a:p>
        </p:txBody>
      </p:sp>
      <p:sp>
        <p:nvSpPr>
          <p:cNvPr id="81" name="Google Shape;81;p17"/>
          <p:cNvSpPr/>
          <p:nvPr/>
        </p:nvSpPr>
        <p:spPr>
          <a:xfrm>
            <a:off x="4895125" y="2342525"/>
            <a:ext cx="3019800" cy="1091400"/>
          </a:xfrm>
          <a:prstGeom prst="roundRect">
            <a:avLst>
              <a:gd fmla="val 16667" name="adj"/>
            </a:avLst>
          </a:prstGeom>
          <a:noFill/>
          <a:ln cap="flat" cmpd="sng" w="38100">
            <a:solidFill>
              <a:srgbClr val="6D9E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2400"/>
              <a:t>almost-chickenpox</a:t>
            </a:r>
            <a:endParaRPr sz="2400"/>
          </a:p>
          <a:p>
            <a:pPr indent="0" lvl="0" marL="0" rtl="0" algn="l">
              <a:spcBef>
                <a:spcPts val="0"/>
              </a:spcBef>
              <a:spcAft>
                <a:spcPts val="0"/>
              </a:spcAft>
              <a:buNone/>
            </a:pPr>
            <a:r>
              <a:rPr lang="en-US" sz="2400"/>
              <a:t>(Z-varicella)</a:t>
            </a:r>
            <a:endParaRPr sz="2400"/>
          </a:p>
        </p:txBody>
      </p:sp>
      <p:sp>
        <p:nvSpPr>
          <p:cNvPr id="82" name="Google Shape;82;p17"/>
          <p:cNvSpPr/>
          <p:nvPr/>
        </p:nvSpPr>
        <p:spPr>
          <a:xfrm>
            <a:off x="2187675" y="1880425"/>
            <a:ext cx="196500" cy="4620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7"/>
          <p:cNvSpPr/>
          <p:nvPr/>
        </p:nvSpPr>
        <p:spPr>
          <a:xfrm>
            <a:off x="5997675" y="1804225"/>
            <a:ext cx="196500" cy="4620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7"/>
          <p:cNvSpPr/>
          <p:nvPr/>
        </p:nvSpPr>
        <p:spPr>
          <a:xfrm>
            <a:off x="3433925" y="2740750"/>
            <a:ext cx="1167600" cy="533400"/>
          </a:xfrm>
          <a:prstGeom prst="mathEqual">
            <a:avLst>
              <a:gd fmla="val 23520" name="adj1"/>
              <a:gd fmla="val 11760" name="adj2"/>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85" name="Google Shape;85;p17"/>
          <p:cNvPicPr preferRelativeResize="0"/>
          <p:nvPr/>
        </p:nvPicPr>
        <p:blipFill>
          <a:blip r:embed="rId3">
            <a:alphaModFix/>
          </a:blip>
          <a:stretch>
            <a:fillRect/>
          </a:stretch>
        </p:blipFill>
        <p:spPr>
          <a:xfrm>
            <a:off x="1873200" y="3979600"/>
            <a:ext cx="5410200" cy="2286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9" name="Shape 89"/>
        <p:cNvGrpSpPr/>
        <p:nvPr/>
      </p:nvGrpSpPr>
      <p:grpSpPr>
        <a:xfrm>
          <a:off x="0" y="0"/>
          <a:ext cx="0" cy="0"/>
          <a:chOff x="0" y="0"/>
          <a:chExt cx="0" cy="0"/>
        </a:xfrm>
      </p:grpSpPr>
      <p:sp>
        <p:nvSpPr>
          <p:cNvPr id="90" name="Google Shape;90;p18"/>
          <p:cNvSpPr/>
          <p:nvPr/>
        </p:nvSpPr>
        <p:spPr>
          <a:xfrm>
            <a:off x="0" y="333375"/>
            <a:ext cx="9156700" cy="533400"/>
          </a:xfrm>
          <a:prstGeom prst="rect">
            <a:avLst/>
          </a:prstGeom>
          <a:noFill/>
          <a:ln>
            <a:noFill/>
          </a:ln>
        </p:spPr>
        <p:txBody>
          <a:bodyPr anchorCtr="0" anchor="t" bIns="50800" lIns="50800" spcFirstLastPara="1" rIns="50800" wrap="square" tIns="50800">
            <a:noAutofit/>
          </a:bodyPr>
          <a:lstStyle/>
          <a:p>
            <a:pPr indent="-2539" lvl="0" marL="40639" marR="40639" rtl="0" algn="ctr">
              <a:lnSpc>
                <a:spcPct val="100000"/>
              </a:lnSpc>
              <a:spcBef>
                <a:spcPts val="0"/>
              </a:spcBef>
              <a:spcAft>
                <a:spcPts val="0"/>
              </a:spcAft>
              <a:buClr>
                <a:srgbClr val="0433FF"/>
              </a:buClr>
              <a:buFont typeface="Tahoma"/>
              <a:buNone/>
            </a:pPr>
            <a:r>
              <a:rPr b="1" lang="en-US" sz="2800">
                <a:solidFill>
                  <a:srgbClr val="0433FF"/>
                </a:solidFill>
                <a:latin typeface="Tahoma"/>
                <a:ea typeface="Tahoma"/>
                <a:cs typeface="Tahoma"/>
                <a:sym typeface="Tahoma"/>
              </a:rPr>
              <a:t>Household studies and v</a:t>
            </a:r>
            <a:r>
              <a:rPr b="1" i="0" lang="en-US" sz="2800" u="none" cap="none" strike="noStrike">
                <a:solidFill>
                  <a:srgbClr val="0433FF"/>
                </a:solidFill>
                <a:latin typeface="Tahoma"/>
                <a:ea typeface="Tahoma"/>
                <a:cs typeface="Tahoma"/>
                <a:sym typeface="Tahoma"/>
              </a:rPr>
              <a:t>accine efficacy</a:t>
            </a:r>
            <a:endParaRPr/>
          </a:p>
        </p:txBody>
      </p:sp>
      <p:sp>
        <p:nvSpPr>
          <p:cNvPr id="91" name="Google Shape;91;p18"/>
          <p:cNvSpPr/>
          <p:nvPr/>
        </p:nvSpPr>
        <p:spPr>
          <a:xfrm>
            <a:off x="742950" y="944562"/>
            <a:ext cx="8064500" cy="1320801"/>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rPr lang="en-US" sz="2000">
                <a:latin typeface="Tahoma"/>
                <a:ea typeface="Tahoma"/>
                <a:cs typeface="Tahoma"/>
                <a:sym typeface="Tahoma"/>
              </a:rPr>
              <a:t>I</a:t>
            </a:r>
            <a:r>
              <a:rPr b="0" i="0" lang="en-US" sz="2000" u="none" cap="none" strike="noStrike">
                <a:solidFill>
                  <a:srgbClr val="000000"/>
                </a:solidFill>
                <a:latin typeface="Tahoma"/>
                <a:ea typeface="Tahoma"/>
                <a:cs typeface="Tahoma"/>
                <a:sym typeface="Tahoma"/>
              </a:rPr>
              <a:t>mmunity may be partial, affecting both </a:t>
            </a:r>
            <a:r>
              <a:rPr lang="en-US" sz="2000">
                <a:latin typeface="Tahoma"/>
                <a:ea typeface="Tahoma"/>
                <a:cs typeface="Tahoma"/>
                <a:sym typeface="Tahoma"/>
              </a:rPr>
              <a:t>susceptibility</a:t>
            </a:r>
            <a:r>
              <a:rPr b="0" i="0" lang="en-US" sz="2000" u="none" cap="none" strike="noStrike">
                <a:solidFill>
                  <a:srgbClr val="000000"/>
                </a:solidFill>
                <a:latin typeface="Tahoma"/>
                <a:ea typeface="Tahoma"/>
                <a:cs typeface="Tahoma"/>
                <a:sym typeface="Tahoma"/>
              </a:rPr>
              <a:t> and infectiousness. Comparative household studies ideal for assessing this due to the presence of vaccine </a:t>
            </a:r>
            <a:r>
              <a:rPr lang="en-US" sz="2000">
                <a:latin typeface="Tahoma"/>
                <a:ea typeface="Tahoma"/>
                <a:cs typeface="Tahoma"/>
                <a:sym typeface="Tahoma"/>
              </a:rPr>
              <a:t>and</a:t>
            </a:r>
            <a:r>
              <a:rPr b="0" i="0" lang="en-US" sz="2000" u="none" cap="none" strike="noStrike">
                <a:solidFill>
                  <a:srgbClr val="000000"/>
                </a:solidFill>
                <a:latin typeface="Tahoma"/>
                <a:ea typeface="Tahoma"/>
                <a:cs typeface="Tahoma"/>
                <a:sym typeface="Tahoma"/>
              </a:rPr>
              <a:t> control pairs.   </a:t>
            </a:r>
            <a:endParaRPr/>
          </a:p>
        </p:txBody>
      </p:sp>
      <p:sp>
        <p:nvSpPr>
          <p:cNvPr id="92" name="Google Shape;92;p18"/>
          <p:cNvSpPr/>
          <p:nvPr/>
        </p:nvSpPr>
        <p:spPr>
          <a:xfrm>
            <a:off x="5805487" y="2578100"/>
            <a:ext cx="1816101" cy="4064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433FF"/>
              </a:buClr>
              <a:buFont typeface="Tahoma"/>
              <a:buNone/>
            </a:pPr>
            <a:r>
              <a:rPr b="0" i="0" lang="en-US" sz="2000" u="none" cap="none" strike="noStrike">
                <a:solidFill>
                  <a:srgbClr val="0433FF"/>
                </a:solidFill>
                <a:latin typeface="Tahoma"/>
                <a:ea typeface="Tahoma"/>
                <a:cs typeface="Tahoma"/>
                <a:sym typeface="Tahoma"/>
              </a:rPr>
              <a:t>Secondary</a:t>
            </a:r>
            <a:endParaRPr/>
          </a:p>
        </p:txBody>
      </p:sp>
      <p:sp>
        <p:nvSpPr>
          <p:cNvPr id="93" name="Google Shape;93;p18"/>
          <p:cNvSpPr/>
          <p:nvPr/>
        </p:nvSpPr>
        <p:spPr>
          <a:xfrm>
            <a:off x="1955800" y="2571750"/>
            <a:ext cx="1816100" cy="4064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433FF"/>
              </a:buClr>
              <a:buFont typeface="Tahoma"/>
              <a:buNone/>
            </a:pPr>
            <a:r>
              <a:rPr b="0" i="0" lang="en-US" sz="2000" u="none" cap="none" strike="noStrike">
                <a:solidFill>
                  <a:srgbClr val="0433FF"/>
                </a:solidFill>
                <a:latin typeface="Tahoma"/>
                <a:ea typeface="Tahoma"/>
                <a:cs typeface="Tahoma"/>
                <a:sym typeface="Tahoma"/>
              </a:rPr>
              <a:t>Index</a:t>
            </a:r>
            <a:endParaRPr/>
          </a:p>
        </p:txBody>
      </p:sp>
      <p:grpSp>
        <p:nvGrpSpPr>
          <p:cNvPr id="94" name="Google Shape;94;p18"/>
          <p:cNvGrpSpPr/>
          <p:nvPr/>
        </p:nvGrpSpPr>
        <p:grpSpPr>
          <a:xfrm>
            <a:off x="1644650" y="3143250"/>
            <a:ext cx="1649414" cy="885825"/>
            <a:chOff x="0" y="0"/>
            <a:chExt cx="1649413" cy="885825"/>
          </a:xfrm>
        </p:grpSpPr>
        <p:sp>
          <p:nvSpPr>
            <p:cNvPr id="95" name="Google Shape;95;p18"/>
            <p:cNvSpPr/>
            <p:nvPr/>
          </p:nvSpPr>
          <p:spPr>
            <a:xfrm>
              <a:off x="0" y="0"/>
              <a:ext cx="1649413" cy="885825"/>
            </a:xfrm>
            <a:prstGeom prst="ellipse">
              <a:avLst/>
            </a:prstGeom>
            <a:no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6" name="Google Shape;96;p18"/>
            <p:cNvSpPr/>
            <p:nvPr/>
          </p:nvSpPr>
          <p:spPr>
            <a:xfrm>
              <a:off x="118268" y="227012"/>
              <a:ext cx="1371601" cy="406401"/>
            </a:xfrm>
            <a:prstGeom prst="rect">
              <a:avLst/>
            </a:prstGeom>
            <a:noFill/>
            <a:ln>
              <a:noFill/>
            </a:ln>
          </p:spPr>
          <p:txBody>
            <a:bodyPr anchorCtr="0" anchor="ctr" bIns="50800" lIns="50800" spcFirstLastPara="1" rIns="50800" wrap="square" tIns="50800">
              <a:noAutofit/>
            </a:bodyPr>
            <a:lstStyle/>
            <a:p>
              <a:pPr indent="-2539" lvl="0" marL="40639" marR="40639" rtl="0" algn="ctr">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control</a:t>
              </a:r>
              <a:endParaRPr/>
            </a:p>
          </p:txBody>
        </p:sp>
      </p:grpSp>
      <p:grpSp>
        <p:nvGrpSpPr>
          <p:cNvPr id="97" name="Google Shape;97;p18"/>
          <p:cNvGrpSpPr/>
          <p:nvPr/>
        </p:nvGrpSpPr>
        <p:grpSpPr>
          <a:xfrm>
            <a:off x="1644650" y="4660900"/>
            <a:ext cx="1649414" cy="885825"/>
            <a:chOff x="0" y="0"/>
            <a:chExt cx="1649413" cy="885825"/>
          </a:xfrm>
        </p:grpSpPr>
        <p:sp>
          <p:nvSpPr>
            <p:cNvPr id="98" name="Google Shape;98;p18"/>
            <p:cNvSpPr/>
            <p:nvPr/>
          </p:nvSpPr>
          <p:spPr>
            <a:xfrm>
              <a:off x="0" y="0"/>
              <a:ext cx="1649413" cy="885825"/>
            </a:xfrm>
            <a:prstGeom prst="ellipse">
              <a:avLst/>
            </a:prstGeom>
            <a:no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9" name="Google Shape;99;p18"/>
            <p:cNvSpPr/>
            <p:nvPr/>
          </p:nvSpPr>
          <p:spPr>
            <a:xfrm>
              <a:off x="118268" y="227012"/>
              <a:ext cx="1371601" cy="406401"/>
            </a:xfrm>
            <a:prstGeom prst="rect">
              <a:avLst/>
            </a:prstGeom>
            <a:noFill/>
            <a:ln>
              <a:noFill/>
            </a:ln>
          </p:spPr>
          <p:txBody>
            <a:bodyPr anchorCtr="0" anchor="ctr" bIns="50800" lIns="50800" spcFirstLastPara="1" rIns="50800" wrap="square" tIns="50800">
              <a:noAutofit/>
            </a:bodyPr>
            <a:lstStyle/>
            <a:p>
              <a:pPr indent="-2539" lvl="0" marL="40639" marR="40639" rtl="0" algn="ctr">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vaccinee</a:t>
              </a:r>
              <a:endParaRPr/>
            </a:p>
          </p:txBody>
        </p:sp>
      </p:grpSp>
      <p:grpSp>
        <p:nvGrpSpPr>
          <p:cNvPr id="100" name="Google Shape;100;p18"/>
          <p:cNvGrpSpPr/>
          <p:nvPr/>
        </p:nvGrpSpPr>
        <p:grpSpPr>
          <a:xfrm>
            <a:off x="5764212" y="3143250"/>
            <a:ext cx="1649414" cy="885825"/>
            <a:chOff x="0" y="0"/>
            <a:chExt cx="1649413" cy="885825"/>
          </a:xfrm>
        </p:grpSpPr>
        <p:sp>
          <p:nvSpPr>
            <p:cNvPr id="101" name="Google Shape;101;p18"/>
            <p:cNvSpPr/>
            <p:nvPr/>
          </p:nvSpPr>
          <p:spPr>
            <a:xfrm>
              <a:off x="0" y="0"/>
              <a:ext cx="1649413" cy="885825"/>
            </a:xfrm>
            <a:prstGeom prst="ellipse">
              <a:avLst/>
            </a:prstGeom>
            <a:no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02" name="Google Shape;102;p18"/>
            <p:cNvSpPr/>
            <p:nvPr/>
          </p:nvSpPr>
          <p:spPr>
            <a:xfrm>
              <a:off x="118268" y="227012"/>
              <a:ext cx="1371601" cy="406401"/>
            </a:xfrm>
            <a:prstGeom prst="rect">
              <a:avLst/>
            </a:prstGeom>
            <a:noFill/>
            <a:ln>
              <a:noFill/>
            </a:ln>
          </p:spPr>
          <p:txBody>
            <a:bodyPr anchorCtr="0" anchor="ctr" bIns="50800" lIns="50800" spcFirstLastPara="1" rIns="50800" wrap="square" tIns="50800">
              <a:noAutofit/>
            </a:bodyPr>
            <a:lstStyle/>
            <a:p>
              <a:pPr indent="-2539" lvl="0" marL="40639" marR="40639" rtl="0" algn="ctr">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control</a:t>
              </a:r>
              <a:endParaRPr/>
            </a:p>
          </p:txBody>
        </p:sp>
      </p:grpSp>
      <p:grpSp>
        <p:nvGrpSpPr>
          <p:cNvPr id="103" name="Google Shape;103;p18"/>
          <p:cNvGrpSpPr/>
          <p:nvPr/>
        </p:nvGrpSpPr>
        <p:grpSpPr>
          <a:xfrm>
            <a:off x="5764212" y="4660900"/>
            <a:ext cx="1649414" cy="885825"/>
            <a:chOff x="0" y="0"/>
            <a:chExt cx="1649413" cy="885825"/>
          </a:xfrm>
        </p:grpSpPr>
        <p:sp>
          <p:nvSpPr>
            <p:cNvPr id="104" name="Google Shape;104;p18"/>
            <p:cNvSpPr/>
            <p:nvPr/>
          </p:nvSpPr>
          <p:spPr>
            <a:xfrm>
              <a:off x="0" y="0"/>
              <a:ext cx="1649413" cy="885825"/>
            </a:xfrm>
            <a:prstGeom prst="ellipse">
              <a:avLst/>
            </a:prstGeom>
            <a:no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05" name="Google Shape;105;p18"/>
            <p:cNvSpPr/>
            <p:nvPr/>
          </p:nvSpPr>
          <p:spPr>
            <a:xfrm>
              <a:off x="118268" y="227012"/>
              <a:ext cx="1371601" cy="406401"/>
            </a:xfrm>
            <a:prstGeom prst="rect">
              <a:avLst/>
            </a:prstGeom>
            <a:noFill/>
            <a:ln>
              <a:noFill/>
            </a:ln>
          </p:spPr>
          <p:txBody>
            <a:bodyPr anchorCtr="0" anchor="ctr" bIns="50800" lIns="50800" spcFirstLastPara="1" rIns="50800" wrap="square" tIns="50800">
              <a:noAutofit/>
            </a:bodyPr>
            <a:lstStyle/>
            <a:p>
              <a:pPr indent="-2539" lvl="0" marL="40639" marR="40639" rtl="0" algn="ctr">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vaccinee</a:t>
              </a:r>
              <a:endParaRPr/>
            </a:p>
          </p:txBody>
        </p:sp>
      </p:grpSp>
      <p:cxnSp>
        <p:nvCxnSpPr>
          <p:cNvPr id="106" name="Google Shape;106;p18"/>
          <p:cNvCxnSpPr/>
          <p:nvPr/>
        </p:nvCxnSpPr>
        <p:spPr>
          <a:xfrm>
            <a:off x="3302000" y="5106987"/>
            <a:ext cx="2452688" cy="1588"/>
          </a:xfrm>
          <a:prstGeom prst="straightConnector1">
            <a:avLst/>
          </a:prstGeom>
          <a:noFill/>
          <a:ln cap="flat" cmpd="sng" w="9525">
            <a:solidFill>
              <a:srgbClr val="000000"/>
            </a:solidFill>
            <a:prstDash val="solid"/>
            <a:round/>
            <a:headEnd len="sm" w="sm" type="none"/>
            <a:tailEnd len="med" w="med" type="triangle"/>
          </a:ln>
        </p:spPr>
      </p:cxnSp>
      <p:cxnSp>
        <p:nvCxnSpPr>
          <p:cNvPr id="107" name="Google Shape;107;p18"/>
          <p:cNvCxnSpPr/>
          <p:nvPr/>
        </p:nvCxnSpPr>
        <p:spPr>
          <a:xfrm>
            <a:off x="3316287" y="3582987"/>
            <a:ext cx="2452688" cy="1588"/>
          </a:xfrm>
          <a:prstGeom prst="straightConnector1">
            <a:avLst/>
          </a:prstGeom>
          <a:noFill/>
          <a:ln cap="flat" cmpd="sng" w="9525">
            <a:solidFill>
              <a:srgbClr val="000000"/>
            </a:solidFill>
            <a:prstDash val="solid"/>
            <a:round/>
            <a:headEnd len="sm" w="sm" type="none"/>
            <a:tailEnd len="med" w="med" type="triangle"/>
          </a:ln>
        </p:spPr>
      </p:cxnSp>
      <p:cxnSp>
        <p:nvCxnSpPr>
          <p:cNvPr id="108" name="Google Shape;108;p18"/>
          <p:cNvCxnSpPr/>
          <p:nvPr/>
        </p:nvCxnSpPr>
        <p:spPr>
          <a:xfrm flipH="1" rot="10800000">
            <a:off x="3302000" y="3681412"/>
            <a:ext cx="2430463" cy="1344613"/>
          </a:xfrm>
          <a:prstGeom prst="straightConnector1">
            <a:avLst/>
          </a:prstGeom>
          <a:noFill/>
          <a:ln cap="flat" cmpd="sng" w="9525">
            <a:solidFill>
              <a:srgbClr val="000000"/>
            </a:solidFill>
            <a:prstDash val="solid"/>
            <a:round/>
            <a:headEnd len="sm" w="sm" type="none"/>
            <a:tailEnd len="med" w="med" type="triangle"/>
          </a:ln>
        </p:spPr>
      </p:cxnSp>
      <p:cxnSp>
        <p:nvCxnSpPr>
          <p:cNvPr id="109" name="Google Shape;109;p18"/>
          <p:cNvCxnSpPr/>
          <p:nvPr/>
        </p:nvCxnSpPr>
        <p:spPr>
          <a:xfrm>
            <a:off x="3249612" y="3689350"/>
            <a:ext cx="2430463" cy="1344613"/>
          </a:xfrm>
          <a:prstGeom prst="straightConnector1">
            <a:avLst/>
          </a:prstGeom>
          <a:noFill/>
          <a:ln cap="flat" cmpd="sng" w="9525">
            <a:solidFill>
              <a:srgbClr val="000000"/>
            </a:solidFill>
            <a:prstDash val="solid"/>
            <a:round/>
            <a:headEnd len="sm" w="sm" type="none"/>
            <a:tailEnd len="med" w="med" type="triangle"/>
          </a:ln>
        </p:spPr>
      </p:cxnSp>
      <p:pic>
        <p:nvPicPr>
          <p:cNvPr id="110" name="Google Shape;110;p18"/>
          <p:cNvPicPr preferRelativeResize="0"/>
          <p:nvPr/>
        </p:nvPicPr>
        <p:blipFill rotWithShape="1">
          <a:blip r:embed="rId3">
            <a:alphaModFix/>
          </a:blip>
          <a:srcRect b="0" l="0" r="0" t="0"/>
          <a:stretch/>
        </p:blipFill>
        <p:spPr>
          <a:xfrm>
            <a:off x="4302125" y="3003550"/>
            <a:ext cx="469901" cy="565151"/>
          </a:xfrm>
          <a:prstGeom prst="rect">
            <a:avLst/>
          </a:prstGeom>
          <a:noFill/>
          <a:ln>
            <a:noFill/>
          </a:ln>
        </p:spPr>
      </p:pic>
      <p:pic>
        <p:nvPicPr>
          <p:cNvPr id="111" name="Google Shape;111;p18"/>
          <p:cNvPicPr preferRelativeResize="0"/>
          <p:nvPr/>
        </p:nvPicPr>
        <p:blipFill rotWithShape="1">
          <a:blip r:embed="rId4">
            <a:alphaModFix/>
          </a:blip>
          <a:srcRect b="0" l="0" r="0" t="0"/>
          <a:stretch/>
        </p:blipFill>
        <p:spPr>
          <a:xfrm>
            <a:off x="5105400" y="4252912"/>
            <a:ext cx="1463700" cy="489000"/>
          </a:xfrm>
          <a:prstGeom prst="rect">
            <a:avLst/>
          </a:prstGeom>
          <a:noFill/>
          <a:ln>
            <a:noFill/>
          </a:ln>
        </p:spPr>
      </p:pic>
      <p:pic>
        <p:nvPicPr>
          <p:cNvPr id="112" name="Google Shape;112;p18"/>
          <p:cNvPicPr preferRelativeResize="0"/>
          <p:nvPr/>
        </p:nvPicPr>
        <p:blipFill rotWithShape="1">
          <a:blip r:embed="rId5">
            <a:alphaModFix/>
          </a:blip>
          <a:srcRect b="0" l="0" r="0" t="0"/>
          <a:stretch/>
        </p:blipFill>
        <p:spPr>
          <a:xfrm>
            <a:off x="2592387" y="4262437"/>
            <a:ext cx="1438200" cy="489000"/>
          </a:xfrm>
          <a:prstGeom prst="rect">
            <a:avLst/>
          </a:prstGeom>
          <a:noFill/>
          <a:ln>
            <a:noFill/>
          </a:ln>
        </p:spPr>
      </p:pic>
      <p:pic>
        <p:nvPicPr>
          <p:cNvPr id="113" name="Google Shape;113;p18"/>
          <p:cNvPicPr preferRelativeResize="0"/>
          <p:nvPr/>
        </p:nvPicPr>
        <p:blipFill rotWithShape="1">
          <a:blip r:embed="rId6">
            <a:alphaModFix/>
          </a:blip>
          <a:srcRect b="0" l="0" r="0" t="0"/>
          <a:stretch/>
        </p:blipFill>
        <p:spPr>
          <a:xfrm>
            <a:off x="3228975" y="5094287"/>
            <a:ext cx="2511425" cy="488951"/>
          </a:xfrm>
          <a:prstGeom prst="rect">
            <a:avLst/>
          </a:prstGeom>
          <a:noFill/>
          <a:ln>
            <a:noFill/>
          </a:ln>
        </p:spPr>
      </p:pic>
      <p:sp>
        <p:nvSpPr>
          <p:cNvPr id="114" name="Google Shape;114;p18"/>
          <p:cNvSpPr txBox="1"/>
          <p:nvPr/>
        </p:nvSpPr>
        <p:spPr>
          <a:xfrm>
            <a:off x="756200" y="5814950"/>
            <a:ext cx="7953300" cy="80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Tahoma"/>
                <a:ea typeface="Tahoma"/>
                <a:cs typeface="Tahoma"/>
                <a:sym typeface="Tahoma"/>
              </a:rPr>
              <a:t>(</a:t>
            </a:r>
            <a:r>
              <a:rPr lang="en-US" sz="1600">
                <a:solidFill>
                  <a:schemeClr val="dk1"/>
                </a:solidFill>
                <a:latin typeface="Tahoma"/>
                <a:ea typeface="Tahoma"/>
                <a:cs typeface="Tahoma"/>
                <a:sym typeface="Tahoma"/>
              </a:rPr>
              <a:t>Halloran et al, JASA 2003, “Estimating vaccine efficacy from secondary attack rates”)</a:t>
            </a:r>
            <a:br>
              <a:rPr lang="en-US"/>
            </a:br>
            <a:r>
              <a:rPr lang="en-US" u="sng">
                <a:solidFill>
                  <a:schemeClr val="hlink"/>
                </a:solidFill>
                <a:hlinkClick r:id="rId7"/>
              </a:rPr>
              <a:t>https://www.jstor.org/stable/30045192</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8" name="Shape 118"/>
        <p:cNvGrpSpPr/>
        <p:nvPr/>
      </p:nvGrpSpPr>
      <p:grpSpPr>
        <a:xfrm>
          <a:off x="0" y="0"/>
          <a:ext cx="0" cy="0"/>
          <a:chOff x="0" y="0"/>
          <a:chExt cx="0" cy="0"/>
        </a:xfrm>
      </p:grpSpPr>
      <p:sp>
        <p:nvSpPr>
          <p:cNvPr id="119" name="Google Shape;119;p19"/>
          <p:cNvSpPr/>
          <p:nvPr/>
        </p:nvSpPr>
        <p:spPr>
          <a:xfrm>
            <a:off x="0" y="333375"/>
            <a:ext cx="9156700" cy="533400"/>
          </a:xfrm>
          <a:prstGeom prst="rect">
            <a:avLst/>
          </a:prstGeom>
          <a:noFill/>
          <a:ln>
            <a:noFill/>
          </a:ln>
        </p:spPr>
        <p:txBody>
          <a:bodyPr anchorCtr="0" anchor="t" bIns="50800" lIns="50800" spcFirstLastPara="1" rIns="50800" wrap="square" tIns="50800">
            <a:noAutofit/>
          </a:bodyPr>
          <a:lstStyle/>
          <a:p>
            <a:pPr indent="-2539" lvl="0" marL="40639" marR="40639" rtl="0" algn="ctr">
              <a:lnSpc>
                <a:spcPct val="100000"/>
              </a:lnSpc>
              <a:spcBef>
                <a:spcPts val="0"/>
              </a:spcBef>
              <a:spcAft>
                <a:spcPts val="0"/>
              </a:spcAft>
              <a:buClr>
                <a:srgbClr val="0433FF"/>
              </a:buClr>
              <a:buFont typeface="Tahoma"/>
              <a:buNone/>
            </a:pPr>
            <a:r>
              <a:rPr b="1" i="0" lang="en-US" sz="2800" u="none" cap="none" strike="noStrike">
                <a:solidFill>
                  <a:srgbClr val="0433FF"/>
                </a:solidFill>
                <a:latin typeface="Tahoma"/>
                <a:ea typeface="Tahoma"/>
                <a:cs typeface="Tahoma"/>
                <a:sym typeface="Tahoma"/>
              </a:rPr>
              <a:t>Example: pertussis vaccine (Halloran et al</a:t>
            </a:r>
            <a:r>
              <a:rPr b="1" lang="en-US" sz="2800">
                <a:solidFill>
                  <a:srgbClr val="0433FF"/>
                </a:solidFill>
                <a:latin typeface="Tahoma"/>
                <a:ea typeface="Tahoma"/>
                <a:cs typeface="Tahoma"/>
                <a:sym typeface="Tahoma"/>
              </a:rPr>
              <a:t>.)</a:t>
            </a:r>
            <a:endParaRPr/>
          </a:p>
        </p:txBody>
      </p:sp>
      <p:pic>
        <p:nvPicPr>
          <p:cNvPr id="120" name="Google Shape;120;p19"/>
          <p:cNvPicPr preferRelativeResize="0"/>
          <p:nvPr/>
        </p:nvPicPr>
        <p:blipFill rotWithShape="1">
          <a:blip r:embed="rId3">
            <a:alphaModFix/>
          </a:blip>
          <a:srcRect b="0" l="0" r="0" t="0"/>
          <a:stretch/>
        </p:blipFill>
        <p:spPr>
          <a:xfrm>
            <a:off x="1920875" y="1047750"/>
            <a:ext cx="5445125" cy="3263901"/>
          </a:xfrm>
          <a:prstGeom prst="rect">
            <a:avLst/>
          </a:prstGeom>
          <a:noFill/>
          <a:ln>
            <a:noFill/>
          </a:ln>
        </p:spPr>
      </p:pic>
      <p:pic>
        <p:nvPicPr>
          <p:cNvPr id="121" name="Google Shape;121;p19"/>
          <p:cNvPicPr preferRelativeResize="0"/>
          <p:nvPr/>
        </p:nvPicPr>
        <p:blipFill rotWithShape="1">
          <a:blip r:embed="rId4">
            <a:alphaModFix/>
          </a:blip>
          <a:srcRect b="0" l="0" r="0" t="0"/>
          <a:stretch/>
        </p:blipFill>
        <p:spPr>
          <a:xfrm>
            <a:off x="1825612" y="4187237"/>
            <a:ext cx="5540400" cy="2111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5" name="Shape 125"/>
        <p:cNvGrpSpPr/>
        <p:nvPr/>
      </p:nvGrpSpPr>
      <p:grpSpPr>
        <a:xfrm>
          <a:off x="0" y="0"/>
          <a:ext cx="0" cy="0"/>
          <a:chOff x="0" y="0"/>
          <a:chExt cx="0" cy="0"/>
        </a:xfrm>
      </p:grpSpPr>
      <p:sp>
        <p:nvSpPr>
          <p:cNvPr id="126" name="Google Shape;126;p20"/>
          <p:cNvSpPr/>
          <p:nvPr/>
        </p:nvSpPr>
        <p:spPr>
          <a:xfrm>
            <a:off x="0" y="333375"/>
            <a:ext cx="9156700" cy="533400"/>
          </a:xfrm>
          <a:prstGeom prst="rect">
            <a:avLst/>
          </a:prstGeom>
          <a:noFill/>
          <a:ln>
            <a:noFill/>
          </a:ln>
        </p:spPr>
        <p:txBody>
          <a:bodyPr anchorCtr="0" anchor="t" bIns="50800" lIns="50800" spcFirstLastPara="1" rIns="50800" wrap="square" tIns="50800">
            <a:noAutofit/>
          </a:bodyPr>
          <a:lstStyle/>
          <a:p>
            <a:pPr indent="-2539" lvl="0" marL="40639" marR="40639" rtl="0" algn="ctr">
              <a:lnSpc>
                <a:spcPct val="100000"/>
              </a:lnSpc>
              <a:spcBef>
                <a:spcPts val="0"/>
              </a:spcBef>
              <a:spcAft>
                <a:spcPts val="0"/>
              </a:spcAft>
              <a:buClr>
                <a:srgbClr val="0433FF"/>
              </a:buClr>
              <a:buFont typeface="Tahoma"/>
              <a:buNone/>
            </a:pPr>
            <a:r>
              <a:t/>
            </a:r>
            <a:endParaRPr/>
          </a:p>
        </p:txBody>
      </p:sp>
      <p:sp>
        <p:nvSpPr>
          <p:cNvPr id="127" name="Google Shape;127;p20"/>
          <p:cNvSpPr/>
          <p:nvPr/>
        </p:nvSpPr>
        <p:spPr>
          <a:xfrm>
            <a:off x="611187" y="1196975"/>
            <a:ext cx="8001001" cy="5130800"/>
          </a:xfrm>
          <a:prstGeom prst="rect">
            <a:avLst/>
          </a:prstGeom>
          <a:noFill/>
          <a:ln>
            <a:noFill/>
          </a:ln>
        </p:spPr>
        <p:txBody>
          <a:bodyPr anchorCtr="0" anchor="t" bIns="50800" lIns="50800" spcFirstLastPara="1" rIns="50800" wrap="square" tIns="50800">
            <a:noAutofit/>
          </a:bodyPr>
          <a:lstStyle/>
          <a:p>
            <a:pPr indent="-345440" lvl="0" marL="383540" marR="40639" rtl="0" algn="l">
              <a:lnSpc>
                <a:spcPct val="100000"/>
              </a:lnSpc>
              <a:spcBef>
                <a:spcPts val="0"/>
              </a:spcBef>
              <a:spcAft>
                <a:spcPts val="0"/>
              </a:spcAft>
              <a:buClr>
                <a:srgbClr val="000000"/>
              </a:buClr>
              <a:buSzPts val="2000"/>
              <a:buFont typeface="Tahoma"/>
              <a:buChar char="•"/>
            </a:pPr>
            <a:r>
              <a:rPr b="0" i="0" lang="en-US" sz="2000" u="none" cap="none" strike="noStrike">
                <a:solidFill>
                  <a:srgbClr val="000000"/>
                </a:solidFill>
                <a:latin typeface="Tahoma"/>
                <a:ea typeface="Tahoma"/>
                <a:cs typeface="Tahoma"/>
                <a:sym typeface="Tahoma"/>
              </a:rPr>
              <a:t>Household</a:t>
            </a:r>
            <a:r>
              <a:rPr lang="en-US" sz="2000">
                <a:latin typeface="Tahoma"/>
                <a:ea typeface="Tahoma"/>
                <a:cs typeface="Tahoma"/>
                <a:sym typeface="Tahoma"/>
              </a:rPr>
              <a:t>:</a:t>
            </a:r>
            <a:r>
              <a:rPr b="0" i="0" lang="en-US" sz="2000" u="none" cap="none" strike="noStrike">
                <a:solidFill>
                  <a:srgbClr val="000000"/>
                </a:solidFill>
                <a:latin typeface="Tahoma"/>
                <a:ea typeface="Tahoma"/>
                <a:cs typeface="Tahoma"/>
                <a:sym typeface="Tahoma"/>
              </a:rPr>
              <a:t> unit of heterogeneity for directly transmitted infections (not sexual), core units of contact network.</a:t>
            </a:r>
            <a:endParaRPr/>
          </a:p>
          <a:p>
            <a:pPr indent="0" lvl="0" marL="0" marR="40638" rtl="0" algn="l">
              <a:lnSpc>
                <a:spcPct val="100000"/>
              </a:lnSpc>
              <a:spcBef>
                <a:spcPts val="1200"/>
              </a:spcBef>
              <a:spcAft>
                <a:spcPts val="0"/>
              </a:spcAft>
              <a:buNone/>
            </a:pPr>
            <a:r>
              <a:t/>
            </a:r>
            <a:endParaRPr sz="2000">
              <a:latin typeface="Tahoma"/>
              <a:ea typeface="Tahoma"/>
              <a:cs typeface="Tahoma"/>
              <a:sym typeface="Tahoma"/>
            </a:endParaRPr>
          </a:p>
          <a:p>
            <a:pPr indent="0" lvl="0" marL="0" marR="40638" rtl="0" algn="l">
              <a:lnSpc>
                <a:spcPct val="100000"/>
              </a:lnSpc>
              <a:spcBef>
                <a:spcPts val="1200"/>
              </a:spcBef>
              <a:spcAft>
                <a:spcPts val="0"/>
              </a:spcAft>
              <a:buNone/>
            </a:pPr>
            <a:r>
              <a:rPr lang="en-US" sz="2000">
                <a:latin typeface="Tahoma"/>
                <a:ea typeface="Tahoma"/>
                <a:cs typeface="Tahoma"/>
                <a:sym typeface="Tahoma"/>
              </a:rPr>
              <a:t>Standard SIS model - homogeneous mixing</a:t>
            </a:r>
            <a:endParaRPr sz="2000">
              <a:latin typeface="Tahoma"/>
              <a:ea typeface="Tahoma"/>
              <a:cs typeface="Tahoma"/>
              <a:sym typeface="Tahoma"/>
            </a:endParaRPr>
          </a:p>
          <a:p>
            <a:pPr indent="0" lvl="0" marL="0" marR="40638" rtl="0" algn="l">
              <a:lnSpc>
                <a:spcPct val="100000"/>
              </a:lnSpc>
              <a:spcBef>
                <a:spcPts val="1200"/>
              </a:spcBef>
              <a:spcAft>
                <a:spcPts val="0"/>
              </a:spcAft>
              <a:buNone/>
            </a:pPr>
            <a:r>
              <a:rPr lang="en-US" sz="2000">
                <a:latin typeface="Tahoma"/>
                <a:ea typeface="Tahoma"/>
                <a:cs typeface="Tahoma"/>
                <a:sym typeface="Tahoma"/>
              </a:rPr>
              <a:t>Introduce households then 2 types of mixing:</a:t>
            </a:r>
            <a:endParaRPr sz="2000">
              <a:latin typeface="Tahoma"/>
              <a:ea typeface="Tahoma"/>
              <a:cs typeface="Tahoma"/>
              <a:sym typeface="Tahoma"/>
            </a:endParaRPr>
          </a:p>
          <a:p>
            <a:pPr indent="-355600" lvl="0" marL="457200" marR="40638" rtl="0" algn="l">
              <a:lnSpc>
                <a:spcPct val="100000"/>
              </a:lnSpc>
              <a:spcBef>
                <a:spcPts val="1200"/>
              </a:spcBef>
              <a:spcAft>
                <a:spcPts val="0"/>
              </a:spcAft>
              <a:buSzPts val="2000"/>
              <a:buFont typeface="Tahoma"/>
              <a:buChar char="-"/>
            </a:pPr>
            <a:r>
              <a:rPr lang="en-US" sz="2000">
                <a:latin typeface="Tahoma"/>
                <a:ea typeface="Tahoma"/>
                <a:cs typeface="Tahoma"/>
                <a:sym typeface="Tahoma"/>
              </a:rPr>
              <a:t>Outside the household</a:t>
            </a:r>
            <a:endParaRPr sz="2000">
              <a:latin typeface="Tahoma"/>
              <a:ea typeface="Tahoma"/>
              <a:cs typeface="Tahoma"/>
              <a:sym typeface="Tahoma"/>
            </a:endParaRPr>
          </a:p>
          <a:p>
            <a:pPr indent="-355600" lvl="0" marL="457200" marR="40639" rtl="0" algn="l">
              <a:lnSpc>
                <a:spcPct val="100000"/>
              </a:lnSpc>
              <a:spcBef>
                <a:spcPts val="0"/>
              </a:spcBef>
              <a:spcAft>
                <a:spcPts val="0"/>
              </a:spcAft>
              <a:buSzPts val="2000"/>
              <a:buFont typeface="Tahoma"/>
              <a:buChar char="-"/>
            </a:pPr>
            <a:r>
              <a:rPr lang="en-US" sz="2000">
                <a:latin typeface="Tahoma"/>
                <a:ea typeface="Tahoma"/>
                <a:cs typeface="Tahoma"/>
                <a:sym typeface="Tahoma"/>
              </a:rPr>
              <a:t>Within the household</a:t>
            </a:r>
            <a:endParaRPr sz="2000">
              <a:latin typeface="Tahoma"/>
              <a:ea typeface="Tahoma"/>
              <a:cs typeface="Tahoma"/>
              <a:sym typeface="Tahoma"/>
            </a:endParaRPr>
          </a:p>
        </p:txBody>
      </p:sp>
      <p:sp>
        <p:nvSpPr>
          <p:cNvPr id="128" name="Google Shape;128;p20"/>
          <p:cNvSpPr/>
          <p:nvPr/>
        </p:nvSpPr>
        <p:spPr>
          <a:xfrm>
            <a:off x="0" y="333375"/>
            <a:ext cx="9156600" cy="5334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433FF"/>
              </a:buClr>
              <a:buFont typeface="Tahoma"/>
              <a:buNone/>
            </a:pPr>
            <a:r>
              <a:rPr b="1" lang="en-US" sz="2800">
                <a:solidFill>
                  <a:srgbClr val="0433FF"/>
                </a:solidFill>
                <a:latin typeface="Tahoma"/>
                <a:ea typeface="Tahoma"/>
                <a:cs typeface="Tahoma"/>
                <a:sym typeface="Tahoma"/>
              </a:rPr>
              <a:t>A simple household model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2" name="Shape 132"/>
        <p:cNvGrpSpPr/>
        <p:nvPr/>
      </p:nvGrpSpPr>
      <p:grpSpPr>
        <a:xfrm>
          <a:off x="0" y="0"/>
          <a:ext cx="0" cy="0"/>
          <a:chOff x="0" y="0"/>
          <a:chExt cx="0" cy="0"/>
        </a:xfrm>
      </p:grpSpPr>
      <p:sp>
        <p:nvSpPr>
          <p:cNvPr id="133" name="Google Shape;133;p21"/>
          <p:cNvSpPr/>
          <p:nvPr/>
        </p:nvSpPr>
        <p:spPr>
          <a:xfrm>
            <a:off x="0" y="333375"/>
            <a:ext cx="9156700" cy="533400"/>
          </a:xfrm>
          <a:prstGeom prst="rect">
            <a:avLst/>
          </a:prstGeom>
          <a:noFill/>
          <a:ln>
            <a:noFill/>
          </a:ln>
        </p:spPr>
        <p:txBody>
          <a:bodyPr anchorCtr="0" anchor="t" bIns="50800" lIns="50800" spcFirstLastPara="1" rIns="50800" wrap="square" tIns="50800">
            <a:noAutofit/>
          </a:bodyPr>
          <a:lstStyle/>
          <a:p>
            <a:pPr indent="-2539" lvl="0" marL="40639" marR="40639" rtl="0" algn="ctr">
              <a:lnSpc>
                <a:spcPct val="100000"/>
              </a:lnSpc>
              <a:spcBef>
                <a:spcPts val="0"/>
              </a:spcBef>
              <a:spcAft>
                <a:spcPts val="0"/>
              </a:spcAft>
              <a:buClr>
                <a:srgbClr val="0433FF"/>
              </a:buClr>
              <a:buFont typeface="Tahoma"/>
              <a:buNone/>
            </a:pPr>
            <a:r>
              <a:rPr b="1" lang="en-US" sz="2800">
                <a:solidFill>
                  <a:srgbClr val="0433FF"/>
                </a:solidFill>
                <a:latin typeface="Tahoma"/>
                <a:ea typeface="Tahoma"/>
                <a:cs typeface="Tahoma"/>
                <a:sym typeface="Tahoma"/>
              </a:rPr>
              <a:t>A simple household model</a:t>
            </a:r>
            <a:endParaRPr/>
          </a:p>
        </p:txBody>
      </p:sp>
      <p:sp>
        <p:nvSpPr>
          <p:cNvPr id="134" name="Google Shape;134;p21"/>
          <p:cNvSpPr/>
          <p:nvPr/>
        </p:nvSpPr>
        <p:spPr>
          <a:xfrm>
            <a:off x="611187" y="1196975"/>
            <a:ext cx="8001001" cy="1320800"/>
          </a:xfrm>
          <a:prstGeom prst="rect">
            <a:avLst/>
          </a:prstGeom>
          <a:noFill/>
          <a:ln>
            <a:noFill/>
          </a:ln>
        </p:spPr>
        <p:txBody>
          <a:bodyPr anchorCtr="0" anchor="t" bIns="50800" lIns="50800" spcFirstLastPara="1" rIns="50800" wrap="square" tIns="50800">
            <a:noAutofit/>
          </a:bodyPr>
          <a:lstStyle/>
          <a:p>
            <a:pPr indent="-345440" lvl="0" marL="383540" marR="40639" rtl="0" algn="l">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SIS</a:t>
            </a:r>
            <a:r>
              <a:rPr lang="en-US" sz="2000">
                <a:latin typeface="Tahoma"/>
                <a:ea typeface="Tahoma"/>
                <a:cs typeface="Tahoma"/>
                <a:sym typeface="Tahoma"/>
              </a:rPr>
              <a:t> model</a:t>
            </a:r>
            <a:r>
              <a:rPr b="0" i="0" lang="en-US" sz="2000" u="none" cap="none" strike="noStrike">
                <a:solidFill>
                  <a:srgbClr val="000000"/>
                </a:solidFill>
                <a:latin typeface="Tahoma"/>
                <a:ea typeface="Tahoma"/>
                <a:cs typeface="Tahoma"/>
                <a:sym typeface="Tahoma"/>
              </a:rPr>
              <a:t> in </a:t>
            </a:r>
            <a:r>
              <a:rPr lang="en-US" sz="2000">
                <a:latin typeface="Tahoma"/>
                <a:ea typeface="Tahoma"/>
                <a:cs typeface="Tahoma"/>
                <a:sym typeface="Tahoma"/>
              </a:rPr>
              <a:t>2 </a:t>
            </a:r>
            <a:r>
              <a:rPr b="0" i="0" lang="en-US" sz="2000" u="none" cap="none" strike="noStrike">
                <a:solidFill>
                  <a:srgbClr val="000000"/>
                </a:solidFill>
                <a:latin typeface="Tahoma"/>
                <a:ea typeface="Tahoma"/>
                <a:cs typeface="Tahoma"/>
                <a:sym typeface="Tahoma"/>
              </a:rPr>
              <a:t>situations:</a:t>
            </a:r>
            <a:endParaRPr/>
          </a:p>
          <a:p>
            <a:pPr indent="-345440" lvl="0" marL="383540" marR="40639" rtl="0" algn="l">
              <a:lnSpc>
                <a:spcPct val="100000"/>
              </a:lnSpc>
              <a:spcBef>
                <a:spcPts val="1200"/>
              </a:spcBef>
              <a:spcAft>
                <a:spcPts val="0"/>
              </a:spcAft>
              <a:buClr>
                <a:srgbClr val="000000"/>
              </a:buClr>
              <a:buSzPts val="2000"/>
              <a:buFont typeface="Tahoma"/>
              <a:buAutoNum type="arabicPeriod"/>
            </a:pPr>
            <a:r>
              <a:rPr b="0" i="0" lang="en-US" sz="2000" u="none" cap="none" strike="noStrike">
                <a:solidFill>
                  <a:srgbClr val="000000"/>
                </a:solidFill>
                <a:latin typeface="Tahoma"/>
                <a:ea typeface="Tahoma"/>
                <a:cs typeface="Tahoma"/>
                <a:sym typeface="Tahoma"/>
              </a:rPr>
              <a:t>Homogeneously mixing population of size N;</a:t>
            </a:r>
            <a:endParaRPr/>
          </a:p>
          <a:p>
            <a:pPr indent="-345440" lvl="0" marL="383540" marR="40639" rtl="0" algn="l">
              <a:lnSpc>
                <a:spcPct val="100000"/>
              </a:lnSpc>
              <a:spcBef>
                <a:spcPts val="1200"/>
              </a:spcBef>
              <a:spcAft>
                <a:spcPts val="0"/>
              </a:spcAft>
              <a:buClr>
                <a:srgbClr val="000000"/>
              </a:buClr>
              <a:buSzPts val="2000"/>
              <a:buFont typeface="Tahoma"/>
              <a:buAutoNum type="arabicPeriod"/>
            </a:pPr>
            <a:r>
              <a:rPr lang="en-US" sz="2000">
                <a:latin typeface="Tahoma"/>
                <a:ea typeface="Tahoma"/>
                <a:cs typeface="Tahoma"/>
                <a:sym typeface="Tahoma"/>
              </a:rPr>
              <a:t>P</a:t>
            </a:r>
            <a:r>
              <a:rPr b="0" i="0" lang="en-US" sz="2000" u="none" cap="none" strike="noStrike">
                <a:solidFill>
                  <a:srgbClr val="000000"/>
                </a:solidFill>
                <a:latin typeface="Tahoma"/>
                <a:ea typeface="Tahoma"/>
                <a:cs typeface="Tahoma"/>
                <a:sym typeface="Tahoma"/>
              </a:rPr>
              <a:t>opulation of N/</a:t>
            </a:r>
            <a:r>
              <a:rPr lang="en-US" sz="2000">
                <a:latin typeface="Tahoma"/>
                <a:ea typeface="Tahoma"/>
                <a:cs typeface="Tahoma"/>
                <a:sym typeface="Tahoma"/>
              </a:rPr>
              <a:t>2</a:t>
            </a:r>
            <a:r>
              <a:rPr b="0" i="0" lang="en-US" sz="2000" u="none" cap="none" strike="noStrike">
                <a:solidFill>
                  <a:srgbClr val="000000"/>
                </a:solidFill>
                <a:latin typeface="Tahoma"/>
                <a:ea typeface="Tahoma"/>
                <a:cs typeface="Tahoma"/>
                <a:sym typeface="Tahoma"/>
              </a:rPr>
              <a:t> households of size </a:t>
            </a:r>
            <a:r>
              <a:rPr lang="en-US" sz="2000">
                <a:latin typeface="Tahoma"/>
                <a:ea typeface="Tahoma"/>
                <a:cs typeface="Tahoma"/>
                <a:sym typeface="Tahoma"/>
              </a:rPr>
              <a:t>2.</a:t>
            </a:r>
            <a:endParaRPr/>
          </a:p>
        </p:txBody>
      </p:sp>
      <p:grpSp>
        <p:nvGrpSpPr>
          <p:cNvPr id="135" name="Google Shape;135;p21"/>
          <p:cNvGrpSpPr/>
          <p:nvPr/>
        </p:nvGrpSpPr>
        <p:grpSpPr>
          <a:xfrm>
            <a:off x="2268537" y="3500437"/>
            <a:ext cx="1092201" cy="1079501"/>
            <a:chOff x="0" y="0"/>
            <a:chExt cx="1092200" cy="1079500"/>
          </a:xfrm>
        </p:grpSpPr>
        <p:sp>
          <p:nvSpPr>
            <p:cNvPr id="136" name="Google Shape;136;p21"/>
            <p:cNvSpPr/>
            <p:nvPr/>
          </p:nvSpPr>
          <p:spPr>
            <a:xfrm>
              <a:off x="0" y="0"/>
              <a:ext cx="1079500" cy="1079500"/>
            </a:xfrm>
            <a:prstGeom prst="rect">
              <a:avLst/>
            </a:prstGeom>
            <a:noFill/>
            <a:ln cap="flat" cmpd="sng" w="19050">
              <a:solidFill>
                <a:srgbClr val="000000"/>
              </a:solidFill>
              <a:prstDash val="solid"/>
              <a:miter lim="8000"/>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37" name="Google Shape;137;p21"/>
            <p:cNvSpPr/>
            <p:nvPr/>
          </p:nvSpPr>
          <p:spPr>
            <a:xfrm>
              <a:off x="0" y="336550"/>
              <a:ext cx="1092200" cy="406400"/>
            </a:xfrm>
            <a:prstGeom prst="rect">
              <a:avLst/>
            </a:prstGeom>
            <a:noFill/>
            <a:ln>
              <a:noFill/>
            </a:ln>
          </p:spPr>
          <p:txBody>
            <a:bodyPr anchorCtr="0" anchor="ctr" bIns="50800" lIns="50800" spcFirstLastPara="1" rIns="50800" wrap="square" tIns="50800">
              <a:noAutofit/>
            </a:bodyPr>
            <a:lstStyle/>
            <a:p>
              <a:pPr indent="-2539" lvl="0" marL="40639" marR="40639" rtl="0" algn="ctr">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S</a:t>
              </a:r>
              <a:endParaRPr/>
            </a:p>
          </p:txBody>
        </p:sp>
      </p:grpSp>
      <p:grpSp>
        <p:nvGrpSpPr>
          <p:cNvPr id="138" name="Google Shape;138;p21"/>
          <p:cNvGrpSpPr/>
          <p:nvPr/>
        </p:nvGrpSpPr>
        <p:grpSpPr>
          <a:xfrm>
            <a:off x="4787900" y="3500437"/>
            <a:ext cx="1092200" cy="1079501"/>
            <a:chOff x="0" y="0"/>
            <a:chExt cx="1092200" cy="1079500"/>
          </a:xfrm>
        </p:grpSpPr>
        <p:sp>
          <p:nvSpPr>
            <p:cNvPr id="139" name="Google Shape;139;p21"/>
            <p:cNvSpPr/>
            <p:nvPr/>
          </p:nvSpPr>
          <p:spPr>
            <a:xfrm>
              <a:off x="0" y="0"/>
              <a:ext cx="1079500" cy="1079500"/>
            </a:xfrm>
            <a:prstGeom prst="rect">
              <a:avLst/>
            </a:prstGeom>
            <a:noFill/>
            <a:ln cap="flat" cmpd="sng" w="19050">
              <a:solidFill>
                <a:srgbClr val="000000"/>
              </a:solidFill>
              <a:prstDash val="solid"/>
              <a:miter lim="8000"/>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40" name="Google Shape;140;p21"/>
            <p:cNvSpPr/>
            <p:nvPr/>
          </p:nvSpPr>
          <p:spPr>
            <a:xfrm>
              <a:off x="0" y="336550"/>
              <a:ext cx="1092200" cy="406400"/>
            </a:xfrm>
            <a:prstGeom prst="rect">
              <a:avLst/>
            </a:prstGeom>
            <a:noFill/>
            <a:ln>
              <a:noFill/>
            </a:ln>
          </p:spPr>
          <p:txBody>
            <a:bodyPr anchorCtr="0" anchor="ctr" bIns="50800" lIns="50800" spcFirstLastPara="1" rIns="50800" wrap="square" tIns="50800">
              <a:noAutofit/>
            </a:bodyPr>
            <a:lstStyle/>
            <a:p>
              <a:pPr indent="-2539" lvl="0" marL="40639" marR="40639" rtl="0" algn="ctr">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I</a:t>
              </a:r>
              <a:endParaRPr/>
            </a:p>
          </p:txBody>
        </p:sp>
      </p:grpSp>
      <p:cxnSp>
        <p:nvCxnSpPr>
          <p:cNvPr id="141" name="Google Shape;141;p21"/>
          <p:cNvCxnSpPr/>
          <p:nvPr/>
        </p:nvCxnSpPr>
        <p:spPr>
          <a:xfrm>
            <a:off x="3451225" y="3789362"/>
            <a:ext cx="1223963" cy="1588"/>
          </a:xfrm>
          <a:prstGeom prst="straightConnector1">
            <a:avLst/>
          </a:prstGeom>
          <a:noFill/>
          <a:ln cap="flat" cmpd="sng" w="9525">
            <a:solidFill>
              <a:srgbClr val="000000"/>
            </a:solidFill>
            <a:prstDash val="solid"/>
            <a:round/>
            <a:headEnd len="sm" w="sm" type="none"/>
            <a:tailEnd len="med" w="med" type="triangle"/>
          </a:ln>
        </p:spPr>
      </p:cxnSp>
      <p:cxnSp>
        <p:nvCxnSpPr>
          <p:cNvPr id="142" name="Google Shape;142;p21"/>
          <p:cNvCxnSpPr/>
          <p:nvPr/>
        </p:nvCxnSpPr>
        <p:spPr>
          <a:xfrm flipH="1">
            <a:off x="3451225" y="4221162"/>
            <a:ext cx="1223963" cy="1588"/>
          </a:xfrm>
          <a:prstGeom prst="straightConnector1">
            <a:avLst/>
          </a:prstGeom>
          <a:noFill/>
          <a:ln cap="flat" cmpd="sng" w="9525">
            <a:solidFill>
              <a:srgbClr val="000000"/>
            </a:solidFill>
            <a:prstDash val="solid"/>
            <a:round/>
            <a:headEnd len="sm" w="sm" type="none"/>
            <a:tailEnd len="med" w="med" type="triangle"/>
          </a:ln>
        </p:spPr>
      </p:cxnSp>
      <p:sp>
        <p:nvSpPr>
          <p:cNvPr id="143" name="Google Shape;143;p21"/>
          <p:cNvSpPr/>
          <p:nvPr/>
        </p:nvSpPr>
        <p:spPr>
          <a:xfrm>
            <a:off x="3477418" y="3375025"/>
            <a:ext cx="1155701" cy="431800"/>
          </a:xfrm>
          <a:prstGeom prst="rect">
            <a:avLst/>
          </a:prstGeom>
          <a:noFill/>
          <a:ln>
            <a:noFill/>
          </a:ln>
        </p:spPr>
        <p:txBody>
          <a:bodyPr anchorCtr="0" anchor="t" bIns="50800" lIns="50800" spcFirstLastPara="1" rIns="50800" wrap="square" tIns="50800">
            <a:noAutofit/>
          </a:bodyPr>
          <a:lstStyle/>
          <a:p>
            <a:pPr indent="-2539" lvl="0" marL="40639" marR="40639" rtl="0" algn="ctr">
              <a:lnSpc>
                <a:spcPct val="100000"/>
              </a:lnSpc>
              <a:spcBef>
                <a:spcPts val="0"/>
              </a:spcBef>
              <a:spcAft>
                <a:spcPts val="0"/>
              </a:spcAft>
              <a:buClr>
                <a:srgbClr val="000000"/>
              </a:buClr>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β</a:t>
            </a:r>
            <a:r>
              <a:rPr b="0" i="1" lang="en-US" sz="2000" u="none" cap="none" strike="noStrike">
                <a:solidFill>
                  <a:srgbClr val="000000"/>
                </a:solidFill>
                <a:latin typeface="Times New Roman"/>
                <a:ea typeface="Times New Roman"/>
                <a:cs typeface="Times New Roman"/>
                <a:sym typeface="Times New Roman"/>
              </a:rPr>
              <a:t>I/N</a:t>
            </a:r>
            <a:endParaRPr/>
          </a:p>
        </p:txBody>
      </p:sp>
      <p:sp>
        <p:nvSpPr>
          <p:cNvPr id="144" name="Google Shape;144;p21"/>
          <p:cNvSpPr/>
          <p:nvPr/>
        </p:nvSpPr>
        <p:spPr>
          <a:xfrm>
            <a:off x="3501231" y="4238625"/>
            <a:ext cx="1155701" cy="431800"/>
          </a:xfrm>
          <a:prstGeom prst="rect">
            <a:avLst/>
          </a:prstGeom>
          <a:noFill/>
          <a:ln>
            <a:noFill/>
          </a:ln>
        </p:spPr>
        <p:txBody>
          <a:bodyPr anchorCtr="0" anchor="t" bIns="50800" lIns="50800" spcFirstLastPara="1" rIns="50800" wrap="square" tIns="50800">
            <a:noAutofit/>
          </a:bodyPr>
          <a:lstStyle/>
          <a:p>
            <a:pPr indent="-2539" lvl="0" marL="40639" marR="40639" rtl="0" algn="ctr">
              <a:lnSpc>
                <a:spcPct val="100000"/>
              </a:lnSpc>
              <a:spcBef>
                <a:spcPts val="0"/>
              </a:spcBef>
              <a:spcAft>
                <a:spcPts val="0"/>
              </a:spcAft>
              <a:buClr>
                <a:srgbClr val="000000"/>
              </a:buClr>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α</a:t>
            </a:r>
            <a:endParaRPr/>
          </a:p>
        </p:txBody>
      </p:sp>
      <p:pic>
        <p:nvPicPr>
          <p:cNvPr id="145" name="Google Shape;145;p21"/>
          <p:cNvPicPr preferRelativeResize="0"/>
          <p:nvPr/>
        </p:nvPicPr>
        <p:blipFill rotWithShape="1">
          <a:blip r:embed="rId3">
            <a:alphaModFix/>
          </a:blip>
          <a:srcRect b="0" l="0" r="0" t="0"/>
          <a:stretch/>
        </p:blipFill>
        <p:spPr>
          <a:xfrm>
            <a:off x="2482850" y="5159375"/>
            <a:ext cx="3160713" cy="1136650"/>
          </a:xfrm>
          <a:prstGeom prst="rect">
            <a:avLst/>
          </a:prstGeom>
          <a:noFill/>
          <a:ln>
            <a:noFill/>
          </a:ln>
        </p:spPr>
      </p:pic>
      <p:sp>
        <p:nvSpPr>
          <p:cNvPr id="146" name="Google Shape;146;p21"/>
          <p:cNvSpPr/>
          <p:nvPr/>
        </p:nvSpPr>
        <p:spPr>
          <a:xfrm>
            <a:off x="666750" y="2857500"/>
            <a:ext cx="1562101" cy="4064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433FF"/>
              </a:buClr>
              <a:buFont typeface="Tahoma"/>
              <a:buNone/>
            </a:pPr>
            <a:r>
              <a:rPr b="1" i="0" lang="en-US" sz="2000" u="none" cap="none" strike="noStrike">
                <a:solidFill>
                  <a:srgbClr val="0433FF"/>
                </a:solidFill>
                <a:latin typeface="Tahoma"/>
                <a:ea typeface="Tahoma"/>
                <a:cs typeface="Tahoma"/>
                <a:sym typeface="Tahoma"/>
              </a:rPr>
              <a:t>Model 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0" name="Shape 150"/>
        <p:cNvGrpSpPr/>
        <p:nvPr/>
      </p:nvGrpSpPr>
      <p:grpSpPr>
        <a:xfrm>
          <a:off x="0" y="0"/>
          <a:ext cx="0" cy="0"/>
          <a:chOff x="0" y="0"/>
          <a:chExt cx="0" cy="0"/>
        </a:xfrm>
      </p:grpSpPr>
      <p:grpSp>
        <p:nvGrpSpPr>
          <p:cNvPr id="151" name="Google Shape;151;p22"/>
          <p:cNvGrpSpPr/>
          <p:nvPr/>
        </p:nvGrpSpPr>
        <p:grpSpPr>
          <a:xfrm>
            <a:off x="379412" y="2547937"/>
            <a:ext cx="1023900" cy="1009500"/>
            <a:chOff x="0" y="0"/>
            <a:chExt cx="1023900" cy="1009500"/>
          </a:xfrm>
        </p:grpSpPr>
        <p:sp>
          <p:nvSpPr>
            <p:cNvPr id="152" name="Google Shape;152;p22"/>
            <p:cNvSpPr/>
            <p:nvPr/>
          </p:nvSpPr>
          <p:spPr>
            <a:xfrm>
              <a:off x="219075" y="1730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53" name="Google Shape;153;p22"/>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154" name="Google Shape;154;p22"/>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155" name="Google Shape;155;p22"/>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sp>
          <p:nvSpPr>
            <p:cNvPr id="156" name="Google Shape;156;p22"/>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grpSp>
      <p:sp>
        <p:nvSpPr>
          <p:cNvPr id="157" name="Google Shape;157;p22"/>
          <p:cNvSpPr/>
          <p:nvPr/>
        </p:nvSpPr>
        <p:spPr>
          <a:xfrm>
            <a:off x="0" y="333375"/>
            <a:ext cx="9156700" cy="533400"/>
          </a:xfrm>
          <a:prstGeom prst="rect">
            <a:avLst/>
          </a:prstGeom>
          <a:noFill/>
          <a:ln>
            <a:noFill/>
          </a:ln>
        </p:spPr>
        <p:txBody>
          <a:bodyPr anchorCtr="0" anchor="t" bIns="50800" lIns="50800" spcFirstLastPara="1" rIns="50800" wrap="square" tIns="50800">
            <a:noAutofit/>
          </a:bodyPr>
          <a:lstStyle/>
          <a:p>
            <a:pPr indent="-2539" lvl="0" marL="40639" marR="40639" rtl="0" algn="ctr">
              <a:lnSpc>
                <a:spcPct val="100000"/>
              </a:lnSpc>
              <a:spcBef>
                <a:spcPts val="0"/>
              </a:spcBef>
              <a:spcAft>
                <a:spcPts val="0"/>
              </a:spcAft>
              <a:buClr>
                <a:srgbClr val="0433FF"/>
              </a:buClr>
              <a:buFont typeface="Tahoma"/>
              <a:buNone/>
            </a:pPr>
            <a:r>
              <a:rPr b="1" lang="en-US" sz="2800">
                <a:solidFill>
                  <a:srgbClr val="0433FF"/>
                </a:solidFill>
                <a:latin typeface="Tahoma"/>
                <a:ea typeface="Tahoma"/>
                <a:cs typeface="Tahoma"/>
                <a:sym typeface="Tahoma"/>
              </a:rPr>
              <a:t>A simple household model</a:t>
            </a:r>
            <a:endParaRPr/>
          </a:p>
        </p:txBody>
      </p:sp>
      <p:sp>
        <p:nvSpPr>
          <p:cNvPr id="158" name="Google Shape;158;p22"/>
          <p:cNvSpPr/>
          <p:nvPr/>
        </p:nvSpPr>
        <p:spPr>
          <a:xfrm>
            <a:off x="327025" y="1014412"/>
            <a:ext cx="1562101" cy="406401"/>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433FF"/>
              </a:buClr>
              <a:buFont typeface="Tahoma"/>
              <a:buNone/>
            </a:pPr>
            <a:r>
              <a:rPr b="1" i="0" lang="en-US" sz="2000" u="none" cap="none" strike="noStrike">
                <a:solidFill>
                  <a:srgbClr val="0433FF"/>
                </a:solidFill>
                <a:latin typeface="Tahoma"/>
                <a:ea typeface="Tahoma"/>
                <a:cs typeface="Tahoma"/>
                <a:sym typeface="Tahoma"/>
              </a:rPr>
              <a:t>Model 2:</a:t>
            </a:r>
            <a:endParaRPr/>
          </a:p>
        </p:txBody>
      </p:sp>
      <p:grpSp>
        <p:nvGrpSpPr>
          <p:cNvPr id="159" name="Google Shape;159;p22"/>
          <p:cNvGrpSpPr/>
          <p:nvPr/>
        </p:nvGrpSpPr>
        <p:grpSpPr>
          <a:xfrm>
            <a:off x="3641725" y="2254250"/>
            <a:ext cx="1023938" cy="1009650"/>
            <a:chOff x="0" y="0"/>
            <a:chExt cx="1023938" cy="1009650"/>
          </a:xfrm>
        </p:grpSpPr>
        <p:sp>
          <p:nvSpPr>
            <p:cNvPr id="160" name="Google Shape;160;p22"/>
            <p:cNvSpPr/>
            <p:nvPr/>
          </p:nvSpPr>
          <p:spPr>
            <a:xfrm>
              <a:off x="0" y="0"/>
              <a:ext cx="1023938" cy="100965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61" name="Google Shape;161;p22"/>
            <p:cNvSpPr/>
            <p:nvPr/>
          </p:nvSpPr>
          <p:spPr>
            <a:xfrm>
              <a:off x="219075" y="173037"/>
              <a:ext cx="150813" cy="150813"/>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62" name="Google Shape;162;p22"/>
            <p:cNvSpPr/>
            <p:nvPr/>
          </p:nvSpPr>
          <p:spPr>
            <a:xfrm>
              <a:off x="609600" y="655637"/>
              <a:ext cx="150813" cy="150813"/>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163" name="Google Shape;163;p22"/>
            <p:cNvCxnSpPr/>
            <p:nvPr/>
          </p:nvCxnSpPr>
          <p:spPr>
            <a:xfrm>
              <a:off x="339725" y="306387"/>
              <a:ext cx="288925" cy="368301"/>
            </a:xfrm>
            <a:prstGeom prst="straightConnector1">
              <a:avLst/>
            </a:prstGeom>
            <a:noFill/>
            <a:ln cap="flat" cmpd="sng" w="28575">
              <a:solidFill>
                <a:srgbClr val="FFFDA9"/>
              </a:solidFill>
              <a:prstDash val="solid"/>
              <a:round/>
              <a:headEnd len="sm" w="sm" type="none"/>
              <a:tailEnd len="sm" w="sm" type="none"/>
            </a:ln>
          </p:spPr>
        </p:cxnSp>
      </p:grpSp>
      <p:grpSp>
        <p:nvGrpSpPr>
          <p:cNvPr id="164" name="Google Shape;164;p22"/>
          <p:cNvGrpSpPr/>
          <p:nvPr/>
        </p:nvGrpSpPr>
        <p:grpSpPr>
          <a:xfrm>
            <a:off x="2935287" y="3146425"/>
            <a:ext cx="1023939" cy="1009650"/>
            <a:chOff x="0" y="0"/>
            <a:chExt cx="1023938" cy="1009650"/>
          </a:xfrm>
        </p:grpSpPr>
        <p:sp>
          <p:nvSpPr>
            <p:cNvPr id="165" name="Google Shape;165;p22"/>
            <p:cNvSpPr/>
            <p:nvPr/>
          </p:nvSpPr>
          <p:spPr>
            <a:xfrm>
              <a:off x="0" y="0"/>
              <a:ext cx="1023938" cy="100965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66" name="Google Shape;166;p22"/>
            <p:cNvSpPr/>
            <p:nvPr/>
          </p:nvSpPr>
          <p:spPr>
            <a:xfrm>
              <a:off x="219075" y="173037"/>
              <a:ext cx="150813" cy="150813"/>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67" name="Google Shape;167;p22"/>
            <p:cNvSpPr/>
            <p:nvPr/>
          </p:nvSpPr>
          <p:spPr>
            <a:xfrm>
              <a:off x="609600" y="655637"/>
              <a:ext cx="150813" cy="150813"/>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168" name="Google Shape;168;p22"/>
            <p:cNvCxnSpPr/>
            <p:nvPr/>
          </p:nvCxnSpPr>
          <p:spPr>
            <a:xfrm>
              <a:off x="339725" y="306387"/>
              <a:ext cx="288925" cy="368301"/>
            </a:xfrm>
            <a:prstGeom prst="straightConnector1">
              <a:avLst/>
            </a:prstGeom>
            <a:noFill/>
            <a:ln cap="flat" cmpd="sng" w="28575">
              <a:solidFill>
                <a:srgbClr val="FFFDA9"/>
              </a:solidFill>
              <a:prstDash val="solid"/>
              <a:round/>
              <a:headEnd len="sm" w="sm" type="none"/>
              <a:tailEnd len="sm" w="sm" type="none"/>
            </a:ln>
          </p:spPr>
        </p:cxnSp>
      </p:grpSp>
      <p:grpSp>
        <p:nvGrpSpPr>
          <p:cNvPr id="169" name="Google Shape;169;p22"/>
          <p:cNvGrpSpPr/>
          <p:nvPr/>
        </p:nvGrpSpPr>
        <p:grpSpPr>
          <a:xfrm>
            <a:off x="5370512" y="2390775"/>
            <a:ext cx="1023939" cy="1009650"/>
            <a:chOff x="0" y="0"/>
            <a:chExt cx="1023938" cy="1009650"/>
          </a:xfrm>
        </p:grpSpPr>
        <p:sp>
          <p:nvSpPr>
            <p:cNvPr id="170" name="Google Shape;170;p22"/>
            <p:cNvSpPr/>
            <p:nvPr/>
          </p:nvSpPr>
          <p:spPr>
            <a:xfrm>
              <a:off x="0" y="0"/>
              <a:ext cx="1023938" cy="100965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71" name="Google Shape;171;p22"/>
            <p:cNvSpPr/>
            <p:nvPr/>
          </p:nvSpPr>
          <p:spPr>
            <a:xfrm>
              <a:off x="219075" y="173037"/>
              <a:ext cx="150813" cy="150813"/>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72" name="Google Shape;172;p22"/>
            <p:cNvSpPr/>
            <p:nvPr/>
          </p:nvSpPr>
          <p:spPr>
            <a:xfrm>
              <a:off x="609600" y="655637"/>
              <a:ext cx="150813" cy="150813"/>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173" name="Google Shape;173;p22"/>
            <p:cNvCxnSpPr/>
            <p:nvPr/>
          </p:nvCxnSpPr>
          <p:spPr>
            <a:xfrm>
              <a:off x="339725" y="306387"/>
              <a:ext cx="288925" cy="368301"/>
            </a:xfrm>
            <a:prstGeom prst="straightConnector1">
              <a:avLst/>
            </a:prstGeom>
            <a:noFill/>
            <a:ln cap="flat" cmpd="sng" w="28575">
              <a:solidFill>
                <a:srgbClr val="FFFDA9"/>
              </a:solidFill>
              <a:prstDash val="solid"/>
              <a:round/>
              <a:headEnd len="sm" w="sm" type="none"/>
              <a:tailEnd len="sm" w="sm" type="none"/>
            </a:ln>
          </p:spPr>
        </p:cxnSp>
      </p:grpSp>
      <p:grpSp>
        <p:nvGrpSpPr>
          <p:cNvPr id="174" name="Google Shape;174;p22"/>
          <p:cNvGrpSpPr/>
          <p:nvPr/>
        </p:nvGrpSpPr>
        <p:grpSpPr>
          <a:xfrm>
            <a:off x="4548187" y="1482725"/>
            <a:ext cx="1023939" cy="1009650"/>
            <a:chOff x="0" y="0"/>
            <a:chExt cx="1023938" cy="1009650"/>
          </a:xfrm>
        </p:grpSpPr>
        <p:sp>
          <p:nvSpPr>
            <p:cNvPr id="175" name="Google Shape;175;p22"/>
            <p:cNvSpPr/>
            <p:nvPr/>
          </p:nvSpPr>
          <p:spPr>
            <a:xfrm>
              <a:off x="0" y="0"/>
              <a:ext cx="1023938" cy="100965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76" name="Google Shape;176;p22"/>
            <p:cNvSpPr/>
            <p:nvPr/>
          </p:nvSpPr>
          <p:spPr>
            <a:xfrm>
              <a:off x="219075" y="173037"/>
              <a:ext cx="150813" cy="150813"/>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77" name="Google Shape;177;p22"/>
            <p:cNvSpPr/>
            <p:nvPr/>
          </p:nvSpPr>
          <p:spPr>
            <a:xfrm>
              <a:off x="609600" y="655637"/>
              <a:ext cx="150813" cy="150813"/>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178" name="Google Shape;178;p22"/>
            <p:cNvCxnSpPr/>
            <p:nvPr/>
          </p:nvCxnSpPr>
          <p:spPr>
            <a:xfrm>
              <a:off x="339725" y="306387"/>
              <a:ext cx="288925" cy="368301"/>
            </a:xfrm>
            <a:prstGeom prst="straightConnector1">
              <a:avLst/>
            </a:prstGeom>
            <a:noFill/>
            <a:ln cap="flat" cmpd="sng" w="28575">
              <a:solidFill>
                <a:srgbClr val="FFFDA9"/>
              </a:solidFill>
              <a:prstDash val="solid"/>
              <a:round/>
              <a:headEnd len="sm" w="sm" type="none"/>
              <a:tailEnd len="sm" w="sm" type="none"/>
            </a:ln>
          </p:spPr>
        </p:cxnSp>
      </p:grpSp>
      <p:cxnSp>
        <p:nvCxnSpPr>
          <p:cNvPr id="179" name="Google Shape;179;p22"/>
          <p:cNvCxnSpPr>
            <a:stCxn id="180" idx="0"/>
          </p:cNvCxnSpPr>
          <p:nvPr/>
        </p:nvCxnSpPr>
        <p:spPr>
          <a:xfrm flipH="1" rot="10800000">
            <a:off x="2029487" y="3938487"/>
            <a:ext cx="51600" cy="865800"/>
          </a:xfrm>
          <a:prstGeom prst="straightConnector1">
            <a:avLst/>
          </a:prstGeom>
          <a:noFill/>
          <a:ln cap="rnd" cmpd="sng" w="38100">
            <a:solidFill>
              <a:srgbClr val="000000"/>
            </a:solidFill>
            <a:prstDash val="dot"/>
            <a:round/>
            <a:headEnd len="sm" w="sm" type="none"/>
            <a:tailEnd len="sm" w="sm" type="none"/>
          </a:ln>
        </p:spPr>
      </p:cxnSp>
      <p:cxnSp>
        <p:nvCxnSpPr>
          <p:cNvPr id="181" name="Google Shape;181;p22"/>
          <p:cNvCxnSpPr>
            <a:stCxn id="171" idx="1"/>
          </p:cNvCxnSpPr>
          <p:nvPr/>
        </p:nvCxnSpPr>
        <p:spPr>
          <a:xfrm rot="10800000">
            <a:off x="5262473" y="2246298"/>
            <a:ext cx="349200" cy="339600"/>
          </a:xfrm>
          <a:prstGeom prst="straightConnector1">
            <a:avLst/>
          </a:prstGeom>
          <a:noFill/>
          <a:ln cap="rnd" cmpd="sng" w="38100">
            <a:solidFill>
              <a:srgbClr val="000000"/>
            </a:solidFill>
            <a:prstDash val="dot"/>
            <a:round/>
            <a:headEnd len="sm" w="sm" type="none"/>
            <a:tailEnd len="sm" w="sm" type="none"/>
          </a:ln>
        </p:spPr>
      </p:cxnSp>
      <p:sp>
        <p:nvSpPr>
          <p:cNvPr id="182" name="Google Shape;182;p22"/>
          <p:cNvSpPr/>
          <p:nvPr/>
        </p:nvSpPr>
        <p:spPr>
          <a:xfrm>
            <a:off x="6005512" y="1549400"/>
            <a:ext cx="2070101" cy="552153"/>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Arial"/>
              <a:buNone/>
            </a:pPr>
            <a:r>
              <a:rPr b="0" i="1" lang="en-US" sz="1600" u="none" cap="none" strike="noStrike">
                <a:solidFill>
                  <a:srgbClr val="000000"/>
                </a:solidFill>
                <a:latin typeface="Arial"/>
                <a:ea typeface="Arial"/>
                <a:cs typeface="Arial"/>
                <a:sym typeface="Arial"/>
              </a:rPr>
              <a:t>Random dynamic contacts</a:t>
            </a:r>
            <a:endParaRPr/>
          </a:p>
        </p:txBody>
      </p:sp>
      <p:cxnSp>
        <p:nvCxnSpPr>
          <p:cNvPr id="183" name="Google Shape;183;p22"/>
          <p:cNvCxnSpPr/>
          <p:nvPr/>
        </p:nvCxnSpPr>
        <p:spPr>
          <a:xfrm flipH="1">
            <a:off x="5487713" y="1987550"/>
            <a:ext cx="517800" cy="440700"/>
          </a:xfrm>
          <a:prstGeom prst="straightConnector1">
            <a:avLst/>
          </a:prstGeom>
          <a:noFill/>
          <a:ln cap="flat" cmpd="sng" w="9525">
            <a:solidFill>
              <a:srgbClr val="929292"/>
            </a:solidFill>
            <a:prstDash val="solid"/>
            <a:round/>
            <a:headEnd len="sm" w="sm" type="none"/>
            <a:tailEnd len="med" w="med" type="triangle"/>
          </a:ln>
        </p:spPr>
      </p:cxnSp>
      <p:sp>
        <p:nvSpPr>
          <p:cNvPr id="184" name="Google Shape;184;p22"/>
          <p:cNvSpPr/>
          <p:nvPr/>
        </p:nvSpPr>
        <p:spPr>
          <a:xfrm>
            <a:off x="6894575" y="3005262"/>
            <a:ext cx="2070000" cy="5523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Arial"/>
              <a:buNone/>
            </a:pPr>
            <a:r>
              <a:rPr b="0" i="1" lang="en-US" sz="1600" u="none" cap="none" strike="noStrike">
                <a:solidFill>
                  <a:srgbClr val="000000"/>
                </a:solidFill>
                <a:latin typeface="Arial"/>
                <a:ea typeface="Arial"/>
                <a:cs typeface="Arial"/>
                <a:sym typeface="Arial"/>
              </a:rPr>
              <a:t>Permanent static contacts</a:t>
            </a:r>
            <a:endParaRPr/>
          </a:p>
        </p:txBody>
      </p:sp>
      <p:sp>
        <p:nvSpPr>
          <p:cNvPr id="185" name="Google Shape;185;p22"/>
          <p:cNvSpPr/>
          <p:nvPr/>
        </p:nvSpPr>
        <p:spPr>
          <a:xfrm>
            <a:off x="327025" y="1420812"/>
            <a:ext cx="2552700" cy="406401"/>
          </a:xfrm>
          <a:prstGeom prst="rect">
            <a:avLst/>
          </a:prstGeom>
          <a:noFill/>
          <a:ln>
            <a:noFill/>
          </a:ln>
        </p:spPr>
        <p:txBody>
          <a:bodyPr anchorCtr="0" anchor="t" bIns="50800" lIns="50800" spcFirstLastPara="1" rIns="50800" wrap="square" tIns="50800">
            <a:noAutofit/>
          </a:bodyPr>
          <a:lstStyle/>
          <a:p>
            <a:pPr indent="-345440" lvl="0" marL="383540" marR="40639" rtl="0" algn="l">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Households of size </a:t>
            </a:r>
            <a:r>
              <a:rPr lang="en-US" sz="2000">
                <a:latin typeface="Tahoma"/>
                <a:ea typeface="Tahoma"/>
                <a:cs typeface="Tahoma"/>
                <a:sym typeface="Tahoma"/>
              </a:rPr>
              <a:t>2</a:t>
            </a:r>
            <a:endParaRPr/>
          </a:p>
        </p:txBody>
      </p:sp>
      <p:grpSp>
        <p:nvGrpSpPr>
          <p:cNvPr id="186" name="Google Shape;186;p22"/>
          <p:cNvGrpSpPr/>
          <p:nvPr/>
        </p:nvGrpSpPr>
        <p:grpSpPr>
          <a:xfrm>
            <a:off x="3008312" y="1150937"/>
            <a:ext cx="1023900" cy="1009500"/>
            <a:chOff x="0" y="0"/>
            <a:chExt cx="1023900" cy="1009500"/>
          </a:xfrm>
        </p:grpSpPr>
        <p:sp>
          <p:nvSpPr>
            <p:cNvPr id="187" name="Google Shape;187;p22"/>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88" name="Google Shape;188;p22"/>
            <p:cNvSpPr/>
            <p:nvPr/>
          </p:nvSpPr>
          <p:spPr>
            <a:xfrm>
              <a:off x="219075" y="1730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89" name="Google Shape;189;p22"/>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190" name="Google Shape;190;p22"/>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grpSp>
      <p:cxnSp>
        <p:nvCxnSpPr>
          <p:cNvPr id="191" name="Google Shape;191;p22"/>
          <p:cNvCxnSpPr>
            <a:stCxn id="188" idx="4"/>
          </p:cNvCxnSpPr>
          <p:nvPr/>
        </p:nvCxnSpPr>
        <p:spPr>
          <a:xfrm flipH="1">
            <a:off x="3240137" y="1474874"/>
            <a:ext cx="62700" cy="1822200"/>
          </a:xfrm>
          <a:prstGeom prst="straightConnector1">
            <a:avLst/>
          </a:prstGeom>
          <a:noFill/>
          <a:ln cap="rnd" cmpd="sng" w="38100">
            <a:solidFill>
              <a:srgbClr val="000000"/>
            </a:solidFill>
            <a:prstDash val="dot"/>
            <a:round/>
            <a:headEnd len="sm" w="sm" type="none"/>
            <a:tailEnd len="sm" w="sm" type="none"/>
          </a:ln>
        </p:spPr>
      </p:cxnSp>
      <p:grpSp>
        <p:nvGrpSpPr>
          <p:cNvPr id="192" name="Google Shape;192;p22"/>
          <p:cNvGrpSpPr/>
          <p:nvPr/>
        </p:nvGrpSpPr>
        <p:grpSpPr>
          <a:xfrm>
            <a:off x="1381125" y="3168650"/>
            <a:ext cx="1023900" cy="1009500"/>
            <a:chOff x="0" y="0"/>
            <a:chExt cx="1023900" cy="1009500"/>
          </a:xfrm>
        </p:grpSpPr>
        <p:sp>
          <p:nvSpPr>
            <p:cNvPr id="193" name="Google Shape;193;p22"/>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94" name="Google Shape;194;p22"/>
            <p:cNvSpPr/>
            <p:nvPr/>
          </p:nvSpPr>
          <p:spPr>
            <a:xfrm>
              <a:off x="219075" y="1730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95" name="Google Shape;195;p22"/>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196" name="Google Shape;196;p22"/>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grpSp>
      <p:grpSp>
        <p:nvGrpSpPr>
          <p:cNvPr id="197" name="Google Shape;197;p22"/>
          <p:cNvGrpSpPr/>
          <p:nvPr/>
        </p:nvGrpSpPr>
        <p:grpSpPr>
          <a:xfrm>
            <a:off x="660400" y="2732087"/>
            <a:ext cx="541425" cy="633500"/>
            <a:chOff x="219075" y="173037"/>
            <a:chExt cx="541425" cy="633500"/>
          </a:xfrm>
        </p:grpSpPr>
        <p:sp>
          <p:nvSpPr>
            <p:cNvPr id="198" name="Google Shape;198;p22"/>
            <p:cNvSpPr/>
            <p:nvPr/>
          </p:nvSpPr>
          <p:spPr>
            <a:xfrm>
              <a:off x="219075" y="1730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99" name="Google Shape;199;p22"/>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200" name="Google Shape;200;p22"/>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grpSp>
      <p:grpSp>
        <p:nvGrpSpPr>
          <p:cNvPr id="201" name="Google Shape;201;p22"/>
          <p:cNvGrpSpPr/>
          <p:nvPr/>
        </p:nvGrpSpPr>
        <p:grpSpPr>
          <a:xfrm>
            <a:off x="3134937" y="5408600"/>
            <a:ext cx="1023900" cy="1009500"/>
            <a:chOff x="0" y="0"/>
            <a:chExt cx="1023900" cy="1009500"/>
          </a:xfrm>
        </p:grpSpPr>
        <p:sp>
          <p:nvSpPr>
            <p:cNvPr id="202" name="Google Shape;202;p22"/>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03" name="Google Shape;203;p22"/>
            <p:cNvSpPr/>
            <p:nvPr/>
          </p:nvSpPr>
          <p:spPr>
            <a:xfrm>
              <a:off x="219075" y="1730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04" name="Google Shape;204;p22"/>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205" name="Google Shape;205;p22"/>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grpSp>
      <p:grpSp>
        <p:nvGrpSpPr>
          <p:cNvPr id="206" name="Google Shape;206;p22"/>
          <p:cNvGrpSpPr/>
          <p:nvPr/>
        </p:nvGrpSpPr>
        <p:grpSpPr>
          <a:xfrm>
            <a:off x="4319762" y="4236500"/>
            <a:ext cx="1023900" cy="1009500"/>
            <a:chOff x="0" y="0"/>
            <a:chExt cx="1023900" cy="1009500"/>
          </a:xfrm>
        </p:grpSpPr>
        <p:sp>
          <p:nvSpPr>
            <p:cNvPr id="207" name="Google Shape;207;p22"/>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08" name="Google Shape;208;p22"/>
            <p:cNvSpPr/>
            <p:nvPr/>
          </p:nvSpPr>
          <p:spPr>
            <a:xfrm>
              <a:off x="219075" y="1730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09" name="Google Shape;209;p22"/>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210" name="Google Shape;210;p22"/>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grpSp>
      <p:grpSp>
        <p:nvGrpSpPr>
          <p:cNvPr id="211" name="Google Shape;211;p22"/>
          <p:cNvGrpSpPr/>
          <p:nvPr/>
        </p:nvGrpSpPr>
        <p:grpSpPr>
          <a:xfrm>
            <a:off x="1734962" y="4631250"/>
            <a:ext cx="1023900" cy="1009500"/>
            <a:chOff x="0" y="0"/>
            <a:chExt cx="1023900" cy="1009500"/>
          </a:xfrm>
        </p:grpSpPr>
        <p:sp>
          <p:nvSpPr>
            <p:cNvPr id="212" name="Google Shape;212;p22"/>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80" name="Google Shape;180;p22"/>
            <p:cNvSpPr/>
            <p:nvPr/>
          </p:nvSpPr>
          <p:spPr>
            <a:xfrm>
              <a:off x="219075" y="1730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13" name="Google Shape;213;p22"/>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214" name="Google Shape;214;p22"/>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grpSp>
      <p:cxnSp>
        <p:nvCxnSpPr>
          <p:cNvPr id="215" name="Google Shape;215;p22"/>
          <p:cNvCxnSpPr>
            <a:stCxn id="209" idx="0"/>
          </p:cNvCxnSpPr>
          <p:nvPr/>
        </p:nvCxnSpPr>
        <p:spPr>
          <a:xfrm flipH="1" rot="10800000">
            <a:off x="5004812" y="2238337"/>
            <a:ext cx="187800" cy="2653800"/>
          </a:xfrm>
          <a:prstGeom prst="straightConnector1">
            <a:avLst/>
          </a:prstGeom>
          <a:noFill/>
          <a:ln cap="rnd" cmpd="sng" w="38100">
            <a:solidFill>
              <a:srgbClr val="000000"/>
            </a:solidFill>
            <a:prstDash val="dot"/>
            <a:round/>
            <a:headEnd len="sm" w="sm" type="none"/>
            <a:tailEnd len="sm" w="sm" type="none"/>
          </a:ln>
        </p:spPr>
      </p:cxnSp>
      <p:cxnSp>
        <p:nvCxnSpPr>
          <p:cNvPr id="216" name="Google Shape;216;p22"/>
          <p:cNvCxnSpPr>
            <a:stCxn id="209" idx="7"/>
            <a:endCxn id="171" idx="4"/>
          </p:cNvCxnSpPr>
          <p:nvPr/>
        </p:nvCxnSpPr>
        <p:spPr>
          <a:xfrm flipH="1" rot="10800000">
            <a:off x="5058163" y="2714636"/>
            <a:ext cx="606900" cy="2199600"/>
          </a:xfrm>
          <a:prstGeom prst="straightConnector1">
            <a:avLst/>
          </a:prstGeom>
          <a:noFill/>
          <a:ln cap="rnd" cmpd="sng" w="38100">
            <a:solidFill>
              <a:srgbClr val="000000"/>
            </a:solidFill>
            <a:prstDash val="dot"/>
            <a:round/>
            <a:headEnd len="sm" w="sm" type="none"/>
            <a:tailEnd len="sm" w="sm" type="none"/>
          </a:ln>
        </p:spPr>
      </p:cxnSp>
      <p:grpSp>
        <p:nvGrpSpPr>
          <p:cNvPr id="217" name="Google Shape;217;p22"/>
          <p:cNvGrpSpPr/>
          <p:nvPr/>
        </p:nvGrpSpPr>
        <p:grpSpPr>
          <a:xfrm>
            <a:off x="6162337" y="3689638"/>
            <a:ext cx="1023900" cy="1009500"/>
            <a:chOff x="0" y="0"/>
            <a:chExt cx="1023900" cy="1009500"/>
          </a:xfrm>
        </p:grpSpPr>
        <p:sp>
          <p:nvSpPr>
            <p:cNvPr id="218" name="Google Shape;218;p22"/>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19" name="Google Shape;219;p22"/>
            <p:cNvSpPr/>
            <p:nvPr/>
          </p:nvSpPr>
          <p:spPr>
            <a:xfrm>
              <a:off x="219075" y="1730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20" name="Google Shape;220;p22"/>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221" name="Google Shape;221;p22"/>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grpSp>
      <p:cxnSp>
        <p:nvCxnSpPr>
          <p:cNvPr id="222" name="Google Shape;222;p22"/>
          <p:cNvCxnSpPr>
            <a:stCxn id="208" idx="3"/>
            <a:endCxn id="213" idx="6"/>
          </p:cNvCxnSpPr>
          <p:nvPr/>
        </p:nvCxnSpPr>
        <p:spPr>
          <a:xfrm flipH="1">
            <a:off x="2495436" y="4538338"/>
            <a:ext cx="2065500" cy="824100"/>
          </a:xfrm>
          <a:prstGeom prst="straightConnector1">
            <a:avLst/>
          </a:prstGeom>
          <a:noFill/>
          <a:ln cap="rnd" cmpd="sng" w="38100">
            <a:solidFill>
              <a:srgbClr val="000000"/>
            </a:solidFill>
            <a:prstDash val="dot"/>
            <a:round/>
            <a:headEnd len="sm" w="sm" type="none"/>
            <a:tailEnd len="sm" w="sm" type="none"/>
          </a:ln>
        </p:spPr>
      </p:cxnSp>
      <p:cxnSp>
        <p:nvCxnSpPr>
          <p:cNvPr id="223" name="Google Shape;223;p22"/>
          <p:cNvCxnSpPr/>
          <p:nvPr/>
        </p:nvCxnSpPr>
        <p:spPr>
          <a:xfrm flipH="1">
            <a:off x="6689275" y="3589750"/>
            <a:ext cx="651000" cy="541800"/>
          </a:xfrm>
          <a:prstGeom prst="straightConnector1">
            <a:avLst/>
          </a:prstGeom>
          <a:noFill/>
          <a:ln cap="flat" cmpd="sng" w="9525">
            <a:solidFill>
              <a:srgbClr val="929292"/>
            </a:solidFill>
            <a:prstDash val="solid"/>
            <a:round/>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7" name="Shape 227"/>
        <p:cNvGrpSpPr/>
        <p:nvPr/>
      </p:nvGrpSpPr>
      <p:grpSpPr>
        <a:xfrm>
          <a:off x="0" y="0"/>
          <a:ext cx="0" cy="0"/>
          <a:chOff x="0" y="0"/>
          <a:chExt cx="0" cy="0"/>
        </a:xfrm>
      </p:grpSpPr>
      <p:sp>
        <p:nvSpPr>
          <p:cNvPr id="228" name="Google Shape;228;p23"/>
          <p:cNvSpPr/>
          <p:nvPr/>
        </p:nvSpPr>
        <p:spPr>
          <a:xfrm>
            <a:off x="0" y="333375"/>
            <a:ext cx="9156600" cy="533400"/>
          </a:xfrm>
          <a:prstGeom prst="rect">
            <a:avLst/>
          </a:prstGeom>
          <a:noFill/>
          <a:ln>
            <a:noFill/>
          </a:ln>
        </p:spPr>
        <p:txBody>
          <a:bodyPr anchorCtr="0" anchor="t" bIns="50800" lIns="50800" spcFirstLastPara="1" rIns="50800" wrap="square" tIns="50800">
            <a:noAutofit/>
          </a:bodyPr>
          <a:lstStyle/>
          <a:p>
            <a:pPr indent="-2539" lvl="0" marL="40639" marR="40639" rtl="0" algn="ctr">
              <a:lnSpc>
                <a:spcPct val="100000"/>
              </a:lnSpc>
              <a:spcBef>
                <a:spcPts val="0"/>
              </a:spcBef>
              <a:spcAft>
                <a:spcPts val="0"/>
              </a:spcAft>
              <a:buClr>
                <a:srgbClr val="0433FF"/>
              </a:buClr>
              <a:buFont typeface="Tahoma"/>
              <a:buNone/>
            </a:pPr>
            <a:r>
              <a:rPr b="1" lang="en-US" sz="2800">
                <a:solidFill>
                  <a:srgbClr val="0433FF"/>
                </a:solidFill>
                <a:latin typeface="Tahoma"/>
                <a:ea typeface="Tahoma"/>
                <a:cs typeface="Tahoma"/>
                <a:sym typeface="Tahoma"/>
              </a:rPr>
              <a:t>A simple household model</a:t>
            </a:r>
            <a:endParaRPr/>
          </a:p>
        </p:txBody>
      </p:sp>
      <p:grpSp>
        <p:nvGrpSpPr>
          <p:cNvPr id="229" name="Google Shape;229;p23"/>
          <p:cNvGrpSpPr/>
          <p:nvPr/>
        </p:nvGrpSpPr>
        <p:grpSpPr>
          <a:xfrm>
            <a:off x="6211887" y="2390775"/>
            <a:ext cx="1023938" cy="1009650"/>
            <a:chOff x="0" y="0"/>
            <a:chExt cx="1023938" cy="1009650"/>
          </a:xfrm>
        </p:grpSpPr>
        <p:sp>
          <p:nvSpPr>
            <p:cNvPr id="230" name="Google Shape;230;p23"/>
            <p:cNvSpPr/>
            <p:nvPr/>
          </p:nvSpPr>
          <p:spPr>
            <a:xfrm>
              <a:off x="0" y="0"/>
              <a:ext cx="1023938" cy="100965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31" name="Google Shape;231;p23"/>
            <p:cNvSpPr/>
            <p:nvPr/>
          </p:nvSpPr>
          <p:spPr>
            <a:xfrm>
              <a:off x="219075" y="173037"/>
              <a:ext cx="150813" cy="150813"/>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32" name="Google Shape;232;p23"/>
            <p:cNvSpPr/>
            <p:nvPr/>
          </p:nvSpPr>
          <p:spPr>
            <a:xfrm>
              <a:off x="609600" y="655637"/>
              <a:ext cx="150813" cy="150813"/>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233" name="Google Shape;233;p23"/>
            <p:cNvCxnSpPr/>
            <p:nvPr/>
          </p:nvCxnSpPr>
          <p:spPr>
            <a:xfrm>
              <a:off x="339725" y="306387"/>
              <a:ext cx="288925" cy="368301"/>
            </a:xfrm>
            <a:prstGeom prst="straightConnector1">
              <a:avLst/>
            </a:prstGeom>
            <a:noFill/>
            <a:ln cap="flat" cmpd="sng" w="28575">
              <a:solidFill>
                <a:srgbClr val="FFFDA9"/>
              </a:solidFill>
              <a:prstDash val="solid"/>
              <a:round/>
              <a:headEnd len="sm" w="sm" type="none"/>
              <a:tailEnd len="sm" w="sm" type="none"/>
            </a:ln>
          </p:spPr>
        </p:cxnSp>
      </p:grpSp>
      <p:grpSp>
        <p:nvGrpSpPr>
          <p:cNvPr id="234" name="Google Shape;234;p23"/>
          <p:cNvGrpSpPr/>
          <p:nvPr/>
        </p:nvGrpSpPr>
        <p:grpSpPr>
          <a:xfrm>
            <a:off x="1771650" y="2389187"/>
            <a:ext cx="1023938" cy="1009650"/>
            <a:chOff x="0" y="0"/>
            <a:chExt cx="1023938" cy="1009650"/>
          </a:xfrm>
        </p:grpSpPr>
        <p:sp>
          <p:nvSpPr>
            <p:cNvPr id="235" name="Google Shape;235;p23"/>
            <p:cNvSpPr/>
            <p:nvPr/>
          </p:nvSpPr>
          <p:spPr>
            <a:xfrm>
              <a:off x="0" y="0"/>
              <a:ext cx="1023938" cy="100965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36" name="Google Shape;236;p23"/>
            <p:cNvSpPr/>
            <p:nvPr/>
          </p:nvSpPr>
          <p:spPr>
            <a:xfrm>
              <a:off x="219075" y="173037"/>
              <a:ext cx="150813" cy="150813"/>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37" name="Google Shape;237;p23"/>
            <p:cNvSpPr/>
            <p:nvPr/>
          </p:nvSpPr>
          <p:spPr>
            <a:xfrm>
              <a:off x="609600" y="655637"/>
              <a:ext cx="150813" cy="150813"/>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238" name="Google Shape;238;p23"/>
            <p:cNvCxnSpPr/>
            <p:nvPr/>
          </p:nvCxnSpPr>
          <p:spPr>
            <a:xfrm>
              <a:off x="339725" y="306387"/>
              <a:ext cx="288925" cy="368301"/>
            </a:xfrm>
            <a:prstGeom prst="straightConnector1">
              <a:avLst/>
            </a:prstGeom>
            <a:noFill/>
            <a:ln cap="flat" cmpd="sng" w="28575">
              <a:solidFill>
                <a:srgbClr val="FFFDA9"/>
              </a:solidFill>
              <a:prstDash val="solid"/>
              <a:round/>
              <a:headEnd len="sm" w="sm" type="none"/>
              <a:tailEnd len="sm" w="sm" type="none"/>
            </a:ln>
          </p:spPr>
        </p:cxnSp>
      </p:grpSp>
      <p:grpSp>
        <p:nvGrpSpPr>
          <p:cNvPr id="239" name="Google Shape;239;p23"/>
          <p:cNvGrpSpPr/>
          <p:nvPr/>
        </p:nvGrpSpPr>
        <p:grpSpPr>
          <a:xfrm>
            <a:off x="4029075" y="2389187"/>
            <a:ext cx="1023938" cy="1009650"/>
            <a:chOff x="0" y="0"/>
            <a:chExt cx="1023938" cy="1009650"/>
          </a:xfrm>
        </p:grpSpPr>
        <p:sp>
          <p:nvSpPr>
            <p:cNvPr id="240" name="Google Shape;240;p23"/>
            <p:cNvSpPr/>
            <p:nvPr/>
          </p:nvSpPr>
          <p:spPr>
            <a:xfrm>
              <a:off x="0" y="0"/>
              <a:ext cx="1023938" cy="100965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41" name="Google Shape;241;p23"/>
            <p:cNvSpPr/>
            <p:nvPr/>
          </p:nvSpPr>
          <p:spPr>
            <a:xfrm>
              <a:off x="219075" y="173037"/>
              <a:ext cx="150813" cy="150813"/>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42" name="Google Shape;242;p23"/>
            <p:cNvSpPr/>
            <p:nvPr/>
          </p:nvSpPr>
          <p:spPr>
            <a:xfrm>
              <a:off x="609600" y="655637"/>
              <a:ext cx="150813" cy="150813"/>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243" name="Google Shape;243;p23"/>
            <p:cNvCxnSpPr/>
            <p:nvPr/>
          </p:nvCxnSpPr>
          <p:spPr>
            <a:xfrm>
              <a:off x="339725" y="306387"/>
              <a:ext cx="288925" cy="368301"/>
            </a:xfrm>
            <a:prstGeom prst="straightConnector1">
              <a:avLst/>
            </a:prstGeom>
            <a:noFill/>
            <a:ln cap="flat" cmpd="sng" w="28575">
              <a:solidFill>
                <a:srgbClr val="FFFDA9"/>
              </a:solidFill>
              <a:prstDash val="solid"/>
              <a:round/>
              <a:headEnd len="sm" w="sm" type="none"/>
              <a:tailEnd len="sm" w="sm" type="none"/>
            </a:ln>
          </p:spPr>
        </p:cxnSp>
      </p:grpSp>
      <p:cxnSp>
        <p:nvCxnSpPr>
          <p:cNvPr id="244" name="Google Shape;244;p23"/>
          <p:cNvCxnSpPr/>
          <p:nvPr/>
        </p:nvCxnSpPr>
        <p:spPr>
          <a:xfrm rot="10800000">
            <a:off x="7026414" y="3175139"/>
            <a:ext cx="606300" cy="231600"/>
          </a:xfrm>
          <a:prstGeom prst="straightConnector1">
            <a:avLst/>
          </a:prstGeom>
          <a:noFill/>
          <a:ln cap="flat" cmpd="sng" w="9525">
            <a:solidFill>
              <a:srgbClr val="929292"/>
            </a:solidFill>
            <a:prstDash val="solid"/>
            <a:round/>
            <a:headEnd len="sm" w="sm" type="none"/>
            <a:tailEnd len="med" w="med" type="triangle"/>
          </a:ln>
        </p:spPr>
      </p:cxnSp>
      <p:sp>
        <p:nvSpPr>
          <p:cNvPr id="245" name="Google Shape;245;p23"/>
          <p:cNvSpPr/>
          <p:nvPr/>
        </p:nvSpPr>
        <p:spPr>
          <a:xfrm>
            <a:off x="392112" y="1055687"/>
            <a:ext cx="4775100" cy="406500"/>
          </a:xfrm>
          <a:prstGeom prst="rect">
            <a:avLst/>
          </a:prstGeom>
          <a:noFill/>
          <a:ln>
            <a:noFill/>
          </a:ln>
        </p:spPr>
        <p:txBody>
          <a:bodyPr anchorCtr="0" anchor="t" bIns="50800" lIns="50800" spcFirstLastPara="1" rIns="50800" wrap="square" tIns="50800">
            <a:noAutofit/>
          </a:bodyPr>
          <a:lstStyle/>
          <a:p>
            <a:pPr indent="-345440" lvl="0" marL="383540" marR="40639" rtl="0" algn="l">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Households can be in 1 of </a:t>
            </a:r>
            <a:r>
              <a:rPr lang="en-US" sz="2000">
                <a:latin typeface="Tahoma"/>
                <a:ea typeface="Tahoma"/>
                <a:cs typeface="Tahoma"/>
                <a:sym typeface="Tahoma"/>
              </a:rPr>
              <a:t>3</a:t>
            </a:r>
            <a:r>
              <a:rPr b="0" i="0" lang="en-US" sz="2000" u="none" cap="none" strike="noStrike">
                <a:solidFill>
                  <a:srgbClr val="000000"/>
                </a:solidFill>
                <a:latin typeface="Tahoma"/>
                <a:ea typeface="Tahoma"/>
                <a:cs typeface="Tahoma"/>
                <a:sym typeface="Tahoma"/>
              </a:rPr>
              <a:t> states:</a:t>
            </a:r>
            <a:endParaRPr/>
          </a:p>
        </p:txBody>
      </p:sp>
      <p:sp>
        <p:nvSpPr>
          <p:cNvPr id="246" name="Google Shape;246;p23"/>
          <p:cNvSpPr/>
          <p:nvPr/>
        </p:nvSpPr>
        <p:spPr>
          <a:xfrm>
            <a:off x="7165975" y="3313112"/>
            <a:ext cx="1587600" cy="3237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Arial"/>
              <a:buNone/>
            </a:pPr>
            <a:r>
              <a:rPr b="0" i="1" lang="en-US" sz="1600" u="none" cap="none" strike="noStrike">
                <a:solidFill>
                  <a:srgbClr val="000000"/>
                </a:solidFill>
                <a:latin typeface="Arial"/>
                <a:ea typeface="Arial"/>
                <a:cs typeface="Arial"/>
                <a:sym typeface="Arial"/>
              </a:rPr>
              <a:t>Infectious</a:t>
            </a:r>
            <a:endParaRPr/>
          </a:p>
        </p:txBody>
      </p:sp>
      <p:sp>
        <p:nvSpPr>
          <p:cNvPr id="247" name="Google Shape;247;p23"/>
          <p:cNvSpPr/>
          <p:nvPr/>
        </p:nvSpPr>
        <p:spPr>
          <a:xfrm>
            <a:off x="601652" y="3059100"/>
            <a:ext cx="1261800" cy="3237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Arial"/>
              <a:buNone/>
            </a:pPr>
            <a:r>
              <a:rPr b="0" i="1" lang="en-US" sz="1600" u="none" cap="none" strike="noStrike">
                <a:solidFill>
                  <a:srgbClr val="000000"/>
                </a:solidFill>
                <a:latin typeface="Arial"/>
                <a:ea typeface="Arial"/>
                <a:cs typeface="Arial"/>
                <a:sym typeface="Arial"/>
              </a:rPr>
              <a:t>Susceptible</a:t>
            </a:r>
            <a:endParaRPr/>
          </a:p>
        </p:txBody>
      </p:sp>
      <p:grpSp>
        <p:nvGrpSpPr>
          <p:cNvPr id="248" name="Google Shape;248;p23"/>
          <p:cNvGrpSpPr/>
          <p:nvPr/>
        </p:nvGrpSpPr>
        <p:grpSpPr>
          <a:xfrm>
            <a:off x="1482924" y="4194174"/>
            <a:ext cx="2476680" cy="936514"/>
            <a:chOff x="-838201" y="-36513"/>
            <a:chExt cx="2476680" cy="936514"/>
          </a:xfrm>
        </p:grpSpPr>
        <p:grpSp>
          <p:nvGrpSpPr>
            <p:cNvPr id="249" name="Google Shape;249;p23"/>
            <p:cNvGrpSpPr/>
            <p:nvPr/>
          </p:nvGrpSpPr>
          <p:grpSpPr>
            <a:xfrm>
              <a:off x="-838201" y="0"/>
              <a:ext cx="916782" cy="900001"/>
              <a:chOff x="-838200" y="0"/>
              <a:chExt cx="916781" cy="900000"/>
            </a:xfrm>
          </p:grpSpPr>
          <p:sp>
            <p:nvSpPr>
              <p:cNvPr id="250" name="Google Shape;250;p23"/>
              <p:cNvSpPr/>
              <p:nvPr/>
            </p:nvSpPr>
            <p:spPr>
              <a:xfrm>
                <a:off x="-838200" y="0"/>
                <a:ext cx="906600" cy="900000"/>
              </a:xfrm>
              <a:prstGeom prst="rect">
                <a:avLst/>
              </a:prstGeom>
              <a:noFill/>
              <a:ln cap="flat" cmpd="sng" w="19050">
                <a:solidFill>
                  <a:srgbClr val="000000"/>
                </a:solidFill>
                <a:prstDash val="solid"/>
                <a:miter lim="8000"/>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51" name="Google Shape;251;p23"/>
              <p:cNvSpPr/>
              <p:nvPr/>
            </p:nvSpPr>
            <p:spPr>
              <a:xfrm>
                <a:off x="-835819" y="248179"/>
                <a:ext cx="914400" cy="406500"/>
              </a:xfrm>
              <a:prstGeom prst="rect">
                <a:avLst/>
              </a:prstGeom>
              <a:noFill/>
              <a:ln>
                <a:noFill/>
              </a:ln>
            </p:spPr>
            <p:txBody>
              <a:bodyPr anchorCtr="0" anchor="ctr" bIns="50800" lIns="50800" spcFirstLastPara="1" rIns="50800" wrap="square" tIns="50800">
                <a:noAutofit/>
              </a:bodyPr>
              <a:lstStyle/>
              <a:p>
                <a:pPr indent="-2539" lvl="0" marL="40639" marR="40639" rtl="0" algn="ctr">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SS</a:t>
                </a:r>
                <a:endParaRPr/>
              </a:p>
            </p:txBody>
          </p:sp>
        </p:grpSp>
        <p:cxnSp>
          <p:nvCxnSpPr>
            <p:cNvPr id="252" name="Google Shape;252;p23"/>
            <p:cNvCxnSpPr/>
            <p:nvPr/>
          </p:nvCxnSpPr>
          <p:spPr>
            <a:xfrm>
              <a:off x="217079" y="450638"/>
              <a:ext cx="1421400" cy="1500"/>
            </a:xfrm>
            <a:prstGeom prst="straightConnector1">
              <a:avLst/>
            </a:prstGeom>
            <a:noFill/>
            <a:ln cap="flat" cmpd="sng" w="9525">
              <a:solidFill>
                <a:srgbClr val="000000"/>
              </a:solidFill>
              <a:prstDash val="solid"/>
              <a:round/>
              <a:headEnd len="sm" w="sm" type="none"/>
              <a:tailEnd len="med" w="med" type="triangle"/>
            </a:ln>
          </p:spPr>
        </p:cxnSp>
        <p:sp>
          <p:nvSpPr>
            <p:cNvPr id="253" name="Google Shape;253;p23"/>
            <p:cNvSpPr/>
            <p:nvPr/>
          </p:nvSpPr>
          <p:spPr>
            <a:xfrm>
              <a:off x="166687" y="-36513"/>
              <a:ext cx="1155600" cy="431100"/>
            </a:xfrm>
            <a:prstGeom prst="rect">
              <a:avLst/>
            </a:prstGeom>
            <a:noFill/>
            <a:ln>
              <a:noFill/>
            </a:ln>
          </p:spPr>
          <p:txBody>
            <a:bodyPr anchorCtr="0" anchor="t" bIns="50800" lIns="50800" spcFirstLastPara="1" rIns="50800" wrap="square" tIns="50800">
              <a:noAutofit/>
            </a:bodyPr>
            <a:lstStyle/>
            <a:p>
              <a:pPr indent="-2539" lvl="0" marL="40639" marR="40639" rtl="0" algn="r">
                <a:lnSpc>
                  <a:spcPct val="100000"/>
                </a:lnSpc>
                <a:spcBef>
                  <a:spcPts val="0"/>
                </a:spcBef>
                <a:spcAft>
                  <a:spcPts val="0"/>
                </a:spcAft>
                <a:buClr>
                  <a:srgbClr val="000000"/>
                </a:buClr>
                <a:buFont typeface="Noto Sans Symbols"/>
                <a:buNone/>
              </a:pPr>
              <a:r>
                <a:rPr lang="en-US" sz="2000">
                  <a:latin typeface="Noto Sans Symbols"/>
                  <a:ea typeface="Noto Sans Symbols"/>
                  <a:cs typeface="Noto Sans Symbols"/>
                  <a:sym typeface="Noto Sans Symbols"/>
                </a:rPr>
                <a:t>2</a:t>
              </a:r>
              <a:r>
                <a:rPr b="0" i="0" lang="en-US" sz="2000" u="none" cap="none" strike="noStrike">
                  <a:solidFill>
                    <a:srgbClr val="000000"/>
                  </a:solidFill>
                  <a:latin typeface="Noto Sans Symbols"/>
                  <a:ea typeface="Noto Sans Symbols"/>
                  <a:cs typeface="Noto Sans Symbols"/>
                  <a:sym typeface="Noto Sans Symbols"/>
                </a:rPr>
                <a:t>β</a:t>
              </a:r>
              <a:r>
                <a:rPr b="0" baseline="-25000" i="1" lang="en-US" sz="2000" u="none" cap="none" strike="noStrike">
                  <a:solidFill>
                    <a:srgbClr val="000000"/>
                  </a:solidFill>
                  <a:latin typeface="Times New Roman"/>
                  <a:ea typeface="Times New Roman"/>
                  <a:cs typeface="Times New Roman"/>
                  <a:sym typeface="Times New Roman"/>
                </a:rPr>
                <a:t>c</a:t>
              </a:r>
              <a:r>
                <a:rPr b="0" i="1" lang="en-US" sz="2000" u="none" cap="none" strike="noStrike">
                  <a:solidFill>
                    <a:srgbClr val="000000"/>
                  </a:solidFill>
                  <a:latin typeface="Times New Roman"/>
                  <a:ea typeface="Times New Roman"/>
                  <a:cs typeface="Times New Roman"/>
                  <a:sym typeface="Times New Roman"/>
                </a:rPr>
                <a:t>I</a:t>
              </a:r>
              <a:r>
                <a:rPr b="0" baseline="-25000" i="1" lang="en-US" sz="2000" u="none" cap="none" strike="noStrike">
                  <a:solidFill>
                    <a:srgbClr val="000000"/>
                  </a:solidFill>
                  <a:latin typeface="Times New Roman"/>
                  <a:ea typeface="Times New Roman"/>
                  <a:cs typeface="Times New Roman"/>
                  <a:sym typeface="Times New Roman"/>
                </a:rPr>
                <a:t>t </a:t>
              </a:r>
              <a:r>
                <a:rPr b="0" i="1" lang="en-US" sz="2000" u="none" cap="none" strike="noStrike">
                  <a:solidFill>
                    <a:srgbClr val="000000"/>
                  </a:solidFill>
                  <a:latin typeface="Times New Roman"/>
                  <a:ea typeface="Times New Roman"/>
                  <a:cs typeface="Times New Roman"/>
                  <a:sym typeface="Times New Roman"/>
                </a:rPr>
                <a:t>/N</a:t>
              </a:r>
              <a:endParaRPr/>
            </a:p>
          </p:txBody>
        </p:sp>
        <p:sp>
          <p:nvSpPr>
            <p:cNvPr id="254" name="Google Shape;254;p23"/>
            <p:cNvSpPr/>
            <p:nvPr/>
          </p:nvSpPr>
          <p:spPr>
            <a:xfrm>
              <a:off x="311943" y="539750"/>
              <a:ext cx="1155600" cy="355500"/>
            </a:xfrm>
            <a:prstGeom prst="rect">
              <a:avLst/>
            </a:prstGeom>
            <a:noFill/>
            <a:ln>
              <a:noFill/>
            </a:ln>
          </p:spPr>
          <p:txBody>
            <a:bodyPr anchorCtr="0" anchor="t" bIns="50800" lIns="50800" spcFirstLastPara="1" rIns="50800" wrap="square" tIns="50800">
              <a:noAutofit/>
            </a:bodyPr>
            <a:lstStyle/>
            <a:p>
              <a:pPr indent="-2539" lvl="0" marL="40639" marR="40639" rtl="0" algn="ctr">
                <a:lnSpc>
                  <a:spcPct val="100000"/>
                </a:lnSpc>
                <a:spcBef>
                  <a:spcPts val="0"/>
                </a:spcBef>
                <a:spcAft>
                  <a:spcPts val="0"/>
                </a:spcAft>
                <a:buClr>
                  <a:srgbClr val="000000"/>
                </a:buClr>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α</a:t>
              </a:r>
              <a:endParaRPr/>
            </a:p>
          </p:txBody>
        </p:sp>
        <p:cxnSp>
          <p:nvCxnSpPr>
            <p:cNvPr id="255" name="Google Shape;255;p23"/>
            <p:cNvCxnSpPr/>
            <p:nvPr/>
          </p:nvCxnSpPr>
          <p:spPr>
            <a:xfrm flipH="1">
              <a:off x="204160" y="615938"/>
              <a:ext cx="1421400" cy="1500"/>
            </a:xfrm>
            <a:prstGeom prst="straightConnector1">
              <a:avLst/>
            </a:prstGeom>
            <a:noFill/>
            <a:ln cap="flat" cmpd="sng" w="9525">
              <a:solidFill>
                <a:srgbClr val="000000"/>
              </a:solidFill>
              <a:prstDash val="solid"/>
              <a:round/>
              <a:headEnd len="sm" w="sm" type="none"/>
              <a:tailEnd len="med" w="med" type="triangle"/>
            </a:ln>
          </p:spPr>
        </p:cxnSp>
      </p:grpSp>
      <p:grpSp>
        <p:nvGrpSpPr>
          <p:cNvPr id="256" name="Google Shape;256;p23"/>
          <p:cNvGrpSpPr/>
          <p:nvPr/>
        </p:nvGrpSpPr>
        <p:grpSpPr>
          <a:xfrm>
            <a:off x="6754812" y="4230687"/>
            <a:ext cx="916782" cy="900113"/>
            <a:chOff x="0" y="0"/>
            <a:chExt cx="916782" cy="900113"/>
          </a:xfrm>
        </p:grpSpPr>
        <p:sp>
          <p:nvSpPr>
            <p:cNvPr id="257" name="Google Shape;257;p23"/>
            <p:cNvSpPr/>
            <p:nvPr/>
          </p:nvSpPr>
          <p:spPr>
            <a:xfrm>
              <a:off x="0" y="0"/>
              <a:ext cx="906463" cy="900113"/>
            </a:xfrm>
            <a:prstGeom prst="rect">
              <a:avLst/>
            </a:prstGeom>
            <a:noFill/>
            <a:ln cap="flat" cmpd="sng" w="19050">
              <a:solidFill>
                <a:srgbClr val="000000"/>
              </a:solidFill>
              <a:prstDash val="solid"/>
              <a:miter lim="8000"/>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58" name="Google Shape;258;p23"/>
            <p:cNvSpPr/>
            <p:nvPr/>
          </p:nvSpPr>
          <p:spPr>
            <a:xfrm>
              <a:off x="2381" y="248179"/>
              <a:ext cx="914401" cy="406401"/>
            </a:xfrm>
            <a:prstGeom prst="rect">
              <a:avLst/>
            </a:prstGeom>
            <a:noFill/>
            <a:ln>
              <a:noFill/>
            </a:ln>
          </p:spPr>
          <p:txBody>
            <a:bodyPr anchorCtr="0" anchor="ctr" bIns="50800" lIns="50800" spcFirstLastPara="1" rIns="50800" wrap="square" tIns="50800">
              <a:noAutofit/>
            </a:bodyPr>
            <a:lstStyle/>
            <a:p>
              <a:pPr indent="-2539" lvl="0" marL="40639" marR="40639" rtl="0" algn="ctr">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II</a:t>
              </a:r>
              <a:endParaRPr/>
            </a:p>
          </p:txBody>
        </p:sp>
      </p:grpSp>
      <p:grpSp>
        <p:nvGrpSpPr>
          <p:cNvPr id="259" name="Google Shape;259;p23"/>
          <p:cNvGrpSpPr/>
          <p:nvPr/>
        </p:nvGrpSpPr>
        <p:grpSpPr>
          <a:xfrm>
            <a:off x="2883562" y="2786062"/>
            <a:ext cx="1023938" cy="209462"/>
            <a:chOff x="-40640" y="0"/>
            <a:chExt cx="546100" cy="209462"/>
          </a:xfrm>
        </p:grpSpPr>
        <p:cxnSp>
          <p:nvCxnSpPr>
            <p:cNvPr id="260" name="Google Shape;260;p23"/>
            <p:cNvCxnSpPr/>
            <p:nvPr/>
          </p:nvCxnSpPr>
          <p:spPr>
            <a:xfrm>
              <a:off x="-40640" y="0"/>
              <a:ext cx="546000" cy="1500"/>
            </a:xfrm>
            <a:prstGeom prst="straightConnector1">
              <a:avLst/>
            </a:prstGeom>
            <a:noFill/>
            <a:ln cap="flat" cmpd="sng" w="9525">
              <a:solidFill>
                <a:srgbClr val="000000"/>
              </a:solidFill>
              <a:prstDash val="solid"/>
              <a:round/>
              <a:headEnd len="sm" w="sm" type="none"/>
              <a:tailEnd len="med" w="med" type="triangle"/>
            </a:ln>
          </p:spPr>
        </p:cxnSp>
        <p:cxnSp>
          <p:nvCxnSpPr>
            <p:cNvPr id="261" name="Google Shape;261;p23"/>
            <p:cNvCxnSpPr/>
            <p:nvPr/>
          </p:nvCxnSpPr>
          <p:spPr>
            <a:xfrm flipH="1">
              <a:off x="-40540" y="207962"/>
              <a:ext cx="546000" cy="1500"/>
            </a:xfrm>
            <a:prstGeom prst="straightConnector1">
              <a:avLst/>
            </a:prstGeom>
            <a:noFill/>
            <a:ln cap="flat" cmpd="sng" w="9525">
              <a:solidFill>
                <a:srgbClr val="000000"/>
              </a:solidFill>
              <a:prstDash val="solid"/>
              <a:round/>
              <a:headEnd len="sm" w="sm" type="none"/>
              <a:tailEnd len="med" w="med" type="triangle"/>
            </a:ln>
          </p:spPr>
        </p:cxnSp>
      </p:grpSp>
      <p:sp>
        <p:nvSpPr>
          <p:cNvPr id="262" name="Google Shape;262;p23"/>
          <p:cNvSpPr/>
          <p:nvPr/>
        </p:nvSpPr>
        <p:spPr>
          <a:xfrm>
            <a:off x="1998400" y="1687600"/>
            <a:ext cx="2184300" cy="5523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A8AA"/>
              </a:buClr>
              <a:buFont typeface="Arial"/>
              <a:buNone/>
            </a:pPr>
            <a:r>
              <a:rPr b="1" i="1" lang="en-US" sz="1600" u="none" cap="none" strike="noStrike">
                <a:solidFill>
                  <a:srgbClr val="00A8AA"/>
                </a:solidFill>
                <a:latin typeface="Arial"/>
                <a:ea typeface="Arial"/>
                <a:cs typeface="Arial"/>
                <a:sym typeface="Arial"/>
              </a:rPr>
              <a:t>Infection from random contacts</a:t>
            </a:r>
            <a:endParaRPr/>
          </a:p>
        </p:txBody>
      </p:sp>
      <p:cxnSp>
        <p:nvCxnSpPr>
          <p:cNvPr id="263" name="Google Shape;263;p23"/>
          <p:cNvCxnSpPr/>
          <p:nvPr/>
        </p:nvCxnSpPr>
        <p:spPr>
          <a:xfrm>
            <a:off x="3267675" y="2302125"/>
            <a:ext cx="113700" cy="422100"/>
          </a:xfrm>
          <a:prstGeom prst="straightConnector1">
            <a:avLst/>
          </a:prstGeom>
          <a:noFill/>
          <a:ln cap="flat" cmpd="sng" w="9525">
            <a:solidFill>
              <a:srgbClr val="929292"/>
            </a:solidFill>
            <a:prstDash val="solid"/>
            <a:round/>
            <a:headEnd len="sm" w="sm" type="none"/>
            <a:tailEnd len="med" w="med" type="triangle"/>
          </a:ln>
        </p:spPr>
      </p:cxnSp>
      <p:sp>
        <p:nvSpPr>
          <p:cNvPr id="264" name="Google Shape;264;p23"/>
          <p:cNvSpPr/>
          <p:nvPr/>
        </p:nvSpPr>
        <p:spPr>
          <a:xfrm>
            <a:off x="5086350" y="1651287"/>
            <a:ext cx="3238500" cy="5523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A8AA"/>
              </a:buClr>
              <a:buFont typeface="Arial"/>
              <a:buNone/>
            </a:pPr>
            <a:r>
              <a:rPr b="1" i="1" lang="en-US" sz="1600" u="none" cap="none" strike="noStrike">
                <a:solidFill>
                  <a:srgbClr val="00A8AA"/>
                </a:solidFill>
                <a:latin typeface="Arial"/>
                <a:ea typeface="Arial"/>
                <a:cs typeface="Arial"/>
                <a:sym typeface="Arial"/>
              </a:rPr>
              <a:t>Infection from random contacts + household contacts</a:t>
            </a:r>
            <a:endParaRPr/>
          </a:p>
        </p:txBody>
      </p:sp>
      <p:cxnSp>
        <p:nvCxnSpPr>
          <p:cNvPr id="265" name="Google Shape;265;p23"/>
          <p:cNvCxnSpPr/>
          <p:nvPr/>
        </p:nvCxnSpPr>
        <p:spPr>
          <a:xfrm flipH="1">
            <a:off x="5697513" y="2225675"/>
            <a:ext cx="92100" cy="492000"/>
          </a:xfrm>
          <a:prstGeom prst="straightConnector1">
            <a:avLst/>
          </a:prstGeom>
          <a:noFill/>
          <a:ln cap="flat" cmpd="sng" w="9525">
            <a:solidFill>
              <a:srgbClr val="929292"/>
            </a:solidFill>
            <a:prstDash val="solid"/>
            <a:round/>
            <a:headEnd len="sm" w="sm" type="none"/>
            <a:tailEnd len="med" w="med" type="triangle"/>
          </a:ln>
        </p:spPr>
      </p:cxnSp>
      <p:sp>
        <p:nvSpPr>
          <p:cNvPr id="266" name="Google Shape;266;p23"/>
          <p:cNvSpPr/>
          <p:nvPr/>
        </p:nvSpPr>
        <p:spPr>
          <a:xfrm>
            <a:off x="2603500" y="3394075"/>
            <a:ext cx="2514600" cy="3237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A8AA"/>
              </a:buClr>
              <a:buFont typeface="Arial"/>
              <a:buNone/>
            </a:pPr>
            <a:r>
              <a:rPr b="1" i="1" lang="en-US" sz="1600" u="none" cap="none" strike="noStrike">
                <a:solidFill>
                  <a:srgbClr val="00A8AA"/>
                </a:solidFill>
                <a:latin typeface="Arial"/>
                <a:ea typeface="Arial"/>
                <a:cs typeface="Arial"/>
                <a:sym typeface="Arial"/>
              </a:rPr>
              <a:t>Recovery</a:t>
            </a:r>
            <a:endParaRPr/>
          </a:p>
        </p:txBody>
      </p:sp>
      <p:cxnSp>
        <p:nvCxnSpPr>
          <p:cNvPr id="267" name="Google Shape;267;p23"/>
          <p:cNvCxnSpPr/>
          <p:nvPr/>
        </p:nvCxnSpPr>
        <p:spPr>
          <a:xfrm rot="10800000">
            <a:off x="3170363" y="3027300"/>
            <a:ext cx="34800" cy="363600"/>
          </a:xfrm>
          <a:prstGeom prst="straightConnector1">
            <a:avLst/>
          </a:prstGeom>
          <a:noFill/>
          <a:ln cap="flat" cmpd="sng" w="9525">
            <a:solidFill>
              <a:srgbClr val="929292"/>
            </a:solidFill>
            <a:prstDash val="solid"/>
            <a:round/>
            <a:headEnd len="sm" w="sm" type="none"/>
            <a:tailEnd len="med" w="med" type="triangle"/>
          </a:ln>
        </p:spPr>
      </p:cxnSp>
      <p:cxnSp>
        <p:nvCxnSpPr>
          <p:cNvPr id="268" name="Google Shape;268;p23"/>
          <p:cNvCxnSpPr/>
          <p:nvPr/>
        </p:nvCxnSpPr>
        <p:spPr>
          <a:xfrm flipH="1" rot="10800000">
            <a:off x="1367700" y="2690775"/>
            <a:ext cx="568800" cy="428100"/>
          </a:xfrm>
          <a:prstGeom prst="straightConnector1">
            <a:avLst/>
          </a:prstGeom>
          <a:noFill/>
          <a:ln cap="flat" cmpd="sng" w="9525">
            <a:solidFill>
              <a:srgbClr val="929292"/>
            </a:solidFill>
            <a:prstDash val="solid"/>
            <a:round/>
            <a:headEnd len="sm" w="sm" type="none"/>
            <a:tailEnd len="med" w="med" type="triangle"/>
          </a:ln>
        </p:spPr>
      </p:cxnSp>
      <p:grpSp>
        <p:nvGrpSpPr>
          <p:cNvPr id="269" name="Google Shape;269;p23"/>
          <p:cNvGrpSpPr/>
          <p:nvPr/>
        </p:nvGrpSpPr>
        <p:grpSpPr>
          <a:xfrm>
            <a:off x="5093362" y="2786062"/>
            <a:ext cx="1023938" cy="209462"/>
            <a:chOff x="-40640" y="0"/>
            <a:chExt cx="546100" cy="209462"/>
          </a:xfrm>
        </p:grpSpPr>
        <p:cxnSp>
          <p:nvCxnSpPr>
            <p:cNvPr id="270" name="Google Shape;270;p23"/>
            <p:cNvCxnSpPr/>
            <p:nvPr/>
          </p:nvCxnSpPr>
          <p:spPr>
            <a:xfrm>
              <a:off x="-40640" y="0"/>
              <a:ext cx="546000" cy="1500"/>
            </a:xfrm>
            <a:prstGeom prst="straightConnector1">
              <a:avLst/>
            </a:prstGeom>
            <a:noFill/>
            <a:ln cap="flat" cmpd="sng" w="9525">
              <a:solidFill>
                <a:srgbClr val="000000"/>
              </a:solidFill>
              <a:prstDash val="solid"/>
              <a:round/>
              <a:headEnd len="sm" w="sm" type="none"/>
              <a:tailEnd len="med" w="med" type="triangle"/>
            </a:ln>
          </p:spPr>
        </p:cxnSp>
        <p:cxnSp>
          <p:nvCxnSpPr>
            <p:cNvPr id="271" name="Google Shape;271;p23"/>
            <p:cNvCxnSpPr/>
            <p:nvPr/>
          </p:nvCxnSpPr>
          <p:spPr>
            <a:xfrm flipH="1">
              <a:off x="-40540" y="207962"/>
              <a:ext cx="546000" cy="1500"/>
            </a:xfrm>
            <a:prstGeom prst="straightConnector1">
              <a:avLst/>
            </a:prstGeom>
            <a:noFill/>
            <a:ln cap="flat" cmpd="sng" w="9525">
              <a:solidFill>
                <a:srgbClr val="000000"/>
              </a:solidFill>
              <a:prstDash val="solid"/>
              <a:round/>
              <a:headEnd len="sm" w="sm" type="none"/>
              <a:tailEnd len="med" w="med" type="triangle"/>
            </a:ln>
          </p:spPr>
        </p:cxnSp>
      </p:grpSp>
      <p:grpSp>
        <p:nvGrpSpPr>
          <p:cNvPr id="272" name="Google Shape;272;p23"/>
          <p:cNvGrpSpPr/>
          <p:nvPr/>
        </p:nvGrpSpPr>
        <p:grpSpPr>
          <a:xfrm>
            <a:off x="4121150" y="4194175"/>
            <a:ext cx="2480574" cy="1007962"/>
            <a:chOff x="0" y="-36512"/>
            <a:chExt cx="2480574" cy="1007962"/>
          </a:xfrm>
        </p:grpSpPr>
        <p:grpSp>
          <p:nvGrpSpPr>
            <p:cNvPr id="273" name="Google Shape;273;p23"/>
            <p:cNvGrpSpPr/>
            <p:nvPr/>
          </p:nvGrpSpPr>
          <p:grpSpPr>
            <a:xfrm>
              <a:off x="0" y="0"/>
              <a:ext cx="916781" cy="900000"/>
              <a:chOff x="0" y="0"/>
              <a:chExt cx="916781" cy="900000"/>
            </a:xfrm>
          </p:grpSpPr>
          <p:sp>
            <p:nvSpPr>
              <p:cNvPr id="274" name="Google Shape;274;p23"/>
              <p:cNvSpPr/>
              <p:nvPr/>
            </p:nvSpPr>
            <p:spPr>
              <a:xfrm>
                <a:off x="0" y="0"/>
                <a:ext cx="906600" cy="900000"/>
              </a:xfrm>
              <a:prstGeom prst="rect">
                <a:avLst/>
              </a:prstGeom>
              <a:noFill/>
              <a:ln cap="flat" cmpd="sng" w="19050">
                <a:solidFill>
                  <a:srgbClr val="000000"/>
                </a:solidFill>
                <a:prstDash val="solid"/>
                <a:miter lim="8000"/>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75" name="Google Shape;275;p23"/>
              <p:cNvSpPr/>
              <p:nvPr/>
            </p:nvSpPr>
            <p:spPr>
              <a:xfrm>
                <a:off x="2381" y="248179"/>
                <a:ext cx="914400" cy="406500"/>
              </a:xfrm>
              <a:prstGeom prst="rect">
                <a:avLst/>
              </a:prstGeom>
              <a:noFill/>
              <a:ln>
                <a:noFill/>
              </a:ln>
            </p:spPr>
            <p:txBody>
              <a:bodyPr anchorCtr="0" anchor="ctr" bIns="50800" lIns="50800" spcFirstLastPara="1" rIns="50800" wrap="square" tIns="50800">
                <a:noAutofit/>
              </a:bodyPr>
              <a:lstStyle/>
              <a:p>
                <a:pPr indent="-2539" lvl="0" marL="40639" marR="40639" rtl="0" algn="ctr">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SI</a:t>
                </a:r>
                <a:endParaRPr/>
              </a:p>
            </p:txBody>
          </p:sp>
        </p:grpSp>
        <p:sp>
          <p:nvSpPr>
            <p:cNvPr id="276" name="Google Shape;276;p23"/>
            <p:cNvSpPr/>
            <p:nvPr/>
          </p:nvSpPr>
          <p:spPr>
            <a:xfrm>
              <a:off x="1226343" y="615950"/>
              <a:ext cx="1155600" cy="355500"/>
            </a:xfrm>
            <a:prstGeom prst="rect">
              <a:avLst/>
            </a:prstGeom>
            <a:noFill/>
            <a:ln>
              <a:noFill/>
            </a:ln>
          </p:spPr>
          <p:txBody>
            <a:bodyPr anchorCtr="0" anchor="t" bIns="50800" lIns="50800" spcFirstLastPara="1" rIns="50800" wrap="square" tIns="50800">
              <a:noAutofit/>
            </a:bodyPr>
            <a:lstStyle/>
            <a:p>
              <a:pPr indent="-2539" lvl="0" marL="40639" marR="40639" rtl="0" algn="ctr">
                <a:lnSpc>
                  <a:spcPct val="100000"/>
                </a:lnSpc>
                <a:spcBef>
                  <a:spcPts val="0"/>
                </a:spcBef>
                <a:spcAft>
                  <a:spcPts val="0"/>
                </a:spcAft>
                <a:buClr>
                  <a:srgbClr val="000000"/>
                </a:buClr>
                <a:buFont typeface="Noto Sans Symbols"/>
                <a:buNone/>
              </a:pPr>
              <a:r>
                <a:rPr b="0" i="0" lang="en-US" sz="2000" u="none" cap="none" strike="noStrike">
                  <a:solidFill>
                    <a:srgbClr val="000000"/>
                  </a:solidFill>
                  <a:latin typeface="Noto Sans Symbols"/>
                  <a:ea typeface="Noto Sans Symbols"/>
                  <a:cs typeface="Noto Sans Symbols"/>
                  <a:sym typeface="Noto Sans Symbols"/>
                </a:rPr>
                <a:t>2α</a:t>
              </a:r>
              <a:endParaRPr/>
            </a:p>
          </p:txBody>
        </p:sp>
        <p:sp>
          <p:nvSpPr>
            <p:cNvPr id="277" name="Google Shape;277;p23"/>
            <p:cNvSpPr/>
            <p:nvPr/>
          </p:nvSpPr>
          <p:spPr>
            <a:xfrm>
              <a:off x="1167474" y="-36512"/>
              <a:ext cx="1313100" cy="4311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00000"/>
                </a:buClr>
                <a:buFont typeface="Noto Sans Symbols"/>
                <a:buNone/>
              </a:pPr>
              <a:r>
                <a:rPr lang="en-US" sz="2000">
                  <a:solidFill>
                    <a:schemeClr val="dk1"/>
                  </a:solidFill>
                  <a:latin typeface="Noto Sans Symbols"/>
                  <a:ea typeface="Noto Sans Symbols"/>
                  <a:cs typeface="Noto Sans Symbols"/>
                  <a:sym typeface="Noto Sans Symbols"/>
                </a:rPr>
                <a:t>β</a:t>
              </a:r>
              <a:r>
                <a:rPr baseline="-25000" i="1" lang="en-US" sz="2000">
                  <a:solidFill>
                    <a:schemeClr val="dk1"/>
                  </a:solidFill>
                  <a:latin typeface="Times New Roman"/>
                  <a:ea typeface="Times New Roman"/>
                  <a:cs typeface="Times New Roman"/>
                  <a:sym typeface="Times New Roman"/>
                </a:rPr>
                <a:t>h</a:t>
              </a:r>
              <a:r>
                <a:rPr i="1" lang="en-US" sz="2000">
                  <a:solidFill>
                    <a:schemeClr val="dk1"/>
                  </a:solidFill>
                  <a:latin typeface="Times New Roman"/>
                  <a:ea typeface="Times New Roman"/>
                  <a:cs typeface="Times New Roman"/>
                  <a:sym typeface="Times New Roman"/>
                </a:rPr>
                <a:t>+</a:t>
              </a:r>
              <a:r>
                <a:rPr b="0" i="0" lang="en-US" sz="2000" u="none" cap="none" strike="noStrike">
                  <a:solidFill>
                    <a:srgbClr val="000000"/>
                  </a:solidFill>
                  <a:latin typeface="Noto Sans Symbols"/>
                  <a:ea typeface="Noto Sans Symbols"/>
                  <a:cs typeface="Noto Sans Symbols"/>
                  <a:sym typeface="Noto Sans Symbols"/>
                </a:rPr>
                <a:t>β</a:t>
              </a:r>
              <a:r>
                <a:rPr b="0" baseline="-25000" i="1" lang="en-US" sz="2000" u="none" cap="none" strike="noStrike">
                  <a:solidFill>
                    <a:srgbClr val="000000"/>
                  </a:solidFill>
                  <a:latin typeface="Times New Roman"/>
                  <a:ea typeface="Times New Roman"/>
                  <a:cs typeface="Times New Roman"/>
                  <a:sym typeface="Times New Roman"/>
                </a:rPr>
                <a:t>c</a:t>
              </a:r>
              <a:r>
                <a:rPr b="0" i="1" lang="en-US" sz="2000" u="none" cap="none" strike="noStrike">
                  <a:solidFill>
                    <a:srgbClr val="000000"/>
                  </a:solidFill>
                  <a:latin typeface="Times New Roman"/>
                  <a:ea typeface="Times New Roman"/>
                  <a:cs typeface="Times New Roman"/>
                  <a:sym typeface="Times New Roman"/>
                </a:rPr>
                <a:t>I</a:t>
              </a:r>
              <a:r>
                <a:rPr b="0" baseline="-25000" i="1" lang="en-US" sz="2000" u="none" cap="none" strike="noStrike">
                  <a:solidFill>
                    <a:srgbClr val="000000"/>
                  </a:solidFill>
                  <a:latin typeface="Times New Roman"/>
                  <a:ea typeface="Times New Roman"/>
                  <a:cs typeface="Times New Roman"/>
                  <a:sym typeface="Times New Roman"/>
                </a:rPr>
                <a:t>t </a:t>
              </a:r>
              <a:r>
                <a:rPr b="0" i="1" lang="en-US" sz="2000" u="none" cap="none" strike="noStrike">
                  <a:solidFill>
                    <a:srgbClr val="000000"/>
                  </a:solidFill>
                  <a:latin typeface="Times New Roman"/>
                  <a:ea typeface="Times New Roman"/>
                  <a:cs typeface="Times New Roman"/>
                  <a:sym typeface="Times New Roman"/>
                </a:rPr>
                <a:t>/N</a:t>
              </a:r>
              <a:endParaRPr/>
            </a:p>
          </p:txBody>
        </p:sp>
      </p:grpSp>
      <p:grpSp>
        <p:nvGrpSpPr>
          <p:cNvPr id="278" name="Google Shape;278;p23"/>
          <p:cNvGrpSpPr/>
          <p:nvPr/>
        </p:nvGrpSpPr>
        <p:grpSpPr>
          <a:xfrm>
            <a:off x="5192285" y="4681325"/>
            <a:ext cx="1434319" cy="166800"/>
            <a:chOff x="204160" y="450638"/>
            <a:chExt cx="1434319" cy="166800"/>
          </a:xfrm>
        </p:grpSpPr>
        <p:cxnSp>
          <p:nvCxnSpPr>
            <p:cNvPr id="279" name="Google Shape;279;p23"/>
            <p:cNvCxnSpPr/>
            <p:nvPr/>
          </p:nvCxnSpPr>
          <p:spPr>
            <a:xfrm>
              <a:off x="217079" y="450638"/>
              <a:ext cx="1421400" cy="1500"/>
            </a:xfrm>
            <a:prstGeom prst="straightConnector1">
              <a:avLst/>
            </a:prstGeom>
            <a:noFill/>
            <a:ln cap="flat" cmpd="sng" w="9525">
              <a:solidFill>
                <a:srgbClr val="000000"/>
              </a:solidFill>
              <a:prstDash val="solid"/>
              <a:round/>
              <a:headEnd len="sm" w="sm" type="none"/>
              <a:tailEnd len="med" w="med" type="triangle"/>
            </a:ln>
          </p:spPr>
        </p:cxnSp>
        <p:cxnSp>
          <p:nvCxnSpPr>
            <p:cNvPr id="280" name="Google Shape;280;p23"/>
            <p:cNvCxnSpPr/>
            <p:nvPr/>
          </p:nvCxnSpPr>
          <p:spPr>
            <a:xfrm flipH="1">
              <a:off x="204160" y="615938"/>
              <a:ext cx="1421400" cy="1500"/>
            </a:xfrm>
            <a:prstGeom prst="straightConnector1">
              <a:avLst/>
            </a:prstGeom>
            <a:noFill/>
            <a:ln cap="flat" cmpd="sng" w="9525">
              <a:solidFill>
                <a:srgbClr val="000000"/>
              </a:solidFill>
              <a:prstDash val="solid"/>
              <a:round/>
              <a:headEnd len="sm" w="sm" type="none"/>
              <a:tailEnd len="med" w="med" type="triangle"/>
            </a:ln>
          </p:spPr>
        </p:cxnSp>
      </p:grpSp>
      <p:sp>
        <p:nvSpPr>
          <p:cNvPr id="281" name="Google Shape;281;p23"/>
          <p:cNvSpPr txBox="1"/>
          <p:nvPr/>
        </p:nvSpPr>
        <p:spPr>
          <a:xfrm>
            <a:off x="868600" y="5520100"/>
            <a:ext cx="7456200" cy="1114800"/>
          </a:xfrm>
          <a:prstGeom prst="rect">
            <a:avLst/>
          </a:prstGeom>
          <a:noFill/>
          <a:ln>
            <a:noFill/>
          </a:ln>
        </p:spPr>
        <p:txBody>
          <a:bodyPr anchorCtr="0" anchor="t" bIns="91425" lIns="91425" spcFirstLastPara="1" rIns="91425" wrap="square" tIns="91425">
            <a:noAutofit/>
          </a:bodyPr>
          <a:lstStyle/>
          <a:p>
            <a:pPr indent="-2538" lvl="0" marL="40638" marR="40638" rtl="0" algn="l">
              <a:spcBef>
                <a:spcPts val="0"/>
              </a:spcBef>
              <a:spcAft>
                <a:spcPts val="0"/>
              </a:spcAft>
              <a:buNone/>
            </a:pPr>
            <a:r>
              <a:rPr lang="en-US" sz="1800">
                <a:solidFill>
                  <a:schemeClr val="dk1"/>
                </a:solidFill>
              </a:rPr>
              <a:t>Random contact parameter  </a:t>
            </a:r>
            <a:r>
              <a:rPr lang="en-US" sz="2000">
                <a:solidFill>
                  <a:schemeClr val="dk1"/>
                </a:solidFill>
                <a:latin typeface="Noto Sans Symbols"/>
                <a:ea typeface="Noto Sans Symbols"/>
                <a:cs typeface="Noto Sans Symbols"/>
                <a:sym typeface="Noto Sans Symbols"/>
              </a:rPr>
              <a:t>β</a:t>
            </a:r>
            <a:r>
              <a:rPr baseline="-25000" i="1" lang="en-US" sz="2000">
                <a:solidFill>
                  <a:schemeClr val="dk1"/>
                </a:solidFill>
                <a:latin typeface="Times New Roman"/>
                <a:ea typeface="Times New Roman"/>
                <a:cs typeface="Times New Roman"/>
                <a:sym typeface="Times New Roman"/>
              </a:rPr>
              <a:t>c </a:t>
            </a:r>
            <a:endParaRPr baseline="-25000" i="1" sz="2000">
              <a:solidFill>
                <a:schemeClr val="dk1"/>
              </a:solidFill>
              <a:latin typeface="Times New Roman"/>
              <a:ea typeface="Times New Roman"/>
              <a:cs typeface="Times New Roman"/>
              <a:sym typeface="Times New Roman"/>
            </a:endParaRPr>
          </a:p>
          <a:p>
            <a:pPr indent="-2538" lvl="0" marL="40638" marR="40638" rtl="0" algn="l">
              <a:spcBef>
                <a:spcPts val="0"/>
              </a:spcBef>
              <a:spcAft>
                <a:spcPts val="0"/>
              </a:spcAft>
              <a:buClr>
                <a:schemeClr val="dk1"/>
              </a:buClr>
              <a:buSzPts val="1100"/>
              <a:buFont typeface="Arial"/>
              <a:buNone/>
            </a:pPr>
            <a:r>
              <a:rPr lang="en-US" sz="1800">
                <a:solidFill>
                  <a:schemeClr val="dk1"/>
                </a:solidFill>
              </a:rPr>
              <a:t>Household contact parameter  </a:t>
            </a:r>
            <a:r>
              <a:rPr lang="en-US" sz="2000">
                <a:solidFill>
                  <a:schemeClr val="dk1"/>
                </a:solidFill>
                <a:latin typeface="Noto Sans Symbols"/>
                <a:ea typeface="Noto Sans Symbols"/>
                <a:cs typeface="Noto Sans Symbols"/>
                <a:sym typeface="Noto Sans Symbols"/>
              </a:rPr>
              <a:t>β</a:t>
            </a:r>
            <a:r>
              <a:rPr baseline="-25000" i="1" lang="en-US" sz="2000">
                <a:solidFill>
                  <a:schemeClr val="dk1"/>
                </a:solidFill>
                <a:latin typeface="Times New Roman"/>
                <a:ea typeface="Times New Roman"/>
                <a:cs typeface="Times New Roman"/>
                <a:sym typeface="Times New Roman"/>
              </a:rPr>
              <a:t>h</a:t>
            </a:r>
            <a:endParaRPr baseline="-25000" i="1" sz="20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5" name="Shape 285"/>
        <p:cNvGrpSpPr/>
        <p:nvPr/>
      </p:nvGrpSpPr>
      <p:grpSpPr>
        <a:xfrm>
          <a:off x="0" y="0"/>
          <a:ext cx="0" cy="0"/>
          <a:chOff x="0" y="0"/>
          <a:chExt cx="0" cy="0"/>
        </a:xfrm>
      </p:grpSpPr>
      <p:sp>
        <p:nvSpPr>
          <p:cNvPr id="286" name="Google Shape;286;p24"/>
          <p:cNvSpPr/>
          <p:nvPr/>
        </p:nvSpPr>
        <p:spPr>
          <a:xfrm>
            <a:off x="0" y="333375"/>
            <a:ext cx="9156600" cy="5334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433FF"/>
              </a:buClr>
              <a:buFont typeface="Tahoma"/>
              <a:buNone/>
            </a:pPr>
            <a:r>
              <a:rPr b="1" lang="en-US" sz="2800">
                <a:solidFill>
                  <a:srgbClr val="0433FF"/>
                </a:solidFill>
                <a:latin typeface="Tahoma"/>
                <a:ea typeface="Tahoma"/>
                <a:cs typeface="Tahoma"/>
                <a:sym typeface="Tahoma"/>
              </a:rPr>
              <a:t>Developing the simple model</a:t>
            </a:r>
            <a:endParaRPr/>
          </a:p>
        </p:txBody>
      </p:sp>
      <p:sp>
        <p:nvSpPr>
          <p:cNvPr id="287" name="Google Shape;287;p24"/>
          <p:cNvSpPr txBox="1"/>
          <p:nvPr/>
        </p:nvSpPr>
        <p:spPr>
          <a:xfrm>
            <a:off x="779150" y="1160050"/>
            <a:ext cx="8508900" cy="49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en-US" sz="1800"/>
              <a:t>Today we will look at 2 </a:t>
            </a:r>
            <a:r>
              <a:rPr lang="en-US" sz="1800"/>
              <a:t>developments</a:t>
            </a:r>
            <a:r>
              <a:rPr lang="en-US" sz="1800"/>
              <a:t> which add complexity:</a:t>
            </a:r>
            <a:endParaRPr sz="1800"/>
          </a:p>
          <a:p>
            <a:pPr indent="-342900" lvl="0" marL="457200" rtl="0" algn="l">
              <a:spcBef>
                <a:spcPts val="0"/>
              </a:spcBef>
              <a:spcAft>
                <a:spcPts val="0"/>
              </a:spcAft>
              <a:buSzPts val="1800"/>
              <a:buAutoNum type="arabicParenR"/>
            </a:pPr>
            <a:r>
              <a:rPr lang="en-US" sz="1800"/>
              <a:t>More individuals in the household - lecture</a:t>
            </a:r>
            <a:endParaRPr sz="1800"/>
          </a:p>
          <a:p>
            <a:pPr indent="-342900" lvl="0" marL="457200" rtl="0" algn="l">
              <a:spcBef>
                <a:spcPts val="0"/>
              </a:spcBef>
              <a:spcAft>
                <a:spcPts val="0"/>
              </a:spcAft>
              <a:buSzPts val="1800"/>
              <a:buAutoNum type="arabicParenR"/>
            </a:pPr>
            <a:r>
              <a:rPr lang="en-US" sz="1800"/>
              <a:t>Temporal model - practical</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1" name="Shape 291"/>
        <p:cNvGrpSpPr/>
        <p:nvPr/>
      </p:nvGrpSpPr>
      <p:grpSpPr>
        <a:xfrm>
          <a:off x="0" y="0"/>
          <a:ext cx="0" cy="0"/>
          <a:chOff x="0" y="0"/>
          <a:chExt cx="0" cy="0"/>
        </a:xfrm>
      </p:grpSpPr>
      <p:sp>
        <p:nvSpPr>
          <p:cNvPr id="292" name="Google Shape;292;p25"/>
          <p:cNvSpPr/>
          <p:nvPr/>
        </p:nvSpPr>
        <p:spPr>
          <a:xfrm>
            <a:off x="0" y="333375"/>
            <a:ext cx="9156600" cy="5334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433FF"/>
              </a:buClr>
              <a:buFont typeface="Tahoma"/>
              <a:buNone/>
            </a:pPr>
            <a:r>
              <a:rPr b="1" lang="en-US" sz="2800">
                <a:solidFill>
                  <a:srgbClr val="0433FF"/>
                </a:solidFill>
                <a:latin typeface="Tahoma"/>
                <a:ea typeface="Tahoma"/>
                <a:cs typeface="Tahoma"/>
                <a:sym typeface="Tahoma"/>
              </a:rPr>
              <a:t>4 person household</a:t>
            </a:r>
            <a:endParaRPr/>
          </a:p>
        </p:txBody>
      </p:sp>
      <p:grpSp>
        <p:nvGrpSpPr>
          <p:cNvPr id="293" name="Google Shape;293;p25"/>
          <p:cNvGrpSpPr/>
          <p:nvPr/>
        </p:nvGrpSpPr>
        <p:grpSpPr>
          <a:xfrm>
            <a:off x="4078287" y="1704975"/>
            <a:ext cx="1023900" cy="1009500"/>
            <a:chOff x="0" y="0"/>
            <a:chExt cx="1023900" cy="1009500"/>
          </a:xfrm>
        </p:grpSpPr>
        <p:sp>
          <p:nvSpPr>
            <p:cNvPr id="294" name="Google Shape;294;p25"/>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95" name="Google Shape;295;p25"/>
            <p:cNvSpPr/>
            <p:nvPr/>
          </p:nvSpPr>
          <p:spPr>
            <a:xfrm>
              <a:off x="219075" y="1730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96" name="Google Shape;296;p25"/>
            <p:cNvSpPr/>
            <p:nvPr/>
          </p:nvSpPr>
          <p:spPr>
            <a:xfrm>
              <a:off x="125412" y="569912"/>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97" name="Google Shape;297;p25"/>
            <p:cNvSpPr/>
            <p:nvPr/>
          </p:nvSpPr>
          <p:spPr>
            <a:xfrm>
              <a:off x="609600" y="6556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298" name="Google Shape;298;p25"/>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299" name="Google Shape;299;p25"/>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300" name="Google Shape;300;p25"/>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301" name="Google Shape;301;p25"/>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302" name="Google Shape;302;p25"/>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303" name="Google Shape;303;p25"/>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304" name="Google Shape;304;p25"/>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grpSp>
        <p:nvGrpSpPr>
          <p:cNvPr id="305" name="Google Shape;305;p25"/>
          <p:cNvGrpSpPr/>
          <p:nvPr/>
        </p:nvGrpSpPr>
        <p:grpSpPr>
          <a:xfrm>
            <a:off x="7375525" y="1704975"/>
            <a:ext cx="1023900" cy="1009500"/>
            <a:chOff x="0" y="0"/>
            <a:chExt cx="1023900" cy="1009500"/>
          </a:xfrm>
        </p:grpSpPr>
        <p:sp>
          <p:nvSpPr>
            <p:cNvPr id="306" name="Google Shape;306;p25"/>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07" name="Google Shape;307;p25"/>
            <p:cNvSpPr/>
            <p:nvPr/>
          </p:nvSpPr>
          <p:spPr>
            <a:xfrm>
              <a:off x="219075" y="1730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08" name="Google Shape;308;p25"/>
            <p:cNvSpPr/>
            <p:nvPr/>
          </p:nvSpPr>
          <p:spPr>
            <a:xfrm>
              <a:off x="125412" y="569912"/>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09" name="Google Shape;309;p25"/>
            <p:cNvSpPr/>
            <p:nvPr/>
          </p:nvSpPr>
          <p:spPr>
            <a:xfrm>
              <a:off x="609600" y="6556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10" name="Google Shape;310;p25"/>
            <p:cNvSpPr/>
            <p:nvPr/>
          </p:nvSpPr>
          <p:spPr>
            <a:xfrm>
              <a:off x="781050" y="2746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311" name="Google Shape;311;p25"/>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312" name="Google Shape;312;p25"/>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313" name="Google Shape;313;p25"/>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314" name="Google Shape;314;p25"/>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315" name="Google Shape;315;p25"/>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316" name="Google Shape;316;p25"/>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grpSp>
        <p:nvGrpSpPr>
          <p:cNvPr id="317" name="Google Shape;317;p25"/>
          <p:cNvGrpSpPr/>
          <p:nvPr/>
        </p:nvGrpSpPr>
        <p:grpSpPr>
          <a:xfrm>
            <a:off x="5726112" y="1697037"/>
            <a:ext cx="1023900" cy="1009500"/>
            <a:chOff x="0" y="0"/>
            <a:chExt cx="1023900" cy="1009500"/>
          </a:xfrm>
        </p:grpSpPr>
        <p:sp>
          <p:nvSpPr>
            <p:cNvPr id="318" name="Google Shape;318;p25"/>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19" name="Google Shape;319;p25"/>
            <p:cNvSpPr/>
            <p:nvPr/>
          </p:nvSpPr>
          <p:spPr>
            <a:xfrm>
              <a:off x="219075" y="1730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20" name="Google Shape;320;p25"/>
            <p:cNvSpPr/>
            <p:nvPr/>
          </p:nvSpPr>
          <p:spPr>
            <a:xfrm>
              <a:off x="125412" y="569912"/>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21" name="Google Shape;321;p25"/>
            <p:cNvSpPr/>
            <p:nvPr/>
          </p:nvSpPr>
          <p:spPr>
            <a:xfrm>
              <a:off x="609600" y="6556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22" name="Google Shape;322;p25"/>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323" name="Google Shape;323;p25"/>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324" name="Google Shape;324;p25"/>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325" name="Google Shape;325;p25"/>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326" name="Google Shape;326;p25"/>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327" name="Google Shape;327;p25"/>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328" name="Google Shape;328;p25"/>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grpSp>
        <p:nvGrpSpPr>
          <p:cNvPr id="329" name="Google Shape;329;p25"/>
          <p:cNvGrpSpPr/>
          <p:nvPr/>
        </p:nvGrpSpPr>
        <p:grpSpPr>
          <a:xfrm>
            <a:off x="781050" y="1703387"/>
            <a:ext cx="1023900" cy="1009500"/>
            <a:chOff x="0" y="0"/>
            <a:chExt cx="1023900" cy="1009500"/>
          </a:xfrm>
        </p:grpSpPr>
        <p:sp>
          <p:nvSpPr>
            <p:cNvPr id="330" name="Google Shape;330;p25"/>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31" name="Google Shape;331;p25"/>
            <p:cNvSpPr/>
            <p:nvPr/>
          </p:nvSpPr>
          <p:spPr>
            <a:xfrm>
              <a:off x="219075" y="1730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32" name="Google Shape;332;p25"/>
            <p:cNvSpPr/>
            <p:nvPr/>
          </p:nvSpPr>
          <p:spPr>
            <a:xfrm>
              <a:off x="125412" y="569912"/>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33" name="Google Shape;333;p25"/>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34" name="Google Shape;334;p25"/>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335" name="Google Shape;335;p25"/>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336" name="Google Shape;336;p25"/>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337" name="Google Shape;337;p25"/>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338" name="Google Shape;338;p25"/>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339" name="Google Shape;339;p25"/>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340" name="Google Shape;340;p25"/>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grpSp>
        <p:nvGrpSpPr>
          <p:cNvPr id="341" name="Google Shape;341;p25"/>
          <p:cNvGrpSpPr/>
          <p:nvPr/>
        </p:nvGrpSpPr>
        <p:grpSpPr>
          <a:xfrm>
            <a:off x="2428875" y="1703387"/>
            <a:ext cx="1023900" cy="1009500"/>
            <a:chOff x="0" y="0"/>
            <a:chExt cx="1023900" cy="1009500"/>
          </a:xfrm>
        </p:grpSpPr>
        <p:sp>
          <p:nvSpPr>
            <p:cNvPr id="342" name="Google Shape;342;p25"/>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43" name="Google Shape;343;p25"/>
            <p:cNvSpPr/>
            <p:nvPr/>
          </p:nvSpPr>
          <p:spPr>
            <a:xfrm>
              <a:off x="219075" y="1730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44" name="Google Shape;344;p25"/>
            <p:cNvSpPr/>
            <p:nvPr/>
          </p:nvSpPr>
          <p:spPr>
            <a:xfrm>
              <a:off x="125412" y="569912"/>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45" name="Google Shape;345;p25"/>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46" name="Google Shape;346;p25"/>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347" name="Google Shape;347;p25"/>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348" name="Google Shape;348;p25"/>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349" name="Google Shape;349;p25"/>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350" name="Google Shape;350;p25"/>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351" name="Google Shape;351;p25"/>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352" name="Google Shape;352;p25"/>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sp>
        <p:nvSpPr>
          <p:cNvPr id="353" name="Google Shape;353;p25"/>
          <p:cNvSpPr/>
          <p:nvPr/>
        </p:nvSpPr>
        <p:spPr>
          <a:xfrm>
            <a:off x="392112" y="1055687"/>
            <a:ext cx="4775100" cy="406500"/>
          </a:xfrm>
          <a:prstGeom prst="rect">
            <a:avLst/>
          </a:prstGeom>
          <a:noFill/>
          <a:ln>
            <a:noFill/>
          </a:ln>
        </p:spPr>
        <p:txBody>
          <a:bodyPr anchorCtr="0" anchor="t" bIns="50800" lIns="50800" spcFirstLastPara="1" rIns="50800" wrap="square" tIns="50800">
            <a:noAutofit/>
          </a:bodyPr>
          <a:lstStyle/>
          <a:p>
            <a:pPr indent="-345440" lvl="0" marL="383540" marR="40638" rtl="0" algn="l">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Households can be in 1 of 5 states:</a:t>
            </a:r>
            <a:endParaRPr/>
          </a:p>
        </p:txBody>
      </p:sp>
      <p:grpSp>
        <p:nvGrpSpPr>
          <p:cNvPr id="354" name="Google Shape;354;p25"/>
          <p:cNvGrpSpPr/>
          <p:nvPr/>
        </p:nvGrpSpPr>
        <p:grpSpPr>
          <a:xfrm>
            <a:off x="495300" y="4078287"/>
            <a:ext cx="1855687" cy="1047650"/>
            <a:chOff x="0" y="0"/>
            <a:chExt cx="1855687" cy="1047650"/>
          </a:xfrm>
        </p:grpSpPr>
        <p:grpSp>
          <p:nvGrpSpPr>
            <p:cNvPr id="355" name="Google Shape;355;p25"/>
            <p:cNvGrpSpPr/>
            <p:nvPr/>
          </p:nvGrpSpPr>
          <p:grpSpPr>
            <a:xfrm>
              <a:off x="0" y="0"/>
              <a:ext cx="916781" cy="900000"/>
              <a:chOff x="0" y="0"/>
              <a:chExt cx="916781" cy="900000"/>
            </a:xfrm>
          </p:grpSpPr>
          <p:sp>
            <p:nvSpPr>
              <p:cNvPr id="356" name="Google Shape;356;p25"/>
              <p:cNvSpPr/>
              <p:nvPr/>
            </p:nvSpPr>
            <p:spPr>
              <a:xfrm>
                <a:off x="0" y="0"/>
                <a:ext cx="906600" cy="900000"/>
              </a:xfrm>
              <a:prstGeom prst="rect">
                <a:avLst/>
              </a:prstGeom>
              <a:noFill/>
              <a:ln cap="flat" cmpd="sng" w="19050">
                <a:solidFill>
                  <a:srgbClr val="000000"/>
                </a:solidFill>
                <a:prstDash val="solid"/>
                <a:miter lim="8000"/>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57" name="Google Shape;357;p25"/>
              <p:cNvSpPr/>
              <p:nvPr/>
            </p:nvSpPr>
            <p:spPr>
              <a:xfrm>
                <a:off x="2381" y="248179"/>
                <a:ext cx="914400" cy="406500"/>
              </a:xfrm>
              <a:prstGeom prst="rect">
                <a:avLst/>
              </a:prstGeom>
              <a:noFill/>
              <a:ln>
                <a:noFill/>
              </a:ln>
            </p:spPr>
            <p:txBody>
              <a:bodyPr anchorCtr="0" anchor="ctr" bIns="50800" lIns="50800" spcFirstLastPara="1" rIns="50800" wrap="square" tIns="50800">
                <a:noAutofit/>
              </a:bodyPr>
              <a:lstStyle/>
              <a:p>
                <a:pPr indent="-2538" lvl="0" marL="40638" marR="40638" rtl="0" algn="ctr">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SSSS</a:t>
                </a:r>
                <a:endParaRPr/>
              </a:p>
            </p:txBody>
          </p:sp>
        </p:grpSp>
        <p:cxnSp>
          <p:nvCxnSpPr>
            <p:cNvPr id="358" name="Google Shape;358;p25"/>
            <p:cNvCxnSpPr/>
            <p:nvPr/>
          </p:nvCxnSpPr>
          <p:spPr>
            <a:xfrm>
              <a:off x="981075" y="531812"/>
              <a:ext cx="546000" cy="1500"/>
            </a:xfrm>
            <a:prstGeom prst="straightConnector1">
              <a:avLst/>
            </a:prstGeom>
            <a:noFill/>
            <a:ln cap="flat" cmpd="sng" w="9525">
              <a:solidFill>
                <a:srgbClr val="000000"/>
              </a:solidFill>
              <a:prstDash val="solid"/>
              <a:round/>
              <a:headEnd len="sm" w="sm" type="none"/>
              <a:tailEnd len="med" w="med" type="triangle"/>
            </a:ln>
          </p:spPr>
        </p:cxnSp>
        <p:sp>
          <p:nvSpPr>
            <p:cNvPr id="359" name="Google Shape;359;p25"/>
            <p:cNvSpPr/>
            <p:nvPr/>
          </p:nvSpPr>
          <p:spPr>
            <a:xfrm>
              <a:off x="700087" y="115887"/>
              <a:ext cx="1155600" cy="431100"/>
            </a:xfrm>
            <a:prstGeom prst="rect">
              <a:avLst/>
            </a:prstGeom>
            <a:noFill/>
            <a:ln>
              <a:noFill/>
            </a:ln>
          </p:spPr>
          <p:txBody>
            <a:bodyPr anchorCtr="0" anchor="t" bIns="50800" lIns="50800" spcFirstLastPara="1" rIns="50800" wrap="square" tIns="50800">
              <a:noAutofit/>
            </a:bodyPr>
            <a:lstStyle/>
            <a:p>
              <a:pPr indent="-2538" lvl="0" marL="40638" marR="40638" rtl="0" algn="r">
                <a:lnSpc>
                  <a:spcPct val="100000"/>
                </a:lnSpc>
                <a:spcBef>
                  <a:spcPts val="0"/>
                </a:spcBef>
                <a:spcAft>
                  <a:spcPts val="0"/>
                </a:spcAft>
                <a:buClr>
                  <a:srgbClr val="000000"/>
                </a:buClr>
                <a:buFont typeface="Noto Sans Symbols"/>
                <a:buNone/>
              </a:pPr>
              <a:r>
                <a:rPr b="0" i="0" lang="en-US" sz="2000" u="none" cap="none" strike="noStrike">
                  <a:solidFill>
                    <a:srgbClr val="000000"/>
                  </a:solidFill>
                  <a:latin typeface="Noto Sans Symbols"/>
                  <a:ea typeface="Noto Sans Symbols"/>
                  <a:cs typeface="Noto Sans Symbols"/>
                  <a:sym typeface="Noto Sans Symbols"/>
                </a:rPr>
                <a:t>4β</a:t>
              </a:r>
              <a:r>
                <a:rPr b="0" baseline="-25000" i="1" lang="en-US" sz="2000" u="none" cap="none" strike="noStrike">
                  <a:solidFill>
                    <a:srgbClr val="000000"/>
                  </a:solidFill>
                  <a:latin typeface="Times New Roman"/>
                  <a:ea typeface="Times New Roman"/>
                  <a:cs typeface="Times New Roman"/>
                  <a:sym typeface="Times New Roman"/>
                </a:rPr>
                <a:t>c</a:t>
              </a:r>
              <a:r>
                <a:rPr b="0" i="1" lang="en-US" sz="2000" u="none" cap="none" strike="noStrike">
                  <a:solidFill>
                    <a:srgbClr val="000000"/>
                  </a:solidFill>
                  <a:latin typeface="Times New Roman"/>
                  <a:ea typeface="Times New Roman"/>
                  <a:cs typeface="Times New Roman"/>
                  <a:sym typeface="Times New Roman"/>
                </a:rPr>
                <a:t>I</a:t>
              </a:r>
              <a:r>
                <a:rPr b="0" baseline="-25000" i="1" lang="en-US" sz="2000" u="none" cap="none" strike="noStrike">
                  <a:solidFill>
                    <a:srgbClr val="000000"/>
                  </a:solidFill>
                  <a:latin typeface="Times New Roman"/>
                  <a:ea typeface="Times New Roman"/>
                  <a:cs typeface="Times New Roman"/>
                  <a:sym typeface="Times New Roman"/>
                </a:rPr>
                <a:t>t </a:t>
              </a:r>
              <a:r>
                <a:rPr b="0" i="1" lang="en-US" sz="2000" u="none" cap="none" strike="noStrike">
                  <a:solidFill>
                    <a:srgbClr val="000000"/>
                  </a:solidFill>
                  <a:latin typeface="Times New Roman"/>
                  <a:ea typeface="Times New Roman"/>
                  <a:cs typeface="Times New Roman"/>
                  <a:sym typeface="Times New Roman"/>
                </a:rPr>
                <a:t>/N</a:t>
              </a:r>
              <a:endParaRPr/>
            </a:p>
          </p:txBody>
        </p:sp>
        <p:sp>
          <p:nvSpPr>
            <p:cNvPr id="360" name="Google Shape;360;p25"/>
            <p:cNvSpPr/>
            <p:nvPr/>
          </p:nvSpPr>
          <p:spPr>
            <a:xfrm>
              <a:off x="692943" y="692150"/>
              <a:ext cx="1155600" cy="3555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00000"/>
                </a:buClr>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α</a:t>
              </a:r>
              <a:endParaRPr/>
            </a:p>
          </p:txBody>
        </p:sp>
        <p:cxnSp>
          <p:nvCxnSpPr>
            <p:cNvPr id="361" name="Google Shape;361;p25"/>
            <p:cNvCxnSpPr/>
            <p:nvPr/>
          </p:nvCxnSpPr>
          <p:spPr>
            <a:xfrm flipH="1">
              <a:off x="981175" y="739775"/>
              <a:ext cx="546000" cy="1500"/>
            </a:xfrm>
            <a:prstGeom prst="straightConnector1">
              <a:avLst/>
            </a:prstGeom>
            <a:noFill/>
            <a:ln cap="flat" cmpd="sng" w="9525">
              <a:solidFill>
                <a:srgbClr val="000000"/>
              </a:solidFill>
              <a:prstDash val="solid"/>
              <a:round/>
              <a:headEnd len="sm" w="sm" type="none"/>
              <a:tailEnd len="med" w="med" type="triangle"/>
            </a:ln>
          </p:spPr>
        </p:cxnSp>
      </p:grpSp>
      <p:grpSp>
        <p:nvGrpSpPr>
          <p:cNvPr id="362" name="Google Shape;362;p25"/>
          <p:cNvGrpSpPr/>
          <p:nvPr/>
        </p:nvGrpSpPr>
        <p:grpSpPr>
          <a:xfrm>
            <a:off x="2292350" y="4078287"/>
            <a:ext cx="1855687" cy="1047650"/>
            <a:chOff x="0" y="0"/>
            <a:chExt cx="1855687" cy="1047650"/>
          </a:xfrm>
        </p:grpSpPr>
        <p:grpSp>
          <p:nvGrpSpPr>
            <p:cNvPr id="363" name="Google Shape;363;p25"/>
            <p:cNvGrpSpPr/>
            <p:nvPr/>
          </p:nvGrpSpPr>
          <p:grpSpPr>
            <a:xfrm>
              <a:off x="0" y="0"/>
              <a:ext cx="916781" cy="900000"/>
              <a:chOff x="0" y="0"/>
              <a:chExt cx="916781" cy="900000"/>
            </a:xfrm>
          </p:grpSpPr>
          <p:sp>
            <p:nvSpPr>
              <p:cNvPr id="364" name="Google Shape;364;p25"/>
              <p:cNvSpPr/>
              <p:nvPr/>
            </p:nvSpPr>
            <p:spPr>
              <a:xfrm>
                <a:off x="0" y="0"/>
                <a:ext cx="906600" cy="900000"/>
              </a:xfrm>
              <a:prstGeom prst="rect">
                <a:avLst/>
              </a:prstGeom>
              <a:noFill/>
              <a:ln cap="flat" cmpd="sng" w="19050">
                <a:solidFill>
                  <a:srgbClr val="000000"/>
                </a:solidFill>
                <a:prstDash val="solid"/>
                <a:miter lim="8000"/>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65" name="Google Shape;365;p25"/>
              <p:cNvSpPr/>
              <p:nvPr/>
            </p:nvSpPr>
            <p:spPr>
              <a:xfrm>
                <a:off x="2381" y="248179"/>
                <a:ext cx="914400" cy="406500"/>
              </a:xfrm>
              <a:prstGeom prst="rect">
                <a:avLst/>
              </a:prstGeom>
              <a:noFill/>
              <a:ln>
                <a:noFill/>
              </a:ln>
            </p:spPr>
            <p:txBody>
              <a:bodyPr anchorCtr="0" anchor="ctr" bIns="50800" lIns="50800" spcFirstLastPara="1" rIns="50800" wrap="square" tIns="50800">
                <a:noAutofit/>
              </a:bodyPr>
              <a:lstStyle/>
              <a:p>
                <a:pPr indent="-2538" lvl="0" marL="40638" marR="40638" rtl="0" algn="ctr">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SSSI</a:t>
                </a:r>
                <a:endParaRPr/>
              </a:p>
            </p:txBody>
          </p:sp>
        </p:grpSp>
        <p:cxnSp>
          <p:nvCxnSpPr>
            <p:cNvPr id="366" name="Google Shape;366;p25"/>
            <p:cNvCxnSpPr/>
            <p:nvPr/>
          </p:nvCxnSpPr>
          <p:spPr>
            <a:xfrm>
              <a:off x="981075" y="531812"/>
              <a:ext cx="546000" cy="1500"/>
            </a:xfrm>
            <a:prstGeom prst="straightConnector1">
              <a:avLst/>
            </a:prstGeom>
            <a:noFill/>
            <a:ln cap="flat" cmpd="sng" w="9525">
              <a:solidFill>
                <a:srgbClr val="000000"/>
              </a:solidFill>
              <a:prstDash val="solid"/>
              <a:round/>
              <a:headEnd len="sm" w="sm" type="none"/>
              <a:tailEnd len="med" w="med" type="triangle"/>
            </a:ln>
          </p:spPr>
        </p:cxnSp>
        <p:sp>
          <p:nvSpPr>
            <p:cNvPr id="367" name="Google Shape;367;p25"/>
            <p:cNvSpPr/>
            <p:nvPr/>
          </p:nvSpPr>
          <p:spPr>
            <a:xfrm>
              <a:off x="700087" y="115887"/>
              <a:ext cx="1155600" cy="431100"/>
            </a:xfrm>
            <a:prstGeom prst="rect">
              <a:avLst/>
            </a:prstGeom>
            <a:noFill/>
            <a:ln>
              <a:noFill/>
            </a:ln>
          </p:spPr>
          <p:txBody>
            <a:bodyPr anchorCtr="0" anchor="t" bIns="50800" lIns="50800" spcFirstLastPara="1" rIns="50800" wrap="square" tIns="50800">
              <a:noAutofit/>
            </a:bodyPr>
            <a:lstStyle/>
            <a:p>
              <a:pPr indent="-2538" lvl="0" marL="40638" marR="40638" rtl="0" algn="r">
                <a:lnSpc>
                  <a:spcPct val="100000"/>
                </a:lnSpc>
                <a:spcBef>
                  <a:spcPts val="0"/>
                </a:spcBef>
                <a:spcAft>
                  <a:spcPts val="0"/>
                </a:spcAft>
                <a:buClr>
                  <a:srgbClr val="000000"/>
                </a:buClr>
                <a:buFont typeface="Noto Sans Symbols"/>
                <a:buNone/>
              </a:pPr>
              <a:r>
                <a:rPr b="0" i="0" lang="en-US" sz="2000" u="none" cap="none" strike="noStrike">
                  <a:solidFill>
                    <a:srgbClr val="000000"/>
                  </a:solidFill>
                  <a:latin typeface="Noto Sans Symbols"/>
                  <a:ea typeface="Noto Sans Symbols"/>
                  <a:cs typeface="Noto Sans Symbols"/>
                  <a:sym typeface="Noto Sans Symbols"/>
                </a:rPr>
                <a:t>3β</a:t>
              </a:r>
              <a:r>
                <a:rPr b="0" baseline="-25000" i="1" lang="en-US" sz="2000" u="none" cap="none" strike="noStrike">
                  <a:solidFill>
                    <a:srgbClr val="000000"/>
                  </a:solidFill>
                  <a:latin typeface="Times New Roman"/>
                  <a:ea typeface="Times New Roman"/>
                  <a:cs typeface="Times New Roman"/>
                  <a:sym typeface="Times New Roman"/>
                </a:rPr>
                <a:t>c</a:t>
              </a:r>
              <a:r>
                <a:rPr b="0" i="1" lang="en-US" sz="2000" u="none" cap="none" strike="noStrike">
                  <a:solidFill>
                    <a:srgbClr val="000000"/>
                  </a:solidFill>
                  <a:latin typeface="Times New Roman"/>
                  <a:ea typeface="Times New Roman"/>
                  <a:cs typeface="Times New Roman"/>
                  <a:sym typeface="Times New Roman"/>
                </a:rPr>
                <a:t>I</a:t>
              </a:r>
              <a:r>
                <a:rPr b="0" baseline="-25000" i="1" lang="en-US" sz="2000" u="none" cap="none" strike="noStrike">
                  <a:solidFill>
                    <a:srgbClr val="000000"/>
                  </a:solidFill>
                  <a:latin typeface="Times New Roman"/>
                  <a:ea typeface="Times New Roman"/>
                  <a:cs typeface="Times New Roman"/>
                  <a:sym typeface="Times New Roman"/>
                </a:rPr>
                <a:t>t </a:t>
              </a:r>
              <a:r>
                <a:rPr b="0" i="1" lang="en-US" sz="2000" u="none" cap="none" strike="noStrike">
                  <a:solidFill>
                    <a:srgbClr val="000000"/>
                  </a:solidFill>
                  <a:latin typeface="Times New Roman"/>
                  <a:ea typeface="Times New Roman"/>
                  <a:cs typeface="Times New Roman"/>
                  <a:sym typeface="Times New Roman"/>
                </a:rPr>
                <a:t>/N</a:t>
              </a:r>
              <a:endParaRPr/>
            </a:p>
          </p:txBody>
        </p:sp>
        <p:sp>
          <p:nvSpPr>
            <p:cNvPr id="368" name="Google Shape;368;p25"/>
            <p:cNvSpPr/>
            <p:nvPr/>
          </p:nvSpPr>
          <p:spPr>
            <a:xfrm>
              <a:off x="692943" y="692150"/>
              <a:ext cx="1155600" cy="3555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00000"/>
                </a:buClr>
                <a:buFont typeface="Noto Sans Symbols"/>
                <a:buNone/>
              </a:pPr>
              <a:r>
                <a:rPr b="0" i="0" lang="en-US" sz="2000" u="none" cap="none" strike="noStrike">
                  <a:solidFill>
                    <a:srgbClr val="000000"/>
                  </a:solidFill>
                  <a:latin typeface="Noto Sans Symbols"/>
                  <a:ea typeface="Noto Sans Symbols"/>
                  <a:cs typeface="Noto Sans Symbols"/>
                  <a:sym typeface="Noto Sans Symbols"/>
                </a:rPr>
                <a:t>2α</a:t>
              </a:r>
              <a:endParaRPr/>
            </a:p>
          </p:txBody>
        </p:sp>
        <p:cxnSp>
          <p:nvCxnSpPr>
            <p:cNvPr id="369" name="Google Shape;369;p25"/>
            <p:cNvCxnSpPr/>
            <p:nvPr/>
          </p:nvCxnSpPr>
          <p:spPr>
            <a:xfrm flipH="1">
              <a:off x="981175" y="739775"/>
              <a:ext cx="546000" cy="1500"/>
            </a:xfrm>
            <a:prstGeom prst="straightConnector1">
              <a:avLst/>
            </a:prstGeom>
            <a:noFill/>
            <a:ln cap="flat" cmpd="sng" w="9525">
              <a:solidFill>
                <a:srgbClr val="000000"/>
              </a:solidFill>
              <a:prstDash val="solid"/>
              <a:round/>
              <a:headEnd len="sm" w="sm" type="none"/>
              <a:tailEnd len="med" w="med" type="triangle"/>
            </a:ln>
          </p:spPr>
        </p:cxnSp>
      </p:grpSp>
      <p:grpSp>
        <p:nvGrpSpPr>
          <p:cNvPr id="370" name="Google Shape;370;p25"/>
          <p:cNvGrpSpPr/>
          <p:nvPr/>
        </p:nvGrpSpPr>
        <p:grpSpPr>
          <a:xfrm>
            <a:off x="4087812" y="4078287"/>
            <a:ext cx="1855687" cy="1047650"/>
            <a:chOff x="0" y="0"/>
            <a:chExt cx="1855687" cy="1047650"/>
          </a:xfrm>
        </p:grpSpPr>
        <p:grpSp>
          <p:nvGrpSpPr>
            <p:cNvPr id="371" name="Google Shape;371;p25"/>
            <p:cNvGrpSpPr/>
            <p:nvPr/>
          </p:nvGrpSpPr>
          <p:grpSpPr>
            <a:xfrm>
              <a:off x="0" y="0"/>
              <a:ext cx="916781" cy="900000"/>
              <a:chOff x="0" y="0"/>
              <a:chExt cx="916781" cy="900000"/>
            </a:xfrm>
          </p:grpSpPr>
          <p:sp>
            <p:nvSpPr>
              <p:cNvPr id="372" name="Google Shape;372;p25"/>
              <p:cNvSpPr/>
              <p:nvPr/>
            </p:nvSpPr>
            <p:spPr>
              <a:xfrm>
                <a:off x="0" y="0"/>
                <a:ext cx="906600" cy="900000"/>
              </a:xfrm>
              <a:prstGeom prst="rect">
                <a:avLst/>
              </a:prstGeom>
              <a:noFill/>
              <a:ln cap="flat" cmpd="sng" w="19050">
                <a:solidFill>
                  <a:srgbClr val="000000"/>
                </a:solidFill>
                <a:prstDash val="solid"/>
                <a:miter lim="8000"/>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73" name="Google Shape;373;p25"/>
              <p:cNvSpPr/>
              <p:nvPr/>
            </p:nvSpPr>
            <p:spPr>
              <a:xfrm>
                <a:off x="2381" y="248179"/>
                <a:ext cx="914400" cy="406500"/>
              </a:xfrm>
              <a:prstGeom prst="rect">
                <a:avLst/>
              </a:prstGeom>
              <a:noFill/>
              <a:ln>
                <a:noFill/>
              </a:ln>
            </p:spPr>
            <p:txBody>
              <a:bodyPr anchorCtr="0" anchor="ctr" bIns="50800" lIns="50800" spcFirstLastPara="1" rIns="50800" wrap="square" tIns="50800">
                <a:noAutofit/>
              </a:bodyPr>
              <a:lstStyle/>
              <a:p>
                <a:pPr indent="-2538" lvl="0" marL="40638" marR="40638" rtl="0" algn="ctr">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SSII</a:t>
                </a:r>
                <a:endParaRPr/>
              </a:p>
            </p:txBody>
          </p:sp>
        </p:grpSp>
        <p:cxnSp>
          <p:nvCxnSpPr>
            <p:cNvPr id="374" name="Google Shape;374;p25"/>
            <p:cNvCxnSpPr/>
            <p:nvPr/>
          </p:nvCxnSpPr>
          <p:spPr>
            <a:xfrm>
              <a:off x="981075" y="531812"/>
              <a:ext cx="546000" cy="1500"/>
            </a:xfrm>
            <a:prstGeom prst="straightConnector1">
              <a:avLst/>
            </a:prstGeom>
            <a:noFill/>
            <a:ln cap="flat" cmpd="sng" w="9525">
              <a:solidFill>
                <a:srgbClr val="000000"/>
              </a:solidFill>
              <a:prstDash val="solid"/>
              <a:round/>
              <a:headEnd len="sm" w="sm" type="none"/>
              <a:tailEnd len="med" w="med" type="triangle"/>
            </a:ln>
          </p:spPr>
        </p:cxnSp>
        <p:sp>
          <p:nvSpPr>
            <p:cNvPr id="375" name="Google Shape;375;p25"/>
            <p:cNvSpPr/>
            <p:nvPr/>
          </p:nvSpPr>
          <p:spPr>
            <a:xfrm>
              <a:off x="700087" y="115887"/>
              <a:ext cx="1155600" cy="431100"/>
            </a:xfrm>
            <a:prstGeom prst="rect">
              <a:avLst/>
            </a:prstGeom>
            <a:noFill/>
            <a:ln>
              <a:noFill/>
            </a:ln>
          </p:spPr>
          <p:txBody>
            <a:bodyPr anchorCtr="0" anchor="t" bIns="50800" lIns="50800" spcFirstLastPara="1" rIns="50800" wrap="square" tIns="50800">
              <a:noAutofit/>
            </a:bodyPr>
            <a:lstStyle/>
            <a:p>
              <a:pPr indent="-2538" lvl="0" marL="40638" marR="40638" rtl="0" algn="r">
                <a:lnSpc>
                  <a:spcPct val="100000"/>
                </a:lnSpc>
                <a:spcBef>
                  <a:spcPts val="0"/>
                </a:spcBef>
                <a:spcAft>
                  <a:spcPts val="0"/>
                </a:spcAft>
                <a:buClr>
                  <a:srgbClr val="000000"/>
                </a:buClr>
                <a:buFont typeface="Noto Sans Symbols"/>
                <a:buNone/>
              </a:pPr>
              <a:r>
                <a:rPr b="0" i="0" lang="en-US" sz="2000" u="none" cap="none" strike="noStrike">
                  <a:solidFill>
                    <a:srgbClr val="000000"/>
                  </a:solidFill>
                  <a:latin typeface="Noto Sans Symbols"/>
                  <a:ea typeface="Noto Sans Symbols"/>
                  <a:cs typeface="Noto Sans Symbols"/>
                  <a:sym typeface="Noto Sans Symbols"/>
                </a:rPr>
                <a:t>2β</a:t>
              </a:r>
              <a:r>
                <a:rPr b="0" baseline="-25000" i="1" lang="en-US" sz="2000" u="none" cap="none" strike="noStrike">
                  <a:solidFill>
                    <a:srgbClr val="000000"/>
                  </a:solidFill>
                  <a:latin typeface="Times New Roman"/>
                  <a:ea typeface="Times New Roman"/>
                  <a:cs typeface="Times New Roman"/>
                  <a:sym typeface="Times New Roman"/>
                </a:rPr>
                <a:t>c</a:t>
              </a:r>
              <a:r>
                <a:rPr b="0" i="1" lang="en-US" sz="2000" u="none" cap="none" strike="noStrike">
                  <a:solidFill>
                    <a:srgbClr val="000000"/>
                  </a:solidFill>
                  <a:latin typeface="Times New Roman"/>
                  <a:ea typeface="Times New Roman"/>
                  <a:cs typeface="Times New Roman"/>
                  <a:sym typeface="Times New Roman"/>
                </a:rPr>
                <a:t>I</a:t>
              </a:r>
              <a:r>
                <a:rPr b="0" baseline="-25000" i="1" lang="en-US" sz="2000" u="none" cap="none" strike="noStrike">
                  <a:solidFill>
                    <a:srgbClr val="000000"/>
                  </a:solidFill>
                  <a:latin typeface="Times New Roman"/>
                  <a:ea typeface="Times New Roman"/>
                  <a:cs typeface="Times New Roman"/>
                  <a:sym typeface="Times New Roman"/>
                </a:rPr>
                <a:t>t </a:t>
              </a:r>
              <a:r>
                <a:rPr b="0" i="1" lang="en-US" sz="2000" u="none" cap="none" strike="noStrike">
                  <a:solidFill>
                    <a:srgbClr val="000000"/>
                  </a:solidFill>
                  <a:latin typeface="Times New Roman"/>
                  <a:ea typeface="Times New Roman"/>
                  <a:cs typeface="Times New Roman"/>
                  <a:sym typeface="Times New Roman"/>
                </a:rPr>
                <a:t>/N</a:t>
              </a:r>
              <a:endParaRPr/>
            </a:p>
          </p:txBody>
        </p:sp>
        <p:sp>
          <p:nvSpPr>
            <p:cNvPr id="376" name="Google Shape;376;p25"/>
            <p:cNvSpPr/>
            <p:nvPr/>
          </p:nvSpPr>
          <p:spPr>
            <a:xfrm>
              <a:off x="692943" y="692150"/>
              <a:ext cx="1155600" cy="3555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00000"/>
                </a:buClr>
                <a:buFont typeface="Noto Sans Symbols"/>
                <a:buNone/>
              </a:pPr>
              <a:r>
                <a:rPr b="0" i="0" lang="en-US" sz="2000" u="none" cap="none" strike="noStrike">
                  <a:solidFill>
                    <a:srgbClr val="000000"/>
                  </a:solidFill>
                  <a:latin typeface="Noto Sans Symbols"/>
                  <a:ea typeface="Noto Sans Symbols"/>
                  <a:cs typeface="Noto Sans Symbols"/>
                  <a:sym typeface="Noto Sans Symbols"/>
                </a:rPr>
                <a:t>3α</a:t>
              </a:r>
              <a:endParaRPr/>
            </a:p>
          </p:txBody>
        </p:sp>
        <p:cxnSp>
          <p:nvCxnSpPr>
            <p:cNvPr id="377" name="Google Shape;377;p25"/>
            <p:cNvCxnSpPr/>
            <p:nvPr/>
          </p:nvCxnSpPr>
          <p:spPr>
            <a:xfrm flipH="1">
              <a:off x="981175" y="739775"/>
              <a:ext cx="546000" cy="1500"/>
            </a:xfrm>
            <a:prstGeom prst="straightConnector1">
              <a:avLst/>
            </a:prstGeom>
            <a:noFill/>
            <a:ln cap="flat" cmpd="sng" w="9525">
              <a:solidFill>
                <a:srgbClr val="000000"/>
              </a:solidFill>
              <a:prstDash val="solid"/>
              <a:round/>
              <a:headEnd len="sm" w="sm" type="none"/>
              <a:tailEnd len="med" w="med" type="triangle"/>
            </a:ln>
          </p:spPr>
        </p:cxnSp>
      </p:grpSp>
      <p:grpSp>
        <p:nvGrpSpPr>
          <p:cNvPr id="378" name="Google Shape;378;p25"/>
          <p:cNvGrpSpPr/>
          <p:nvPr/>
        </p:nvGrpSpPr>
        <p:grpSpPr>
          <a:xfrm>
            <a:off x="5884862" y="4078287"/>
            <a:ext cx="916781" cy="900000"/>
            <a:chOff x="0" y="0"/>
            <a:chExt cx="916781" cy="900000"/>
          </a:xfrm>
        </p:grpSpPr>
        <p:sp>
          <p:nvSpPr>
            <p:cNvPr id="379" name="Google Shape;379;p25"/>
            <p:cNvSpPr/>
            <p:nvPr/>
          </p:nvSpPr>
          <p:spPr>
            <a:xfrm>
              <a:off x="0" y="0"/>
              <a:ext cx="906600" cy="900000"/>
            </a:xfrm>
            <a:prstGeom prst="rect">
              <a:avLst/>
            </a:prstGeom>
            <a:noFill/>
            <a:ln cap="flat" cmpd="sng" w="19050">
              <a:solidFill>
                <a:srgbClr val="000000"/>
              </a:solidFill>
              <a:prstDash val="solid"/>
              <a:miter lim="8000"/>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80" name="Google Shape;380;p25"/>
            <p:cNvSpPr/>
            <p:nvPr/>
          </p:nvSpPr>
          <p:spPr>
            <a:xfrm>
              <a:off x="2381" y="248179"/>
              <a:ext cx="914400" cy="406500"/>
            </a:xfrm>
            <a:prstGeom prst="rect">
              <a:avLst/>
            </a:prstGeom>
            <a:noFill/>
            <a:ln>
              <a:noFill/>
            </a:ln>
          </p:spPr>
          <p:txBody>
            <a:bodyPr anchorCtr="0" anchor="ctr" bIns="50800" lIns="50800" spcFirstLastPara="1" rIns="50800" wrap="square" tIns="50800">
              <a:noAutofit/>
            </a:bodyPr>
            <a:lstStyle/>
            <a:p>
              <a:pPr indent="-2538" lvl="0" marL="40638" marR="40638" rtl="0" algn="ctr">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SIII</a:t>
              </a:r>
              <a:endParaRPr/>
            </a:p>
          </p:txBody>
        </p:sp>
      </p:grpSp>
      <p:cxnSp>
        <p:nvCxnSpPr>
          <p:cNvPr id="381" name="Google Shape;381;p25"/>
          <p:cNvCxnSpPr/>
          <p:nvPr/>
        </p:nvCxnSpPr>
        <p:spPr>
          <a:xfrm>
            <a:off x="6865937" y="4610100"/>
            <a:ext cx="546000" cy="1500"/>
          </a:xfrm>
          <a:prstGeom prst="straightConnector1">
            <a:avLst/>
          </a:prstGeom>
          <a:noFill/>
          <a:ln cap="flat" cmpd="sng" w="9525">
            <a:solidFill>
              <a:srgbClr val="000000"/>
            </a:solidFill>
            <a:prstDash val="solid"/>
            <a:round/>
            <a:headEnd len="sm" w="sm" type="none"/>
            <a:tailEnd len="med" w="med" type="triangle"/>
          </a:ln>
        </p:spPr>
      </p:cxnSp>
      <p:sp>
        <p:nvSpPr>
          <p:cNvPr id="382" name="Google Shape;382;p25"/>
          <p:cNvSpPr/>
          <p:nvPr/>
        </p:nvSpPr>
        <p:spPr>
          <a:xfrm>
            <a:off x="6584950" y="4194175"/>
            <a:ext cx="1155600" cy="469800"/>
          </a:xfrm>
          <a:prstGeom prst="rect">
            <a:avLst/>
          </a:prstGeom>
          <a:noFill/>
          <a:ln>
            <a:noFill/>
          </a:ln>
        </p:spPr>
        <p:txBody>
          <a:bodyPr anchorCtr="0" anchor="t" bIns="50800" lIns="50800" spcFirstLastPara="1" rIns="50800" wrap="square" tIns="50800">
            <a:noAutofit/>
          </a:bodyPr>
          <a:lstStyle/>
          <a:p>
            <a:pPr indent="-2538" lvl="0" marL="40638" marR="40638" rtl="0" algn="r">
              <a:lnSpc>
                <a:spcPct val="100000"/>
              </a:lnSpc>
              <a:spcBef>
                <a:spcPts val="0"/>
              </a:spcBef>
              <a:spcAft>
                <a:spcPts val="0"/>
              </a:spcAft>
              <a:buClr>
                <a:srgbClr val="000000"/>
              </a:buClr>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β</a:t>
            </a:r>
            <a:r>
              <a:rPr b="0" baseline="-25000" i="1" lang="en-US" sz="2000" u="none" cap="none" strike="noStrike">
                <a:solidFill>
                  <a:srgbClr val="000000"/>
                </a:solidFill>
                <a:latin typeface="Times New Roman"/>
                <a:ea typeface="Times New Roman"/>
                <a:cs typeface="Times New Roman"/>
                <a:sym typeface="Times New Roman"/>
              </a:rPr>
              <a:t>c</a:t>
            </a:r>
            <a:r>
              <a:rPr b="0" i="1" lang="en-US" sz="2000" u="none" cap="none" strike="noStrike">
                <a:solidFill>
                  <a:srgbClr val="000000"/>
                </a:solidFill>
                <a:latin typeface="Times New Roman"/>
                <a:ea typeface="Times New Roman"/>
                <a:cs typeface="Times New Roman"/>
                <a:sym typeface="Times New Roman"/>
              </a:rPr>
              <a:t>I</a:t>
            </a:r>
            <a:r>
              <a:rPr b="0" baseline="-25000" i="1" lang="en-US" sz="2000" u="none" cap="none" strike="noStrike">
                <a:solidFill>
                  <a:srgbClr val="000000"/>
                </a:solidFill>
                <a:latin typeface="Times New Roman"/>
                <a:ea typeface="Times New Roman"/>
                <a:cs typeface="Times New Roman"/>
                <a:sym typeface="Times New Roman"/>
              </a:rPr>
              <a:t>t </a:t>
            </a:r>
            <a:r>
              <a:rPr b="0" i="1" lang="en-US" sz="2000" u="none" cap="none" strike="noStrike">
                <a:solidFill>
                  <a:srgbClr val="000000"/>
                </a:solidFill>
                <a:latin typeface="Times New Roman"/>
                <a:ea typeface="Times New Roman"/>
                <a:cs typeface="Times New Roman"/>
                <a:sym typeface="Times New Roman"/>
              </a:rPr>
              <a:t>/N</a:t>
            </a:r>
            <a:endParaRPr/>
          </a:p>
        </p:txBody>
      </p:sp>
      <p:sp>
        <p:nvSpPr>
          <p:cNvPr id="383" name="Google Shape;383;p25"/>
          <p:cNvSpPr/>
          <p:nvPr/>
        </p:nvSpPr>
        <p:spPr>
          <a:xfrm>
            <a:off x="6577806" y="4770437"/>
            <a:ext cx="1155600" cy="4317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00000"/>
              </a:buClr>
              <a:buFont typeface="Noto Sans Symbols"/>
              <a:buNone/>
            </a:pPr>
            <a:r>
              <a:rPr b="0" i="0" lang="en-US" sz="2000" u="none" cap="none" strike="noStrike">
                <a:solidFill>
                  <a:srgbClr val="000000"/>
                </a:solidFill>
                <a:latin typeface="Noto Sans Symbols"/>
                <a:ea typeface="Noto Sans Symbols"/>
                <a:cs typeface="Noto Sans Symbols"/>
                <a:sym typeface="Noto Sans Symbols"/>
              </a:rPr>
              <a:t>4α</a:t>
            </a:r>
            <a:endParaRPr/>
          </a:p>
        </p:txBody>
      </p:sp>
      <p:cxnSp>
        <p:nvCxnSpPr>
          <p:cNvPr id="384" name="Google Shape;384;p25"/>
          <p:cNvCxnSpPr/>
          <p:nvPr/>
        </p:nvCxnSpPr>
        <p:spPr>
          <a:xfrm flipH="1">
            <a:off x="6866038" y="4818062"/>
            <a:ext cx="546000" cy="1500"/>
          </a:xfrm>
          <a:prstGeom prst="straightConnector1">
            <a:avLst/>
          </a:prstGeom>
          <a:noFill/>
          <a:ln cap="flat" cmpd="sng" w="9525">
            <a:solidFill>
              <a:srgbClr val="000000"/>
            </a:solidFill>
            <a:prstDash val="solid"/>
            <a:round/>
            <a:headEnd len="sm" w="sm" type="none"/>
            <a:tailEnd len="med" w="med" type="triangle"/>
          </a:ln>
        </p:spPr>
      </p:cxnSp>
      <p:grpSp>
        <p:nvGrpSpPr>
          <p:cNvPr id="385" name="Google Shape;385;p25"/>
          <p:cNvGrpSpPr/>
          <p:nvPr/>
        </p:nvGrpSpPr>
        <p:grpSpPr>
          <a:xfrm>
            <a:off x="7680325" y="4078287"/>
            <a:ext cx="916781" cy="900000"/>
            <a:chOff x="0" y="0"/>
            <a:chExt cx="916781" cy="900000"/>
          </a:xfrm>
        </p:grpSpPr>
        <p:sp>
          <p:nvSpPr>
            <p:cNvPr id="386" name="Google Shape;386;p25"/>
            <p:cNvSpPr/>
            <p:nvPr/>
          </p:nvSpPr>
          <p:spPr>
            <a:xfrm>
              <a:off x="0" y="0"/>
              <a:ext cx="906600" cy="900000"/>
            </a:xfrm>
            <a:prstGeom prst="rect">
              <a:avLst/>
            </a:prstGeom>
            <a:noFill/>
            <a:ln cap="flat" cmpd="sng" w="19050">
              <a:solidFill>
                <a:srgbClr val="000000"/>
              </a:solidFill>
              <a:prstDash val="solid"/>
              <a:miter lim="8000"/>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387" name="Google Shape;387;p25"/>
            <p:cNvSpPr/>
            <p:nvPr/>
          </p:nvSpPr>
          <p:spPr>
            <a:xfrm>
              <a:off x="2381" y="248179"/>
              <a:ext cx="914400" cy="406500"/>
            </a:xfrm>
            <a:prstGeom prst="rect">
              <a:avLst/>
            </a:prstGeom>
            <a:noFill/>
            <a:ln>
              <a:noFill/>
            </a:ln>
          </p:spPr>
          <p:txBody>
            <a:bodyPr anchorCtr="0" anchor="ctr" bIns="50800" lIns="50800" spcFirstLastPara="1" rIns="50800" wrap="square" tIns="50800">
              <a:noAutofit/>
            </a:bodyPr>
            <a:lstStyle/>
            <a:p>
              <a:pPr indent="-2538" lvl="0" marL="40638" marR="40638" rtl="0" algn="ctr">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IIII</a:t>
              </a:r>
              <a:endParaRPr/>
            </a:p>
          </p:txBody>
        </p:sp>
      </p:grpSp>
      <p:sp>
        <p:nvSpPr>
          <p:cNvPr id="388" name="Google Shape;388;p25"/>
          <p:cNvSpPr/>
          <p:nvPr/>
        </p:nvSpPr>
        <p:spPr>
          <a:xfrm>
            <a:off x="3064668" y="3889375"/>
            <a:ext cx="1155600" cy="4698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00000"/>
              </a:buClr>
              <a:buFont typeface="Noto Sans Symbols"/>
              <a:buNone/>
            </a:pPr>
            <a:r>
              <a:rPr b="0" i="0" lang="en-US" sz="2000" u="none" cap="none" strike="noStrike">
                <a:solidFill>
                  <a:srgbClr val="000000"/>
                </a:solidFill>
                <a:latin typeface="Noto Sans Symbols"/>
                <a:ea typeface="Noto Sans Symbols"/>
                <a:cs typeface="Noto Sans Symbols"/>
                <a:sym typeface="Noto Sans Symbols"/>
              </a:rPr>
              <a:t>3β</a:t>
            </a:r>
            <a:r>
              <a:rPr b="0" baseline="-25000" i="1" lang="en-US" sz="2000" u="none" cap="none" strike="noStrike">
                <a:solidFill>
                  <a:srgbClr val="000000"/>
                </a:solidFill>
                <a:latin typeface="Times New Roman"/>
                <a:ea typeface="Times New Roman"/>
                <a:cs typeface="Times New Roman"/>
                <a:sym typeface="Times New Roman"/>
              </a:rPr>
              <a:t>h</a:t>
            </a:r>
            <a:r>
              <a:rPr b="0" i="1" lang="en-US" sz="2000" u="none" cap="none" strike="noStrike">
                <a:solidFill>
                  <a:srgbClr val="000000"/>
                </a:solidFill>
                <a:latin typeface="Times New Roman"/>
                <a:ea typeface="Times New Roman"/>
                <a:cs typeface="Times New Roman"/>
                <a:sym typeface="Times New Roman"/>
              </a:rPr>
              <a:t>+</a:t>
            </a:r>
            <a:endParaRPr/>
          </a:p>
        </p:txBody>
      </p:sp>
      <p:sp>
        <p:nvSpPr>
          <p:cNvPr id="389" name="Google Shape;389;p25"/>
          <p:cNvSpPr/>
          <p:nvPr/>
        </p:nvSpPr>
        <p:spPr>
          <a:xfrm>
            <a:off x="4834731" y="3878262"/>
            <a:ext cx="1155600" cy="4698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00000"/>
              </a:buClr>
              <a:buFont typeface="Noto Sans Symbols"/>
              <a:buNone/>
            </a:pPr>
            <a:r>
              <a:rPr b="0" i="0" lang="en-US" sz="2000" u="none" cap="none" strike="noStrike">
                <a:solidFill>
                  <a:srgbClr val="000000"/>
                </a:solidFill>
                <a:latin typeface="Noto Sans Symbols"/>
                <a:ea typeface="Noto Sans Symbols"/>
                <a:cs typeface="Noto Sans Symbols"/>
                <a:sym typeface="Noto Sans Symbols"/>
              </a:rPr>
              <a:t>4β</a:t>
            </a:r>
            <a:r>
              <a:rPr b="0" baseline="-25000" i="1" lang="en-US" sz="2000" u="none" cap="none" strike="noStrike">
                <a:solidFill>
                  <a:srgbClr val="000000"/>
                </a:solidFill>
                <a:latin typeface="Times New Roman"/>
                <a:ea typeface="Times New Roman"/>
                <a:cs typeface="Times New Roman"/>
                <a:sym typeface="Times New Roman"/>
              </a:rPr>
              <a:t>h</a:t>
            </a:r>
            <a:r>
              <a:rPr b="0" i="1" lang="en-US" sz="2000" u="none" cap="none" strike="noStrike">
                <a:solidFill>
                  <a:srgbClr val="000000"/>
                </a:solidFill>
                <a:latin typeface="Times New Roman"/>
                <a:ea typeface="Times New Roman"/>
                <a:cs typeface="Times New Roman"/>
                <a:sym typeface="Times New Roman"/>
              </a:rPr>
              <a:t>+</a:t>
            </a:r>
            <a:endParaRPr/>
          </a:p>
        </p:txBody>
      </p:sp>
      <p:sp>
        <p:nvSpPr>
          <p:cNvPr id="390" name="Google Shape;390;p25"/>
          <p:cNvSpPr/>
          <p:nvPr/>
        </p:nvSpPr>
        <p:spPr>
          <a:xfrm>
            <a:off x="6674643" y="3883025"/>
            <a:ext cx="1155600" cy="4698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00000"/>
              </a:buClr>
              <a:buFont typeface="Noto Sans Symbols"/>
              <a:buNone/>
            </a:pPr>
            <a:r>
              <a:rPr b="0" i="0" lang="en-US" sz="2000" u="none" cap="none" strike="noStrike">
                <a:solidFill>
                  <a:srgbClr val="000000"/>
                </a:solidFill>
                <a:latin typeface="Noto Sans Symbols"/>
                <a:ea typeface="Noto Sans Symbols"/>
                <a:cs typeface="Noto Sans Symbols"/>
                <a:sym typeface="Noto Sans Symbols"/>
              </a:rPr>
              <a:t>3β</a:t>
            </a:r>
            <a:r>
              <a:rPr b="0" baseline="-25000" i="1" lang="en-US" sz="2000" u="none" cap="none" strike="noStrike">
                <a:solidFill>
                  <a:srgbClr val="000000"/>
                </a:solidFill>
                <a:latin typeface="Times New Roman"/>
                <a:ea typeface="Times New Roman"/>
                <a:cs typeface="Times New Roman"/>
                <a:sym typeface="Times New Roman"/>
              </a:rPr>
              <a:t>h</a:t>
            </a:r>
            <a:r>
              <a:rPr b="0" i="1" lang="en-US" sz="2000" u="none" cap="none" strike="noStrike">
                <a:solidFill>
                  <a:srgbClr val="000000"/>
                </a:solidFill>
                <a:latin typeface="Times New Roman"/>
                <a:ea typeface="Times New Roman"/>
                <a:cs typeface="Times New Roman"/>
                <a:sym typeface="Times New Roman"/>
              </a:rPr>
              <a:t>+</a:t>
            </a:r>
            <a:endParaRPr/>
          </a:p>
        </p:txBody>
      </p:sp>
      <p:grpSp>
        <p:nvGrpSpPr>
          <p:cNvPr id="391" name="Google Shape;391;p25"/>
          <p:cNvGrpSpPr/>
          <p:nvPr/>
        </p:nvGrpSpPr>
        <p:grpSpPr>
          <a:xfrm>
            <a:off x="1847850" y="2100262"/>
            <a:ext cx="546100" cy="209462"/>
            <a:chOff x="0" y="0"/>
            <a:chExt cx="546100" cy="209462"/>
          </a:xfrm>
        </p:grpSpPr>
        <p:cxnSp>
          <p:nvCxnSpPr>
            <p:cNvPr id="392" name="Google Shape;392;p25"/>
            <p:cNvCxnSpPr/>
            <p:nvPr/>
          </p:nvCxnSpPr>
          <p:spPr>
            <a:xfrm>
              <a:off x="0" y="0"/>
              <a:ext cx="546000" cy="1500"/>
            </a:xfrm>
            <a:prstGeom prst="straightConnector1">
              <a:avLst/>
            </a:prstGeom>
            <a:noFill/>
            <a:ln cap="flat" cmpd="sng" w="9525">
              <a:solidFill>
                <a:srgbClr val="000000"/>
              </a:solidFill>
              <a:prstDash val="solid"/>
              <a:round/>
              <a:headEnd len="sm" w="sm" type="none"/>
              <a:tailEnd len="med" w="med" type="triangle"/>
            </a:ln>
          </p:spPr>
        </p:cxnSp>
        <p:cxnSp>
          <p:nvCxnSpPr>
            <p:cNvPr id="393" name="Google Shape;393;p25"/>
            <p:cNvCxnSpPr/>
            <p:nvPr/>
          </p:nvCxnSpPr>
          <p:spPr>
            <a:xfrm flipH="1">
              <a:off x="100" y="207962"/>
              <a:ext cx="546000" cy="1500"/>
            </a:xfrm>
            <a:prstGeom prst="straightConnector1">
              <a:avLst/>
            </a:prstGeom>
            <a:noFill/>
            <a:ln cap="flat" cmpd="sng" w="9525">
              <a:solidFill>
                <a:srgbClr val="000000"/>
              </a:solidFill>
              <a:prstDash val="solid"/>
              <a:round/>
              <a:headEnd len="sm" w="sm" type="none"/>
              <a:tailEnd len="med" w="med" type="triangle"/>
            </a:ln>
          </p:spPr>
        </p:cxnSp>
      </p:grpSp>
      <p:cxnSp>
        <p:nvCxnSpPr>
          <p:cNvPr id="394" name="Google Shape;394;p25"/>
          <p:cNvCxnSpPr/>
          <p:nvPr/>
        </p:nvCxnSpPr>
        <p:spPr>
          <a:xfrm>
            <a:off x="3495675" y="2100262"/>
            <a:ext cx="546000" cy="1500"/>
          </a:xfrm>
          <a:prstGeom prst="straightConnector1">
            <a:avLst/>
          </a:prstGeom>
          <a:noFill/>
          <a:ln cap="flat" cmpd="sng" w="9525">
            <a:solidFill>
              <a:srgbClr val="000000"/>
            </a:solidFill>
            <a:prstDash val="solid"/>
            <a:round/>
            <a:headEnd len="sm" w="sm" type="none"/>
            <a:tailEnd len="med" w="med" type="triangle"/>
          </a:ln>
        </p:spPr>
      </p:cxnSp>
      <p:cxnSp>
        <p:nvCxnSpPr>
          <p:cNvPr id="395" name="Google Shape;395;p25"/>
          <p:cNvCxnSpPr/>
          <p:nvPr/>
        </p:nvCxnSpPr>
        <p:spPr>
          <a:xfrm flipH="1">
            <a:off x="3495775" y="2308225"/>
            <a:ext cx="546000" cy="1500"/>
          </a:xfrm>
          <a:prstGeom prst="straightConnector1">
            <a:avLst/>
          </a:prstGeom>
          <a:noFill/>
          <a:ln cap="flat" cmpd="sng" w="9525">
            <a:solidFill>
              <a:srgbClr val="000000"/>
            </a:solidFill>
            <a:prstDash val="solid"/>
            <a:round/>
            <a:headEnd len="sm" w="sm" type="none"/>
            <a:tailEnd len="med" w="med" type="triangle"/>
          </a:ln>
        </p:spPr>
      </p:cxnSp>
      <p:grpSp>
        <p:nvGrpSpPr>
          <p:cNvPr id="396" name="Google Shape;396;p25"/>
          <p:cNvGrpSpPr/>
          <p:nvPr/>
        </p:nvGrpSpPr>
        <p:grpSpPr>
          <a:xfrm>
            <a:off x="5145087" y="2100262"/>
            <a:ext cx="546100" cy="209462"/>
            <a:chOff x="0" y="0"/>
            <a:chExt cx="546100" cy="209462"/>
          </a:xfrm>
        </p:grpSpPr>
        <p:cxnSp>
          <p:nvCxnSpPr>
            <p:cNvPr id="397" name="Google Shape;397;p25"/>
            <p:cNvCxnSpPr/>
            <p:nvPr/>
          </p:nvCxnSpPr>
          <p:spPr>
            <a:xfrm>
              <a:off x="0" y="0"/>
              <a:ext cx="546000" cy="1500"/>
            </a:xfrm>
            <a:prstGeom prst="straightConnector1">
              <a:avLst/>
            </a:prstGeom>
            <a:noFill/>
            <a:ln cap="flat" cmpd="sng" w="9525">
              <a:solidFill>
                <a:srgbClr val="000000"/>
              </a:solidFill>
              <a:prstDash val="solid"/>
              <a:round/>
              <a:headEnd len="sm" w="sm" type="none"/>
              <a:tailEnd len="med" w="med" type="triangle"/>
            </a:ln>
          </p:spPr>
        </p:cxnSp>
        <p:cxnSp>
          <p:nvCxnSpPr>
            <p:cNvPr id="398" name="Google Shape;398;p25"/>
            <p:cNvCxnSpPr/>
            <p:nvPr/>
          </p:nvCxnSpPr>
          <p:spPr>
            <a:xfrm flipH="1">
              <a:off x="100" y="207962"/>
              <a:ext cx="546000" cy="1500"/>
            </a:xfrm>
            <a:prstGeom prst="straightConnector1">
              <a:avLst/>
            </a:prstGeom>
            <a:noFill/>
            <a:ln cap="flat" cmpd="sng" w="9525">
              <a:solidFill>
                <a:srgbClr val="000000"/>
              </a:solidFill>
              <a:prstDash val="solid"/>
              <a:round/>
              <a:headEnd len="sm" w="sm" type="none"/>
              <a:tailEnd len="med" w="med" type="triangle"/>
            </a:ln>
          </p:spPr>
        </p:cxnSp>
      </p:grpSp>
      <p:grpSp>
        <p:nvGrpSpPr>
          <p:cNvPr id="399" name="Google Shape;399;p25"/>
          <p:cNvGrpSpPr/>
          <p:nvPr/>
        </p:nvGrpSpPr>
        <p:grpSpPr>
          <a:xfrm>
            <a:off x="6794500" y="2098675"/>
            <a:ext cx="546100" cy="209462"/>
            <a:chOff x="0" y="0"/>
            <a:chExt cx="546100" cy="209462"/>
          </a:xfrm>
        </p:grpSpPr>
        <p:cxnSp>
          <p:nvCxnSpPr>
            <p:cNvPr id="400" name="Google Shape;400;p25"/>
            <p:cNvCxnSpPr/>
            <p:nvPr/>
          </p:nvCxnSpPr>
          <p:spPr>
            <a:xfrm>
              <a:off x="0" y="0"/>
              <a:ext cx="546000" cy="1500"/>
            </a:xfrm>
            <a:prstGeom prst="straightConnector1">
              <a:avLst/>
            </a:prstGeom>
            <a:noFill/>
            <a:ln cap="flat" cmpd="sng" w="9525">
              <a:solidFill>
                <a:srgbClr val="000000"/>
              </a:solidFill>
              <a:prstDash val="solid"/>
              <a:round/>
              <a:headEnd len="sm" w="sm" type="none"/>
              <a:tailEnd len="med" w="med" type="triangle"/>
            </a:ln>
          </p:spPr>
        </p:cxnSp>
        <p:cxnSp>
          <p:nvCxnSpPr>
            <p:cNvPr id="401" name="Google Shape;401;p25"/>
            <p:cNvCxnSpPr/>
            <p:nvPr/>
          </p:nvCxnSpPr>
          <p:spPr>
            <a:xfrm flipH="1">
              <a:off x="100" y="207962"/>
              <a:ext cx="546000" cy="1500"/>
            </a:xfrm>
            <a:prstGeom prst="straightConnector1">
              <a:avLst/>
            </a:prstGeom>
            <a:noFill/>
            <a:ln cap="flat" cmpd="sng" w="9525">
              <a:solidFill>
                <a:srgbClr val="000000"/>
              </a:solidFill>
              <a:prstDash val="solid"/>
              <a:round/>
              <a:headEnd len="sm" w="sm" type="none"/>
              <a:tailEnd len="med" w="med" type="triangle"/>
            </a:ln>
          </p:spPr>
        </p:cxn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05" name="Shape 405"/>
        <p:cNvGrpSpPr/>
        <p:nvPr/>
      </p:nvGrpSpPr>
      <p:grpSpPr>
        <a:xfrm>
          <a:off x="0" y="0"/>
          <a:ext cx="0" cy="0"/>
          <a:chOff x="0" y="0"/>
          <a:chExt cx="0" cy="0"/>
        </a:xfrm>
      </p:grpSpPr>
      <p:pic>
        <p:nvPicPr>
          <p:cNvPr id="406" name="Google Shape;406;p26"/>
          <p:cNvPicPr preferRelativeResize="0"/>
          <p:nvPr/>
        </p:nvPicPr>
        <p:blipFill rotWithShape="1">
          <a:blip r:embed="rId3">
            <a:alphaModFix/>
          </a:blip>
          <a:srcRect b="0" l="0" r="0" t="0"/>
          <a:stretch/>
        </p:blipFill>
        <p:spPr>
          <a:xfrm>
            <a:off x="1600200" y="3233737"/>
            <a:ext cx="4113300" cy="2728800"/>
          </a:xfrm>
          <a:prstGeom prst="rect">
            <a:avLst/>
          </a:prstGeom>
          <a:noFill/>
          <a:ln>
            <a:noFill/>
          </a:ln>
        </p:spPr>
      </p:pic>
      <p:sp>
        <p:nvSpPr>
          <p:cNvPr id="407" name="Google Shape;407;p26"/>
          <p:cNvSpPr/>
          <p:nvPr/>
        </p:nvSpPr>
        <p:spPr>
          <a:xfrm>
            <a:off x="0" y="333375"/>
            <a:ext cx="9156700" cy="533400"/>
          </a:xfrm>
          <a:prstGeom prst="rect">
            <a:avLst/>
          </a:prstGeom>
          <a:noFill/>
          <a:ln>
            <a:noFill/>
          </a:ln>
        </p:spPr>
        <p:txBody>
          <a:bodyPr anchorCtr="0" anchor="t" bIns="50800" lIns="50800" spcFirstLastPara="1" rIns="50800" wrap="square" tIns="50800">
            <a:noAutofit/>
          </a:bodyPr>
          <a:lstStyle/>
          <a:p>
            <a:pPr indent="-2539" lvl="0" marL="40639" marR="40639" rtl="0" algn="ctr">
              <a:lnSpc>
                <a:spcPct val="100000"/>
              </a:lnSpc>
              <a:spcBef>
                <a:spcPts val="0"/>
              </a:spcBef>
              <a:spcAft>
                <a:spcPts val="0"/>
              </a:spcAft>
              <a:buClr>
                <a:srgbClr val="0433FF"/>
              </a:buClr>
              <a:buFont typeface="Tahoma"/>
              <a:buNone/>
            </a:pPr>
            <a:r>
              <a:rPr b="1" lang="en-US" sz="2800">
                <a:solidFill>
                  <a:srgbClr val="0433FF"/>
                </a:solidFill>
                <a:latin typeface="Tahoma"/>
                <a:ea typeface="Tahoma"/>
                <a:cs typeface="Tahoma"/>
                <a:sym typeface="Tahoma"/>
              </a:rPr>
              <a:t>Comparison with random mixing model</a:t>
            </a:r>
            <a:endParaRPr/>
          </a:p>
        </p:txBody>
      </p:sp>
      <p:sp>
        <p:nvSpPr>
          <p:cNvPr id="408" name="Google Shape;408;p26"/>
          <p:cNvSpPr/>
          <p:nvPr/>
        </p:nvSpPr>
        <p:spPr>
          <a:xfrm>
            <a:off x="487362" y="1055687"/>
            <a:ext cx="7708901" cy="711201"/>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Household and random mixing model can be compared in a variety of ways.</a:t>
            </a:r>
            <a:endParaRPr/>
          </a:p>
        </p:txBody>
      </p:sp>
      <p:sp>
        <p:nvSpPr>
          <p:cNvPr id="409" name="Google Shape;409;p26"/>
          <p:cNvSpPr/>
          <p:nvPr/>
        </p:nvSpPr>
        <p:spPr>
          <a:xfrm>
            <a:off x="490537" y="1846262"/>
            <a:ext cx="7710600" cy="1070100"/>
          </a:xfrm>
          <a:prstGeom prst="rect">
            <a:avLst/>
          </a:prstGeom>
          <a:noFill/>
          <a:ln>
            <a:noFill/>
          </a:ln>
        </p:spPr>
        <p:txBody>
          <a:bodyPr anchorCtr="0" anchor="t" bIns="50800" lIns="50800" spcFirstLastPara="1" rIns="50800" wrap="square" tIns="50800">
            <a:noAutofit/>
          </a:bodyPr>
          <a:lstStyle/>
          <a:p>
            <a:pPr indent="-330200" lvl="0" marL="457200" marR="40639" rtl="0" algn="l">
              <a:lnSpc>
                <a:spcPct val="100000"/>
              </a:lnSpc>
              <a:spcBef>
                <a:spcPts val="900"/>
              </a:spcBef>
              <a:spcAft>
                <a:spcPts val="0"/>
              </a:spcAft>
              <a:buClr>
                <a:srgbClr val="000000"/>
              </a:buClr>
              <a:buSzPts val="1600"/>
              <a:buFont typeface="Tahoma"/>
              <a:buAutoNum type="arabicParenR"/>
            </a:pPr>
            <a:r>
              <a:rPr b="0" i="0" lang="en-US" sz="1600" u="none" cap="none" strike="noStrike">
                <a:solidFill>
                  <a:srgbClr val="000000"/>
                </a:solidFill>
                <a:latin typeface="Tahoma"/>
                <a:ea typeface="Tahoma"/>
                <a:cs typeface="Tahoma"/>
                <a:sym typeface="Tahoma"/>
              </a:rPr>
              <a:t>Constant contact rate, repartitioned into households and random.</a:t>
            </a:r>
            <a:endParaRPr b="0" i="0" sz="1600" u="none" cap="none" strike="noStrike">
              <a:solidFill>
                <a:srgbClr val="000000"/>
              </a:solidFill>
              <a:latin typeface="Tahoma"/>
              <a:ea typeface="Tahoma"/>
              <a:cs typeface="Tahoma"/>
              <a:sym typeface="Tahoma"/>
            </a:endParaRPr>
          </a:p>
          <a:p>
            <a:pPr indent="-2539" lvl="0" marL="40639" marR="40639" rtl="0" algn="l">
              <a:lnSpc>
                <a:spcPct val="100000"/>
              </a:lnSpc>
              <a:spcBef>
                <a:spcPts val="900"/>
              </a:spcBef>
              <a:spcAft>
                <a:spcPts val="0"/>
              </a:spcAft>
              <a:buClr>
                <a:srgbClr val="000000"/>
              </a:buClr>
              <a:buFont typeface="Tahoma"/>
              <a:buNone/>
            </a:pPr>
            <a:r>
              <a:rPr lang="en-US" sz="1600">
                <a:latin typeface="Tahoma"/>
                <a:ea typeface="Tahoma"/>
                <a:cs typeface="Tahoma"/>
                <a:sym typeface="Tahoma"/>
              </a:rPr>
              <a:t>       </a:t>
            </a:r>
            <a:r>
              <a:rPr b="0" i="0" lang="en-US" sz="1600" u="none" cap="none" strike="noStrike">
                <a:solidFill>
                  <a:srgbClr val="000000"/>
                </a:solidFill>
                <a:latin typeface="Tahoma"/>
                <a:ea typeface="Tahoma"/>
                <a:cs typeface="Tahoma"/>
                <a:sym typeface="Tahoma"/>
              </a:rPr>
              <a:t>Household contacts are made with </a:t>
            </a:r>
            <a:r>
              <a:rPr b="1" i="0" lang="en-US" sz="1600" u="none" cap="none" strike="noStrike">
                <a:solidFill>
                  <a:srgbClr val="000000"/>
                </a:solidFill>
                <a:latin typeface="Tahoma"/>
                <a:ea typeface="Tahoma"/>
                <a:cs typeface="Tahoma"/>
                <a:sym typeface="Tahoma"/>
              </a:rPr>
              <a:t>all</a:t>
            </a:r>
            <a:r>
              <a:rPr b="0" i="0" lang="en-US" sz="1600" u="none" cap="none" strike="noStrike">
                <a:solidFill>
                  <a:srgbClr val="000000"/>
                </a:solidFill>
                <a:latin typeface="Tahoma"/>
                <a:ea typeface="Tahoma"/>
                <a:cs typeface="Tahoma"/>
                <a:sym typeface="Tahoma"/>
              </a:rPr>
              <a:t> other members.</a:t>
            </a:r>
            <a:endParaRPr/>
          </a:p>
        </p:txBody>
      </p:sp>
      <p:pic>
        <p:nvPicPr>
          <p:cNvPr id="410" name="Google Shape;410;p26"/>
          <p:cNvPicPr preferRelativeResize="0"/>
          <p:nvPr/>
        </p:nvPicPr>
        <p:blipFill rotWithShape="1">
          <a:blip r:embed="rId4">
            <a:alphaModFix/>
          </a:blip>
          <a:srcRect b="0" l="0" r="0" t="0"/>
          <a:stretch/>
        </p:blipFill>
        <p:spPr>
          <a:xfrm>
            <a:off x="7042150" y="1896263"/>
            <a:ext cx="1300200" cy="403200"/>
          </a:xfrm>
          <a:prstGeom prst="rect">
            <a:avLst/>
          </a:prstGeom>
          <a:noFill/>
          <a:ln>
            <a:noFill/>
          </a:ln>
        </p:spPr>
      </p:pic>
      <p:sp>
        <p:nvSpPr>
          <p:cNvPr id="411" name="Google Shape;411;p26"/>
          <p:cNvSpPr/>
          <p:nvPr/>
        </p:nvSpPr>
        <p:spPr>
          <a:xfrm>
            <a:off x="1909762" y="2947987"/>
            <a:ext cx="1397100" cy="2412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rPr b="0" i="0" lang="en-US" sz="900" u="none" cap="none" strike="noStrike">
                <a:solidFill>
                  <a:srgbClr val="000000"/>
                </a:solidFill>
                <a:latin typeface="Tahoma"/>
                <a:ea typeface="Tahoma"/>
                <a:cs typeface="Tahoma"/>
                <a:sym typeface="Tahoma"/>
              </a:rPr>
              <a:t>N=10,000</a:t>
            </a:r>
            <a:endParaRPr/>
          </a:p>
        </p:txBody>
      </p:sp>
      <p:sp>
        <p:nvSpPr>
          <p:cNvPr id="412" name="Google Shape;412;p26"/>
          <p:cNvSpPr/>
          <p:nvPr/>
        </p:nvSpPr>
        <p:spPr>
          <a:xfrm>
            <a:off x="479425" y="6073775"/>
            <a:ext cx="7035900" cy="3855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Arial"/>
              <a:buNone/>
            </a:pPr>
            <a:r>
              <a:rPr b="0" i="0" lang="en-US" sz="2000" u="none" cap="none" strike="noStrike">
                <a:solidFill>
                  <a:srgbClr val="000000"/>
                </a:solidFill>
                <a:latin typeface="Arial"/>
                <a:ea typeface="Arial"/>
                <a:cs typeface="Arial"/>
                <a:sym typeface="Arial"/>
              </a:rPr>
              <a:t>→ amplified epidemic; steeper herd effect</a:t>
            </a:r>
            <a:endParaRPr/>
          </a:p>
        </p:txBody>
      </p:sp>
      <p:pic>
        <p:nvPicPr>
          <p:cNvPr id="413" name="Google Shape;413;p26"/>
          <p:cNvPicPr preferRelativeResize="0"/>
          <p:nvPr/>
        </p:nvPicPr>
        <p:blipFill rotWithShape="1">
          <a:blip r:embed="rId5">
            <a:alphaModFix/>
          </a:blip>
          <a:srcRect b="0" l="0" r="0" t="0"/>
          <a:stretch/>
        </p:blipFill>
        <p:spPr>
          <a:xfrm>
            <a:off x="5730875" y="4371987"/>
            <a:ext cx="442800" cy="939900"/>
          </a:xfrm>
          <a:prstGeom prst="rect">
            <a:avLst/>
          </a:prstGeom>
          <a:noFill/>
          <a:ln>
            <a:noFill/>
          </a:ln>
        </p:spPr>
      </p:pic>
      <p:sp>
        <p:nvSpPr>
          <p:cNvPr id="414" name="Google Shape;414;p26"/>
          <p:cNvSpPr txBox="1"/>
          <p:nvPr/>
        </p:nvSpPr>
        <p:spPr>
          <a:xfrm>
            <a:off x="6045263" y="3013375"/>
            <a:ext cx="1754100" cy="113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t>Household susceptible</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US" sz="900"/>
              <a:t>Household infectious</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US" sz="900"/>
              <a:t>Random susceptible</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US" sz="900"/>
              <a:t>Random infectious</a:t>
            </a:r>
            <a:endParaRPr sz="900"/>
          </a:p>
        </p:txBody>
      </p:sp>
      <p:cxnSp>
        <p:nvCxnSpPr>
          <p:cNvPr id="415" name="Google Shape;415;p26"/>
          <p:cNvCxnSpPr/>
          <p:nvPr/>
        </p:nvCxnSpPr>
        <p:spPr>
          <a:xfrm flipH="1" rot="10800000">
            <a:off x="5756338" y="3709400"/>
            <a:ext cx="320100" cy="900"/>
          </a:xfrm>
          <a:prstGeom prst="straightConnector1">
            <a:avLst/>
          </a:prstGeom>
          <a:noFill/>
          <a:ln cap="flat" cmpd="sng" w="28575">
            <a:solidFill>
              <a:schemeClr val="dk2"/>
            </a:solidFill>
            <a:prstDash val="dot"/>
            <a:round/>
            <a:headEnd len="med" w="med" type="none"/>
            <a:tailEnd len="med" w="med" type="none"/>
          </a:ln>
        </p:spPr>
      </p:cxnSp>
      <p:cxnSp>
        <p:nvCxnSpPr>
          <p:cNvPr id="416" name="Google Shape;416;p26"/>
          <p:cNvCxnSpPr/>
          <p:nvPr/>
        </p:nvCxnSpPr>
        <p:spPr>
          <a:xfrm flipH="1" rot="10800000">
            <a:off x="5756338" y="3974963"/>
            <a:ext cx="320100" cy="900"/>
          </a:xfrm>
          <a:prstGeom prst="straightConnector1">
            <a:avLst/>
          </a:prstGeom>
          <a:noFill/>
          <a:ln cap="flat" cmpd="sng" w="28575">
            <a:solidFill>
              <a:srgbClr val="FF0000"/>
            </a:solidFill>
            <a:prstDash val="dot"/>
            <a:round/>
            <a:headEnd len="med" w="med" type="none"/>
            <a:tailEnd len="med" w="med" type="none"/>
          </a:ln>
        </p:spPr>
      </p:cxnSp>
      <p:cxnSp>
        <p:nvCxnSpPr>
          <p:cNvPr id="417" name="Google Shape;417;p26"/>
          <p:cNvCxnSpPr/>
          <p:nvPr/>
        </p:nvCxnSpPr>
        <p:spPr>
          <a:xfrm flipH="1" rot="10800000">
            <a:off x="5756338" y="3176000"/>
            <a:ext cx="320100" cy="900"/>
          </a:xfrm>
          <a:prstGeom prst="straightConnector1">
            <a:avLst/>
          </a:prstGeom>
          <a:noFill/>
          <a:ln cap="flat" cmpd="sng" w="28575">
            <a:solidFill>
              <a:schemeClr val="dk2"/>
            </a:solidFill>
            <a:prstDash val="solid"/>
            <a:round/>
            <a:headEnd len="med" w="med" type="none"/>
            <a:tailEnd len="med" w="med" type="none"/>
          </a:ln>
        </p:spPr>
      </p:cxnSp>
      <p:cxnSp>
        <p:nvCxnSpPr>
          <p:cNvPr id="418" name="Google Shape;418;p26"/>
          <p:cNvCxnSpPr/>
          <p:nvPr/>
        </p:nvCxnSpPr>
        <p:spPr>
          <a:xfrm flipH="1" rot="10800000">
            <a:off x="5756338" y="3441563"/>
            <a:ext cx="320100" cy="9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22" name="Shape 422"/>
        <p:cNvGrpSpPr/>
        <p:nvPr/>
      </p:nvGrpSpPr>
      <p:grpSpPr>
        <a:xfrm>
          <a:off x="0" y="0"/>
          <a:ext cx="0" cy="0"/>
          <a:chOff x="0" y="0"/>
          <a:chExt cx="0" cy="0"/>
        </a:xfrm>
      </p:grpSpPr>
      <p:pic>
        <p:nvPicPr>
          <p:cNvPr id="423" name="Google Shape;423;p27"/>
          <p:cNvPicPr preferRelativeResize="0"/>
          <p:nvPr/>
        </p:nvPicPr>
        <p:blipFill rotWithShape="1">
          <a:blip r:embed="rId3">
            <a:alphaModFix/>
          </a:blip>
          <a:srcRect b="0" l="0" r="0" t="0"/>
          <a:stretch/>
        </p:blipFill>
        <p:spPr>
          <a:xfrm>
            <a:off x="1457337" y="2568587"/>
            <a:ext cx="4113300" cy="2728800"/>
          </a:xfrm>
          <a:prstGeom prst="rect">
            <a:avLst/>
          </a:prstGeom>
          <a:noFill/>
          <a:ln>
            <a:noFill/>
          </a:ln>
        </p:spPr>
      </p:pic>
      <p:sp>
        <p:nvSpPr>
          <p:cNvPr id="424" name="Google Shape;424;p27"/>
          <p:cNvSpPr/>
          <p:nvPr/>
        </p:nvSpPr>
        <p:spPr>
          <a:xfrm>
            <a:off x="0" y="333375"/>
            <a:ext cx="9156700" cy="533400"/>
          </a:xfrm>
          <a:prstGeom prst="rect">
            <a:avLst/>
          </a:prstGeom>
          <a:noFill/>
          <a:ln>
            <a:noFill/>
          </a:ln>
        </p:spPr>
        <p:txBody>
          <a:bodyPr anchorCtr="0" anchor="t" bIns="50800" lIns="50800" spcFirstLastPara="1" rIns="50800" wrap="square" tIns="50800">
            <a:noAutofit/>
          </a:bodyPr>
          <a:lstStyle/>
          <a:p>
            <a:pPr indent="-2538" lvl="0" marL="40638" marR="40638" rtl="0" algn="ctr">
              <a:spcBef>
                <a:spcPts val="0"/>
              </a:spcBef>
              <a:spcAft>
                <a:spcPts val="0"/>
              </a:spcAft>
              <a:buClr>
                <a:srgbClr val="0433FF"/>
              </a:buClr>
              <a:buFont typeface="Tahoma"/>
              <a:buNone/>
            </a:pPr>
            <a:r>
              <a:rPr b="1" lang="en-US" sz="2800">
                <a:solidFill>
                  <a:srgbClr val="0433FF"/>
                </a:solidFill>
                <a:latin typeface="Tahoma"/>
                <a:ea typeface="Tahoma"/>
                <a:cs typeface="Tahoma"/>
                <a:sym typeface="Tahoma"/>
              </a:rPr>
              <a:t>Comparison with random mixing model</a:t>
            </a:r>
            <a:endParaRPr>
              <a:solidFill>
                <a:schemeClr val="dk1"/>
              </a:solidFill>
            </a:endParaRPr>
          </a:p>
          <a:p>
            <a:pPr indent="-2539" lvl="0" marL="40639" marR="40639" rtl="0" algn="ctr">
              <a:lnSpc>
                <a:spcPct val="100000"/>
              </a:lnSpc>
              <a:spcBef>
                <a:spcPts val="0"/>
              </a:spcBef>
              <a:spcAft>
                <a:spcPts val="0"/>
              </a:spcAft>
              <a:buClr>
                <a:srgbClr val="0433FF"/>
              </a:buClr>
              <a:buFont typeface="Tahoma"/>
              <a:buNone/>
            </a:pPr>
            <a:r>
              <a:t/>
            </a:r>
            <a:endParaRPr b="1" sz="2800">
              <a:solidFill>
                <a:srgbClr val="0433FF"/>
              </a:solidFill>
              <a:latin typeface="Tahoma"/>
              <a:ea typeface="Tahoma"/>
              <a:cs typeface="Tahoma"/>
              <a:sym typeface="Tahoma"/>
            </a:endParaRPr>
          </a:p>
        </p:txBody>
      </p:sp>
      <p:sp>
        <p:nvSpPr>
          <p:cNvPr id="425" name="Google Shape;425;p27"/>
          <p:cNvSpPr/>
          <p:nvPr/>
        </p:nvSpPr>
        <p:spPr>
          <a:xfrm>
            <a:off x="338137" y="1236662"/>
            <a:ext cx="7710600" cy="10701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900"/>
              </a:spcBef>
              <a:spcAft>
                <a:spcPts val="0"/>
              </a:spcAft>
              <a:buClr>
                <a:srgbClr val="000000"/>
              </a:buClr>
              <a:buFont typeface="Tahoma"/>
              <a:buNone/>
            </a:pPr>
            <a:r>
              <a:rPr lang="en-US" sz="1600">
                <a:latin typeface="Tahoma"/>
                <a:ea typeface="Tahoma"/>
                <a:cs typeface="Tahoma"/>
                <a:sym typeface="Tahoma"/>
              </a:rPr>
              <a:t>2)  </a:t>
            </a:r>
            <a:r>
              <a:rPr b="0" i="0" lang="en-US" sz="1600" u="none" cap="none" strike="noStrike">
                <a:solidFill>
                  <a:srgbClr val="000000"/>
                </a:solidFill>
                <a:latin typeface="Tahoma"/>
                <a:ea typeface="Tahoma"/>
                <a:cs typeface="Tahoma"/>
                <a:sym typeface="Tahoma"/>
              </a:rPr>
              <a:t>Constant contact rate, repartitioned into households and random</a:t>
            </a:r>
            <a:endParaRPr/>
          </a:p>
          <a:p>
            <a:pPr indent="-2539" lvl="0" marL="40639" marR="40639" rtl="0" algn="l">
              <a:lnSpc>
                <a:spcPct val="100000"/>
              </a:lnSpc>
              <a:spcBef>
                <a:spcPts val="900"/>
              </a:spcBef>
              <a:spcAft>
                <a:spcPts val="0"/>
              </a:spcAft>
              <a:buClr>
                <a:srgbClr val="000000"/>
              </a:buClr>
              <a:buFont typeface="Tahoma"/>
              <a:buNone/>
            </a:pPr>
            <a:r>
              <a:rPr lang="en-US" sz="1600">
                <a:latin typeface="Tahoma"/>
                <a:ea typeface="Tahoma"/>
                <a:cs typeface="Tahoma"/>
                <a:sym typeface="Tahoma"/>
              </a:rPr>
              <a:t>     </a:t>
            </a:r>
            <a:r>
              <a:rPr b="0" i="0" lang="en-US" sz="1600" u="none" cap="none" strike="noStrike">
                <a:solidFill>
                  <a:srgbClr val="000000"/>
                </a:solidFill>
                <a:latin typeface="Tahoma"/>
                <a:ea typeface="Tahoma"/>
                <a:cs typeface="Tahoma"/>
                <a:sym typeface="Tahoma"/>
              </a:rPr>
              <a:t>Household contacts are shared between other members</a:t>
            </a:r>
            <a:endParaRPr/>
          </a:p>
        </p:txBody>
      </p:sp>
      <p:pic>
        <p:nvPicPr>
          <p:cNvPr id="426" name="Google Shape;426;p27"/>
          <p:cNvPicPr preferRelativeResize="0"/>
          <p:nvPr/>
        </p:nvPicPr>
        <p:blipFill rotWithShape="1">
          <a:blip r:embed="rId4">
            <a:alphaModFix/>
          </a:blip>
          <a:srcRect b="0" l="0" r="0" t="0"/>
          <a:stretch/>
        </p:blipFill>
        <p:spPr>
          <a:xfrm>
            <a:off x="6853237" y="1346200"/>
            <a:ext cx="1413000" cy="403200"/>
          </a:xfrm>
          <a:prstGeom prst="rect">
            <a:avLst/>
          </a:prstGeom>
          <a:noFill/>
          <a:ln>
            <a:noFill/>
          </a:ln>
        </p:spPr>
      </p:pic>
      <p:sp>
        <p:nvSpPr>
          <p:cNvPr id="427" name="Google Shape;427;p27"/>
          <p:cNvSpPr/>
          <p:nvPr/>
        </p:nvSpPr>
        <p:spPr>
          <a:xfrm>
            <a:off x="631825" y="5464175"/>
            <a:ext cx="7035900" cy="4191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rPr b="0" i="0" lang="en-US" sz="2000" u="none" cap="none" strike="noStrike">
                <a:solidFill>
                  <a:srgbClr val="000000"/>
                </a:solidFill>
                <a:latin typeface="Arial"/>
                <a:ea typeface="Arial"/>
                <a:cs typeface="Arial"/>
                <a:sym typeface="Arial"/>
              </a:rPr>
              <a:t>→ </a:t>
            </a:r>
            <a:r>
              <a:rPr lang="en-US" sz="2000">
                <a:solidFill>
                  <a:schemeClr val="dk1"/>
                </a:solidFill>
                <a:latin typeface="Tahoma"/>
                <a:ea typeface="Tahoma"/>
                <a:cs typeface="Tahoma"/>
                <a:sym typeface="Tahoma"/>
              </a:rPr>
              <a:t>local saturation, </a:t>
            </a:r>
            <a:r>
              <a:rPr b="0" i="0" lang="en-US" sz="2000" u="none" cap="none" strike="noStrike">
                <a:solidFill>
                  <a:srgbClr val="000000"/>
                </a:solidFill>
                <a:latin typeface="Arial"/>
                <a:ea typeface="Arial"/>
                <a:cs typeface="Arial"/>
                <a:sym typeface="Arial"/>
              </a:rPr>
              <a:t>reduced epidemic potential</a:t>
            </a:r>
            <a:endParaRPr/>
          </a:p>
        </p:txBody>
      </p:sp>
      <p:pic>
        <p:nvPicPr>
          <p:cNvPr id="428" name="Google Shape;428;p27"/>
          <p:cNvPicPr preferRelativeResize="0"/>
          <p:nvPr/>
        </p:nvPicPr>
        <p:blipFill rotWithShape="1">
          <a:blip r:embed="rId5">
            <a:alphaModFix/>
          </a:blip>
          <a:srcRect b="0" l="0" r="0" t="0"/>
          <a:stretch/>
        </p:blipFill>
        <p:spPr>
          <a:xfrm>
            <a:off x="5733050" y="3762387"/>
            <a:ext cx="665100" cy="939900"/>
          </a:xfrm>
          <a:prstGeom prst="rect">
            <a:avLst/>
          </a:prstGeom>
          <a:noFill/>
          <a:ln>
            <a:noFill/>
          </a:ln>
        </p:spPr>
      </p:pic>
      <p:sp>
        <p:nvSpPr>
          <p:cNvPr id="429" name="Google Shape;429;p27"/>
          <p:cNvSpPr/>
          <p:nvPr/>
        </p:nvSpPr>
        <p:spPr>
          <a:xfrm>
            <a:off x="1909762" y="2338387"/>
            <a:ext cx="1397100" cy="241200"/>
          </a:xfrm>
          <a:prstGeom prst="rect">
            <a:avLst/>
          </a:prstGeom>
          <a:noFill/>
          <a:ln>
            <a:noFill/>
          </a:ln>
        </p:spPr>
        <p:txBody>
          <a:bodyPr anchorCtr="0" anchor="t"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rPr b="0" i="0" lang="en-US" sz="900" u="none" cap="none" strike="noStrike">
                <a:solidFill>
                  <a:srgbClr val="000000"/>
                </a:solidFill>
                <a:latin typeface="Tahoma"/>
                <a:ea typeface="Tahoma"/>
                <a:cs typeface="Tahoma"/>
                <a:sym typeface="Tahoma"/>
              </a:rPr>
              <a:t>N=10,000</a:t>
            </a:r>
            <a:endParaRPr/>
          </a:p>
        </p:txBody>
      </p:sp>
      <p:sp>
        <p:nvSpPr>
          <p:cNvPr id="430" name="Google Shape;430;p27"/>
          <p:cNvSpPr txBox="1"/>
          <p:nvPr/>
        </p:nvSpPr>
        <p:spPr>
          <a:xfrm>
            <a:off x="6045263" y="2403775"/>
            <a:ext cx="1754100" cy="113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t>Household susceptible</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US" sz="900"/>
              <a:t>Household infectious</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US" sz="900"/>
              <a:t>Random susceptible</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US" sz="900"/>
              <a:t>Random infectious</a:t>
            </a:r>
            <a:endParaRPr sz="900"/>
          </a:p>
        </p:txBody>
      </p:sp>
      <p:cxnSp>
        <p:nvCxnSpPr>
          <p:cNvPr id="431" name="Google Shape;431;p27"/>
          <p:cNvCxnSpPr/>
          <p:nvPr/>
        </p:nvCxnSpPr>
        <p:spPr>
          <a:xfrm flipH="1" rot="10800000">
            <a:off x="5756338" y="3099800"/>
            <a:ext cx="320100" cy="900"/>
          </a:xfrm>
          <a:prstGeom prst="straightConnector1">
            <a:avLst/>
          </a:prstGeom>
          <a:noFill/>
          <a:ln cap="flat" cmpd="sng" w="28575">
            <a:solidFill>
              <a:schemeClr val="dk2"/>
            </a:solidFill>
            <a:prstDash val="dot"/>
            <a:round/>
            <a:headEnd len="med" w="med" type="none"/>
            <a:tailEnd len="med" w="med" type="none"/>
          </a:ln>
        </p:spPr>
      </p:cxnSp>
      <p:cxnSp>
        <p:nvCxnSpPr>
          <p:cNvPr id="432" name="Google Shape;432;p27"/>
          <p:cNvCxnSpPr/>
          <p:nvPr/>
        </p:nvCxnSpPr>
        <p:spPr>
          <a:xfrm flipH="1" rot="10800000">
            <a:off x="5756338" y="3365363"/>
            <a:ext cx="320100" cy="900"/>
          </a:xfrm>
          <a:prstGeom prst="straightConnector1">
            <a:avLst/>
          </a:prstGeom>
          <a:noFill/>
          <a:ln cap="flat" cmpd="sng" w="28575">
            <a:solidFill>
              <a:srgbClr val="FF0000"/>
            </a:solidFill>
            <a:prstDash val="dot"/>
            <a:round/>
            <a:headEnd len="med" w="med" type="none"/>
            <a:tailEnd len="med" w="med" type="none"/>
          </a:ln>
        </p:spPr>
      </p:cxnSp>
      <p:cxnSp>
        <p:nvCxnSpPr>
          <p:cNvPr id="433" name="Google Shape;433;p27"/>
          <p:cNvCxnSpPr/>
          <p:nvPr/>
        </p:nvCxnSpPr>
        <p:spPr>
          <a:xfrm flipH="1" rot="10800000">
            <a:off x="5756338" y="2566400"/>
            <a:ext cx="320100" cy="900"/>
          </a:xfrm>
          <a:prstGeom prst="straightConnector1">
            <a:avLst/>
          </a:prstGeom>
          <a:noFill/>
          <a:ln cap="flat" cmpd="sng" w="28575">
            <a:solidFill>
              <a:schemeClr val="dk2"/>
            </a:solidFill>
            <a:prstDash val="solid"/>
            <a:round/>
            <a:headEnd len="med" w="med" type="none"/>
            <a:tailEnd len="med" w="med" type="none"/>
          </a:ln>
        </p:spPr>
      </p:cxnSp>
      <p:cxnSp>
        <p:nvCxnSpPr>
          <p:cNvPr id="434" name="Google Shape;434;p27"/>
          <p:cNvCxnSpPr/>
          <p:nvPr/>
        </p:nvCxnSpPr>
        <p:spPr>
          <a:xfrm flipH="1" rot="10800000">
            <a:off x="5756338" y="2831963"/>
            <a:ext cx="320100" cy="9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38" name="Shape 438"/>
        <p:cNvGrpSpPr/>
        <p:nvPr/>
      </p:nvGrpSpPr>
      <p:grpSpPr>
        <a:xfrm>
          <a:off x="0" y="0"/>
          <a:ext cx="0" cy="0"/>
          <a:chOff x="0" y="0"/>
          <a:chExt cx="0" cy="0"/>
        </a:xfrm>
      </p:grpSpPr>
      <p:pic>
        <p:nvPicPr>
          <p:cNvPr id="439" name="Google Shape;439;p28"/>
          <p:cNvPicPr preferRelativeResize="0"/>
          <p:nvPr/>
        </p:nvPicPr>
        <p:blipFill rotWithShape="1">
          <a:blip r:embed="rId3">
            <a:alphaModFix/>
          </a:blip>
          <a:srcRect b="0" l="0" r="0" t="0"/>
          <a:stretch/>
        </p:blipFill>
        <p:spPr>
          <a:xfrm>
            <a:off x="1597462" y="2731987"/>
            <a:ext cx="4124400" cy="2736900"/>
          </a:xfrm>
          <a:prstGeom prst="rect">
            <a:avLst/>
          </a:prstGeom>
          <a:noFill/>
          <a:ln>
            <a:noFill/>
          </a:ln>
        </p:spPr>
      </p:pic>
      <p:sp>
        <p:nvSpPr>
          <p:cNvPr id="440" name="Google Shape;440;p28"/>
          <p:cNvSpPr/>
          <p:nvPr/>
        </p:nvSpPr>
        <p:spPr>
          <a:xfrm>
            <a:off x="0" y="333375"/>
            <a:ext cx="9156700" cy="533400"/>
          </a:xfrm>
          <a:prstGeom prst="rect">
            <a:avLst/>
          </a:prstGeom>
          <a:noFill/>
          <a:ln>
            <a:noFill/>
          </a:ln>
        </p:spPr>
        <p:txBody>
          <a:bodyPr anchorCtr="0" anchor="t" bIns="50800" lIns="50800" spcFirstLastPara="1" rIns="50800" wrap="square" tIns="50800">
            <a:noAutofit/>
          </a:bodyPr>
          <a:lstStyle/>
          <a:p>
            <a:pPr indent="-2538" lvl="0" marL="40638" marR="40638" rtl="0" algn="ctr">
              <a:spcBef>
                <a:spcPts val="0"/>
              </a:spcBef>
              <a:spcAft>
                <a:spcPts val="0"/>
              </a:spcAft>
              <a:buClr>
                <a:srgbClr val="0433FF"/>
              </a:buClr>
              <a:buFont typeface="Tahoma"/>
              <a:buNone/>
            </a:pPr>
            <a:r>
              <a:rPr b="1" lang="en-US" sz="2800">
                <a:solidFill>
                  <a:srgbClr val="0433FF"/>
                </a:solidFill>
                <a:latin typeface="Tahoma"/>
                <a:ea typeface="Tahoma"/>
                <a:cs typeface="Tahoma"/>
                <a:sym typeface="Tahoma"/>
              </a:rPr>
              <a:t>Comparison with random mixing model</a:t>
            </a:r>
            <a:endParaRPr>
              <a:solidFill>
                <a:schemeClr val="dk1"/>
              </a:solidFill>
            </a:endParaRPr>
          </a:p>
          <a:p>
            <a:pPr indent="-2539" lvl="0" marL="40639" marR="40639" rtl="0" algn="ctr">
              <a:lnSpc>
                <a:spcPct val="100000"/>
              </a:lnSpc>
              <a:spcBef>
                <a:spcPts val="0"/>
              </a:spcBef>
              <a:spcAft>
                <a:spcPts val="0"/>
              </a:spcAft>
              <a:buClr>
                <a:srgbClr val="0433FF"/>
              </a:buClr>
              <a:buFont typeface="Tahoma"/>
              <a:buNone/>
            </a:pPr>
            <a:r>
              <a:t/>
            </a:r>
            <a:endParaRPr b="1" sz="2800">
              <a:solidFill>
                <a:srgbClr val="0433FF"/>
              </a:solidFill>
              <a:latin typeface="Tahoma"/>
              <a:ea typeface="Tahoma"/>
              <a:cs typeface="Tahoma"/>
              <a:sym typeface="Tahoma"/>
            </a:endParaRPr>
          </a:p>
        </p:txBody>
      </p:sp>
      <p:sp>
        <p:nvSpPr>
          <p:cNvPr id="441" name="Google Shape;441;p28"/>
          <p:cNvSpPr/>
          <p:nvPr/>
        </p:nvSpPr>
        <p:spPr>
          <a:xfrm>
            <a:off x="490537" y="1389062"/>
            <a:ext cx="7708800" cy="7494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rPr lang="en-US" sz="1600">
                <a:latin typeface="Tahoma"/>
                <a:ea typeface="Tahoma"/>
                <a:cs typeface="Tahoma"/>
                <a:sym typeface="Tahoma"/>
              </a:rPr>
              <a:t>3)  M</a:t>
            </a:r>
            <a:r>
              <a:rPr b="0" i="0" lang="en-US" sz="1600" u="none" cap="none" strike="noStrike">
                <a:solidFill>
                  <a:srgbClr val="000000"/>
                </a:solidFill>
                <a:latin typeface="Tahoma"/>
                <a:ea typeface="Tahoma"/>
                <a:cs typeface="Tahoma"/>
                <a:sym typeface="Tahoma"/>
              </a:rPr>
              <a:t>atched prevalence</a:t>
            </a:r>
            <a:endParaRPr b="0" i="0" sz="1600" u="none" cap="none" strike="noStrike">
              <a:solidFill>
                <a:srgbClr val="000000"/>
              </a:solidFill>
              <a:latin typeface="Tahoma"/>
              <a:ea typeface="Tahoma"/>
              <a:cs typeface="Tahoma"/>
              <a:sym typeface="Tahoma"/>
            </a:endParaRPr>
          </a:p>
          <a:p>
            <a:pPr indent="-2539" lvl="0" marL="40639" marR="40639" rtl="0" algn="l">
              <a:lnSpc>
                <a:spcPct val="100000"/>
              </a:lnSpc>
              <a:spcBef>
                <a:spcPts val="900"/>
              </a:spcBef>
              <a:spcAft>
                <a:spcPts val="0"/>
              </a:spcAft>
              <a:buClr>
                <a:srgbClr val="000000"/>
              </a:buClr>
              <a:buFont typeface="Tahoma"/>
              <a:buNone/>
            </a:pPr>
            <a:r>
              <a:rPr lang="en-US" sz="1600">
                <a:latin typeface="Tahoma"/>
                <a:ea typeface="Tahoma"/>
                <a:cs typeface="Tahoma"/>
                <a:sym typeface="Tahoma"/>
              </a:rPr>
              <a:t>     </a:t>
            </a:r>
            <a:r>
              <a:rPr b="0" i="0" lang="en-US" sz="1600" u="none" cap="none" strike="noStrike">
                <a:solidFill>
                  <a:srgbClr val="000000"/>
                </a:solidFill>
                <a:latin typeface="Tahoma"/>
                <a:ea typeface="Tahoma"/>
                <a:cs typeface="Tahoma"/>
                <a:sym typeface="Tahoma"/>
              </a:rPr>
              <a:t>Equivalent to R</a:t>
            </a:r>
            <a:r>
              <a:rPr b="0" baseline="-25000" i="0" lang="en-US" sz="1600" u="none" cap="none" strike="noStrike">
                <a:solidFill>
                  <a:srgbClr val="000000"/>
                </a:solidFill>
                <a:latin typeface="Tahoma"/>
                <a:ea typeface="Tahoma"/>
                <a:cs typeface="Tahoma"/>
                <a:sym typeface="Tahoma"/>
              </a:rPr>
              <a:t>0</a:t>
            </a:r>
            <a:r>
              <a:rPr b="0" i="0" lang="en-US" sz="1600" u="none" cap="none" strike="noStrike">
                <a:solidFill>
                  <a:srgbClr val="000000"/>
                </a:solidFill>
                <a:latin typeface="Tahoma"/>
                <a:ea typeface="Tahoma"/>
                <a:cs typeface="Tahoma"/>
                <a:sym typeface="Tahoma"/>
              </a:rPr>
              <a:t>=3.7</a:t>
            </a:r>
            <a:endParaRPr/>
          </a:p>
        </p:txBody>
      </p:sp>
      <p:sp>
        <p:nvSpPr>
          <p:cNvPr id="442" name="Google Shape;442;p28"/>
          <p:cNvSpPr/>
          <p:nvPr/>
        </p:nvSpPr>
        <p:spPr>
          <a:xfrm>
            <a:off x="631825" y="5616575"/>
            <a:ext cx="7035900" cy="3855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Arial"/>
              <a:buNone/>
            </a:pPr>
            <a:r>
              <a:rPr b="0" i="0" lang="en-US" sz="2000" u="none" cap="none" strike="noStrike">
                <a:solidFill>
                  <a:srgbClr val="000000"/>
                </a:solidFill>
                <a:latin typeface="Arial"/>
                <a:ea typeface="Arial"/>
                <a:cs typeface="Arial"/>
                <a:sym typeface="Arial"/>
              </a:rPr>
              <a:t>→ slower epidemic, easier to eliminate</a:t>
            </a:r>
            <a:endParaRPr/>
          </a:p>
        </p:txBody>
      </p:sp>
      <p:pic>
        <p:nvPicPr>
          <p:cNvPr id="443" name="Google Shape;443;p28"/>
          <p:cNvPicPr preferRelativeResize="0"/>
          <p:nvPr/>
        </p:nvPicPr>
        <p:blipFill rotWithShape="1">
          <a:blip r:embed="rId4">
            <a:alphaModFix/>
          </a:blip>
          <a:srcRect b="0" l="0" r="0" t="0"/>
          <a:stretch/>
        </p:blipFill>
        <p:spPr>
          <a:xfrm>
            <a:off x="5756362" y="3897487"/>
            <a:ext cx="624000" cy="939900"/>
          </a:xfrm>
          <a:prstGeom prst="rect">
            <a:avLst/>
          </a:prstGeom>
          <a:noFill/>
          <a:ln>
            <a:noFill/>
          </a:ln>
        </p:spPr>
      </p:pic>
      <p:sp>
        <p:nvSpPr>
          <p:cNvPr id="444" name="Google Shape;444;p28"/>
          <p:cNvSpPr/>
          <p:nvPr/>
        </p:nvSpPr>
        <p:spPr>
          <a:xfrm>
            <a:off x="1909762" y="2490787"/>
            <a:ext cx="1397100" cy="241200"/>
          </a:xfrm>
          <a:prstGeom prst="rect">
            <a:avLst/>
          </a:prstGeom>
          <a:noFill/>
          <a:ln>
            <a:noFill/>
          </a:ln>
        </p:spPr>
        <p:txBody>
          <a:bodyPr anchorCtr="0" anchor="t"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rPr b="0" i="0" lang="en-US" sz="900" u="none" cap="none" strike="noStrike">
                <a:solidFill>
                  <a:srgbClr val="000000"/>
                </a:solidFill>
                <a:latin typeface="Tahoma"/>
                <a:ea typeface="Tahoma"/>
                <a:cs typeface="Tahoma"/>
                <a:sym typeface="Tahoma"/>
              </a:rPr>
              <a:t>N=10,000</a:t>
            </a:r>
            <a:endParaRPr/>
          </a:p>
        </p:txBody>
      </p:sp>
      <p:sp>
        <p:nvSpPr>
          <p:cNvPr id="445" name="Google Shape;445;p28"/>
          <p:cNvSpPr txBox="1"/>
          <p:nvPr/>
        </p:nvSpPr>
        <p:spPr>
          <a:xfrm>
            <a:off x="6045263" y="2556175"/>
            <a:ext cx="1754100" cy="113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t>Household susceptible</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US" sz="900"/>
              <a:t>Household infectious</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US" sz="900"/>
              <a:t>Random susceptible</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US" sz="900"/>
              <a:t>Random infectious</a:t>
            </a:r>
            <a:endParaRPr sz="900"/>
          </a:p>
        </p:txBody>
      </p:sp>
      <p:cxnSp>
        <p:nvCxnSpPr>
          <p:cNvPr id="446" name="Google Shape;446;p28"/>
          <p:cNvCxnSpPr/>
          <p:nvPr/>
        </p:nvCxnSpPr>
        <p:spPr>
          <a:xfrm flipH="1" rot="10800000">
            <a:off x="5756338" y="3252200"/>
            <a:ext cx="320100" cy="900"/>
          </a:xfrm>
          <a:prstGeom prst="straightConnector1">
            <a:avLst/>
          </a:prstGeom>
          <a:noFill/>
          <a:ln cap="flat" cmpd="sng" w="28575">
            <a:solidFill>
              <a:schemeClr val="dk2"/>
            </a:solidFill>
            <a:prstDash val="dot"/>
            <a:round/>
            <a:headEnd len="med" w="med" type="none"/>
            <a:tailEnd len="med" w="med" type="none"/>
          </a:ln>
        </p:spPr>
      </p:cxnSp>
      <p:cxnSp>
        <p:nvCxnSpPr>
          <p:cNvPr id="447" name="Google Shape;447;p28"/>
          <p:cNvCxnSpPr/>
          <p:nvPr/>
        </p:nvCxnSpPr>
        <p:spPr>
          <a:xfrm flipH="1" rot="10800000">
            <a:off x="5756338" y="3517763"/>
            <a:ext cx="320100" cy="900"/>
          </a:xfrm>
          <a:prstGeom prst="straightConnector1">
            <a:avLst/>
          </a:prstGeom>
          <a:noFill/>
          <a:ln cap="flat" cmpd="sng" w="28575">
            <a:solidFill>
              <a:srgbClr val="FF0000"/>
            </a:solidFill>
            <a:prstDash val="dot"/>
            <a:round/>
            <a:headEnd len="med" w="med" type="none"/>
            <a:tailEnd len="med" w="med" type="none"/>
          </a:ln>
        </p:spPr>
      </p:cxnSp>
      <p:cxnSp>
        <p:nvCxnSpPr>
          <p:cNvPr id="448" name="Google Shape;448;p28"/>
          <p:cNvCxnSpPr/>
          <p:nvPr/>
        </p:nvCxnSpPr>
        <p:spPr>
          <a:xfrm flipH="1" rot="10800000">
            <a:off x="5756338" y="2718800"/>
            <a:ext cx="320100" cy="900"/>
          </a:xfrm>
          <a:prstGeom prst="straightConnector1">
            <a:avLst/>
          </a:prstGeom>
          <a:noFill/>
          <a:ln cap="flat" cmpd="sng" w="28575">
            <a:solidFill>
              <a:schemeClr val="dk2"/>
            </a:solidFill>
            <a:prstDash val="solid"/>
            <a:round/>
            <a:headEnd len="med" w="med" type="none"/>
            <a:tailEnd len="med" w="med" type="none"/>
          </a:ln>
        </p:spPr>
      </p:cxnSp>
      <p:cxnSp>
        <p:nvCxnSpPr>
          <p:cNvPr id="449" name="Google Shape;449;p28"/>
          <p:cNvCxnSpPr/>
          <p:nvPr/>
        </p:nvCxnSpPr>
        <p:spPr>
          <a:xfrm flipH="1" rot="10800000">
            <a:off x="5756338" y="2984363"/>
            <a:ext cx="320100" cy="9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53" name="Shape 453"/>
        <p:cNvGrpSpPr/>
        <p:nvPr/>
      </p:nvGrpSpPr>
      <p:grpSpPr>
        <a:xfrm>
          <a:off x="0" y="0"/>
          <a:ext cx="0" cy="0"/>
          <a:chOff x="0" y="0"/>
          <a:chExt cx="0" cy="0"/>
        </a:xfrm>
      </p:grpSpPr>
      <p:pic>
        <p:nvPicPr>
          <p:cNvPr id="454" name="Google Shape;454;p29"/>
          <p:cNvPicPr preferRelativeResize="0"/>
          <p:nvPr/>
        </p:nvPicPr>
        <p:blipFill rotWithShape="1">
          <a:blip r:embed="rId3">
            <a:alphaModFix/>
          </a:blip>
          <a:srcRect b="0" l="0" r="0" t="0"/>
          <a:stretch/>
        </p:blipFill>
        <p:spPr>
          <a:xfrm>
            <a:off x="1539600" y="2574875"/>
            <a:ext cx="4124400" cy="2736900"/>
          </a:xfrm>
          <a:prstGeom prst="rect">
            <a:avLst/>
          </a:prstGeom>
          <a:noFill/>
          <a:ln>
            <a:noFill/>
          </a:ln>
        </p:spPr>
      </p:pic>
      <p:sp>
        <p:nvSpPr>
          <p:cNvPr id="455" name="Google Shape;455;p29"/>
          <p:cNvSpPr/>
          <p:nvPr/>
        </p:nvSpPr>
        <p:spPr>
          <a:xfrm>
            <a:off x="0" y="333375"/>
            <a:ext cx="9156700" cy="533400"/>
          </a:xfrm>
          <a:prstGeom prst="rect">
            <a:avLst/>
          </a:prstGeom>
          <a:noFill/>
          <a:ln>
            <a:noFill/>
          </a:ln>
        </p:spPr>
        <p:txBody>
          <a:bodyPr anchorCtr="0" anchor="t" bIns="50800" lIns="50800" spcFirstLastPara="1" rIns="50800" wrap="square" tIns="50800">
            <a:noAutofit/>
          </a:bodyPr>
          <a:lstStyle/>
          <a:p>
            <a:pPr indent="-2538" lvl="0" marL="40638" marR="40638" rtl="0" algn="ctr">
              <a:spcBef>
                <a:spcPts val="0"/>
              </a:spcBef>
              <a:spcAft>
                <a:spcPts val="0"/>
              </a:spcAft>
              <a:buClr>
                <a:srgbClr val="0433FF"/>
              </a:buClr>
              <a:buFont typeface="Tahoma"/>
              <a:buNone/>
            </a:pPr>
            <a:r>
              <a:rPr b="1" lang="en-US" sz="2800">
                <a:solidFill>
                  <a:srgbClr val="0433FF"/>
                </a:solidFill>
                <a:latin typeface="Tahoma"/>
                <a:ea typeface="Tahoma"/>
                <a:cs typeface="Tahoma"/>
                <a:sym typeface="Tahoma"/>
              </a:rPr>
              <a:t>Comparison with random mixing model</a:t>
            </a:r>
            <a:endParaRPr>
              <a:solidFill>
                <a:schemeClr val="dk1"/>
              </a:solidFill>
            </a:endParaRPr>
          </a:p>
          <a:p>
            <a:pPr indent="-2539" lvl="0" marL="40639" marR="40639" rtl="0" algn="ctr">
              <a:lnSpc>
                <a:spcPct val="100000"/>
              </a:lnSpc>
              <a:spcBef>
                <a:spcPts val="0"/>
              </a:spcBef>
              <a:spcAft>
                <a:spcPts val="0"/>
              </a:spcAft>
              <a:buClr>
                <a:srgbClr val="0433FF"/>
              </a:buClr>
              <a:buFont typeface="Tahoma"/>
              <a:buNone/>
            </a:pPr>
            <a:r>
              <a:t/>
            </a:r>
            <a:endParaRPr b="1" sz="2800">
              <a:solidFill>
                <a:srgbClr val="0433FF"/>
              </a:solidFill>
              <a:latin typeface="Tahoma"/>
              <a:ea typeface="Tahoma"/>
              <a:cs typeface="Tahoma"/>
              <a:sym typeface="Tahoma"/>
            </a:endParaRPr>
          </a:p>
        </p:txBody>
      </p:sp>
      <p:sp>
        <p:nvSpPr>
          <p:cNvPr id="456" name="Google Shape;456;p29"/>
          <p:cNvSpPr/>
          <p:nvPr/>
        </p:nvSpPr>
        <p:spPr>
          <a:xfrm>
            <a:off x="490537" y="1312862"/>
            <a:ext cx="7708800" cy="7494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rPr lang="en-US" sz="1600">
                <a:latin typeface="Tahoma"/>
                <a:ea typeface="Tahoma"/>
                <a:cs typeface="Tahoma"/>
                <a:sym typeface="Tahoma"/>
              </a:rPr>
              <a:t>4)  M</a:t>
            </a:r>
            <a:r>
              <a:rPr b="0" i="0" lang="en-US" sz="1600" u="none" cap="none" strike="noStrike">
                <a:solidFill>
                  <a:srgbClr val="000000"/>
                </a:solidFill>
                <a:latin typeface="Tahoma"/>
                <a:ea typeface="Tahoma"/>
                <a:cs typeface="Tahoma"/>
                <a:sym typeface="Tahoma"/>
              </a:rPr>
              <a:t>atched epidemic growth rate</a:t>
            </a:r>
            <a:endParaRPr b="0" i="0" sz="1600" u="none" cap="none" strike="noStrike">
              <a:solidFill>
                <a:srgbClr val="000000"/>
              </a:solidFill>
              <a:latin typeface="Tahoma"/>
              <a:ea typeface="Tahoma"/>
              <a:cs typeface="Tahoma"/>
              <a:sym typeface="Tahoma"/>
            </a:endParaRPr>
          </a:p>
          <a:p>
            <a:pPr indent="-2539" lvl="0" marL="40639" marR="40639" rtl="0" algn="l">
              <a:lnSpc>
                <a:spcPct val="100000"/>
              </a:lnSpc>
              <a:spcBef>
                <a:spcPts val="900"/>
              </a:spcBef>
              <a:spcAft>
                <a:spcPts val="0"/>
              </a:spcAft>
              <a:buClr>
                <a:srgbClr val="000000"/>
              </a:buClr>
              <a:buFont typeface="Tahoma"/>
              <a:buNone/>
            </a:pPr>
            <a:r>
              <a:rPr lang="en-US" sz="1600">
                <a:latin typeface="Tahoma"/>
                <a:ea typeface="Tahoma"/>
                <a:cs typeface="Tahoma"/>
                <a:sym typeface="Tahoma"/>
              </a:rPr>
              <a:t>     </a:t>
            </a:r>
            <a:r>
              <a:rPr b="0" i="0" lang="en-US" sz="1600" u="none" cap="none" strike="noStrike">
                <a:solidFill>
                  <a:srgbClr val="000000"/>
                </a:solidFill>
                <a:latin typeface="Tahoma"/>
                <a:ea typeface="Tahoma"/>
                <a:cs typeface="Tahoma"/>
                <a:sym typeface="Tahoma"/>
              </a:rPr>
              <a:t>Equivalent to R</a:t>
            </a:r>
            <a:r>
              <a:rPr b="0" baseline="-25000" i="0" lang="en-US" sz="1600" u="none" cap="none" strike="noStrike">
                <a:solidFill>
                  <a:srgbClr val="000000"/>
                </a:solidFill>
                <a:latin typeface="Tahoma"/>
                <a:ea typeface="Tahoma"/>
                <a:cs typeface="Tahoma"/>
                <a:sym typeface="Tahoma"/>
              </a:rPr>
              <a:t>0</a:t>
            </a:r>
            <a:r>
              <a:rPr b="0" i="0" lang="en-US" sz="1600" u="none" cap="none" strike="noStrike">
                <a:solidFill>
                  <a:srgbClr val="000000"/>
                </a:solidFill>
                <a:latin typeface="Tahoma"/>
                <a:ea typeface="Tahoma"/>
                <a:cs typeface="Tahoma"/>
                <a:sym typeface="Tahoma"/>
              </a:rPr>
              <a:t>=2.6</a:t>
            </a:r>
            <a:endParaRPr/>
          </a:p>
        </p:txBody>
      </p:sp>
      <p:sp>
        <p:nvSpPr>
          <p:cNvPr id="457" name="Google Shape;457;p29"/>
          <p:cNvSpPr/>
          <p:nvPr/>
        </p:nvSpPr>
        <p:spPr>
          <a:xfrm>
            <a:off x="631825" y="5540375"/>
            <a:ext cx="7480200" cy="3855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Arial"/>
              <a:buNone/>
            </a:pPr>
            <a:r>
              <a:rPr b="0" i="0" lang="en-US" sz="2000" u="none" cap="none" strike="noStrike">
                <a:solidFill>
                  <a:srgbClr val="000000"/>
                </a:solidFill>
                <a:latin typeface="Arial"/>
                <a:ea typeface="Arial"/>
                <a:cs typeface="Arial"/>
                <a:sym typeface="Arial"/>
              </a:rPr>
              <a:t>→ amplified epidemic, harder to eliminate (but non-linear effect)</a:t>
            </a:r>
            <a:endParaRPr/>
          </a:p>
        </p:txBody>
      </p:sp>
      <p:pic>
        <p:nvPicPr>
          <p:cNvPr id="458" name="Google Shape;458;p29"/>
          <p:cNvPicPr preferRelativeResize="0"/>
          <p:nvPr/>
        </p:nvPicPr>
        <p:blipFill rotWithShape="1">
          <a:blip r:embed="rId4">
            <a:alphaModFix/>
          </a:blip>
          <a:srcRect b="0" l="0" r="0" t="0"/>
          <a:stretch/>
        </p:blipFill>
        <p:spPr>
          <a:xfrm>
            <a:off x="5756362" y="3856449"/>
            <a:ext cx="539700" cy="939900"/>
          </a:xfrm>
          <a:prstGeom prst="rect">
            <a:avLst/>
          </a:prstGeom>
          <a:noFill/>
          <a:ln>
            <a:noFill/>
          </a:ln>
        </p:spPr>
      </p:pic>
      <p:sp>
        <p:nvSpPr>
          <p:cNvPr id="459" name="Google Shape;459;p29"/>
          <p:cNvSpPr/>
          <p:nvPr/>
        </p:nvSpPr>
        <p:spPr>
          <a:xfrm>
            <a:off x="1909762" y="2414587"/>
            <a:ext cx="1397100" cy="241200"/>
          </a:xfrm>
          <a:prstGeom prst="rect">
            <a:avLst/>
          </a:prstGeom>
          <a:noFill/>
          <a:ln>
            <a:noFill/>
          </a:ln>
        </p:spPr>
        <p:txBody>
          <a:bodyPr anchorCtr="0" anchor="t"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rPr b="0" i="0" lang="en-US" sz="900" u="none" cap="none" strike="noStrike">
                <a:solidFill>
                  <a:srgbClr val="000000"/>
                </a:solidFill>
                <a:latin typeface="Tahoma"/>
                <a:ea typeface="Tahoma"/>
                <a:cs typeface="Tahoma"/>
                <a:sym typeface="Tahoma"/>
              </a:rPr>
              <a:t>N=10,000</a:t>
            </a:r>
            <a:endParaRPr/>
          </a:p>
        </p:txBody>
      </p:sp>
      <p:sp>
        <p:nvSpPr>
          <p:cNvPr id="460" name="Google Shape;460;p29"/>
          <p:cNvSpPr txBox="1"/>
          <p:nvPr/>
        </p:nvSpPr>
        <p:spPr>
          <a:xfrm>
            <a:off x="6045263" y="2479975"/>
            <a:ext cx="1754100" cy="113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t>Household susceptible</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US" sz="900"/>
              <a:t>Household infectious</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US" sz="900"/>
              <a:t>Random susceptible</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US" sz="900"/>
              <a:t>Random infectious</a:t>
            </a:r>
            <a:endParaRPr sz="900"/>
          </a:p>
        </p:txBody>
      </p:sp>
      <p:cxnSp>
        <p:nvCxnSpPr>
          <p:cNvPr id="461" name="Google Shape;461;p29"/>
          <p:cNvCxnSpPr/>
          <p:nvPr/>
        </p:nvCxnSpPr>
        <p:spPr>
          <a:xfrm flipH="1" rot="10800000">
            <a:off x="5756338" y="3176000"/>
            <a:ext cx="320100" cy="900"/>
          </a:xfrm>
          <a:prstGeom prst="straightConnector1">
            <a:avLst/>
          </a:prstGeom>
          <a:noFill/>
          <a:ln cap="flat" cmpd="sng" w="28575">
            <a:solidFill>
              <a:schemeClr val="dk2"/>
            </a:solidFill>
            <a:prstDash val="dot"/>
            <a:round/>
            <a:headEnd len="med" w="med" type="none"/>
            <a:tailEnd len="med" w="med" type="none"/>
          </a:ln>
        </p:spPr>
      </p:cxnSp>
      <p:cxnSp>
        <p:nvCxnSpPr>
          <p:cNvPr id="462" name="Google Shape;462;p29"/>
          <p:cNvCxnSpPr/>
          <p:nvPr/>
        </p:nvCxnSpPr>
        <p:spPr>
          <a:xfrm flipH="1" rot="10800000">
            <a:off x="5756338" y="3441563"/>
            <a:ext cx="320100" cy="900"/>
          </a:xfrm>
          <a:prstGeom prst="straightConnector1">
            <a:avLst/>
          </a:prstGeom>
          <a:noFill/>
          <a:ln cap="flat" cmpd="sng" w="28575">
            <a:solidFill>
              <a:srgbClr val="FF0000"/>
            </a:solidFill>
            <a:prstDash val="dot"/>
            <a:round/>
            <a:headEnd len="med" w="med" type="none"/>
            <a:tailEnd len="med" w="med" type="none"/>
          </a:ln>
        </p:spPr>
      </p:cxnSp>
      <p:cxnSp>
        <p:nvCxnSpPr>
          <p:cNvPr id="463" name="Google Shape;463;p29"/>
          <p:cNvCxnSpPr/>
          <p:nvPr/>
        </p:nvCxnSpPr>
        <p:spPr>
          <a:xfrm flipH="1" rot="10800000">
            <a:off x="5756338" y="2642600"/>
            <a:ext cx="320100" cy="900"/>
          </a:xfrm>
          <a:prstGeom prst="straightConnector1">
            <a:avLst/>
          </a:prstGeom>
          <a:noFill/>
          <a:ln cap="flat" cmpd="sng" w="28575">
            <a:solidFill>
              <a:schemeClr val="dk2"/>
            </a:solidFill>
            <a:prstDash val="solid"/>
            <a:round/>
            <a:headEnd len="med" w="med" type="none"/>
            <a:tailEnd len="med" w="med" type="none"/>
          </a:ln>
        </p:spPr>
      </p:cxnSp>
      <p:cxnSp>
        <p:nvCxnSpPr>
          <p:cNvPr id="464" name="Google Shape;464;p29"/>
          <p:cNvCxnSpPr/>
          <p:nvPr/>
        </p:nvCxnSpPr>
        <p:spPr>
          <a:xfrm flipH="1" rot="10800000">
            <a:off x="5756338" y="2908163"/>
            <a:ext cx="320100" cy="9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68" name="Shape 468"/>
        <p:cNvGrpSpPr/>
        <p:nvPr/>
      </p:nvGrpSpPr>
      <p:grpSpPr>
        <a:xfrm>
          <a:off x="0" y="0"/>
          <a:ext cx="0" cy="0"/>
          <a:chOff x="0" y="0"/>
          <a:chExt cx="0" cy="0"/>
        </a:xfrm>
      </p:grpSpPr>
      <p:sp>
        <p:nvSpPr>
          <p:cNvPr id="469" name="Google Shape;469;p30"/>
          <p:cNvSpPr/>
          <p:nvPr/>
        </p:nvSpPr>
        <p:spPr>
          <a:xfrm>
            <a:off x="0" y="333375"/>
            <a:ext cx="9156700" cy="533400"/>
          </a:xfrm>
          <a:prstGeom prst="rect">
            <a:avLst/>
          </a:prstGeom>
          <a:noFill/>
          <a:ln>
            <a:noFill/>
          </a:ln>
        </p:spPr>
        <p:txBody>
          <a:bodyPr anchorCtr="0" anchor="t" bIns="50800" lIns="50800" spcFirstLastPara="1" rIns="50800" wrap="square" tIns="50800">
            <a:noAutofit/>
          </a:bodyPr>
          <a:lstStyle/>
          <a:p>
            <a:pPr indent="-2539" lvl="0" marL="40639" marR="40639" rtl="0" algn="ctr">
              <a:lnSpc>
                <a:spcPct val="100000"/>
              </a:lnSpc>
              <a:spcBef>
                <a:spcPts val="0"/>
              </a:spcBef>
              <a:spcAft>
                <a:spcPts val="0"/>
              </a:spcAft>
              <a:buClr>
                <a:srgbClr val="0433FF"/>
              </a:buClr>
              <a:buFont typeface="Tahoma"/>
              <a:buNone/>
            </a:pPr>
            <a:r>
              <a:rPr b="1" i="0" lang="en-US" sz="2800" u="none" cap="none" strike="noStrike">
                <a:solidFill>
                  <a:srgbClr val="0433FF"/>
                </a:solidFill>
                <a:latin typeface="Tahoma"/>
                <a:ea typeface="Tahoma"/>
                <a:cs typeface="Tahoma"/>
                <a:sym typeface="Tahoma"/>
              </a:rPr>
              <a:t>Stochasticity in outbreaks: Reed-Frost model</a:t>
            </a:r>
            <a:endParaRPr/>
          </a:p>
        </p:txBody>
      </p:sp>
      <p:pic>
        <p:nvPicPr>
          <p:cNvPr id="470" name="Google Shape;470;p30"/>
          <p:cNvPicPr preferRelativeResize="0"/>
          <p:nvPr/>
        </p:nvPicPr>
        <p:blipFill rotWithShape="1">
          <a:blip r:embed="rId3">
            <a:alphaModFix/>
          </a:blip>
          <a:srcRect b="0" l="0" r="0" t="0"/>
          <a:stretch/>
        </p:blipFill>
        <p:spPr>
          <a:xfrm>
            <a:off x="576251" y="914400"/>
            <a:ext cx="2305800" cy="2949600"/>
          </a:xfrm>
          <a:prstGeom prst="rect">
            <a:avLst/>
          </a:prstGeom>
          <a:noFill/>
          <a:ln>
            <a:noFill/>
          </a:ln>
        </p:spPr>
      </p:pic>
      <p:sp>
        <p:nvSpPr>
          <p:cNvPr id="471" name="Google Shape;471;p30"/>
          <p:cNvSpPr/>
          <p:nvPr/>
        </p:nvSpPr>
        <p:spPr>
          <a:xfrm>
            <a:off x="481525" y="3998350"/>
            <a:ext cx="3123900" cy="3429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rPr b="0" i="0" lang="en-US" sz="1600" u="none" cap="none" strike="noStrike">
                <a:solidFill>
                  <a:srgbClr val="000000"/>
                </a:solidFill>
                <a:latin typeface="Tahoma"/>
                <a:ea typeface="Tahoma"/>
                <a:cs typeface="Tahoma"/>
                <a:sym typeface="Tahoma"/>
              </a:rPr>
              <a:t>Wade Hampton Frost 1880-1938   </a:t>
            </a:r>
            <a:endParaRPr/>
          </a:p>
        </p:txBody>
      </p:sp>
      <p:sp>
        <p:nvSpPr>
          <p:cNvPr id="472" name="Google Shape;472;p30"/>
          <p:cNvSpPr/>
          <p:nvPr/>
        </p:nvSpPr>
        <p:spPr>
          <a:xfrm>
            <a:off x="3720812" y="1071450"/>
            <a:ext cx="5003700" cy="19305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Unpublished model, used in teaching (with Lowell Re</a:t>
            </a:r>
            <a:r>
              <a:rPr lang="en-US" sz="2000">
                <a:latin typeface="Tahoma"/>
                <a:ea typeface="Tahoma"/>
                <a:cs typeface="Tahoma"/>
                <a:sym typeface="Tahoma"/>
              </a:rPr>
              <a:t>e</a:t>
            </a:r>
            <a:r>
              <a:rPr b="0" i="0" lang="en-US" sz="2000" u="none" cap="none" strike="noStrike">
                <a:solidFill>
                  <a:srgbClr val="000000"/>
                </a:solidFill>
                <a:latin typeface="Tahoma"/>
                <a:ea typeface="Tahoma"/>
                <a:cs typeface="Tahoma"/>
                <a:sym typeface="Tahoma"/>
              </a:rPr>
              <a:t>d), probably first mechanistic model (literally!) of direct disease transmission in 1920s (followed by Kermack-McKendrick deterministic model of 1927) </a:t>
            </a:r>
            <a:endParaRPr/>
          </a:p>
        </p:txBody>
      </p:sp>
      <p:sp>
        <p:nvSpPr>
          <p:cNvPr id="473" name="Google Shape;473;p30"/>
          <p:cNvSpPr/>
          <p:nvPr/>
        </p:nvSpPr>
        <p:spPr>
          <a:xfrm>
            <a:off x="3948100" y="3136225"/>
            <a:ext cx="5156100" cy="1269900"/>
          </a:xfrm>
          <a:prstGeom prst="rect">
            <a:avLst/>
          </a:prstGeom>
          <a:noFill/>
          <a:ln>
            <a:noFill/>
          </a:ln>
        </p:spPr>
        <p:txBody>
          <a:bodyPr anchorCtr="0" anchor="t" bIns="50800" lIns="50800" spcFirstLastPara="1" rIns="50800" wrap="square" tIns="50800">
            <a:noAutofit/>
          </a:bodyPr>
          <a:lstStyle/>
          <a:p>
            <a:pPr indent="-2538" lvl="0" marL="40638" marR="40638" rtl="0" algn="l">
              <a:lnSpc>
                <a:spcPct val="100000"/>
              </a:lnSpc>
              <a:spcBef>
                <a:spcPts val="0"/>
              </a:spcBef>
              <a:spcAft>
                <a:spcPts val="0"/>
              </a:spcAft>
              <a:buClr>
                <a:srgbClr val="4349AA"/>
              </a:buClr>
              <a:buFont typeface="Arial"/>
              <a:buNone/>
            </a:pPr>
            <a:r>
              <a:rPr b="0" i="1" lang="en-US" sz="2000" u="none" cap="none" strike="noStrike">
                <a:solidFill>
                  <a:srgbClr val="4349AA"/>
                </a:solidFill>
                <a:latin typeface="Arial"/>
                <a:ea typeface="Arial"/>
                <a:cs typeface="Arial"/>
                <a:sym typeface="Arial"/>
              </a:rPr>
              <a:t>Basic assumptions: </a:t>
            </a:r>
            <a:endParaRPr b="0" i="1" sz="2000" u="none" cap="none" strike="noStrike">
              <a:solidFill>
                <a:srgbClr val="4349AA"/>
              </a:solidFill>
              <a:latin typeface="Arial"/>
              <a:ea typeface="Arial"/>
              <a:cs typeface="Arial"/>
              <a:sym typeface="Arial"/>
            </a:endParaRPr>
          </a:p>
          <a:p>
            <a:pPr indent="-355600" lvl="0" marL="457200" marR="40638" rtl="0" algn="l">
              <a:lnSpc>
                <a:spcPct val="100000"/>
              </a:lnSpc>
              <a:spcBef>
                <a:spcPts val="0"/>
              </a:spcBef>
              <a:spcAft>
                <a:spcPts val="0"/>
              </a:spcAft>
              <a:buClr>
                <a:srgbClr val="4349AA"/>
              </a:buClr>
              <a:buSzPts val="2000"/>
              <a:buChar char="-"/>
            </a:pPr>
            <a:r>
              <a:rPr b="0" i="1" lang="en-US" sz="2000" u="none" cap="none" strike="noStrike">
                <a:solidFill>
                  <a:srgbClr val="4349AA"/>
                </a:solidFill>
                <a:latin typeface="Arial"/>
                <a:ea typeface="Arial"/>
                <a:cs typeface="Arial"/>
                <a:sym typeface="Arial"/>
              </a:rPr>
              <a:t>disease transmits in generations of infection. </a:t>
            </a:r>
            <a:endParaRPr b="0" i="1" sz="2000" u="none" cap="none" strike="noStrike">
              <a:solidFill>
                <a:srgbClr val="4349AA"/>
              </a:solidFill>
              <a:latin typeface="Arial"/>
              <a:ea typeface="Arial"/>
              <a:cs typeface="Arial"/>
              <a:sym typeface="Arial"/>
            </a:endParaRPr>
          </a:p>
          <a:p>
            <a:pPr indent="-355600" lvl="0" marL="457200" marR="40638" rtl="0" algn="l">
              <a:lnSpc>
                <a:spcPct val="100000"/>
              </a:lnSpc>
              <a:spcBef>
                <a:spcPts val="0"/>
              </a:spcBef>
              <a:spcAft>
                <a:spcPts val="0"/>
              </a:spcAft>
              <a:buClr>
                <a:srgbClr val="4349AA"/>
              </a:buClr>
              <a:buSzPts val="2000"/>
              <a:buChar char="-"/>
            </a:pPr>
            <a:r>
              <a:rPr b="0" i="1" lang="en-US" sz="2000" u="none" cap="none" strike="noStrike">
                <a:solidFill>
                  <a:srgbClr val="4349AA"/>
                </a:solidFill>
                <a:latin typeface="Arial"/>
                <a:ea typeface="Arial"/>
                <a:cs typeface="Arial"/>
                <a:sym typeface="Arial"/>
              </a:rPr>
              <a:t>Probability </a:t>
            </a:r>
            <a:r>
              <a:rPr b="0" i="1" lang="en-US" sz="2000" u="none" cap="none" strike="noStrike">
                <a:solidFill>
                  <a:srgbClr val="4349AA"/>
                </a:solidFill>
                <a:latin typeface="Times New Roman"/>
                <a:ea typeface="Times New Roman"/>
                <a:cs typeface="Times New Roman"/>
                <a:sym typeface="Times New Roman"/>
              </a:rPr>
              <a:t>q</a:t>
            </a:r>
            <a:r>
              <a:rPr b="0" i="1" lang="en-US" sz="2000" u="none" cap="none" strike="noStrike">
                <a:solidFill>
                  <a:srgbClr val="4349AA"/>
                </a:solidFill>
                <a:latin typeface="Arial"/>
                <a:ea typeface="Arial"/>
                <a:cs typeface="Arial"/>
                <a:sym typeface="Arial"/>
              </a:rPr>
              <a:t> of not being infected by each infected, if susceptible. </a:t>
            </a:r>
            <a:endParaRPr b="0" i="1" sz="2000" u="none" cap="none" strike="noStrike">
              <a:solidFill>
                <a:srgbClr val="4349AA"/>
              </a:solidFill>
              <a:latin typeface="Arial"/>
              <a:ea typeface="Arial"/>
              <a:cs typeface="Arial"/>
              <a:sym typeface="Arial"/>
            </a:endParaRPr>
          </a:p>
          <a:p>
            <a:pPr indent="-355600" lvl="0" marL="457200" marR="40639" rtl="0" algn="l">
              <a:lnSpc>
                <a:spcPct val="100000"/>
              </a:lnSpc>
              <a:spcBef>
                <a:spcPts val="0"/>
              </a:spcBef>
              <a:spcAft>
                <a:spcPts val="0"/>
              </a:spcAft>
              <a:buClr>
                <a:srgbClr val="4349AA"/>
              </a:buClr>
              <a:buSzPts val="2000"/>
              <a:buChar char="-"/>
            </a:pPr>
            <a:r>
              <a:rPr b="0" i="1" lang="en-US" sz="2000" u="none" cap="none" strike="noStrike">
                <a:solidFill>
                  <a:srgbClr val="4349AA"/>
                </a:solidFill>
                <a:latin typeface="Arial"/>
                <a:ea typeface="Arial"/>
                <a:cs typeface="Arial"/>
                <a:sym typeface="Arial"/>
              </a:rPr>
              <a:t>Infection induces immunity.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77" name="Shape 477"/>
        <p:cNvGrpSpPr/>
        <p:nvPr/>
      </p:nvGrpSpPr>
      <p:grpSpPr>
        <a:xfrm>
          <a:off x="0" y="0"/>
          <a:ext cx="0" cy="0"/>
          <a:chOff x="0" y="0"/>
          <a:chExt cx="0" cy="0"/>
        </a:xfrm>
      </p:grpSpPr>
      <p:sp>
        <p:nvSpPr>
          <p:cNvPr id="478" name="Google Shape;478;p31"/>
          <p:cNvSpPr/>
          <p:nvPr/>
        </p:nvSpPr>
        <p:spPr>
          <a:xfrm>
            <a:off x="0" y="333375"/>
            <a:ext cx="9156600" cy="5334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433FF"/>
              </a:buClr>
              <a:buFont typeface="Tahoma"/>
              <a:buNone/>
            </a:pPr>
            <a:r>
              <a:rPr b="1" i="0" lang="en-US" sz="2800" u="none" cap="none" strike="noStrike">
                <a:solidFill>
                  <a:srgbClr val="0433FF"/>
                </a:solidFill>
                <a:latin typeface="Tahoma"/>
                <a:ea typeface="Tahoma"/>
                <a:cs typeface="Tahoma"/>
                <a:sym typeface="Tahoma"/>
              </a:rPr>
              <a:t>Modern epidemiology of the 1950s ...</a:t>
            </a:r>
            <a:endParaRPr/>
          </a:p>
        </p:txBody>
      </p:sp>
      <p:sp>
        <p:nvSpPr>
          <p:cNvPr id="479" name="Google Shape;479;p31"/>
          <p:cNvSpPr/>
          <p:nvPr/>
        </p:nvSpPr>
        <p:spPr>
          <a:xfrm>
            <a:off x="1485900" y="1727200"/>
            <a:ext cx="5967000" cy="406500"/>
          </a:xfrm>
          <a:prstGeom prst="rect">
            <a:avLst/>
          </a:prstGeom>
          <a:noFill/>
          <a:ln>
            <a:noFill/>
          </a:ln>
        </p:spPr>
        <p:txBody>
          <a:bodyPr anchorCtr="0" anchor="t"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rPr b="0" i="0" lang="en-US" sz="2000" u="sng" cap="none" strike="noStrike">
                <a:solidFill>
                  <a:schemeClr val="hlink"/>
                </a:solidFill>
                <a:latin typeface="Tahoma"/>
                <a:ea typeface="Tahoma"/>
                <a:cs typeface="Tahoma"/>
                <a:sym typeface="Tahoma"/>
                <a:hlinkClick r:id="rId3"/>
              </a:rPr>
              <a:t>http://www.youtube.com</a:t>
            </a:r>
            <a:r>
              <a:rPr lang="en-US" sz="2000" u="sng">
                <a:solidFill>
                  <a:schemeClr val="hlink"/>
                </a:solidFill>
                <a:latin typeface="Tahoma"/>
                <a:ea typeface="Tahoma"/>
                <a:cs typeface="Tahoma"/>
                <a:sym typeface="Tahoma"/>
                <a:hlinkClick r:id="rId4"/>
              </a:rPr>
              <a:t>/</a:t>
            </a:r>
            <a:r>
              <a:rPr b="0" i="0" lang="en-US" sz="2000" u="sng" cap="none" strike="noStrike">
                <a:solidFill>
                  <a:schemeClr val="hlink"/>
                </a:solidFill>
                <a:latin typeface="Tahoma"/>
                <a:ea typeface="Tahoma"/>
                <a:cs typeface="Tahoma"/>
                <a:sym typeface="Tahoma"/>
                <a:hlinkClick r:id="rId5"/>
              </a:rPr>
              <a:t>watch?v=xYaFebO3kAU</a:t>
            </a:r>
            <a:endParaRPr/>
          </a:p>
          <a:p>
            <a:pPr indent="0" lvl="0" marL="0" marR="40638" rtl="0" algn="l">
              <a:lnSpc>
                <a:spcPct val="100000"/>
              </a:lnSpc>
              <a:spcBef>
                <a:spcPts val="0"/>
              </a:spcBef>
              <a:spcAft>
                <a:spcPts val="0"/>
              </a:spcAft>
              <a:buClr>
                <a:srgbClr val="000000"/>
              </a:buClr>
              <a:buFont typeface="Tahoma"/>
              <a:buNone/>
            </a:pPr>
            <a:r>
              <a:t/>
            </a:r>
            <a:endParaRPr/>
          </a:p>
          <a:p>
            <a:pPr indent="0" lvl="0" marL="0" marR="40638" rtl="0" algn="l">
              <a:lnSpc>
                <a:spcPct val="100000"/>
              </a:lnSpc>
              <a:spcBef>
                <a:spcPts val="0"/>
              </a:spcBef>
              <a:spcAft>
                <a:spcPts val="0"/>
              </a:spcAft>
              <a:buClr>
                <a:srgbClr val="000000"/>
              </a:buClr>
              <a:buFont typeface="Tahoma"/>
              <a:buNone/>
            </a:pPr>
            <a:r>
              <a:rPr b="1" lang="en-US"/>
              <a:t>Part 1:  </a:t>
            </a:r>
            <a:r>
              <a:rPr lang="en-US"/>
              <a:t>1:10 - 2:10, what is an epidemic</a:t>
            </a:r>
            <a:r>
              <a:rPr lang="en-US"/>
              <a:t>;</a:t>
            </a:r>
            <a:endParaRPr/>
          </a:p>
          <a:p>
            <a:pPr indent="0" lvl="0" marL="0" marR="40638" rtl="0" algn="l">
              <a:lnSpc>
                <a:spcPct val="100000"/>
              </a:lnSpc>
              <a:spcBef>
                <a:spcPts val="0"/>
              </a:spcBef>
              <a:spcAft>
                <a:spcPts val="0"/>
              </a:spcAft>
              <a:buClr>
                <a:srgbClr val="000000"/>
              </a:buClr>
              <a:buFont typeface="Tahoma"/>
              <a:buNone/>
            </a:pPr>
            <a:r>
              <a:rPr lang="en-US"/>
              <a:t>             4:05 - 5:05, intro reed</a:t>
            </a:r>
            <a:endParaRPr/>
          </a:p>
          <a:p>
            <a:pPr indent="0" lvl="0" marL="0" marR="40638" rtl="0" algn="l">
              <a:lnSpc>
                <a:spcPct val="100000"/>
              </a:lnSpc>
              <a:spcBef>
                <a:spcPts val="0"/>
              </a:spcBef>
              <a:spcAft>
                <a:spcPts val="0"/>
              </a:spcAft>
              <a:buClr>
                <a:srgbClr val="000000"/>
              </a:buClr>
              <a:buFont typeface="Tahoma"/>
              <a:buNone/>
            </a:pPr>
            <a:r>
              <a:t/>
            </a:r>
            <a:endParaRPr/>
          </a:p>
          <a:p>
            <a:pPr indent="0" lvl="0" marL="0" marR="40638" rtl="0" algn="l">
              <a:lnSpc>
                <a:spcPct val="100000"/>
              </a:lnSpc>
              <a:spcBef>
                <a:spcPts val="0"/>
              </a:spcBef>
              <a:spcAft>
                <a:spcPts val="0"/>
              </a:spcAft>
              <a:buClr>
                <a:srgbClr val="000000"/>
              </a:buClr>
              <a:buFont typeface="Tahoma"/>
              <a:buNone/>
            </a:pPr>
            <a:r>
              <a:rPr b="1" lang="en-US"/>
              <a:t>Part 3: </a:t>
            </a:r>
            <a:r>
              <a:rPr lang="en-US"/>
              <a:t>1:50 - 5:00 the simulator </a:t>
            </a:r>
            <a:endParaRPr/>
          </a:p>
          <a:p>
            <a:pPr indent="0" lvl="0" marL="0" marR="40638" rtl="0" algn="l">
              <a:lnSpc>
                <a:spcPct val="100000"/>
              </a:lnSpc>
              <a:spcBef>
                <a:spcPts val="0"/>
              </a:spcBef>
              <a:spcAft>
                <a:spcPts val="0"/>
              </a:spcAft>
              <a:buClr>
                <a:srgbClr val="000000"/>
              </a:buClr>
              <a:buFont typeface="Tahoma"/>
              <a:buNone/>
            </a:pPr>
            <a:r>
              <a:rPr lang="en-US"/>
              <a:t>            8:10, conclusions</a:t>
            </a:r>
            <a:endParaRPr/>
          </a:p>
          <a:p>
            <a:pPr indent="0" lvl="0" marL="0" marR="40638" rtl="0" algn="l">
              <a:lnSpc>
                <a:spcPct val="100000"/>
              </a:lnSpc>
              <a:spcBef>
                <a:spcPts val="0"/>
              </a:spcBef>
              <a:spcAft>
                <a:spcPts val="0"/>
              </a:spcAft>
              <a:buClr>
                <a:srgbClr val="000000"/>
              </a:buClr>
              <a:buFont typeface="Tahoma"/>
              <a:buNone/>
            </a:pPr>
            <a:r>
              <a:t/>
            </a:r>
            <a:endParaRPr/>
          </a:p>
        </p:txBody>
      </p:sp>
      <p:sp>
        <p:nvSpPr>
          <p:cNvPr id="480" name="Google Shape;480;p31"/>
          <p:cNvSpPr/>
          <p:nvPr/>
        </p:nvSpPr>
        <p:spPr>
          <a:xfrm>
            <a:off x="601662" y="5791200"/>
            <a:ext cx="8001000" cy="382800"/>
          </a:xfrm>
          <a:prstGeom prst="rect">
            <a:avLst/>
          </a:prstGeom>
          <a:noFill/>
          <a:ln>
            <a:noFill/>
          </a:ln>
        </p:spPr>
        <p:txBody>
          <a:bodyPr anchorCtr="0" anchor="t" bIns="50800" lIns="50800" spcFirstLastPara="1" rIns="50800" wrap="square" tIns="50800">
            <a:noAutofit/>
          </a:bodyPr>
          <a:lstStyle/>
          <a:p>
            <a:pPr indent="-345440" lvl="0" marL="383540" marR="40638" rtl="0" algn="r">
              <a:lnSpc>
                <a:spcPct val="100000"/>
              </a:lnSpc>
              <a:spcBef>
                <a:spcPts val="0"/>
              </a:spcBef>
              <a:spcAft>
                <a:spcPts val="0"/>
              </a:spcAft>
              <a:buClr>
                <a:srgbClr val="000000"/>
              </a:buClr>
              <a:buFont typeface="Times New Roman"/>
              <a:buNone/>
            </a:pPr>
            <a:r>
              <a:rPr b="0" i="1" lang="en-US" sz="2000" u="none" cap="none" strike="noStrike">
                <a:solidFill>
                  <a:srgbClr val="000000"/>
                </a:solidFill>
                <a:latin typeface="Times New Roman"/>
                <a:ea typeface="Times New Roman"/>
                <a:cs typeface="Times New Roman"/>
                <a:sym typeface="Times New Roman"/>
              </a:rPr>
              <a:t>(Exercise: write </a:t>
            </a:r>
            <a:r>
              <a:rPr i="1" lang="en-US" sz="2000">
                <a:latin typeface="Times New Roman"/>
                <a:ea typeface="Times New Roman"/>
                <a:cs typeface="Times New Roman"/>
                <a:sym typeface="Times New Roman"/>
              </a:rPr>
              <a:t>R code for the simulator on youtube, and email SR :) </a:t>
            </a:r>
            <a:r>
              <a:rPr b="0" i="1" lang="en-US" sz="2000" u="none" cap="none" strike="noStrike">
                <a:solidFill>
                  <a:srgbClr val="000000"/>
                </a:solidFill>
                <a:latin typeface="Times New Roman"/>
                <a:ea typeface="Times New Roman"/>
                <a:cs typeface="Times New Roman"/>
                <a:sym typeface="Times New Roman"/>
              </a:rPr>
              <a:t>)</a:t>
            </a:r>
            <a:endParaRPr/>
          </a:p>
        </p:txBody>
      </p:sp>
      <p:sp>
        <p:nvSpPr>
          <p:cNvPr id="481" name="Google Shape;481;p31"/>
          <p:cNvSpPr txBox="1"/>
          <p:nvPr/>
        </p:nvSpPr>
        <p:spPr>
          <a:xfrm>
            <a:off x="1278200" y="3920625"/>
            <a:ext cx="6981000" cy="148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t>Note:</a:t>
            </a:r>
            <a:r>
              <a:rPr lang="en-US"/>
              <a:t> the video is far better than any papers that I have found. You should watch it.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85" name="Shape 485"/>
        <p:cNvGrpSpPr/>
        <p:nvPr/>
      </p:nvGrpSpPr>
      <p:grpSpPr>
        <a:xfrm>
          <a:off x="0" y="0"/>
          <a:ext cx="0" cy="0"/>
          <a:chOff x="0" y="0"/>
          <a:chExt cx="0" cy="0"/>
        </a:xfrm>
      </p:grpSpPr>
      <p:sp>
        <p:nvSpPr>
          <p:cNvPr id="486" name="Google Shape;486;p32"/>
          <p:cNvSpPr/>
          <p:nvPr/>
        </p:nvSpPr>
        <p:spPr>
          <a:xfrm>
            <a:off x="0" y="314325"/>
            <a:ext cx="9156600" cy="5334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433FF"/>
              </a:buClr>
              <a:buFont typeface="Tahoma"/>
              <a:buNone/>
            </a:pPr>
            <a:r>
              <a:rPr b="1" i="0" lang="en-US" sz="2800" u="none" cap="none" strike="noStrike">
                <a:solidFill>
                  <a:srgbClr val="0433FF"/>
                </a:solidFill>
                <a:latin typeface="Tahoma"/>
                <a:ea typeface="Tahoma"/>
                <a:cs typeface="Tahoma"/>
                <a:sym typeface="Tahoma"/>
              </a:rPr>
              <a:t>Reed-Frost: example with n=4 (2)</a:t>
            </a:r>
            <a:endParaRPr/>
          </a:p>
        </p:txBody>
      </p:sp>
      <p:sp>
        <p:nvSpPr>
          <p:cNvPr id="487" name="Google Shape;487;p32"/>
          <p:cNvSpPr txBox="1"/>
          <p:nvPr/>
        </p:nvSpPr>
        <p:spPr>
          <a:xfrm>
            <a:off x="4105700" y="5997600"/>
            <a:ext cx="2082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2</a:t>
            </a:r>
            <a:endParaRPr>
              <a:solidFill>
                <a:schemeClr val="dk1"/>
              </a:solidFill>
            </a:endParaRPr>
          </a:p>
        </p:txBody>
      </p:sp>
      <p:sp>
        <p:nvSpPr>
          <p:cNvPr id="488" name="Google Shape;488;p32"/>
          <p:cNvSpPr txBox="1"/>
          <p:nvPr/>
        </p:nvSpPr>
        <p:spPr>
          <a:xfrm>
            <a:off x="7683500" y="1188225"/>
            <a:ext cx="355500" cy="22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489" name="Google Shape;489;p32"/>
          <p:cNvSpPr txBox="1"/>
          <p:nvPr/>
        </p:nvSpPr>
        <p:spPr>
          <a:xfrm>
            <a:off x="7045325" y="5814775"/>
            <a:ext cx="2601900" cy="8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000"/>
          </a:p>
        </p:txBody>
      </p:sp>
      <p:sp>
        <p:nvSpPr>
          <p:cNvPr id="490" name="Google Shape;490;p32"/>
          <p:cNvSpPr txBox="1"/>
          <p:nvPr/>
        </p:nvSpPr>
        <p:spPr>
          <a:xfrm>
            <a:off x="596075" y="836125"/>
            <a:ext cx="8491500" cy="58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Households of size 4. Look at infection within household. S-I-R.</a:t>
            </a:r>
            <a:br>
              <a:rPr lang="en-US"/>
            </a:br>
            <a:r>
              <a:rPr lang="en-US"/>
              <a:t>At every generation: Infecteds become recovered, susceptibles become infected with some probability.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Example 1: Probability of moving from SSSI → SIIR?</a:t>
            </a:r>
            <a:endParaRPr/>
          </a:p>
        </p:txBody>
      </p:sp>
      <p:grpSp>
        <p:nvGrpSpPr>
          <p:cNvPr id="491" name="Google Shape;491;p32"/>
          <p:cNvGrpSpPr/>
          <p:nvPr/>
        </p:nvGrpSpPr>
        <p:grpSpPr>
          <a:xfrm>
            <a:off x="4779012" y="1927225"/>
            <a:ext cx="1023900" cy="1009500"/>
            <a:chOff x="0" y="0"/>
            <a:chExt cx="1023900" cy="1009500"/>
          </a:xfrm>
        </p:grpSpPr>
        <p:sp>
          <p:nvSpPr>
            <p:cNvPr id="492" name="Google Shape;492;p32"/>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493" name="Google Shape;493;p32"/>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494" name="Google Shape;494;p32"/>
            <p:cNvSpPr/>
            <p:nvPr/>
          </p:nvSpPr>
          <p:spPr>
            <a:xfrm>
              <a:off x="125412" y="569912"/>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495" name="Google Shape;495;p32"/>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496" name="Google Shape;496;p32"/>
            <p:cNvSpPr/>
            <p:nvPr/>
          </p:nvSpPr>
          <p:spPr>
            <a:xfrm>
              <a:off x="781050" y="2746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497" name="Google Shape;497;p32"/>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498" name="Google Shape;498;p32"/>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499" name="Google Shape;499;p32"/>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500" name="Google Shape;500;p32"/>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501" name="Google Shape;501;p32"/>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502" name="Google Shape;502;p32"/>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grpSp>
        <p:nvGrpSpPr>
          <p:cNvPr id="503" name="Google Shape;503;p32"/>
          <p:cNvGrpSpPr/>
          <p:nvPr/>
        </p:nvGrpSpPr>
        <p:grpSpPr>
          <a:xfrm>
            <a:off x="6535737" y="1927225"/>
            <a:ext cx="1023900" cy="1009500"/>
            <a:chOff x="0" y="0"/>
            <a:chExt cx="1023900" cy="1009500"/>
          </a:xfrm>
        </p:grpSpPr>
        <p:sp>
          <p:nvSpPr>
            <p:cNvPr id="504" name="Google Shape;504;p32"/>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05" name="Google Shape;505;p32"/>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06" name="Google Shape;506;p32"/>
            <p:cNvSpPr/>
            <p:nvPr/>
          </p:nvSpPr>
          <p:spPr>
            <a:xfrm>
              <a:off x="125412" y="569912"/>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07" name="Google Shape;507;p32"/>
            <p:cNvSpPr/>
            <p:nvPr/>
          </p:nvSpPr>
          <p:spPr>
            <a:xfrm>
              <a:off x="76200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08" name="Google Shape;508;p32"/>
            <p:cNvSpPr/>
            <p:nvPr/>
          </p:nvSpPr>
          <p:spPr>
            <a:xfrm>
              <a:off x="628650" y="6556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509" name="Google Shape;509;p32"/>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510" name="Google Shape;510;p32"/>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511" name="Google Shape;511;p32"/>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512" name="Google Shape;512;p32"/>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513" name="Google Shape;513;p32"/>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514" name="Google Shape;514;p32"/>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sp>
        <p:nvSpPr>
          <p:cNvPr id="515" name="Google Shape;515;p32"/>
          <p:cNvSpPr txBox="1"/>
          <p:nvPr/>
        </p:nvSpPr>
        <p:spPr>
          <a:xfrm>
            <a:off x="994500" y="3143700"/>
            <a:ext cx="7310400" cy="92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1800">
                <a:latin typeface="Times New Roman"/>
                <a:ea typeface="Times New Roman"/>
                <a:cs typeface="Times New Roman"/>
                <a:sym typeface="Times New Roman"/>
              </a:rPr>
              <a:t>p</a:t>
            </a:r>
            <a:r>
              <a:rPr lang="en-US"/>
              <a:t>: probability that a single infective transmits to a single susceptible</a:t>
            </a:r>
            <a:endParaRPr/>
          </a:p>
          <a:p>
            <a:pPr indent="0" lvl="0" marL="0" rtl="0" algn="l">
              <a:spcBef>
                <a:spcPts val="0"/>
              </a:spcBef>
              <a:spcAft>
                <a:spcPts val="0"/>
              </a:spcAft>
              <a:buNone/>
            </a:pPr>
            <a:r>
              <a:rPr i="1" lang="en-US" sz="1800">
                <a:latin typeface="Times New Roman"/>
                <a:ea typeface="Times New Roman"/>
                <a:cs typeface="Times New Roman"/>
                <a:sym typeface="Times New Roman"/>
              </a:rPr>
              <a:t>q</a:t>
            </a:r>
            <a:r>
              <a:rPr lang="en-US"/>
              <a:t>: </a:t>
            </a:r>
            <a:r>
              <a:rPr lang="en-US" sz="1800">
                <a:latin typeface="Times New Roman"/>
                <a:ea typeface="Times New Roman"/>
                <a:cs typeface="Times New Roman"/>
                <a:sym typeface="Times New Roman"/>
              </a:rPr>
              <a:t>(1-</a:t>
            </a:r>
            <a:r>
              <a:rPr i="1" lang="en-US" sz="1800">
                <a:latin typeface="Times New Roman"/>
                <a:ea typeface="Times New Roman"/>
                <a:cs typeface="Times New Roman"/>
                <a:sym typeface="Times New Roman"/>
              </a:rPr>
              <a:t>p</a:t>
            </a:r>
            <a:r>
              <a:rPr lang="en-US" sz="1800">
                <a:latin typeface="Times New Roman"/>
                <a:ea typeface="Times New Roman"/>
                <a:cs typeface="Times New Roman"/>
                <a:sym typeface="Times New Roman"/>
              </a:rPr>
              <a:t>)</a:t>
            </a:r>
            <a:r>
              <a:rPr lang="en-US"/>
              <a:t>, </a:t>
            </a:r>
            <a:r>
              <a:rPr lang="en-US">
                <a:solidFill>
                  <a:schemeClr val="dk1"/>
                </a:solidFill>
              </a:rPr>
              <a:t>probability that a single infective does not transmit to a single susceptible</a:t>
            </a:r>
            <a:endParaRPr/>
          </a:p>
        </p:txBody>
      </p:sp>
      <p:grpSp>
        <p:nvGrpSpPr>
          <p:cNvPr id="516" name="Google Shape;516;p32"/>
          <p:cNvGrpSpPr/>
          <p:nvPr/>
        </p:nvGrpSpPr>
        <p:grpSpPr>
          <a:xfrm>
            <a:off x="846137" y="4137025"/>
            <a:ext cx="1023900" cy="1009500"/>
            <a:chOff x="0" y="0"/>
            <a:chExt cx="1023900" cy="1009500"/>
          </a:xfrm>
        </p:grpSpPr>
        <p:sp>
          <p:nvSpPr>
            <p:cNvPr id="517" name="Google Shape;517;p32"/>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18" name="Google Shape;518;p32"/>
            <p:cNvSpPr/>
            <p:nvPr/>
          </p:nvSpPr>
          <p:spPr>
            <a:xfrm>
              <a:off x="219075" y="1730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19" name="Google Shape;519;p32"/>
            <p:cNvSpPr/>
            <p:nvPr/>
          </p:nvSpPr>
          <p:spPr>
            <a:xfrm>
              <a:off x="125412" y="569912"/>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20" name="Google Shape;520;p32"/>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21" name="Google Shape;521;p32"/>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522" name="Google Shape;522;p32"/>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523" name="Google Shape;523;p32"/>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524" name="Google Shape;524;p32"/>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525" name="Google Shape;525;p32"/>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526" name="Google Shape;526;p32"/>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527" name="Google Shape;527;p32"/>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cxnSp>
        <p:nvCxnSpPr>
          <p:cNvPr id="528" name="Google Shape;528;p32"/>
          <p:cNvCxnSpPr/>
          <p:nvPr/>
        </p:nvCxnSpPr>
        <p:spPr>
          <a:xfrm>
            <a:off x="1939925" y="4635500"/>
            <a:ext cx="460500" cy="1500"/>
          </a:xfrm>
          <a:prstGeom prst="straightConnector1">
            <a:avLst/>
          </a:prstGeom>
          <a:noFill/>
          <a:ln cap="flat" cmpd="sng" w="9525">
            <a:solidFill>
              <a:srgbClr val="000000"/>
            </a:solidFill>
            <a:prstDash val="solid"/>
            <a:round/>
            <a:headEnd len="sm" w="sm" type="none"/>
            <a:tailEnd len="med" w="med" type="triangle"/>
          </a:ln>
        </p:spPr>
      </p:cxnSp>
      <p:grpSp>
        <p:nvGrpSpPr>
          <p:cNvPr id="529" name="Google Shape;529;p32"/>
          <p:cNvGrpSpPr/>
          <p:nvPr/>
        </p:nvGrpSpPr>
        <p:grpSpPr>
          <a:xfrm>
            <a:off x="2497137" y="4137025"/>
            <a:ext cx="1023900" cy="1009500"/>
            <a:chOff x="0" y="0"/>
            <a:chExt cx="1023900" cy="1009500"/>
          </a:xfrm>
        </p:grpSpPr>
        <p:sp>
          <p:nvSpPr>
            <p:cNvPr id="530" name="Google Shape;530;p32"/>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31" name="Google Shape;531;p32"/>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32" name="Google Shape;532;p32"/>
            <p:cNvSpPr/>
            <p:nvPr/>
          </p:nvSpPr>
          <p:spPr>
            <a:xfrm>
              <a:off x="658812" y="646112"/>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33" name="Google Shape;533;p32"/>
            <p:cNvSpPr/>
            <p:nvPr/>
          </p:nvSpPr>
          <p:spPr>
            <a:xfrm>
              <a:off x="152400" y="5794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34" name="Google Shape;534;p32"/>
            <p:cNvSpPr/>
            <p:nvPr/>
          </p:nvSpPr>
          <p:spPr>
            <a:xfrm>
              <a:off x="781050" y="2746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535" name="Google Shape;535;p32"/>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536" name="Google Shape;536;p32"/>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537" name="Google Shape;537;p32"/>
            <p:cNvCxnSpPr/>
            <p:nvPr/>
          </p:nvCxnSpPr>
          <p:spPr>
            <a:xfrm>
              <a:off x="325500" y="685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538" name="Google Shape;538;p32"/>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539" name="Google Shape;539;p32"/>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540" name="Google Shape;540;p32"/>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sp>
        <p:nvSpPr>
          <p:cNvPr id="541" name="Google Shape;541;p32"/>
          <p:cNvSpPr txBox="1"/>
          <p:nvPr/>
        </p:nvSpPr>
        <p:spPr>
          <a:xfrm>
            <a:off x="3799600" y="4076825"/>
            <a:ext cx="2368800" cy="12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2"/>
          <p:cNvSpPr txBox="1"/>
          <p:nvPr/>
        </p:nvSpPr>
        <p:spPr>
          <a:xfrm>
            <a:off x="926375" y="4613750"/>
            <a:ext cx="126900" cy="9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1</a:t>
            </a:r>
            <a:endParaRPr sz="1000"/>
          </a:p>
        </p:txBody>
      </p:sp>
      <p:sp>
        <p:nvSpPr>
          <p:cNvPr id="543" name="Google Shape;543;p32"/>
          <p:cNvSpPr txBox="1"/>
          <p:nvPr/>
        </p:nvSpPr>
        <p:spPr>
          <a:xfrm>
            <a:off x="1406325" y="4700850"/>
            <a:ext cx="2439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2</a:t>
            </a:r>
            <a:endParaRPr sz="1000"/>
          </a:p>
        </p:txBody>
      </p:sp>
      <p:sp>
        <p:nvSpPr>
          <p:cNvPr id="544" name="Google Shape;544;p32"/>
          <p:cNvSpPr txBox="1"/>
          <p:nvPr/>
        </p:nvSpPr>
        <p:spPr>
          <a:xfrm>
            <a:off x="1579900" y="4318700"/>
            <a:ext cx="3102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3</a:t>
            </a:r>
            <a:endParaRPr sz="1000"/>
          </a:p>
        </p:txBody>
      </p:sp>
      <p:sp>
        <p:nvSpPr>
          <p:cNvPr id="545" name="Google Shape;545;p32"/>
          <p:cNvSpPr txBox="1"/>
          <p:nvPr/>
        </p:nvSpPr>
        <p:spPr>
          <a:xfrm>
            <a:off x="3226375" y="4318700"/>
            <a:ext cx="3102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3</a:t>
            </a:r>
            <a:endParaRPr sz="1000"/>
          </a:p>
        </p:txBody>
      </p:sp>
      <p:sp>
        <p:nvSpPr>
          <p:cNvPr id="546" name="Google Shape;546;p32"/>
          <p:cNvSpPr txBox="1"/>
          <p:nvPr/>
        </p:nvSpPr>
        <p:spPr>
          <a:xfrm>
            <a:off x="3113525" y="4693800"/>
            <a:ext cx="3102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2</a:t>
            </a:r>
            <a:endParaRPr sz="1000"/>
          </a:p>
        </p:txBody>
      </p:sp>
      <p:sp>
        <p:nvSpPr>
          <p:cNvPr id="547" name="Google Shape;547;p32"/>
          <p:cNvSpPr txBox="1"/>
          <p:nvPr/>
        </p:nvSpPr>
        <p:spPr>
          <a:xfrm>
            <a:off x="2601875" y="4625300"/>
            <a:ext cx="3102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1</a:t>
            </a:r>
            <a:endParaRPr sz="1000"/>
          </a:p>
        </p:txBody>
      </p:sp>
      <p:grpSp>
        <p:nvGrpSpPr>
          <p:cNvPr id="548" name="Google Shape;548;p32"/>
          <p:cNvGrpSpPr/>
          <p:nvPr/>
        </p:nvGrpSpPr>
        <p:grpSpPr>
          <a:xfrm>
            <a:off x="998537" y="1927225"/>
            <a:ext cx="1023900" cy="1009500"/>
            <a:chOff x="0" y="0"/>
            <a:chExt cx="1023900" cy="1009500"/>
          </a:xfrm>
        </p:grpSpPr>
        <p:sp>
          <p:nvSpPr>
            <p:cNvPr id="549" name="Google Shape;549;p32"/>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50" name="Google Shape;550;p32"/>
            <p:cNvSpPr/>
            <p:nvPr/>
          </p:nvSpPr>
          <p:spPr>
            <a:xfrm>
              <a:off x="219075" y="1730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51" name="Google Shape;551;p32"/>
            <p:cNvSpPr/>
            <p:nvPr/>
          </p:nvSpPr>
          <p:spPr>
            <a:xfrm>
              <a:off x="125412" y="569912"/>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52" name="Google Shape;552;p32"/>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53" name="Google Shape;553;p32"/>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554" name="Google Shape;554;p32"/>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555" name="Google Shape;555;p32"/>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556" name="Google Shape;556;p32"/>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557" name="Google Shape;557;p32"/>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558" name="Google Shape;558;p32"/>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559" name="Google Shape;559;p32"/>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cxnSp>
        <p:nvCxnSpPr>
          <p:cNvPr id="560" name="Google Shape;560;p32"/>
          <p:cNvCxnSpPr/>
          <p:nvPr/>
        </p:nvCxnSpPr>
        <p:spPr>
          <a:xfrm>
            <a:off x="2092325" y="2425700"/>
            <a:ext cx="755400" cy="12600"/>
          </a:xfrm>
          <a:prstGeom prst="straightConnector1">
            <a:avLst/>
          </a:prstGeom>
          <a:noFill/>
          <a:ln cap="flat" cmpd="sng" w="9525">
            <a:solidFill>
              <a:srgbClr val="000000"/>
            </a:solidFill>
            <a:prstDash val="solid"/>
            <a:round/>
            <a:headEnd len="sm" w="sm" type="none"/>
            <a:tailEnd len="med" w="med" type="triangle"/>
          </a:ln>
        </p:spPr>
      </p:cxnSp>
      <p:sp>
        <p:nvSpPr>
          <p:cNvPr id="561" name="Google Shape;561;p32"/>
          <p:cNvSpPr txBox="1"/>
          <p:nvPr/>
        </p:nvSpPr>
        <p:spPr>
          <a:xfrm>
            <a:off x="1078775" y="2403950"/>
            <a:ext cx="126900" cy="9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1</a:t>
            </a:r>
            <a:endParaRPr sz="1000"/>
          </a:p>
        </p:txBody>
      </p:sp>
      <p:sp>
        <p:nvSpPr>
          <p:cNvPr id="562" name="Google Shape;562;p32"/>
          <p:cNvSpPr txBox="1"/>
          <p:nvPr/>
        </p:nvSpPr>
        <p:spPr>
          <a:xfrm>
            <a:off x="1558725" y="2491050"/>
            <a:ext cx="2439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2</a:t>
            </a:r>
            <a:endParaRPr sz="1000"/>
          </a:p>
        </p:txBody>
      </p:sp>
      <p:sp>
        <p:nvSpPr>
          <p:cNvPr id="563" name="Google Shape;563;p32"/>
          <p:cNvSpPr txBox="1"/>
          <p:nvPr/>
        </p:nvSpPr>
        <p:spPr>
          <a:xfrm>
            <a:off x="1732300" y="2108900"/>
            <a:ext cx="3102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3</a:t>
            </a:r>
            <a:endParaRPr sz="1000"/>
          </a:p>
        </p:txBody>
      </p:sp>
      <p:grpSp>
        <p:nvGrpSpPr>
          <p:cNvPr id="564" name="Google Shape;564;p32"/>
          <p:cNvGrpSpPr/>
          <p:nvPr/>
        </p:nvGrpSpPr>
        <p:grpSpPr>
          <a:xfrm>
            <a:off x="3030537" y="1927225"/>
            <a:ext cx="1023900" cy="1009500"/>
            <a:chOff x="0" y="0"/>
            <a:chExt cx="1023900" cy="1009500"/>
          </a:xfrm>
        </p:grpSpPr>
        <p:sp>
          <p:nvSpPr>
            <p:cNvPr id="565" name="Google Shape;565;p32"/>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66" name="Google Shape;566;p32"/>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67" name="Google Shape;567;p32"/>
            <p:cNvSpPr/>
            <p:nvPr/>
          </p:nvSpPr>
          <p:spPr>
            <a:xfrm>
              <a:off x="658812" y="646112"/>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68" name="Google Shape;568;p32"/>
            <p:cNvSpPr/>
            <p:nvPr/>
          </p:nvSpPr>
          <p:spPr>
            <a:xfrm>
              <a:off x="152400" y="5794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569" name="Google Shape;569;p32"/>
            <p:cNvSpPr/>
            <p:nvPr/>
          </p:nvSpPr>
          <p:spPr>
            <a:xfrm>
              <a:off x="781050" y="2746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570" name="Google Shape;570;p32"/>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571" name="Google Shape;571;p32"/>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572" name="Google Shape;572;p32"/>
            <p:cNvCxnSpPr/>
            <p:nvPr/>
          </p:nvCxnSpPr>
          <p:spPr>
            <a:xfrm>
              <a:off x="325500" y="685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573" name="Google Shape;573;p32"/>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574" name="Google Shape;574;p32"/>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575" name="Google Shape;575;p32"/>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sp>
        <p:nvSpPr>
          <p:cNvPr id="576" name="Google Shape;576;p32"/>
          <p:cNvSpPr txBox="1"/>
          <p:nvPr/>
        </p:nvSpPr>
        <p:spPr>
          <a:xfrm>
            <a:off x="3759775" y="2108900"/>
            <a:ext cx="3102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3</a:t>
            </a:r>
            <a:endParaRPr sz="1000"/>
          </a:p>
        </p:txBody>
      </p:sp>
      <p:sp>
        <p:nvSpPr>
          <p:cNvPr id="577" name="Google Shape;577;p32"/>
          <p:cNvSpPr txBox="1"/>
          <p:nvPr/>
        </p:nvSpPr>
        <p:spPr>
          <a:xfrm>
            <a:off x="3646925" y="2484000"/>
            <a:ext cx="3102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2</a:t>
            </a:r>
            <a:endParaRPr sz="1000"/>
          </a:p>
        </p:txBody>
      </p:sp>
      <p:sp>
        <p:nvSpPr>
          <p:cNvPr id="578" name="Google Shape;578;p32"/>
          <p:cNvSpPr txBox="1"/>
          <p:nvPr/>
        </p:nvSpPr>
        <p:spPr>
          <a:xfrm>
            <a:off x="3135275" y="2415500"/>
            <a:ext cx="3102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1</a:t>
            </a:r>
            <a:endParaRPr sz="1000"/>
          </a:p>
        </p:txBody>
      </p:sp>
      <p:sp>
        <p:nvSpPr>
          <p:cNvPr id="579" name="Google Shape;579;p32"/>
          <p:cNvSpPr txBox="1"/>
          <p:nvPr/>
        </p:nvSpPr>
        <p:spPr>
          <a:xfrm>
            <a:off x="5523900" y="2115588"/>
            <a:ext cx="3102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3</a:t>
            </a:r>
            <a:endParaRPr sz="1000"/>
          </a:p>
        </p:txBody>
      </p:sp>
      <p:sp>
        <p:nvSpPr>
          <p:cNvPr id="580" name="Google Shape;580;p32"/>
          <p:cNvSpPr txBox="1"/>
          <p:nvPr/>
        </p:nvSpPr>
        <p:spPr>
          <a:xfrm>
            <a:off x="5349875" y="2484000"/>
            <a:ext cx="3102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2</a:t>
            </a:r>
            <a:endParaRPr sz="1000"/>
          </a:p>
        </p:txBody>
      </p:sp>
      <p:sp>
        <p:nvSpPr>
          <p:cNvPr id="581" name="Google Shape;581;p32"/>
          <p:cNvSpPr txBox="1"/>
          <p:nvPr/>
        </p:nvSpPr>
        <p:spPr>
          <a:xfrm>
            <a:off x="4861125" y="2393863"/>
            <a:ext cx="3102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1</a:t>
            </a:r>
            <a:endParaRPr sz="1000"/>
          </a:p>
        </p:txBody>
      </p:sp>
      <p:sp>
        <p:nvSpPr>
          <p:cNvPr id="582" name="Google Shape;582;p32"/>
          <p:cNvSpPr txBox="1"/>
          <p:nvPr/>
        </p:nvSpPr>
        <p:spPr>
          <a:xfrm>
            <a:off x="7249425" y="2108900"/>
            <a:ext cx="3102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3</a:t>
            </a:r>
            <a:endParaRPr sz="1000"/>
          </a:p>
        </p:txBody>
      </p:sp>
      <p:sp>
        <p:nvSpPr>
          <p:cNvPr id="583" name="Google Shape;583;p32"/>
          <p:cNvSpPr txBox="1"/>
          <p:nvPr/>
        </p:nvSpPr>
        <p:spPr>
          <a:xfrm>
            <a:off x="7107925" y="2484000"/>
            <a:ext cx="3102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2</a:t>
            </a:r>
            <a:endParaRPr sz="1000"/>
          </a:p>
        </p:txBody>
      </p:sp>
      <p:sp>
        <p:nvSpPr>
          <p:cNvPr id="584" name="Google Shape;584;p32"/>
          <p:cNvSpPr txBox="1"/>
          <p:nvPr/>
        </p:nvSpPr>
        <p:spPr>
          <a:xfrm>
            <a:off x="6608250" y="2393875"/>
            <a:ext cx="3102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1</a:t>
            </a:r>
            <a:endParaRPr sz="1000"/>
          </a:p>
        </p:txBody>
      </p:sp>
      <p:sp>
        <p:nvSpPr>
          <p:cNvPr id="585" name="Google Shape;585;p32"/>
          <p:cNvSpPr txBox="1"/>
          <p:nvPr/>
        </p:nvSpPr>
        <p:spPr>
          <a:xfrm>
            <a:off x="4275525" y="4140600"/>
            <a:ext cx="1669500" cy="92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S1 not infected: </a:t>
            </a:r>
            <a:r>
              <a:rPr i="1" lang="en-US" sz="1800">
                <a:latin typeface="Times New Roman"/>
                <a:ea typeface="Times New Roman"/>
                <a:cs typeface="Times New Roman"/>
                <a:sym typeface="Times New Roman"/>
              </a:rPr>
              <a:t>q</a:t>
            </a:r>
            <a:endParaRPr i="1" sz="1800">
              <a:latin typeface="Times New Roman"/>
              <a:ea typeface="Times New Roman"/>
              <a:cs typeface="Times New Roman"/>
              <a:sym typeface="Times New Roman"/>
            </a:endParaRPr>
          </a:p>
          <a:p>
            <a:pPr indent="0" lvl="0" marL="0" rtl="0" algn="l">
              <a:spcBef>
                <a:spcPts val="0"/>
              </a:spcBef>
              <a:spcAft>
                <a:spcPts val="0"/>
              </a:spcAft>
              <a:buNone/>
            </a:pPr>
            <a:r>
              <a:rPr lang="en-US"/>
              <a:t>S2 infected: </a:t>
            </a:r>
            <a:r>
              <a:rPr i="1" lang="en-US" sz="1800">
                <a:latin typeface="Times New Roman"/>
                <a:ea typeface="Times New Roman"/>
                <a:cs typeface="Times New Roman"/>
                <a:sym typeface="Times New Roman"/>
              </a:rPr>
              <a:t>p</a:t>
            </a:r>
            <a:endParaRPr i="1" sz="1800">
              <a:latin typeface="Times New Roman"/>
              <a:ea typeface="Times New Roman"/>
              <a:cs typeface="Times New Roman"/>
              <a:sym typeface="Times New Roman"/>
            </a:endParaRPr>
          </a:p>
          <a:p>
            <a:pPr indent="0" lvl="0" marL="0" rtl="0" algn="l">
              <a:spcBef>
                <a:spcPts val="0"/>
              </a:spcBef>
              <a:spcAft>
                <a:spcPts val="0"/>
              </a:spcAft>
              <a:buNone/>
            </a:pPr>
            <a:r>
              <a:rPr lang="en-US"/>
              <a:t>S3 infected: </a:t>
            </a:r>
            <a:r>
              <a:rPr i="1" lang="en-US" sz="1800">
                <a:latin typeface="Times New Roman"/>
                <a:ea typeface="Times New Roman"/>
                <a:cs typeface="Times New Roman"/>
                <a:sym typeface="Times New Roman"/>
              </a:rPr>
              <a:t>p</a:t>
            </a:r>
            <a:endParaRPr i="1" sz="1800">
              <a:latin typeface="Times New Roman"/>
              <a:ea typeface="Times New Roman"/>
              <a:cs typeface="Times New Roman"/>
              <a:sym typeface="Times New Roman"/>
            </a:endParaRPr>
          </a:p>
        </p:txBody>
      </p:sp>
      <p:sp>
        <p:nvSpPr>
          <p:cNvPr id="586" name="Google Shape;586;p32"/>
          <p:cNvSpPr txBox="1"/>
          <p:nvPr/>
        </p:nvSpPr>
        <p:spPr>
          <a:xfrm>
            <a:off x="624175" y="5520200"/>
            <a:ext cx="8145300" cy="104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3 possible combinations of 2 susceptibles becoming infected, so</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solidFill>
                  <a:schemeClr val="dk1"/>
                </a:solidFill>
              </a:rPr>
              <a:t> </a:t>
            </a:r>
            <a:r>
              <a:rPr i="1" lang="en-US" sz="3000">
                <a:solidFill>
                  <a:schemeClr val="dk1"/>
                </a:solidFill>
                <a:latin typeface="Times New Roman"/>
                <a:ea typeface="Times New Roman"/>
                <a:cs typeface="Times New Roman"/>
                <a:sym typeface="Times New Roman"/>
              </a:rPr>
              <a:t>P</a:t>
            </a:r>
            <a:r>
              <a:rPr lang="en-US" sz="3600">
                <a:solidFill>
                  <a:schemeClr val="dk1"/>
                </a:solidFill>
                <a:latin typeface="Times New Roman"/>
                <a:ea typeface="Times New Roman"/>
                <a:cs typeface="Times New Roman"/>
                <a:sym typeface="Times New Roman"/>
              </a:rPr>
              <a:t>(</a:t>
            </a:r>
            <a:r>
              <a:rPr lang="en-US" sz="3000">
                <a:solidFill>
                  <a:schemeClr val="dk1"/>
                </a:solidFill>
              </a:rPr>
              <a:t>SSSI</a:t>
            </a:r>
            <a:r>
              <a:rPr lang="en-US" sz="3000">
                <a:solidFill>
                  <a:schemeClr val="dk1"/>
                </a:solidFill>
                <a:latin typeface="Times New Roman"/>
                <a:ea typeface="Times New Roman"/>
                <a:cs typeface="Times New Roman"/>
                <a:sym typeface="Times New Roman"/>
              </a:rPr>
              <a:t> → </a:t>
            </a:r>
            <a:r>
              <a:rPr lang="en-US" sz="3000">
                <a:solidFill>
                  <a:schemeClr val="dk1"/>
                </a:solidFill>
              </a:rPr>
              <a:t>SIIR</a:t>
            </a:r>
            <a:r>
              <a:rPr lang="en-US" sz="3600">
                <a:solidFill>
                  <a:schemeClr val="dk1"/>
                </a:solidFill>
                <a:latin typeface="Times New Roman"/>
                <a:ea typeface="Times New Roman"/>
                <a:cs typeface="Times New Roman"/>
                <a:sym typeface="Times New Roman"/>
              </a:rPr>
              <a:t>)</a:t>
            </a:r>
            <a:r>
              <a:rPr lang="en-US" sz="3000">
                <a:solidFill>
                  <a:schemeClr val="dk1"/>
                </a:solidFill>
                <a:latin typeface="Times New Roman"/>
                <a:ea typeface="Times New Roman"/>
                <a:cs typeface="Times New Roman"/>
                <a:sym typeface="Times New Roman"/>
              </a:rPr>
              <a:t> =</a:t>
            </a:r>
            <a:r>
              <a:rPr lang="en-US">
                <a:solidFill>
                  <a:schemeClr val="dk1"/>
                </a:solidFill>
              </a:rPr>
              <a:t>  </a:t>
            </a:r>
            <a:r>
              <a:rPr i="1" lang="en-US" sz="3000">
                <a:solidFill>
                  <a:schemeClr val="dk1"/>
                </a:solidFill>
                <a:latin typeface="Times New Roman"/>
                <a:ea typeface="Times New Roman"/>
                <a:cs typeface="Times New Roman"/>
                <a:sym typeface="Times New Roman"/>
              </a:rPr>
              <a:t>3p q</a:t>
            </a:r>
            <a:endParaRPr/>
          </a:p>
        </p:txBody>
      </p:sp>
      <p:sp>
        <p:nvSpPr>
          <p:cNvPr id="587" name="Google Shape;587;p32"/>
          <p:cNvSpPr txBox="1"/>
          <p:nvPr/>
        </p:nvSpPr>
        <p:spPr>
          <a:xfrm>
            <a:off x="4079788" y="2189000"/>
            <a:ext cx="1092300" cy="67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t>OR</a:t>
            </a:r>
            <a:endParaRPr sz="2400"/>
          </a:p>
        </p:txBody>
      </p:sp>
      <p:sp>
        <p:nvSpPr>
          <p:cNvPr id="588" name="Google Shape;588;p32"/>
          <p:cNvSpPr txBox="1"/>
          <p:nvPr/>
        </p:nvSpPr>
        <p:spPr>
          <a:xfrm>
            <a:off x="5832388" y="2189000"/>
            <a:ext cx="1092300" cy="67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t>OR</a:t>
            </a:r>
            <a:endParaRPr sz="2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92" name="Shape 592"/>
        <p:cNvGrpSpPr/>
        <p:nvPr/>
      </p:nvGrpSpPr>
      <p:grpSpPr>
        <a:xfrm>
          <a:off x="0" y="0"/>
          <a:ext cx="0" cy="0"/>
          <a:chOff x="0" y="0"/>
          <a:chExt cx="0" cy="0"/>
        </a:xfrm>
      </p:grpSpPr>
      <p:sp>
        <p:nvSpPr>
          <p:cNvPr id="593" name="Google Shape;593;p33"/>
          <p:cNvSpPr/>
          <p:nvPr/>
        </p:nvSpPr>
        <p:spPr>
          <a:xfrm>
            <a:off x="0" y="314325"/>
            <a:ext cx="9156600" cy="5334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433FF"/>
              </a:buClr>
              <a:buFont typeface="Tahoma"/>
              <a:buNone/>
            </a:pPr>
            <a:r>
              <a:rPr b="1" i="0" lang="en-US" sz="2800" u="none" cap="none" strike="noStrike">
                <a:solidFill>
                  <a:srgbClr val="0433FF"/>
                </a:solidFill>
                <a:latin typeface="Tahoma"/>
                <a:ea typeface="Tahoma"/>
                <a:cs typeface="Tahoma"/>
                <a:sym typeface="Tahoma"/>
              </a:rPr>
              <a:t>Reed-Frost: example with n=4 (2)</a:t>
            </a:r>
            <a:endParaRPr/>
          </a:p>
        </p:txBody>
      </p:sp>
      <p:sp>
        <p:nvSpPr>
          <p:cNvPr id="594" name="Google Shape;594;p33"/>
          <p:cNvSpPr txBox="1"/>
          <p:nvPr/>
        </p:nvSpPr>
        <p:spPr>
          <a:xfrm>
            <a:off x="733400" y="1092275"/>
            <a:ext cx="4105200" cy="255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Transition is pmf (</a:t>
            </a:r>
            <a:r>
              <a:rPr i="1" lang="en-US"/>
              <a:t>probability mass function)</a:t>
            </a:r>
            <a:r>
              <a:rPr lang="en-US"/>
              <a:t> of binomial distribution: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i="1" lang="en-US" sz="1800">
                <a:latin typeface="Times New Roman"/>
                <a:ea typeface="Times New Roman"/>
                <a:cs typeface="Times New Roman"/>
                <a:sym typeface="Times New Roman"/>
              </a:rPr>
              <a:t>n</a:t>
            </a:r>
            <a:r>
              <a:rPr lang="en-US"/>
              <a:t> = number of events (susceptibles)</a:t>
            </a:r>
            <a:endParaRPr/>
          </a:p>
          <a:p>
            <a:pPr indent="0" lvl="0" marL="0" rtl="0" algn="l">
              <a:spcBef>
                <a:spcPts val="0"/>
              </a:spcBef>
              <a:spcAft>
                <a:spcPts val="0"/>
              </a:spcAft>
              <a:buNone/>
            </a:pPr>
            <a:r>
              <a:rPr i="1" lang="en-US" sz="1800">
                <a:latin typeface="Times New Roman"/>
                <a:ea typeface="Times New Roman"/>
                <a:cs typeface="Times New Roman"/>
                <a:sym typeface="Times New Roman"/>
              </a:rPr>
              <a:t>k</a:t>
            </a:r>
            <a:r>
              <a:rPr lang="en-US"/>
              <a:t> =  number of successes (infections)</a:t>
            </a:r>
            <a:endParaRPr/>
          </a:p>
          <a:p>
            <a:pPr indent="0" lvl="0" marL="0" rtl="0" algn="l">
              <a:spcBef>
                <a:spcPts val="0"/>
              </a:spcBef>
              <a:spcAft>
                <a:spcPts val="0"/>
              </a:spcAft>
              <a:buNone/>
            </a:pPr>
            <a:r>
              <a:rPr i="1" lang="en-US" sz="1800">
                <a:latin typeface="Times New Roman"/>
                <a:ea typeface="Times New Roman"/>
                <a:cs typeface="Times New Roman"/>
                <a:sym typeface="Times New Roman"/>
              </a:rPr>
              <a:t>p</a:t>
            </a:r>
            <a:r>
              <a:rPr lang="en-US"/>
              <a:t> = probability of success</a:t>
            </a:r>
            <a:endParaRPr/>
          </a:p>
          <a:p>
            <a:pPr indent="0" lvl="0" marL="0" rtl="0" algn="l">
              <a:spcBef>
                <a:spcPts val="0"/>
              </a:spcBef>
              <a:spcAft>
                <a:spcPts val="0"/>
              </a:spcAft>
              <a:buNone/>
            </a:pPr>
            <a:r>
              <a:rPr i="1" lang="en-US" sz="1800">
                <a:latin typeface="Times New Roman"/>
                <a:ea typeface="Times New Roman"/>
                <a:cs typeface="Times New Roman"/>
                <a:sym typeface="Times New Roman"/>
              </a:rPr>
              <a:t>q</a:t>
            </a:r>
            <a:r>
              <a:rPr lang="en-US"/>
              <a:t> = </a:t>
            </a:r>
            <a:r>
              <a:rPr lang="en-US" sz="1800"/>
              <a:t>(</a:t>
            </a:r>
            <a:r>
              <a:rPr lang="en-US" sz="1800">
                <a:latin typeface="Times New Roman"/>
                <a:ea typeface="Times New Roman"/>
                <a:cs typeface="Times New Roman"/>
                <a:sym typeface="Times New Roman"/>
              </a:rPr>
              <a:t>1</a:t>
            </a:r>
            <a:r>
              <a:rPr lang="en-US"/>
              <a:t>- </a:t>
            </a:r>
            <a:r>
              <a:rPr i="1" lang="en-US" sz="1800">
                <a:latin typeface="Times New Roman"/>
                <a:ea typeface="Times New Roman"/>
                <a:cs typeface="Times New Roman"/>
                <a:sym typeface="Times New Roman"/>
              </a:rPr>
              <a:t>p</a:t>
            </a:r>
            <a:r>
              <a:rPr lang="en-US" sz="1800"/>
              <a:t>)</a:t>
            </a:r>
            <a:endParaRPr sz="1800"/>
          </a:p>
        </p:txBody>
      </p:sp>
      <p:pic>
        <p:nvPicPr>
          <p:cNvPr id="595" name="Google Shape;595;p33"/>
          <p:cNvPicPr preferRelativeResize="0"/>
          <p:nvPr/>
        </p:nvPicPr>
        <p:blipFill>
          <a:blip r:embed="rId3">
            <a:alphaModFix/>
          </a:blip>
          <a:stretch>
            <a:fillRect/>
          </a:stretch>
        </p:blipFill>
        <p:spPr>
          <a:xfrm>
            <a:off x="4838700" y="928688"/>
            <a:ext cx="3276600" cy="1190625"/>
          </a:xfrm>
          <a:prstGeom prst="rect">
            <a:avLst/>
          </a:prstGeom>
          <a:noFill/>
          <a:ln>
            <a:noFill/>
          </a:ln>
        </p:spPr>
      </p:pic>
      <p:pic>
        <p:nvPicPr>
          <p:cNvPr id="596" name="Google Shape;596;p33"/>
          <p:cNvPicPr preferRelativeResize="0"/>
          <p:nvPr/>
        </p:nvPicPr>
        <p:blipFill>
          <a:blip r:embed="rId4">
            <a:alphaModFix/>
          </a:blip>
          <a:stretch>
            <a:fillRect/>
          </a:stretch>
        </p:blipFill>
        <p:spPr>
          <a:xfrm>
            <a:off x="5776913" y="2033588"/>
            <a:ext cx="2771775" cy="1266825"/>
          </a:xfrm>
          <a:prstGeom prst="rect">
            <a:avLst/>
          </a:prstGeom>
          <a:noFill/>
          <a:ln>
            <a:noFill/>
          </a:ln>
        </p:spPr>
      </p:pic>
      <p:pic>
        <p:nvPicPr>
          <p:cNvPr id="597" name="Google Shape;597;p33"/>
          <p:cNvPicPr preferRelativeResize="0"/>
          <p:nvPr/>
        </p:nvPicPr>
        <p:blipFill>
          <a:blip r:embed="rId5">
            <a:alphaModFix/>
          </a:blip>
          <a:stretch>
            <a:fillRect/>
          </a:stretch>
        </p:blipFill>
        <p:spPr>
          <a:xfrm>
            <a:off x="4667250" y="3062288"/>
            <a:ext cx="3771900" cy="733425"/>
          </a:xfrm>
          <a:prstGeom prst="rect">
            <a:avLst/>
          </a:prstGeom>
          <a:noFill/>
          <a:ln>
            <a:noFill/>
          </a:ln>
        </p:spPr>
      </p:pic>
      <p:sp>
        <p:nvSpPr>
          <p:cNvPr id="598" name="Google Shape;598;p33"/>
          <p:cNvSpPr txBox="1"/>
          <p:nvPr/>
        </p:nvSpPr>
        <p:spPr>
          <a:xfrm>
            <a:off x="594850" y="3979050"/>
            <a:ext cx="8062500" cy="2535600"/>
          </a:xfrm>
          <a:prstGeom prst="rect">
            <a:avLst/>
          </a:prstGeom>
          <a:noFill/>
          <a:ln>
            <a:noFill/>
          </a:ln>
        </p:spPr>
        <p:txBody>
          <a:bodyPr anchorCtr="0" anchor="t" bIns="91425" lIns="91425" spcFirstLastPara="1" rIns="91425" wrap="square" tIns="91425">
            <a:noAutofit/>
          </a:bodyPr>
          <a:lstStyle/>
          <a:p>
            <a:pPr indent="-2538" lvl="0" marL="40638" marR="40638" rtl="0" algn="l">
              <a:spcBef>
                <a:spcPts val="0"/>
              </a:spcBef>
              <a:spcAft>
                <a:spcPts val="0"/>
              </a:spcAft>
              <a:buClr>
                <a:schemeClr val="dk1"/>
              </a:buClr>
              <a:buFont typeface="Tahoma"/>
              <a:buNone/>
            </a:pPr>
            <a:r>
              <a:rPr lang="en-US" sz="2000">
                <a:solidFill>
                  <a:schemeClr val="dk1"/>
                </a:solidFill>
                <a:latin typeface="Tahoma"/>
                <a:ea typeface="Tahoma"/>
                <a:cs typeface="Tahoma"/>
                <a:sym typeface="Tahoma"/>
              </a:rPr>
              <a:t>Model is analytically tractable using “chain binomials”.</a:t>
            </a:r>
            <a:endParaRPr sz="2000">
              <a:solidFill>
                <a:schemeClr val="dk1"/>
              </a:solidFill>
              <a:latin typeface="Tahoma"/>
              <a:ea typeface="Tahoma"/>
              <a:cs typeface="Tahoma"/>
              <a:sym typeface="Tahoma"/>
            </a:endParaRPr>
          </a:p>
          <a:p>
            <a:pPr indent="-2538" lvl="0" marL="40638" marR="40638" rtl="0" algn="l">
              <a:spcBef>
                <a:spcPts val="0"/>
              </a:spcBef>
              <a:spcAft>
                <a:spcPts val="0"/>
              </a:spcAft>
              <a:buClr>
                <a:schemeClr val="dk1"/>
              </a:buClr>
              <a:buFont typeface="Tahoma"/>
              <a:buNone/>
            </a:pPr>
            <a:r>
              <a:t/>
            </a:r>
            <a:endParaRPr sz="2000">
              <a:solidFill>
                <a:schemeClr val="dk1"/>
              </a:solidFill>
              <a:latin typeface="Tahoma"/>
              <a:ea typeface="Tahoma"/>
              <a:cs typeface="Tahoma"/>
              <a:sym typeface="Tahoma"/>
            </a:endParaRPr>
          </a:p>
          <a:p>
            <a:pPr indent="-2538" lvl="0" marL="40638" marR="40638" rtl="0" algn="l">
              <a:spcBef>
                <a:spcPts val="0"/>
              </a:spcBef>
              <a:spcAft>
                <a:spcPts val="0"/>
              </a:spcAft>
              <a:buClr>
                <a:schemeClr val="dk1"/>
              </a:buClr>
              <a:buFont typeface="Tahoma"/>
              <a:buNone/>
            </a:pPr>
            <a:r>
              <a:rPr lang="en-US" sz="2000">
                <a:solidFill>
                  <a:schemeClr val="dk1"/>
                </a:solidFill>
                <a:latin typeface="Tahoma"/>
                <a:ea typeface="Tahoma"/>
                <a:cs typeface="Tahoma"/>
                <a:sym typeface="Tahoma"/>
              </a:rPr>
              <a:t>Chain binomial model:</a:t>
            </a:r>
            <a:endParaRPr sz="2000">
              <a:solidFill>
                <a:schemeClr val="dk1"/>
              </a:solidFill>
              <a:latin typeface="Tahoma"/>
              <a:ea typeface="Tahoma"/>
              <a:cs typeface="Tahoma"/>
              <a:sym typeface="Tahoma"/>
            </a:endParaRPr>
          </a:p>
          <a:p>
            <a:pPr indent="-2538" lvl="0" marL="497838" marR="40638" rtl="0" algn="l">
              <a:spcBef>
                <a:spcPts val="0"/>
              </a:spcBef>
              <a:spcAft>
                <a:spcPts val="0"/>
              </a:spcAft>
              <a:buClr>
                <a:schemeClr val="dk1"/>
              </a:buClr>
              <a:buFont typeface="Tahoma"/>
              <a:buNone/>
            </a:pPr>
            <a:r>
              <a:rPr lang="en-US" sz="2000">
                <a:solidFill>
                  <a:schemeClr val="dk1"/>
                </a:solidFill>
                <a:latin typeface="Tahoma"/>
                <a:ea typeface="Tahoma"/>
                <a:cs typeface="Tahoma"/>
                <a:sym typeface="Tahoma"/>
              </a:rPr>
              <a:t>A chain of binomial distribution probability mass functions (pmfs) where each function is conditional on the previous pmf.</a:t>
            </a:r>
            <a:endParaRPr/>
          </a:p>
        </p:txBody>
      </p:sp>
      <p:sp>
        <p:nvSpPr>
          <p:cNvPr id="599" name="Google Shape;599;p33"/>
          <p:cNvSpPr txBox="1"/>
          <p:nvPr/>
        </p:nvSpPr>
        <p:spPr>
          <a:xfrm>
            <a:off x="4837100" y="2268625"/>
            <a:ext cx="339000" cy="4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3"/>
          <p:cNvSpPr/>
          <p:nvPr/>
        </p:nvSpPr>
        <p:spPr>
          <a:xfrm>
            <a:off x="4837100" y="1056075"/>
            <a:ext cx="3494100" cy="801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04" name="Shape 604"/>
        <p:cNvGrpSpPr/>
        <p:nvPr/>
      </p:nvGrpSpPr>
      <p:grpSpPr>
        <a:xfrm>
          <a:off x="0" y="0"/>
          <a:ext cx="0" cy="0"/>
          <a:chOff x="0" y="0"/>
          <a:chExt cx="0" cy="0"/>
        </a:xfrm>
      </p:grpSpPr>
      <p:sp>
        <p:nvSpPr>
          <p:cNvPr id="605" name="Google Shape;605;p34"/>
          <p:cNvSpPr/>
          <p:nvPr/>
        </p:nvSpPr>
        <p:spPr>
          <a:xfrm>
            <a:off x="0" y="333375"/>
            <a:ext cx="9156600" cy="5334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433FF"/>
              </a:buClr>
              <a:buFont typeface="Tahoma"/>
              <a:buNone/>
            </a:pPr>
            <a:r>
              <a:rPr b="1" i="0" lang="en-US" sz="2800" u="none" cap="none" strike="noStrike">
                <a:solidFill>
                  <a:srgbClr val="0433FF"/>
                </a:solidFill>
                <a:latin typeface="Tahoma"/>
                <a:ea typeface="Tahoma"/>
                <a:cs typeface="Tahoma"/>
                <a:sym typeface="Tahoma"/>
              </a:rPr>
              <a:t>Reed-Frost: example with n=4</a:t>
            </a:r>
            <a:endParaRPr/>
          </a:p>
        </p:txBody>
      </p:sp>
      <p:sp>
        <p:nvSpPr>
          <p:cNvPr id="606" name="Google Shape;606;p34"/>
          <p:cNvSpPr/>
          <p:nvPr/>
        </p:nvSpPr>
        <p:spPr>
          <a:xfrm>
            <a:off x="6615112" y="892175"/>
            <a:ext cx="1905000" cy="406500"/>
          </a:xfrm>
          <a:prstGeom prst="rect">
            <a:avLst/>
          </a:prstGeom>
          <a:noFill/>
          <a:ln>
            <a:noFill/>
          </a:ln>
        </p:spPr>
        <p:txBody>
          <a:bodyPr anchorCtr="0" anchor="t"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Probability:</a:t>
            </a:r>
            <a:endParaRPr/>
          </a:p>
        </p:txBody>
      </p:sp>
      <p:pic>
        <p:nvPicPr>
          <p:cNvPr id="607" name="Google Shape;607;p34"/>
          <p:cNvPicPr preferRelativeResize="0"/>
          <p:nvPr/>
        </p:nvPicPr>
        <p:blipFill rotWithShape="1">
          <a:blip r:embed="rId3">
            <a:alphaModFix/>
          </a:blip>
          <a:srcRect b="0" l="0" r="0" t="0"/>
          <a:stretch/>
        </p:blipFill>
        <p:spPr>
          <a:xfrm>
            <a:off x="6692900" y="1495425"/>
            <a:ext cx="690600" cy="633300"/>
          </a:xfrm>
          <a:prstGeom prst="rect">
            <a:avLst/>
          </a:prstGeom>
          <a:noFill/>
          <a:ln>
            <a:noFill/>
          </a:ln>
        </p:spPr>
      </p:pic>
      <p:pic>
        <p:nvPicPr>
          <p:cNvPr id="608" name="Google Shape;608;p34"/>
          <p:cNvPicPr preferRelativeResize="0"/>
          <p:nvPr/>
        </p:nvPicPr>
        <p:blipFill rotWithShape="1">
          <a:blip r:embed="rId4">
            <a:alphaModFix/>
          </a:blip>
          <a:srcRect b="0" l="0" r="0" t="0"/>
          <a:stretch/>
        </p:blipFill>
        <p:spPr>
          <a:xfrm>
            <a:off x="6692900" y="2787650"/>
            <a:ext cx="1684200" cy="628800"/>
          </a:xfrm>
          <a:prstGeom prst="rect">
            <a:avLst/>
          </a:prstGeom>
          <a:noFill/>
          <a:ln>
            <a:noFill/>
          </a:ln>
        </p:spPr>
      </p:pic>
      <p:grpSp>
        <p:nvGrpSpPr>
          <p:cNvPr id="609" name="Google Shape;609;p34"/>
          <p:cNvGrpSpPr/>
          <p:nvPr/>
        </p:nvGrpSpPr>
        <p:grpSpPr>
          <a:xfrm>
            <a:off x="541337" y="1336675"/>
            <a:ext cx="2674900" cy="1009500"/>
            <a:chOff x="0" y="0"/>
            <a:chExt cx="2674900" cy="1009500"/>
          </a:xfrm>
        </p:grpSpPr>
        <p:grpSp>
          <p:nvGrpSpPr>
            <p:cNvPr id="610" name="Google Shape;610;p34"/>
            <p:cNvGrpSpPr/>
            <p:nvPr/>
          </p:nvGrpSpPr>
          <p:grpSpPr>
            <a:xfrm>
              <a:off x="0" y="0"/>
              <a:ext cx="1023900" cy="1009500"/>
              <a:chOff x="0" y="0"/>
              <a:chExt cx="1023900" cy="1009500"/>
            </a:xfrm>
          </p:grpSpPr>
          <p:sp>
            <p:nvSpPr>
              <p:cNvPr id="611" name="Google Shape;611;p34"/>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12" name="Google Shape;612;p34"/>
              <p:cNvSpPr/>
              <p:nvPr/>
            </p:nvSpPr>
            <p:spPr>
              <a:xfrm>
                <a:off x="219075" y="1730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13" name="Google Shape;613;p34"/>
              <p:cNvSpPr/>
              <p:nvPr/>
            </p:nvSpPr>
            <p:spPr>
              <a:xfrm>
                <a:off x="125412" y="569912"/>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14" name="Google Shape;614;p34"/>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15" name="Google Shape;615;p34"/>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616" name="Google Shape;616;p34"/>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617" name="Google Shape;617;p34"/>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618" name="Google Shape;618;p34"/>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619" name="Google Shape;619;p34"/>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620" name="Google Shape;620;p34"/>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621" name="Google Shape;621;p34"/>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cxnSp>
          <p:nvCxnSpPr>
            <p:cNvPr id="622" name="Google Shape;622;p34"/>
            <p:cNvCxnSpPr/>
            <p:nvPr/>
          </p:nvCxnSpPr>
          <p:spPr>
            <a:xfrm>
              <a:off x="1093787" y="498475"/>
              <a:ext cx="460500" cy="1500"/>
            </a:xfrm>
            <a:prstGeom prst="straightConnector1">
              <a:avLst/>
            </a:prstGeom>
            <a:noFill/>
            <a:ln cap="flat" cmpd="sng" w="9525">
              <a:solidFill>
                <a:srgbClr val="000000"/>
              </a:solidFill>
              <a:prstDash val="solid"/>
              <a:round/>
              <a:headEnd len="sm" w="sm" type="none"/>
              <a:tailEnd len="med" w="med" type="triangle"/>
            </a:ln>
          </p:spPr>
        </p:cxnSp>
        <p:grpSp>
          <p:nvGrpSpPr>
            <p:cNvPr id="623" name="Google Shape;623;p34"/>
            <p:cNvGrpSpPr/>
            <p:nvPr/>
          </p:nvGrpSpPr>
          <p:grpSpPr>
            <a:xfrm>
              <a:off x="1651000" y="0"/>
              <a:ext cx="1023900" cy="1009500"/>
              <a:chOff x="0" y="0"/>
              <a:chExt cx="1023900" cy="1009500"/>
            </a:xfrm>
          </p:grpSpPr>
          <p:sp>
            <p:nvSpPr>
              <p:cNvPr id="624" name="Google Shape;624;p34"/>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25" name="Google Shape;625;p34"/>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26" name="Google Shape;626;p34"/>
              <p:cNvSpPr/>
              <p:nvPr/>
            </p:nvSpPr>
            <p:spPr>
              <a:xfrm>
                <a:off x="125412" y="569912"/>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27" name="Google Shape;627;p34"/>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28" name="Google Shape;628;p34"/>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629" name="Google Shape;629;p34"/>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630" name="Google Shape;630;p34"/>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631" name="Google Shape;631;p34"/>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632" name="Google Shape;632;p34"/>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633" name="Google Shape;633;p34"/>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634" name="Google Shape;634;p34"/>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pic>
          <p:nvPicPr>
            <p:cNvPr id="635" name="Google Shape;635;p34"/>
            <p:cNvPicPr preferRelativeResize="0"/>
            <p:nvPr/>
          </p:nvPicPr>
          <p:blipFill rotWithShape="1">
            <a:blip r:embed="rId5">
              <a:alphaModFix/>
            </a:blip>
            <a:srcRect b="0" l="0" r="0" t="0"/>
            <a:stretch/>
          </p:blipFill>
          <p:spPr>
            <a:xfrm>
              <a:off x="1228725" y="219075"/>
              <a:ext cx="177900" cy="228600"/>
            </a:xfrm>
            <a:prstGeom prst="rect">
              <a:avLst/>
            </a:prstGeom>
            <a:noFill/>
            <a:ln>
              <a:noFill/>
            </a:ln>
          </p:spPr>
        </p:pic>
      </p:grpSp>
      <p:grpSp>
        <p:nvGrpSpPr>
          <p:cNvPr id="636" name="Google Shape;636;p34"/>
          <p:cNvGrpSpPr/>
          <p:nvPr/>
        </p:nvGrpSpPr>
        <p:grpSpPr>
          <a:xfrm>
            <a:off x="541337" y="2555875"/>
            <a:ext cx="4362412" cy="1046012"/>
            <a:chOff x="0" y="0"/>
            <a:chExt cx="4362412" cy="1046012"/>
          </a:xfrm>
        </p:grpSpPr>
        <p:grpSp>
          <p:nvGrpSpPr>
            <p:cNvPr id="637" name="Google Shape;637;p34"/>
            <p:cNvGrpSpPr/>
            <p:nvPr/>
          </p:nvGrpSpPr>
          <p:grpSpPr>
            <a:xfrm>
              <a:off x="0" y="36512"/>
              <a:ext cx="1023900" cy="1009500"/>
              <a:chOff x="0" y="0"/>
              <a:chExt cx="1023900" cy="1009500"/>
            </a:xfrm>
          </p:grpSpPr>
          <p:sp>
            <p:nvSpPr>
              <p:cNvPr id="638" name="Google Shape;638;p34"/>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39" name="Google Shape;639;p34"/>
              <p:cNvSpPr/>
              <p:nvPr/>
            </p:nvSpPr>
            <p:spPr>
              <a:xfrm>
                <a:off x="219075" y="1730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40" name="Google Shape;640;p34"/>
              <p:cNvSpPr/>
              <p:nvPr/>
            </p:nvSpPr>
            <p:spPr>
              <a:xfrm>
                <a:off x="125412" y="569912"/>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41" name="Google Shape;641;p34"/>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42" name="Google Shape;642;p34"/>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643" name="Google Shape;643;p34"/>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644" name="Google Shape;644;p34"/>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645" name="Google Shape;645;p34"/>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646" name="Google Shape;646;p34"/>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647" name="Google Shape;647;p34"/>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648" name="Google Shape;648;p34"/>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cxnSp>
          <p:nvCxnSpPr>
            <p:cNvPr id="649" name="Google Shape;649;p34"/>
            <p:cNvCxnSpPr/>
            <p:nvPr/>
          </p:nvCxnSpPr>
          <p:spPr>
            <a:xfrm>
              <a:off x="1093787" y="534987"/>
              <a:ext cx="460500" cy="1500"/>
            </a:xfrm>
            <a:prstGeom prst="straightConnector1">
              <a:avLst/>
            </a:prstGeom>
            <a:noFill/>
            <a:ln cap="flat" cmpd="sng" w="9525">
              <a:solidFill>
                <a:srgbClr val="000000"/>
              </a:solidFill>
              <a:prstDash val="solid"/>
              <a:round/>
              <a:headEnd len="sm" w="sm" type="none"/>
              <a:tailEnd len="med" w="med" type="triangle"/>
            </a:ln>
          </p:spPr>
        </p:cxnSp>
        <p:grpSp>
          <p:nvGrpSpPr>
            <p:cNvPr id="650" name="Google Shape;650;p34"/>
            <p:cNvGrpSpPr/>
            <p:nvPr/>
          </p:nvGrpSpPr>
          <p:grpSpPr>
            <a:xfrm>
              <a:off x="1651000" y="36512"/>
              <a:ext cx="1023900" cy="1009500"/>
              <a:chOff x="0" y="0"/>
              <a:chExt cx="1023900" cy="1009500"/>
            </a:xfrm>
          </p:grpSpPr>
          <p:sp>
            <p:nvSpPr>
              <p:cNvPr id="651" name="Google Shape;651;p34"/>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52" name="Google Shape;652;p34"/>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53" name="Google Shape;653;p34"/>
              <p:cNvSpPr/>
              <p:nvPr/>
            </p:nvSpPr>
            <p:spPr>
              <a:xfrm>
                <a:off x="125412" y="569912"/>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54" name="Google Shape;654;p34"/>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55" name="Google Shape;655;p34"/>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656" name="Google Shape;656;p34"/>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657" name="Google Shape;657;p34"/>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658" name="Google Shape;658;p34"/>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659" name="Google Shape;659;p34"/>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660" name="Google Shape;660;p34"/>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661" name="Google Shape;661;p34"/>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cxnSp>
          <p:nvCxnSpPr>
            <p:cNvPr id="662" name="Google Shape;662;p34"/>
            <p:cNvCxnSpPr/>
            <p:nvPr/>
          </p:nvCxnSpPr>
          <p:spPr>
            <a:xfrm>
              <a:off x="2781300" y="498475"/>
              <a:ext cx="460500" cy="1500"/>
            </a:xfrm>
            <a:prstGeom prst="straightConnector1">
              <a:avLst/>
            </a:prstGeom>
            <a:noFill/>
            <a:ln cap="flat" cmpd="sng" w="9525">
              <a:solidFill>
                <a:srgbClr val="000000"/>
              </a:solidFill>
              <a:prstDash val="solid"/>
              <a:round/>
              <a:headEnd len="sm" w="sm" type="none"/>
              <a:tailEnd len="med" w="med" type="triangle"/>
            </a:ln>
          </p:spPr>
        </p:cxnSp>
        <p:grpSp>
          <p:nvGrpSpPr>
            <p:cNvPr id="663" name="Google Shape;663;p34"/>
            <p:cNvGrpSpPr/>
            <p:nvPr/>
          </p:nvGrpSpPr>
          <p:grpSpPr>
            <a:xfrm>
              <a:off x="3338512" y="0"/>
              <a:ext cx="1023900" cy="1009500"/>
              <a:chOff x="0" y="0"/>
              <a:chExt cx="1023900" cy="1009500"/>
            </a:xfrm>
          </p:grpSpPr>
          <p:sp>
            <p:nvSpPr>
              <p:cNvPr id="664" name="Google Shape;664;p34"/>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65" name="Google Shape;665;p34"/>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66" name="Google Shape;666;p34"/>
              <p:cNvSpPr/>
              <p:nvPr/>
            </p:nvSpPr>
            <p:spPr>
              <a:xfrm>
                <a:off x="125412" y="569912"/>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67" name="Google Shape;667;p34"/>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68" name="Google Shape;668;p34"/>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669" name="Google Shape;669;p34"/>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670" name="Google Shape;670;p34"/>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671" name="Google Shape;671;p34"/>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672" name="Google Shape;672;p34"/>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673" name="Google Shape;673;p34"/>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674" name="Google Shape;674;p34"/>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pic>
          <p:nvPicPr>
            <p:cNvPr id="675" name="Google Shape;675;p34"/>
            <p:cNvPicPr preferRelativeResize="0"/>
            <p:nvPr/>
          </p:nvPicPr>
          <p:blipFill rotWithShape="1">
            <a:blip r:embed="rId6">
              <a:alphaModFix/>
            </a:blip>
            <a:srcRect b="0" l="0" r="0" t="0"/>
            <a:stretch/>
          </p:blipFill>
          <p:spPr>
            <a:xfrm>
              <a:off x="1092200" y="274637"/>
              <a:ext cx="342900" cy="228600"/>
            </a:xfrm>
            <a:prstGeom prst="rect">
              <a:avLst/>
            </a:prstGeom>
            <a:noFill/>
            <a:ln>
              <a:noFill/>
            </a:ln>
          </p:spPr>
        </p:pic>
        <p:pic>
          <p:nvPicPr>
            <p:cNvPr id="676" name="Google Shape;676;p34"/>
            <p:cNvPicPr preferRelativeResize="0"/>
            <p:nvPr/>
          </p:nvPicPr>
          <p:blipFill rotWithShape="1">
            <a:blip r:embed="rId7">
              <a:alphaModFix/>
            </a:blip>
            <a:srcRect b="0" l="0" r="0" t="0"/>
            <a:stretch/>
          </p:blipFill>
          <p:spPr>
            <a:xfrm>
              <a:off x="2900362" y="244475"/>
              <a:ext cx="177900" cy="228600"/>
            </a:xfrm>
            <a:prstGeom prst="rect">
              <a:avLst/>
            </a:prstGeom>
            <a:noFill/>
            <a:ln>
              <a:noFill/>
            </a:ln>
          </p:spPr>
        </p:pic>
      </p:grpSp>
      <p:grpSp>
        <p:nvGrpSpPr>
          <p:cNvPr id="677" name="Google Shape;677;p34"/>
          <p:cNvGrpSpPr/>
          <p:nvPr/>
        </p:nvGrpSpPr>
        <p:grpSpPr>
          <a:xfrm>
            <a:off x="541337" y="3811587"/>
            <a:ext cx="6035637" cy="1068237"/>
            <a:chOff x="0" y="0"/>
            <a:chExt cx="6035637" cy="1068237"/>
          </a:xfrm>
        </p:grpSpPr>
        <p:grpSp>
          <p:nvGrpSpPr>
            <p:cNvPr id="678" name="Google Shape;678;p34"/>
            <p:cNvGrpSpPr/>
            <p:nvPr/>
          </p:nvGrpSpPr>
          <p:grpSpPr>
            <a:xfrm>
              <a:off x="0" y="58737"/>
              <a:ext cx="1023900" cy="1009500"/>
              <a:chOff x="0" y="0"/>
              <a:chExt cx="1023900" cy="1009500"/>
            </a:xfrm>
          </p:grpSpPr>
          <p:sp>
            <p:nvSpPr>
              <p:cNvPr id="679" name="Google Shape;679;p34"/>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80" name="Google Shape;680;p34"/>
              <p:cNvSpPr/>
              <p:nvPr/>
            </p:nvSpPr>
            <p:spPr>
              <a:xfrm>
                <a:off x="219075" y="1730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81" name="Google Shape;681;p34"/>
              <p:cNvSpPr/>
              <p:nvPr/>
            </p:nvSpPr>
            <p:spPr>
              <a:xfrm>
                <a:off x="125412" y="569912"/>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82" name="Google Shape;682;p34"/>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83" name="Google Shape;683;p34"/>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684" name="Google Shape;684;p34"/>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685" name="Google Shape;685;p34"/>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686" name="Google Shape;686;p34"/>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687" name="Google Shape;687;p34"/>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688" name="Google Shape;688;p34"/>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689" name="Google Shape;689;p34"/>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cxnSp>
          <p:nvCxnSpPr>
            <p:cNvPr id="690" name="Google Shape;690;p34"/>
            <p:cNvCxnSpPr/>
            <p:nvPr/>
          </p:nvCxnSpPr>
          <p:spPr>
            <a:xfrm>
              <a:off x="1093787" y="557212"/>
              <a:ext cx="460500" cy="1500"/>
            </a:xfrm>
            <a:prstGeom prst="straightConnector1">
              <a:avLst/>
            </a:prstGeom>
            <a:noFill/>
            <a:ln cap="flat" cmpd="sng" w="9525">
              <a:solidFill>
                <a:srgbClr val="000000"/>
              </a:solidFill>
              <a:prstDash val="solid"/>
              <a:round/>
              <a:headEnd len="sm" w="sm" type="none"/>
              <a:tailEnd len="med" w="med" type="triangle"/>
            </a:ln>
          </p:spPr>
        </p:cxnSp>
        <p:grpSp>
          <p:nvGrpSpPr>
            <p:cNvPr id="691" name="Google Shape;691;p34"/>
            <p:cNvGrpSpPr/>
            <p:nvPr/>
          </p:nvGrpSpPr>
          <p:grpSpPr>
            <a:xfrm>
              <a:off x="1651000" y="58737"/>
              <a:ext cx="1023900" cy="1009500"/>
              <a:chOff x="0" y="0"/>
              <a:chExt cx="1023900" cy="1009500"/>
            </a:xfrm>
          </p:grpSpPr>
          <p:sp>
            <p:nvSpPr>
              <p:cNvPr id="692" name="Google Shape;692;p34"/>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93" name="Google Shape;693;p34"/>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94" name="Google Shape;694;p34"/>
              <p:cNvSpPr/>
              <p:nvPr/>
            </p:nvSpPr>
            <p:spPr>
              <a:xfrm>
                <a:off x="125412" y="569912"/>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95" name="Google Shape;695;p34"/>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696" name="Google Shape;696;p34"/>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697" name="Google Shape;697;p34"/>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698" name="Google Shape;698;p34"/>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699" name="Google Shape;699;p34"/>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700" name="Google Shape;700;p34"/>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701" name="Google Shape;701;p34"/>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702" name="Google Shape;702;p34"/>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cxnSp>
          <p:nvCxnSpPr>
            <p:cNvPr id="703" name="Google Shape;703;p34"/>
            <p:cNvCxnSpPr/>
            <p:nvPr/>
          </p:nvCxnSpPr>
          <p:spPr>
            <a:xfrm>
              <a:off x="2781300" y="520700"/>
              <a:ext cx="460500" cy="1500"/>
            </a:xfrm>
            <a:prstGeom prst="straightConnector1">
              <a:avLst/>
            </a:prstGeom>
            <a:noFill/>
            <a:ln cap="flat" cmpd="sng" w="9525">
              <a:solidFill>
                <a:srgbClr val="000000"/>
              </a:solidFill>
              <a:prstDash val="solid"/>
              <a:round/>
              <a:headEnd len="sm" w="sm" type="none"/>
              <a:tailEnd len="med" w="med" type="triangle"/>
            </a:ln>
          </p:spPr>
        </p:cxnSp>
        <p:grpSp>
          <p:nvGrpSpPr>
            <p:cNvPr id="704" name="Google Shape;704;p34"/>
            <p:cNvGrpSpPr/>
            <p:nvPr/>
          </p:nvGrpSpPr>
          <p:grpSpPr>
            <a:xfrm>
              <a:off x="3338512" y="22225"/>
              <a:ext cx="1023900" cy="1009500"/>
              <a:chOff x="0" y="0"/>
              <a:chExt cx="1023900" cy="1009500"/>
            </a:xfrm>
          </p:grpSpPr>
          <p:sp>
            <p:nvSpPr>
              <p:cNvPr id="705" name="Google Shape;705;p34"/>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06" name="Google Shape;706;p34"/>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07" name="Google Shape;707;p34"/>
              <p:cNvSpPr/>
              <p:nvPr/>
            </p:nvSpPr>
            <p:spPr>
              <a:xfrm>
                <a:off x="125412" y="569912"/>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08" name="Google Shape;708;p34"/>
              <p:cNvSpPr/>
              <p:nvPr/>
            </p:nvSpPr>
            <p:spPr>
              <a:xfrm>
                <a:off x="609600" y="6556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09" name="Google Shape;709;p34"/>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710" name="Google Shape;710;p34"/>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711" name="Google Shape;711;p34"/>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712" name="Google Shape;712;p34"/>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713" name="Google Shape;713;p34"/>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714" name="Google Shape;714;p34"/>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715" name="Google Shape;715;p34"/>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cxnSp>
          <p:nvCxnSpPr>
            <p:cNvPr id="716" name="Google Shape;716;p34"/>
            <p:cNvCxnSpPr/>
            <p:nvPr/>
          </p:nvCxnSpPr>
          <p:spPr>
            <a:xfrm>
              <a:off x="4454525" y="498475"/>
              <a:ext cx="460500" cy="1500"/>
            </a:xfrm>
            <a:prstGeom prst="straightConnector1">
              <a:avLst/>
            </a:prstGeom>
            <a:noFill/>
            <a:ln cap="flat" cmpd="sng" w="9525">
              <a:solidFill>
                <a:srgbClr val="000000"/>
              </a:solidFill>
              <a:prstDash val="solid"/>
              <a:round/>
              <a:headEnd len="sm" w="sm" type="none"/>
              <a:tailEnd len="med" w="med" type="triangle"/>
            </a:ln>
          </p:spPr>
        </p:cxnSp>
        <p:grpSp>
          <p:nvGrpSpPr>
            <p:cNvPr id="717" name="Google Shape;717;p34"/>
            <p:cNvGrpSpPr/>
            <p:nvPr/>
          </p:nvGrpSpPr>
          <p:grpSpPr>
            <a:xfrm>
              <a:off x="5011737" y="0"/>
              <a:ext cx="1023900" cy="1009500"/>
              <a:chOff x="0" y="0"/>
              <a:chExt cx="1023900" cy="1009500"/>
            </a:xfrm>
          </p:grpSpPr>
          <p:sp>
            <p:nvSpPr>
              <p:cNvPr id="718" name="Google Shape;718;p34"/>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19" name="Google Shape;719;p34"/>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20" name="Google Shape;720;p34"/>
              <p:cNvSpPr/>
              <p:nvPr/>
            </p:nvSpPr>
            <p:spPr>
              <a:xfrm>
                <a:off x="125412" y="569912"/>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21" name="Google Shape;721;p34"/>
              <p:cNvSpPr/>
              <p:nvPr/>
            </p:nvSpPr>
            <p:spPr>
              <a:xfrm>
                <a:off x="609600" y="6556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22" name="Google Shape;722;p34"/>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723" name="Google Shape;723;p34"/>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724" name="Google Shape;724;p34"/>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725" name="Google Shape;725;p34"/>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726" name="Google Shape;726;p34"/>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727" name="Google Shape;727;p34"/>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728" name="Google Shape;728;p34"/>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pic>
          <p:nvPicPr>
            <p:cNvPr id="729" name="Google Shape;729;p34"/>
            <p:cNvPicPr preferRelativeResize="0"/>
            <p:nvPr/>
          </p:nvPicPr>
          <p:blipFill rotWithShape="1">
            <a:blip r:embed="rId6">
              <a:alphaModFix/>
            </a:blip>
            <a:srcRect b="0" l="0" r="0" t="0"/>
            <a:stretch/>
          </p:blipFill>
          <p:spPr>
            <a:xfrm>
              <a:off x="1116012" y="284162"/>
              <a:ext cx="342900" cy="228600"/>
            </a:xfrm>
            <a:prstGeom prst="rect">
              <a:avLst/>
            </a:prstGeom>
            <a:noFill/>
            <a:ln>
              <a:noFill/>
            </a:ln>
          </p:spPr>
        </p:pic>
        <p:pic>
          <p:nvPicPr>
            <p:cNvPr id="730" name="Google Shape;730;p34"/>
            <p:cNvPicPr preferRelativeResize="0"/>
            <p:nvPr/>
          </p:nvPicPr>
          <p:blipFill rotWithShape="1">
            <a:blip r:embed="rId8">
              <a:alphaModFix/>
            </a:blip>
            <a:srcRect b="0" l="0" r="0" t="0"/>
            <a:stretch/>
          </p:blipFill>
          <p:spPr>
            <a:xfrm>
              <a:off x="2814637" y="260350"/>
              <a:ext cx="304800" cy="203100"/>
            </a:xfrm>
            <a:prstGeom prst="rect">
              <a:avLst/>
            </a:prstGeom>
            <a:noFill/>
            <a:ln>
              <a:noFill/>
            </a:ln>
          </p:spPr>
        </p:pic>
        <p:pic>
          <p:nvPicPr>
            <p:cNvPr id="731" name="Google Shape;731;p34"/>
            <p:cNvPicPr preferRelativeResize="0"/>
            <p:nvPr/>
          </p:nvPicPr>
          <p:blipFill rotWithShape="1">
            <a:blip r:embed="rId9">
              <a:alphaModFix/>
            </a:blip>
            <a:srcRect b="0" l="0" r="0" t="0"/>
            <a:stretch/>
          </p:blipFill>
          <p:spPr>
            <a:xfrm>
              <a:off x="4605337" y="265112"/>
              <a:ext cx="126900" cy="165000"/>
            </a:xfrm>
            <a:prstGeom prst="rect">
              <a:avLst/>
            </a:prstGeom>
            <a:noFill/>
            <a:ln>
              <a:noFill/>
            </a:ln>
          </p:spPr>
        </p:pic>
      </p:grpSp>
      <p:pic>
        <p:nvPicPr>
          <p:cNvPr id="732" name="Google Shape;732;p34"/>
          <p:cNvPicPr preferRelativeResize="0"/>
          <p:nvPr/>
        </p:nvPicPr>
        <p:blipFill rotWithShape="1">
          <a:blip r:embed="rId10">
            <a:alphaModFix/>
          </a:blip>
          <a:srcRect b="0" l="0" r="0" t="0"/>
          <a:stretch/>
        </p:blipFill>
        <p:spPr>
          <a:xfrm>
            <a:off x="6692900" y="4075112"/>
            <a:ext cx="2422500" cy="627000"/>
          </a:xfrm>
          <a:prstGeom prst="rect">
            <a:avLst/>
          </a:prstGeom>
          <a:noFill/>
          <a:ln>
            <a:noFill/>
          </a:ln>
        </p:spPr>
      </p:pic>
      <p:grpSp>
        <p:nvGrpSpPr>
          <p:cNvPr id="733" name="Google Shape;733;p34"/>
          <p:cNvGrpSpPr/>
          <p:nvPr/>
        </p:nvGrpSpPr>
        <p:grpSpPr>
          <a:xfrm>
            <a:off x="541337" y="5091112"/>
            <a:ext cx="6035637" cy="1068237"/>
            <a:chOff x="0" y="0"/>
            <a:chExt cx="6035637" cy="1068237"/>
          </a:xfrm>
        </p:grpSpPr>
        <p:grpSp>
          <p:nvGrpSpPr>
            <p:cNvPr id="734" name="Google Shape;734;p34"/>
            <p:cNvGrpSpPr/>
            <p:nvPr/>
          </p:nvGrpSpPr>
          <p:grpSpPr>
            <a:xfrm>
              <a:off x="0" y="58737"/>
              <a:ext cx="1023900" cy="1009500"/>
              <a:chOff x="0" y="0"/>
              <a:chExt cx="1023900" cy="1009500"/>
            </a:xfrm>
          </p:grpSpPr>
          <p:sp>
            <p:nvSpPr>
              <p:cNvPr id="735" name="Google Shape;735;p34"/>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36" name="Google Shape;736;p34"/>
              <p:cNvSpPr/>
              <p:nvPr/>
            </p:nvSpPr>
            <p:spPr>
              <a:xfrm>
                <a:off x="219075" y="1730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37" name="Google Shape;737;p34"/>
              <p:cNvSpPr/>
              <p:nvPr/>
            </p:nvSpPr>
            <p:spPr>
              <a:xfrm>
                <a:off x="125412" y="569912"/>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38" name="Google Shape;738;p34"/>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39" name="Google Shape;739;p34"/>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740" name="Google Shape;740;p34"/>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741" name="Google Shape;741;p34"/>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742" name="Google Shape;742;p34"/>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743" name="Google Shape;743;p34"/>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744" name="Google Shape;744;p34"/>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745" name="Google Shape;745;p34"/>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cxnSp>
          <p:nvCxnSpPr>
            <p:cNvPr id="746" name="Google Shape;746;p34"/>
            <p:cNvCxnSpPr/>
            <p:nvPr/>
          </p:nvCxnSpPr>
          <p:spPr>
            <a:xfrm>
              <a:off x="1093787" y="557212"/>
              <a:ext cx="460500" cy="1500"/>
            </a:xfrm>
            <a:prstGeom prst="straightConnector1">
              <a:avLst/>
            </a:prstGeom>
            <a:noFill/>
            <a:ln cap="flat" cmpd="sng" w="9525">
              <a:solidFill>
                <a:srgbClr val="000000"/>
              </a:solidFill>
              <a:prstDash val="solid"/>
              <a:round/>
              <a:headEnd len="sm" w="sm" type="none"/>
              <a:tailEnd len="med" w="med" type="triangle"/>
            </a:ln>
          </p:spPr>
        </p:cxnSp>
        <p:grpSp>
          <p:nvGrpSpPr>
            <p:cNvPr id="747" name="Google Shape;747;p34"/>
            <p:cNvGrpSpPr/>
            <p:nvPr/>
          </p:nvGrpSpPr>
          <p:grpSpPr>
            <a:xfrm>
              <a:off x="1651000" y="58737"/>
              <a:ext cx="1023900" cy="1009500"/>
              <a:chOff x="0" y="0"/>
              <a:chExt cx="1023900" cy="1009500"/>
            </a:xfrm>
          </p:grpSpPr>
          <p:sp>
            <p:nvSpPr>
              <p:cNvPr id="748" name="Google Shape;748;p34"/>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49" name="Google Shape;749;p34"/>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50" name="Google Shape;750;p34"/>
              <p:cNvSpPr/>
              <p:nvPr/>
            </p:nvSpPr>
            <p:spPr>
              <a:xfrm>
                <a:off x="125412" y="569912"/>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51" name="Google Shape;751;p34"/>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52" name="Google Shape;752;p34"/>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753" name="Google Shape;753;p34"/>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754" name="Google Shape;754;p34"/>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755" name="Google Shape;755;p34"/>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756" name="Google Shape;756;p34"/>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757" name="Google Shape;757;p34"/>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758" name="Google Shape;758;p34"/>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cxnSp>
          <p:nvCxnSpPr>
            <p:cNvPr id="759" name="Google Shape;759;p34"/>
            <p:cNvCxnSpPr/>
            <p:nvPr/>
          </p:nvCxnSpPr>
          <p:spPr>
            <a:xfrm>
              <a:off x="2781300" y="520700"/>
              <a:ext cx="460500" cy="1500"/>
            </a:xfrm>
            <a:prstGeom prst="straightConnector1">
              <a:avLst/>
            </a:prstGeom>
            <a:noFill/>
            <a:ln cap="flat" cmpd="sng" w="9525">
              <a:solidFill>
                <a:srgbClr val="000000"/>
              </a:solidFill>
              <a:prstDash val="solid"/>
              <a:round/>
              <a:headEnd len="sm" w="sm" type="none"/>
              <a:tailEnd len="med" w="med" type="triangle"/>
            </a:ln>
          </p:spPr>
        </p:cxnSp>
        <p:grpSp>
          <p:nvGrpSpPr>
            <p:cNvPr id="760" name="Google Shape;760;p34"/>
            <p:cNvGrpSpPr/>
            <p:nvPr/>
          </p:nvGrpSpPr>
          <p:grpSpPr>
            <a:xfrm>
              <a:off x="3338512" y="22225"/>
              <a:ext cx="1023900" cy="1009500"/>
              <a:chOff x="0" y="0"/>
              <a:chExt cx="1023900" cy="1009500"/>
            </a:xfrm>
          </p:grpSpPr>
          <p:sp>
            <p:nvSpPr>
              <p:cNvPr id="761" name="Google Shape;761;p34"/>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62" name="Google Shape;762;p34"/>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63" name="Google Shape;763;p34"/>
              <p:cNvSpPr/>
              <p:nvPr/>
            </p:nvSpPr>
            <p:spPr>
              <a:xfrm>
                <a:off x="125412" y="569912"/>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64" name="Google Shape;764;p34"/>
              <p:cNvSpPr/>
              <p:nvPr/>
            </p:nvSpPr>
            <p:spPr>
              <a:xfrm>
                <a:off x="609600" y="6556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65" name="Google Shape;765;p34"/>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766" name="Google Shape;766;p34"/>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767" name="Google Shape;767;p34"/>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768" name="Google Shape;768;p34"/>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769" name="Google Shape;769;p34"/>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770" name="Google Shape;770;p34"/>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771" name="Google Shape;771;p34"/>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cxnSp>
          <p:nvCxnSpPr>
            <p:cNvPr id="772" name="Google Shape;772;p34"/>
            <p:cNvCxnSpPr/>
            <p:nvPr/>
          </p:nvCxnSpPr>
          <p:spPr>
            <a:xfrm>
              <a:off x="4454525" y="498475"/>
              <a:ext cx="460500" cy="1500"/>
            </a:xfrm>
            <a:prstGeom prst="straightConnector1">
              <a:avLst/>
            </a:prstGeom>
            <a:noFill/>
            <a:ln cap="flat" cmpd="sng" w="9525">
              <a:solidFill>
                <a:srgbClr val="000000"/>
              </a:solidFill>
              <a:prstDash val="solid"/>
              <a:round/>
              <a:headEnd len="sm" w="sm" type="none"/>
              <a:tailEnd len="med" w="med" type="triangle"/>
            </a:ln>
          </p:spPr>
        </p:cxnSp>
        <p:grpSp>
          <p:nvGrpSpPr>
            <p:cNvPr id="773" name="Google Shape;773;p34"/>
            <p:cNvGrpSpPr/>
            <p:nvPr/>
          </p:nvGrpSpPr>
          <p:grpSpPr>
            <a:xfrm>
              <a:off x="5011737" y="0"/>
              <a:ext cx="1023900" cy="1009500"/>
              <a:chOff x="0" y="0"/>
              <a:chExt cx="1023900" cy="1009500"/>
            </a:xfrm>
          </p:grpSpPr>
          <p:sp>
            <p:nvSpPr>
              <p:cNvPr id="774" name="Google Shape;774;p34"/>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75" name="Google Shape;775;p34"/>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76" name="Google Shape;776;p34"/>
              <p:cNvSpPr/>
              <p:nvPr/>
            </p:nvSpPr>
            <p:spPr>
              <a:xfrm>
                <a:off x="125412" y="569912"/>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77" name="Google Shape;777;p34"/>
              <p:cNvSpPr/>
              <p:nvPr/>
            </p:nvSpPr>
            <p:spPr>
              <a:xfrm>
                <a:off x="609600" y="6556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778" name="Google Shape;778;p34"/>
              <p:cNvSpPr/>
              <p:nvPr/>
            </p:nvSpPr>
            <p:spPr>
              <a:xfrm>
                <a:off x="781050" y="2746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779" name="Google Shape;779;p34"/>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780" name="Google Shape;780;p34"/>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781" name="Google Shape;781;p34"/>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782" name="Google Shape;782;p34"/>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783" name="Google Shape;783;p34"/>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784" name="Google Shape;784;p34"/>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pic>
          <p:nvPicPr>
            <p:cNvPr id="785" name="Google Shape;785;p34"/>
            <p:cNvPicPr preferRelativeResize="0"/>
            <p:nvPr/>
          </p:nvPicPr>
          <p:blipFill rotWithShape="1">
            <a:blip r:embed="rId6">
              <a:alphaModFix/>
            </a:blip>
            <a:srcRect b="0" l="0" r="0" t="0"/>
            <a:stretch/>
          </p:blipFill>
          <p:spPr>
            <a:xfrm>
              <a:off x="1116012" y="284162"/>
              <a:ext cx="342900" cy="228600"/>
            </a:xfrm>
            <a:prstGeom prst="rect">
              <a:avLst/>
            </a:prstGeom>
            <a:noFill/>
            <a:ln>
              <a:noFill/>
            </a:ln>
          </p:spPr>
        </p:pic>
        <p:pic>
          <p:nvPicPr>
            <p:cNvPr id="786" name="Google Shape;786;p34"/>
            <p:cNvPicPr preferRelativeResize="0"/>
            <p:nvPr/>
          </p:nvPicPr>
          <p:blipFill rotWithShape="1">
            <a:blip r:embed="rId8">
              <a:alphaModFix/>
            </a:blip>
            <a:srcRect b="0" l="0" r="0" t="0"/>
            <a:stretch/>
          </p:blipFill>
          <p:spPr>
            <a:xfrm>
              <a:off x="2814637" y="260350"/>
              <a:ext cx="304800" cy="203100"/>
            </a:xfrm>
            <a:prstGeom prst="rect">
              <a:avLst/>
            </a:prstGeom>
            <a:noFill/>
            <a:ln>
              <a:noFill/>
            </a:ln>
          </p:spPr>
        </p:pic>
        <p:pic>
          <p:nvPicPr>
            <p:cNvPr id="787" name="Google Shape;787;p34"/>
            <p:cNvPicPr preferRelativeResize="0"/>
            <p:nvPr/>
          </p:nvPicPr>
          <p:blipFill rotWithShape="1">
            <a:blip r:embed="rId11">
              <a:alphaModFix/>
            </a:blip>
            <a:srcRect b="0" l="0" r="0" t="0"/>
            <a:stretch/>
          </p:blipFill>
          <p:spPr>
            <a:xfrm>
              <a:off x="4592637" y="265112"/>
              <a:ext cx="152400" cy="165000"/>
            </a:xfrm>
            <a:prstGeom prst="rect">
              <a:avLst/>
            </a:prstGeom>
            <a:noFill/>
            <a:ln>
              <a:noFill/>
            </a:ln>
          </p:spPr>
        </p:pic>
      </p:grpSp>
      <p:pic>
        <p:nvPicPr>
          <p:cNvPr id="788" name="Google Shape;788;p34"/>
          <p:cNvPicPr preferRelativeResize="0"/>
          <p:nvPr/>
        </p:nvPicPr>
        <p:blipFill rotWithShape="1">
          <a:blip r:embed="rId12">
            <a:alphaModFix/>
          </a:blip>
          <a:srcRect b="0" l="0" r="0" t="0"/>
          <a:stretch/>
        </p:blipFill>
        <p:spPr>
          <a:xfrm>
            <a:off x="6692900" y="5362575"/>
            <a:ext cx="2479800" cy="627000"/>
          </a:xfrm>
          <a:prstGeom prst="rect">
            <a:avLst/>
          </a:prstGeom>
          <a:noFill/>
          <a:ln>
            <a:noFill/>
          </a:ln>
        </p:spPr>
      </p:pic>
      <p:cxnSp>
        <p:nvCxnSpPr>
          <p:cNvPr id="789" name="Google Shape;789;p34"/>
          <p:cNvCxnSpPr/>
          <p:nvPr/>
        </p:nvCxnSpPr>
        <p:spPr>
          <a:xfrm rot="10800000">
            <a:off x="3156050" y="1740150"/>
            <a:ext cx="503100" cy="83700"/>
          </a:xfrm>
          <a:prstGeom prst="straightConnector1">
            <a:avLst/>
          </a:prstGeom>
          <a:noFill/>
          <a:ln cap="flat" cmpd="sng" w="9525">
            <a:solidFill>
              <a:srgbClr val="929292"/>
            </a:solidFill>
            <a:prstDash val="solid"/>
            <a:round/>
            <a:headEnd len="sm" w="sm" type="none"/>
            <a:tailEnd len="med" w="med" type="triangle"/>
          </a:ln>
        </p:spPr>
      </p:cxnSp>
      <p:sp>
        <p:nvSpPr>
          <p:cNvPr id="790" name="Google Shape;790;p34"/>
          <p:cNvSpPr/>
          <p:nvPr/>
        </p:nvSpPr>
        <p:spPr>
          <a:xfrm>
            <a:off x="205062" y="898537"/>
            <a:ext cx="1589100" cy="304800"/>
          </a:xfrm>
          <a:prstGeom prst="rect">
            <a:avLst/>
          </a:prstGeom>
          <a:noFill/>
          <a:ln>
            <a:noFill/>
          </a:ln>
        </p:spPr>
        <p:txBody>
          <a:bodyPr anchorCtr="0" anchor="t"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Arial"/>
              <a:buNone/>
            </a:pPr>
            <a:r>
              <a:rPr b="0" i="1" lang="en-US" sz="1400" u="none" cap="none" strike="noStrike">
                <a:solidFill>
                  <a:srgbClr val="000000"/>
                </a:solidFill>
                <a:latin typeface="Arial"/>
                <a:ea typeface="Arial"/>
                <a:cs typeface="Arial"/>
                <a:sym typeface="Arial"/>
              </a:rPr>
              <a:t>Infectious</a:t>
            </a:r>
            <a:endParaRPr/>
          </a:p>
        </p:txBody>
      </p:sp>
      <p:cxnSp>
        <p:nvCxnSpPr>
          <p:cNvPr id="791" name="Google Shape;791;p34"/>
          <p:cNvCxnSpPr/>
          <p:nvPr/>
        </p:nvCxnSpPr>
        <p:spPr>
          <a:xfrm>
            <a:off x="631975" y="1146900"/>
            <a:ext cx="138000" cy="375600"/>
          </a:xfrm>
          <a:prstGeom prst="straightConnector1">
            <a:avLst/>
          </a:prstGeom>
          <a:noFill/>
          <a:ln cap="flat" cmpd="sng" w="9525">
            <a:solidFill>
              <a:srgbClr val="929292"/>
            </a:solidFill>
            <a:prstDash val="solid"/>
            <a:round/>
            <a:headEnd len="sm" w="sm" type="none"/>
            <a:tailEnd len="med" w="med" type="triangle"/>
          </a:ln>
        </p:spPr>
      </p:cxnSp>
      <p:sp>
        <p:nvSpPr>
          <p:cNvPr id="792" name="Google Shape;792;p34"/>
          <p:cNvSpPr/>
          <p:nvPr/>
        </p:nvSpPr>
        <p:spPr>
          <a:xfrm>
            <a:off x="3622775" y="1649413"/>
            <a:ext cx="1589100" cy="304800"/>
          </a:xfrm>
          <a:prstGeom prst="rect">
            <a:avLst/>
          </a:prstGeom>
          <a:noFill/>
          <a:ln>
            <a:noFill/>
          </a:ln>
        </p:spPr>
        <p:txBody>
          <a:bodyPr anchorCtr="0" anchor="t"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Arial"/>
              <a:buNone/>
            </a:pPr>
            <a:r>
              <a:rPr b="0" i="1" lang="en-US" sz="1400" u="none" cap="none" strike="noStrike">
                <a:solidFill>
                  <a:srgbClr val="000000"/>
                </a:solidFill>
                <a:latin typeface="Arial"/>
                <a:ea typeface="Arial"/>
                <a:cs typeface="Arial"/>
                <a:sym typeface="Arial"/>
              </a:rPr>
              <a:t>Susceptible</a:t>
            </a:r>
            <a:endParaRPr/>
          </a:p>
        </p:txBody>
      </p:sp>
      <p:cxnSp>
        <p:nvCxnSpPr>
          <p:cNvPr id="793" name="Google Shape;793;p34"/>
          <p:cNvCxnSpPr/>
          <p:nvPr/>
        </p:nvCxnSpPr>
        <p:spPr>
          <a:xfrm flipH="1">
            <a:off x="2527375" y="1157287"/>
            <a:ext cx="219000" cy="319200"/>
          </a:xfrm>
          <a:prstGeom prst="straightConnector1">
            <a:avLst/>
          </a:prstGeom>
          <a:noFill/>
          <a:ln cap="flat" cmpd="sng" w="9525">
            <a:solidFill>
              <a:srgbClr val="929292"/>
            </a:solidFill>
            <a:prstDash val="solid"/>
            <a:round/>
            <a:headEnd len="sm" w="sm" type="none"/>
            <a:tailEnd len="med" w="med" type="triangle"/>
          </a:ln>
        </p:spPr>
      </p:cxnSp>
      <p:sp>
        <p:nvSpPr>
          <p:cNvPr id="794" name="Google Shape;794;p34"/>
          <p:cNvSpPr/>
          <p:nvPr/>
        </p:nvSpPr>
        <p:spPr>
          <a:xfrm>
            <a:off x="2543175" y="895350"/>
            <a:ext cx="1589100" cy="304800"/>
          </a:xfrm>
          <a:prstGeom prst="rect">
            <a:avLst/>
          </a:prstGeom>
          <a:noFill/>
          <a:ln>
            <a:noFill/>
          </a:ln>
        </p:spPr>
        <p:txBody>
          <a:bodyPr anchorCtr="0" anchor="t"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Arial"/>
              <a:buNone/>
            </a:pPr>
            <a:r>
              <a:rPr b="0" i="1" lang="en-US" sz="1400" u="none" cap="none" strike="noStrike">
                <a:solidFill>
                  <a:srgbClr val="000000"/>
                </a:solidFill>
                <a:latin typeface="Arial"/>
                <a:ea typeface="Arial"/>
                <a:cs typeface="Arial"/>
                <a:sym typeface="Arial"/>
              </a:rPr>
              <a:t>Recovered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98" name="Shape 798"/>
        <p:cNvGrpSpPr/>
        <p:nvPr/>
      </p:nvGrpSpPr>
      <p:grpSpPr>
        <a:xfrm>
          <a:off x="0" y="0"/>
          <a:ext cx="0" cy="0"/>
          <a:chOff x="0" y="0"/>
          <a:chExt cx="0" cy="0"/>
        </a:xfrm>
      </p:grpSpPr>
      <p:sp>
        <p:nvSpPr>
          <p:cNvPr id="799" name="Google Shape;799;p35"/>
          <p:cNvSpPr/>
          <p:nvPr/>
        </p:nvSpPr>
        <p:spPr>
          <a:xfrm>
            <a:off x="0" y="314325"/>
            <a:ext cx="9156600" cy="5334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433FF"/>
              </a:buClr>
              <a:buFont typeface="Tahoma"/>
              <a:buNone/>
            </a:pPr>
            <a:r>
              <a:rPr b="1" i="0" lang="en-US" sz="2800" u="none" cap="none" strike="noStrike">
                <a:solidFill>
                  <a:srgbClr val="0433FF"/>
                </a:solidFill>
                <a:latin typeface="Tahoma"/>
                <a:ea typeface="Tahoma"/>
                <a:cs typeface="Tahoma"/>
                <a:sym typeface="Tahoma"/>
              </a:rPr>
              <a:t>Reed-Frost: example with n=4 (2)</a:t>
            </a:r>
            <a:endParaRPr/>
          </a:p>
        </p:txBody>
      </p:sp>
      <p:pic>
        <p:nvPicPr>
          <p:cNvPr id="800" name="Google Shape;800;p35"/>
          <p:cNvPicPr preferRelativeResize="0"/>
          <p:nvPr/>
        </p:nvPicPr>
        <p:blipFill rotWithShape="1">
          <a:blip r:embed="rId3">
            <a:alphaModFix/>
          </a:blip>
          <a:srcRect b="0" l="0" r="0" t="0"/>
          <a:stretch/>
        </p:blipFill>
        <p:spPr>
          <a:xfrm>
            <a:off x="6740525" y="2208212"/>
            <a:ext cx="1698600" cy="633300"/>
          </a:xfrm>
          <a:prstGeom prst="rect">
            <a:avLst/>
          </a:prstGeom>
          <a:noFill/>
          <a:ln>
            <a:noFill/>
          </a:ln>
        </p:spPr>
      </p:pic>
      <p:pic>
        <p:nvPicPr>
          <p:cNvPr id="801" name="Google Shape;801;p35"/>
          <p:cNvPicPr preferRelativeResize="0"/>
          <p:nvPr/>
        </p:nvPicPr>
        <p:blipFill rotWithShape="1">
          <a:blip r:embed="rId4">
            <a:alphaModFix/>
          </a:blip>
          <a:srcRect b="0" l="0" r="0" t="0"/>
          <a:stretch/>
        </p:blipFill>
        <p:spPr>
          <a:xfrm>
            <a:off x="6740525" y="3514725"/>
            <a:ext cx="2084400" cy="628800"/>
          </a:xfrm>
          <a:prstGeom prst="rect">
            <a:avLst/>
          </a:prstGeom>
          <a:noFill/>
          <a:ln>
            <a:noFill/>
          </a:ln>
        </p:spPr>
      </p:pic>
      <p:grpSp>
        <p:nvGrpSpPr>
          <p:cNvPr id="802" name="Google Shape;802;p35"/>
          <p:cNvGrpSpPr/>
          <p:nvPr/>
        </p:nvGrpSpPr>
        <p:grpSpPr>
          <a:xfrm>
            <a:off x="541337" y="2079625"/>
            <a:ext cx="1023900" cy="1009500"/>
            <a:chOff x="0" y="0"/>
            <a:chExt cx="1023900" cy="1009500"/>
          </a:xfrm>
        </p:grpSpPr>
        <p:sp>
          <p:nvSpPr>
            <p:cNvPr id="803" name="Google Shape;803;p35"/>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04" name="Google Shape;804;p35"/>
            <p:cNvSpPr/>
            <p:nvPr/>
          </p:nvSpPr>
          <p:spPr>
            <a:xfrm>
              <a:off x="219075" y="1730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05" name="Google Shape;805;p35"/>
            <p:cNvSpPr/>
            <p:nvPr/>
          </p:nvSpPr>
          <p:spPr>
            <a:xfrm>
              <a:off x="125412" y="569912"/>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06" name="Google Shape;806;p35"/>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07" name="Google Shape;807;p35"/>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808" name="Google Shape;808;p35"/>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809" name="Google Shape;809;p35"/>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810" name="Google Shape;810;p35"/>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811" name="Google Shape;811;p35"/>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812" name="Google Shape;812;p35"/>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813" name="Google Shape;813;p35"/>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cxnSp>
        <p:nvCxnSpPr>
          <p:cNvPr id="814" name="Google Shape;814;p35"/>
          <p:cNvCxnSpPr/>
          <p:nvPr/>
        </p:nvCxnSpPr>
        <p:spPr>
          <a:xfrm>
            <a:off x="1635125" y="2578100"/>
            <a:ext cx="460500" cy="1500"/>
          </a:xfrm>
          <a:prstGeom prst="straightConnector1">
            <a:avLst/>
          </a:prstGeom>
          <a:noFill/>
          <a:ln cap="flat" cmpd="sng" w="9525">
            <a:solidFill>
              <a:srgbClr val="000000"/>
            </a:solidFill>
            <a:prstDash val="solid"/>
            <a:round/>
            <a:headEnd len="sm" w="sm" type="none"/>
            <a:tailEnd len="med" w="med" type="triangle"/>
          </a:ln>
        </p:spPr>
      </p:cxnSp>
      <p:grpSp>
        <p:nvGrpSpPr>
          <p:cNvPr id="815" name="Google Shape;815;p35"/>
          <p:cNvGrpSpPr/>
          <p:nvPr/>
        </p:nvGrpSpPr>
        <p:grpSpPr>
          <a:xfrm>
            <a:off x="2192337" y="2079625"/>
            <a:ext cx="1023900" cy="1009500"/>
            <a:chOff x="0" y="0"/>
            <a:chExt cx="1023900" cy="1009500"/>
          </a:xfrm>
        </p:grpSpPr>
        <p:sp>
          <p:nvSpPr>
            <p:cNvPr id="816" name="Google Shape;816;p35"/>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17" name="Google Shape;817;p35"/>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18" name="Google Shape;818;p35"/>
            <p:cNvSpPr/>
            <p:nvPr/>
          </p:nvSpPr>
          <p:spPr>
            <a:xfrm>
              <a:off x="125412" y="569912"/>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19" name="Google Shape;819;p35"/>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20" name="Google Shape;820;p35"/>
            <p:cNvSpPr/>
            <p:nvPr/>
          </p:nvSpPr>
          <p:spPr>
            <a:xfrm>
              <a:off x="781050" y="2746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821" name="Google Shape;821;p35"/>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822" name="Google Shape;822;p35"/>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823" name="Google Shape;823;p35"/>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824" name="Google Shape;824;p35"/>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825" name="Google Shape;825;p35"/>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826" name="Google Shape;826;p35"/>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pic>
        <p:nvPicPr>
          <p:cNvPr id="827" name="Google Shape;827;p35"/>
          <p:cNvPicPr preferRelativeResize="0"/>
          <p:nvPr/>
        </p:nvPicPr>
        <p:blipFill rotWithShape="1">
          <a:blip r:embed="rId5">
            <a:alphaModFix/>
          </a:blip>
          <a:srcRect b="0" l="0" r="0" t="0"/>
          <a:stretch/>
        </p:blipFill>
        <p:spPr>
          <a:xfrm>
            <a:off x="1681162" y="2298700"/>
            <a:ext cx="355500" cy="228600"/>
          </a:xfrm>
          <a:prstGeom prst="rect">
            <a:avLst/>
          </a:prstGeom>
          <a:noFill/>
          <a:ln>
            <a:noFill/>
          </a:ln>
        </p:spPr>
      </p:pic>
      <p:grpSp>
        <p:nvGrpSpPr>
          <p:cNvPr id="828" name="Google Shape;828;p35"/>
          <p:cNvGrpSpPr/>
          <p:nvPr/>
        </p:nvGrpSpPr>
        <p:grpSpPr>
          <a:xfrm>
            <a:off x="541337" y="3298825"/>
            <a:ext cx="4362412" cy="1046012"/>
            <a:chOff x="0" y="0"/>
            <a:chExt cx="4362412" cy="1046012"/>
          </a:xfrm>
        </p:grpSpPr>
        <p:grpSp>
          <p:nvGrpSpPr>
            <p:cNvPr id="829" name="Google Shape;829;p35"/>
            <p:cNvGrpSpPr/>
            <p:nvPr/>
          </p:nvGrpSpPr>
          <p:grpSpPr>
            <a:xfrm>
              <a:off x="0" y="36512"/>
              <a:ext cx="1023900" cy="1009500"/>
              <a:chOff x="0" y="0"/>
              <a:chExt cx="1023900" cy="1009500"/>
            </a:xfrm>
          </p:grpSpPr>
          <p:sp>
            <p:nvSpPr>
              <p:cNvPr id="830" name="Google Shape;830;p35"/>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31" name="Google Shape;831;p35"/>
              <p:cNvSpPr/>
              <p:nvPr/>
            </p:nvSpPr>
            <p:spPr>
              <a:xfrm>
                <a:off x="219075" y="1730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32" name="Google Shape;832;p35"/>
              <p:cNvSpPr/>
              <p:nvPr/>
            </p:nvSpPr>
            <p:spPr>
              <a:xfrm>
                <a:off x="125412" y="569912"/>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33" name="Google Shape;833;p35"/>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34" name="Google Shape;834;p35"/>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835" name="Google Shape;835;p35"/>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836" name="Google Shape;836;p35"/>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837" name="Google Shape;837;p35"/>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838" name="Google Shape;838;p35"/>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839" name="Google Shape;839;p35"/>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840" name="Google Shape;840;p35"/>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cxnSp>
          <p:nvCxnSpPr>
            <p:cNvPr id="841" name="Google Shape;841;p35"/>
            <p:cNvCxnSpPr/>
            <p:nvPr/>
          </p:nvCxnSpPr>
          <p:spPr>
            <a:xfrm>
              <a:off x="1093787" y="534987"/>
              <a:ext cx="460500" cy="1500"/>
            </a:xfrm>
            <a:prstGeom prst="straightConnector1">
              <a:avLst/>
            </a:prstGeom>
            <a:noFill/>
            <a:ln cap="flat" cmpd="sng" w="9525">
              <a:solidFill>
                <a:srgbClr val="000000"/>
              </a:solidFill>
              <a:prstDash val="solid"/>
              <a:round/>
              <a:headEnd len="sm" w="sm" type="none"/>
              <a:tailEnd len="med" w="med" type="triangle"/>
            </a:ln>
          </p:spPr>
        </p:cxnSp>
        <p:grpSp>
          <p:nvGrpSpPr>
            <p:cNvPr id="842" name="Google Shape;842;p35"/>
            <p:cNvGrpSpPr/>
            <p:nvPr/>
          </p:nvGrpSpPr>
          <p:grpSpPr>
            <a:xfrm>
              <a:off x="1651000" y="36512"/>
              <a:ext cx="1023900" cy="1009500"/>
              <a:chOff x="0" y="0"/>
              <a:chExt cx="1023900" cy="1009500"/>
            </a:xfrm>
          </p:grpSpPr>
          <p:sp>
            <p:nvSpPr>
              <p:cNvPr id="843" name="Google Shape;843;p35"/>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44" name="Google Shape;844;p35"/>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45" name="Google Shape;845;p35"/>
              <p:cNvSpPr/>
              <p:nvPr/>
            </p:nvSpPr>
            <p:spPr>
              <a:xfrm>
                <a:off x="125412" y="569912"/>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46" name="Google Shape;846;p35"/>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47" name="Google Shape;847;p35"/>
              <p:cNvSpPr/>
              <p:nvPr/>
            </p:nvSpPr>
            <p:spPr>
              <a:xfrm>
                <a:off x="781050" y="2746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848" name="Google Shape;848;p35"/>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849" name="Google Shape;849;p35"/>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850" name="Google Shape;850;p35"/>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851" name="Google Shape;851;p35"/>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852" name="Google Shape;852;p35"/>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853" name="Google Shape;853;p35"/>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cxnSp>
          <p:nvCxnSpPr>
            <p:cNvPr id="854" name="Google Shape;854;p35"/>
            <p:cNvCxnSpPr/>
            <p:nvPr/>
          </p:nvCxnSpPr>
          <p:spPr>
            <a:xfrm>
              <a:off x="2781300" y="498475"/>
              <a:ext cx="460500" cy="1500"/>
            </a:xfrm>
            <a:prstGeom prst="straightConnector1">
              <a:avLst/>
            </a:prstGeom>
            <a:noFill/>
            <a:ln cap="flat" cmpd="sng" w="9525">
              <a:solidFill>
                <a:srgbClr val="000000"/>
              </a:solidFill>
              <a:prstDash val="solid"/>
              <a:round/>
              <a:headEnd len="sm" w="sm" type="none"/>
              <a:tailEnd len="med" w="med" type="triangle"/>
            </a:ln>
          </p:spPr>
        </p:cxnSp>
        <p:grpSp>
          <p:nvGrpSpPr>
            <p:cNvPr id="855" name="Google Shape;855;p35"/>
            <p:cNvGrpSpPr/>
            <p:nvPr/>
          </p:nvGrpSpPr>
          <p:grpSpPr>
            <a:xfrm>
              <a:off x="3338512" y="0"/>
              <a:ext cx="1023900" cy="1009500"/>
              <a:chOff x="0" y="0"/>
              <a:chExt cx="1023900" cy="1009500"/>
            </a:xfrm>
          </p:grpSpPr>
          <p:sp>
            <p:nvSpPr>
              <p:cNvPr id="856" name="Google Shape;856;p35"/>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57" name="Google Shape;857;p35"/>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58" name="Google Shape;858;p35"/>
              <p:cNvSpPr/>
              <p:nvPr/>
            </p:nvSpPr>
            <p:spPr>
              <a:xfrm>
                <a:off x="125412" y="569912"/>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59" name="Google Shape;859;p35"/>
              <p:cNvSpPr/>
              <p:nvPr/>
            </p:nvSpPr>
            <p:spPr>
              <a:xfrm>
                <a:off x="609600" y="6556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60" name="Google Shape;860;p35"/>
              <p:cNvSpPr/>
              <p:nvPr/>
            </p:nvSpPr>
            <p:spPr>
              <a:xfrm>
                <a:off x="781050" y="2746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861" name="Google Shape;861;p35"/>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862" name="Google Shape;862;p35"/>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863" name="Google Shape;863;p35"/>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864" name="Google Shape;864;p35"/>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865" name="Google Shape;865;p35"/>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866" name="Google Shape;866;p35"/>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pic>
          <p:nvPicPr>
            <p:cNvPr id="867" name="Google Shape;867;p35"/>
            <p:cNvPicPr preferRelativeResize="0"/>
            <p:nvPr/>
          </p:nvPicPr>
          <p:blipFill rotWithShape="1">
            <a:blip r:embed="rId5">
              <a:alphaModFix/>
            </a:blip>
            <a:srcRect b="0" l="0" r="0" t="0"/>
            <a:stretch/>
          </p:blipFill>
          <p:spPr>
            <a:xfrm>
              <a:off x="1085850" y="274637"/>
              <a:ext cx="355500" cy="228600"/>
            </a:xfrm>
            <a:prstGeom prst="rect">
              <a:avLst/>
            </a:prstGeom>
            <a:noFill/>
            <a:ln>
              <a:noFill/>
            </a:ln>
          </p:spPr>
        </p:pic>
        <p:pic>
          <p:nvPicPr>
            <p:cNvPr id="868" name="Google Shape;868;p35"/>
            <p:cNvPicPr preferRelativeResize="0"/>
            <p:nvPr/>
          </p:nvPicPr>
          <p:blipFill rotWithShape="1">
            <a:blip r:embed="rId6">
              <a:alphaModFix/>
            </a:blip>
            <a:srcRect b="0" l="0" r="0" t="0"/>
            <a:stretch/>
          </p:blipFill>
          <p:spPr>
            <a:xfrm>
              <a:off x="2811462" y="244475"/>
              <a:ext cx="355500" cy="228600"/>
            </a:xfrm>
            <a:prstGeom prst="rect">
              <a:avLst/>
            </a:prstGeom>
            <a:noFill/>
            <a:ln>
              <a:noFill/>
            </a:ln>
          </p:spPr>
        </p:pic>
      </p:grpSp>
      <p:grpSp>
        <p:nvGrpSpPr>
          <p:cNvPr id="869" name="Google Shape;869;p35"/>
          <p:cNvGrpSpPr/>
          <p:nvPr/>
        </p:nvGrpSpPr>
        <p:grpSpPr>
          <a:xfrm>
            <a:off x="541337" y="4613275"/>
            <a:ext cx="1023900" cy="1009500"/>
            <a:chOff x="0" y="0"/>
            <a:chExt cx="1023900" cy="1009500"/>
          </a:xfrm>
        </p:grpSpPr>
        <p:sp>
          <p:nvSpPr>
            <p:cNvPr id="870" name="Google Shape;870;p35"/>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71" name="Google Shape;871;p35"/>
            <p:cNvSpPr/>
            <p:nvPr/>
          </p:nvSpPr>
          <p:spPr>
            <a:xfrm>
              <a:off x="219075" y="1730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72" name="Google Shape;872;p35"/>
            <p:cNvSpPr/>
            <p:nvPr/>
          </p:nvSpPr>
          <p:spPr>
            <a:xfrm>
              <a:off x="125412" y="569912"/>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73" name="Google Shape;873;p35"/>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74" name="Google Shape;874;p35"/>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875" name="Google Shape;875;p35"/>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876" name="Google Shape;876;p35"/>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877" name="Google Shape;877;p35"/>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878" name="Google Shape;878;p35"/>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879" name="Google Shape;879;p35"/>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880" name="Google Shape;880;p35"/>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cxnSp>
        <p:nvCxnSpPr>
          <p:cNvPr id="881" name="Google Shape;881;p35"/>
          <p:cNvCxnSpPr/>
          <p:nvPr/>
        </p:nvCxnSpPr>
        <p:spPr>
          <a:xfrm>
            <a:off x="1635125" y="5111750"/>
            <a:ext cx="460500" cy="1500"/>
          </a:xfrm>
          <a:prstGeom prst="straightConnector1">
            <a:avLst/>
          </a:prstGeom>
          <a:noFill/>
          <a:ln cap="flat" cmpd="sng" w="9525">
            <a:solidFill>
              <a:srgbClr val="000000"/>
            </a:solidFill>
            <a:prstDash val="solid"/>
            <a:round/>
            <a:headEnd len="sm" w="sm" type="none"/>
            <a:tailEnd len="med" w="med" type="triangle"/>
          </a:ln>
        </p:spPr>
      </p:cxnSp>
      <p:grpSp>
        <p:nvGrpSpPr>
          <p:cNvPr id="882" name="Google Shape;882;p35"/>
          <p:cNvGrpSpPr/>
          <p:nvPr/>
        </p:nvGrpSpPr>
        <p:grpSpPr>
          <a:xfrm>
            <a:off x="2192337" y="4613275"/>
            <a:ext cx="1023900" cy="1009500"/>
            <a:chOff x="0" y="0"/>
            <a:chExt cx="1023900" cy="1009500"/>
          </a:xfrm>
        </p:grpSpPr>
        <p:sp>
          <p:nvSpPr>
            <p:cNvPr id="883" name="Google Shape;883;p35"/>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84" name="Google Shape;884;p35"/>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85" name="Google Shape;885;p35"/>
            <p:cNvSpPr/>
            <p:nvPr/>
          </p:nvSpPr>
          <p:spPr>
            <a:xfrm>
              <a:off x="125412" y="569912"/>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86" name="Google Shape;886;p35"/>
            <p:cNvSpPr/>
            <p:nvPr/>
          </p:nvSpPr>
          <p:spPr>
            <a:xfrm>
              <a:off x="609600" y="6556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87" name="Google Shape;887;p35"/>
            <p:cNvSpPr/>
            <p:nvPr/>
          </p:nvSpPr>
          <p:spPr>
            <a:xfrm>
              <a:off x="781050" y="2746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888" name="Google Shape;888;p35"/>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889" name="Google Shape;889;p35"/>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890" name="Google Shape;890;p35"/>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891" name="Google Shape;891;p35"/>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892" name="Google Shape;892;p35"/>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893" name="Google Shape;893;p35"/>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pic>
        <p:nvPicPr>
          <p:cNvPr id="894" name="Google Shape;894;p35"/>
          <p:cNvPicPr preferRelativeResize="0"/>
          <p:nvPr/>
        </p:nvPicPr>
        <p:blipFill rotWithShape="1">
          <a:blip r:embed="rId7">
            <a:alphaModFix/>
          </a:blip>
          <a:srcRect b="0" l="0" r="0" t="0"/>
          <a:stretch/>
        </p:blipFill>
        <p:spPr>
          <a:xfrm>
            <a:off x="1733550" y="4838700"/>
            <a:ext cx="190500" cy="228600"/>
          </a:xfrm>
          <a:prstGeom prst="rect">
            <a:avLst/>
          </a:prstGeom>
          <a:noFill/>
          <a:ln>
            <a:noFill/>
          </a:ln>
        </p:spPr>
      </p:pic>
      <p:pic>
        <p:nvPicPr>
          <p:cNvPr id="895" name="Google Shape;895;p35"/>
          <p:cNvPicPr preferRelativeResize="0"/>
          <p:nvPr/>
        </p:nvPicPr>
        <p:blipFill rotWithShape="1">
          <a:blip r:embed="rId8">
            <a:alphaModFix/>
          </a:blip>
          <a:srcRect b="0" l="0" r="0" t="0"/>
          <a:stretch/>
        </p:blipFill>
        <p:spPr>
          <a:xfrm>
            <a:off x="6740525" y="4818062"/>
            <a:ext cx="712800" cy="627000"/>
          </a:xfrm>
          <a:prstGeom prst="rect">
            <a:avLst/>
          </a:prstGeom>
          <a:noFill/>
          <a:ln>
            <a:noFill/>
          </a:ln>
        </p:spPr>
      </p:pic>
      <p:cxnSp>
        <p:nvCxnSpPr>
          <p:cNvPr id="896" name="Google Shape;896;p35"/>
          <p:cNvCxnSpPr/>
          <p:nvPr/>
        </p:nvCxnSpPr>
        <p:spPr>
          <a:xfrm>
            <a:off x="3300412" y="2565400"/>
            <a:ext cx="460500" cy="1500"/>
          </a:xfrm>
          <a:prstGeom prst="straightConnector1">
            <a:avLst/>
          </a:prstGeom>
          <a:noFill/>
          <a:ln cap="flat" cmpd="sng" w="9525">
            <a:solidFill>
              <a:srgbClr val="000000"/>
            </a:solidFill>
            <a:prstDash val="solid"/>
            <a:round/>
            <a:headEnd len="sm" w="sm" type="none"/>
            <a:tailEnd len="med" w="med" type="triangle"/>
          </a:ln>
        </p:spPr>
      </p:cxnSp>
      <p:grpSp>
        <p:nvGrpSpPr>
          <p:cNvPr id="897" name="Google Shape;897;p35"/>
          <p:cNvGrpSpPr/>
          <p:nvPr/>
        </p:nvGrpSpPr>
        <p:grpSpPr>
          <a:xfrm>
            <a:off x="3857625" y="2066925"/>
            <a:ext cx="1023900" cy="1009500"/>
            <a:chOff x="0" y="0"/>
            <a:chExt cx="1023900" cy="1009500"/>
          </a:xfrm>
        </p:grpSpPr>
        <p:sp>
          <p:nvSpPr>
            <p:cNvPr id="898" name="Google Shape;898;p35"/>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899" name="Google Shape;899;p35"/>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00" name="Google Shape;900;p35"/>
            <p:cNvSpPr/>
            <p:nvPr/>
          </p:nvSpPr>
          <p:spPr>
            <a:xfrm>
              <a:off x="125412" y="569912"/>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01" name="Google Shape;901;p35"/>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02" name="Google Shape;902;p35"/>
            <p:cNvSpPr/>
            <p:nvPr/>
          </p:nvSpPr>
          <p:spPr>
            <a:xfrm>
              <a:off x="781050" y="2746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903" name="Google Shape;903;p35"/>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904" name="Google Shape;904;p35"/>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905" name="Google Shape;905;p35"/>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906" name="Google Shape;906;p35"/>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907" name="Google Shape;907;p35"/>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908" name="Google Shape;908;p35"/>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pic>
        <p:nvPicPr>
          <p:cNvPr id="909" name="Google Shape;909;p35"/>
          <p:cNvPicPr preferRelativeResize="0"/>
          <p:nvPr/>
        </p:nvPicPr>
        <p:blipFill rotWithShape="1">
          <a:blip r:embed="rId9">
            <a:alphaModFix/>
          </a:blip>
          <a:srcRect b="0" l="0" r="0" t="0"/>
          <a:stretch/>
        </p:blipFill>
        <p:spPr>
          <a:xfrm>
            <a:off x="3435350" y="2286000"/>
            <a:ext cx="177900" cy="228600"/>
          </a:xfrm>
          <a:prstGeom prst="rect">
            <a:avLst/>
          </a:prstGeom>
          <a:noFill/>
          <a:ln>
            <a:noFill/>
          </a:ln>
        </p:spPr>
      </p:pic>
      <p:sp>
        <p:nvSpPr>
          <p:cNvPr id="910" name="Google Shape;910;p35"/>
          <p:cNvSpPr/>
          <p:nvPr/>
        </p:nvSpPr>
        <p:spPr>
          <a:xfrm>
            <a:off x="595312" y="5821362"/>
            <a:ext cx="7759800" cy="863700"/>
          </a:xfrm>
          <a:prstGeom prst="rect">
            <a:avLst/>
          </a:prstGeom>
          <a:noFill/>
          <a:ln>
            <a:noFill/>
          </a:ln>
        </p:spPr>
        <p:txBody>
          <a:bodyPr anchorCtr="0" anchor="t"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Denote the </a:t>
            </a:r>
            <a:r>
              <a:rPr lang="en-US" sz="2000">
                <a:latin typeface="Tahoma"/>
                <a:ea typeface="Tahoma"/>
                <a:cs typeface="Tahoma"/>
                <a:sym typeface="Tahoma"/>
              </a:rPr>
              <a:t>8</a:t>
            </a:r>
            <a:r>
              <a:rPr b="0" i="0" lang="en-US" sz="2000" u="none" cap="none" strike="noStrike">
                <a:solidFill>
                  <a:srgbClr val="000000"/>
                </a:solidFill>
                <a:latin typeface="Tahoma"/>
                <a:ea typeface="Tahoma"/>
                <a:cs typeface="Tahoma"/>
                <a:sym typeface="Tahoma"/>
              </a:rPr>
              <a:t> possible outcomes as:</a:t>
            </a:r>
            <a:endParaRPr/>
          </a:p>
          <a:p>
            <a:pPr indent="-2538" lvl="0" marL="40638" marR="40638" rtl="0" algn="l">
              <a:lnSpc>
                <a:spcPct val="100000"/>
              </a:lnSpc>
              <a:spcBef>
                <a:spcPts val="1200"/>
              </a:spcBef>
              <a:spcAft>
                <a:spcPts val="0"/>
              </a:spcAft>
              <a:buClr>
                <a:srgbClr val="000000"/>
              </a:buClr>
              <a:buFont typeface="Tahoma"/>
              <a:buNone/>
            </a:pPr>
            <a:r>
              <a:rPr lang="en-US" sz="2000">
                <a:latin typeface="Tahoma"/>
                <a:ea typeface="Tahoma"/>
                <a:cs typeface="Tahoma"/>
                <a:sym typeface="Tahoma"/>
              </a:rPr>
              <a:t>(</a:t>
            </a:r>
            <a:r>
              <a:rPr b="0" i="0" lang="en-US" sz="2000" u="none" cap="none" strike="noStrike">
                <a:solidFill>
                  <a:srgbClr val="000000"/>
                </a:solidFill>
                <a:latin typeface="Tahoma"/>
                <a:ea typeface="Tahoma"/>
                <a:cs typeface="Tahoma"/>
                <a:sym typeface="Tahoma"/>
              </a:rPr>
              <a:t>1-0), (1-1-0), (1-1-1-0), (1-1-1-1), (1-2-0), (1-2-</a:t>
            </a:r>
            <a:r>
              <a:rPr lang="en-US" sz="2000">
                <a:latin typeface="Tahoma"/>
                <a:ea typeface="Tahoma"/>
                <a:cs typeface="Tahoma"/>
                <a:sym typeface="Tahoma"/>
              </a:rPr>
              <a:t>1)</a:t>
            </a:r>
            <a:r>
              <a:rPr b="0" i="0" lang="en-US" sz="2000" u="none" cap="none" strike="noStrike">
                <a:solidFill>
                  <a:srgbClr val="000000"/>
                </a:solidFill>
                <a:latin typeface="Tahoma"/>
                <a:ea typeface="Tahoma"/>
                <a:cs typeface="Tahoma"/>
                <a:sym typeface="Tahoma"/>
              </a:rPr>
              <a:t>, (1-3), (1-1-2)</a:t>
            </a:r>
            <a:endParaRPr/>
          </a:p>
        </p:txBody>
      </p:sp>
      <p:sp>
        <p:nvSpPr>
          <p:cNvPr id="911" name="Google Shape;911;p35"/>
          <p:cNvSpPr/>
          <p:nvPr/>
        </p:nvSpPr>
        <p:spPr>
          <a:xfrm>
            <a:off x="4648199" y="1212849"/>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12" name="Google Shape;912;p35"/>
          <p:cNvSpPr txBox="1"/>
          <p:nvPr/>
        </p:nvSpPr>
        <p:spPr>
          <a:xfrm>
            <a:off x="3389400" y="1069925"/>
            <a:ext cx="4095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1200">
                <a:latin typeface="Times New Roman"/>
                <a:ea typeface="Times New Roman"/>
                <a:cs typeface="Times New Roman"/>
                <a:sym typeface="Times New Roman"/>
              </a:rPr>
              <a:t>p</a:t>
            </a:r>
            <a:endParaRPr i="1" sz="1200">
              <a:latin typeface="Times New Roman"/>
              <a:ea typeface="Times New Roman"/>
              <a:cs typeface="Times New Roman"/>
              <a:sym typeface="Times New Roman"/>
            </a:endParaRPr>
          </a:p>
        </p:txBody>
      </p:sp>
      <p:sp>
        <p:nvSpPr>
          <p:cNvPr id="913" name="Google Shape;913;p35"/>
          <p:cNvSpPr txBox="1"/>
          <p:nvPr/>
        </p:nvSpPr>
        <p:spPr>
          <a:xfrm>
            <a:off x="3463950" y="1069925"/>
            <a:ext cx="260400" cy="8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latin typeface="Times New Roman"/>
                <a:ea typeface="Times New Roman"/>
                <a:cs typeface="Times New Roman"/>
                <a:sym typeface="Times New Roman"/>
              </a:rPr>
              <a:t>2</a:t>
            </a:r>
            <a:endParaRPr sz="800">
              <a:latin typeface="Times New Roman"/>
              <a:ea typeface="Times New Roman"/>
              <a:cs typeface="Times New Roman"/>
              <a:sym typeface="Times New Roman"/>
            </a:endParaRPr>
          </a:p>
        </p:txBody>
      </p:sp>
      <p:grpSp>
        <p:nvGrpSpPr>
          <p:cNvPr id="914" name="Google Shape;914;p35"/>
          <p:cNvGrpSpPr/>
          <p:nvPr/>
        </p:nvGrpSpPr>
        <p:grpSpPr>
          <a:xfrm>
            <a:off x="541337" y="919162"/>
            <a:ext cx="4362412" cy="1046012"/>
            <a:chOff x="0" y="22225"/>
            <a:chExt cx="4362412" cy="1046012"/>
          </a:xfrm>
        </p:grpSpPr>
        <p:grpSp>
          <p:nvGrpSpPr>
            <p:cNvPr id="915" name="Google Shape;915;p35"/>
            <p:cNvGrpSpPr/>
            <p:nvPr/>
          </p:nvGrpSpPr>
          <p:grpSpPr>
            <a:xfrm>
              <a:off x="0" y="58737"/>
              <a:ext cx="1023900" cy="1009500"/>
              <a:chOff x="0" y="0"/>
              <a:chExt cx="1023900" cy="1009500"/>
            </a:xfrm>
          </p:grpSpPr>
          <p:sp>
            <p:nvSpPr>
              <p:cNvPr id="916" name="Google Shape;916;p35"/>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17" name="Google Shape;917;p35"/>
              <p:cNvSpPr/>
              <p:nvPr/>
            </p:nvSpPr>
            <p:spPr>
              <a:xfrm>
                <a:off x="219075" y="1730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18" name="Google Shape;918;p35"/>
              <p:cNvSpPr/>
              <p:nvPr/>
            </p:nvSpPr>
            <p:spPr>
              <a:xfrm>
                <a:off x="125412" y="569912"/>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19" name="Google Shape;919;p35"/>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20" name="Google Shape;920;p35"/>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921" name="Google Shape;921;p35"/>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922" name="Google Shape;922;p35"/>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923" name="Google Shape;923;p35"/>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924" name="Google Shape;924;p35"/>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925" name="Google Shape;925;p35"/>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926" name="Google Shape;926;p35"/>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cxnSp>
          <p:nvCxnSpPr>
            <p:cNvPr id="927" name="Google Shape;927;p35"/>
            <p:cNvCxnSpPr/>
            <p:nvPr/>
          </p:nvCxnSpPr>
          <p:spPr>
            <a:xfrm>
              <a:off x="1093787" y="557212"/>
              <a:ext cx="460500" cy="1500"/>
            </a:xfrm>
            <a:prstGeom prst="straightConnector1">
              <a:avLst/>
            </a:prstGeom>
            <a:noFill/>
            <a:ln cap="flat" cmpd="sng" w="9525">
              <a:solidFill>
                <a:srgbClr val="000000"/>
              </a:solidFill>
              <a:prstDash val="solid"/>
              <a:round/>
              <a:headEnd len="sm" w="sm" type="none"/>
              <a:tailEnd len="med" w="med" type="triangle"/>
            </a:ln>
          </p:spPr>
        </p:cxnSp>
        <p:grpSp>
          <p:nvGrpSpPr>
            <p:cNvPr id="928" name="Google Shape;928;p35"/>
            <p:cNvGrpSpPr/>
            <p:nvPr/>
          </p:nvGrpSpPr>
          <p:grpSpPr>
            <a:xfrm>
              <a:off x="1651000" y="58737"/>
              <a:ext cx="1023900" cy="1009500"/>
              <a:chOff x="0" y="0"/>
              <a:chExt cx="1023900" cy="1009500"/>
            </a:xfrm>
          </p:grpSpPr>
          <p:sp>
            <p:nvSpPr>
              <p:cNvPr id="929" name="Google Shape;929;p35"/>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30" name="Google Shape;930;p35"/>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31" name="Google Shape;931;p35"/>
              <p:cNvSpPr/>
              <p:nvPr/>
            </p:nvSpPr>
            <p:spPr>
              <a:xfrm>
                <a:off x="125412" y="569912"/>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32" name="Google Shape;932;p35"/>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33" name="Google Shape;933;p35"/>
              <p:cNvSpPr/>
              <p:nvPr/>
            </p:nvSpPr>
            <p:spPr>
              <a:xfrm>
                <a:off x="781050" y="274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934" name="Google Shape;934;p35"/>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935" name="Google Shape;935;p35"/>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936" name="Google Shape;936;p35"/>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937" name="Google Shape;937;p35"/>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938" name="Google Shape;938;p35"/>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939" name="Google Shape;939;p35"/>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cxnSp>
          <p:nvCxnSpPr>
            <p:cNvPr id="940" name="Google Shape;940;p35"/>
            <p:cNvCxnSpPr/>
            <p:nvPr/>
          </p:nvCxnSpPr>
          <p:spPr>
            <a:xfrm>
              <a:off x="2781300" y="520700"/>
              <a:ext cx="460500" cy="1500"/>
            </a:xfrm>
            <a:prstGeom prst="straightConnector1">
              <a:avLst/>
            </a:prstGeom>
            <a:noFill/>
            <a:ln cap="flat" cmpd="sng" w="9525">
              <a:solidFill>
                <a:srgbClr val="000000"/>
              </a:solidFill>
              <a:prstDash val="solid"/>
              <a:round/>
              <a:headEnd len="sm" w="sm" type="none"/>
              <a:tailEnd len="med" w="med" type="triangle"/>
            </a:ln>
          </p:spPr>
        </p:cxnSp>
        <p:grpSp>
          <p:nvGrpSpPr>
            <p:cNvPr id="941" name="Google Shape;941;p35"/>
            <p:cNvGrpSpPr/>
            <p:nvPr/>
          </p:nvGrpSpPr>
          <p:grpSpPr>
            <a:xfrm>
              <a:off x="3338512" y="22225"/>
              <a:ext cx="1023900" cy="1009500"/>
              <a:chOff x="0" y="0"/>
              <a:chExt cx="1023900" cy="1009500"/>
            </a:xfrm>
          </p:grpSpPr>
          <p:sp>
            <p:nvSpPr>
              <p:cNvPr id="942" name="Google Shape;942;p35"/>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43" name="Google Shape;943;p35"/>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44" name="Google Shape;944;p35"/>
              <p:cNvSpPr/>
              <p:nvPr/>
            </p:nvSpPr>
            <p:spPr>
              <a:xfrm>
                <a:off x="125412" y="569912"/>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45" name="Google Shape;945;p35"/>
              <p:cNvSpPr/>
              <p:nvPr/>
            </p:nvSpPr>
            <p:spPr>
              <a:xfrm>
                <a:off x="609600" y="6556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946" name="Google Shape;946;p35"/>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947" name="Google Shape;947;p35"/>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948" name="Google Shape;948;p35"/>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949" name="Google Shape;949;p35"/>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950" name="Google Shape;950;p35"/>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951" name="Google Shape;951;p35"/>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pic>
          <p:nvPicPr>
            <p:cNvPr id="952" name="Google Shape;952;p35"/>
            <p:cNvPicPr preferRelativeResize="0"/>
            <p:nvPr/>
          </p:nvPicPr>
          <p:blipFill rotWithShape="1">
            <a:blip r:embed="rId10">
              <a:alphaModFix/>
            </a:blip>
            <a:srcRect b="0" l="0" r="0" t="0"/>
            <a:stretch/>
          </p:blipFill>
          <p:spPr>
            <a:xfrm>
              <a:off x="1116012" y="284162"/>
              <a:ext cx="342900" cy="228600"/>
            </a:xfrm>
            <a:prstGeom prst="rect">
              <a:avLst/>
            </a:prstGeom>
            <a:noFill/>
            <a:ln>
              <a:noFill/>
            </a:ln>
          </p:spPr>
        </p:pic>
      </p:grpSp>
      <p:sp>
        <p:nvSpPr>
          <p:cNvPr id="953" name="Google Shape;953;p35"/>
          <p:cNvSpPr/>
          <p:nvPr/>
        </p:nvSpPr>
        <p:spPr>
          <a:xfrm>
            <a:off x="4641849" y="1193799"/>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54" name="Google Shape;954;p35"/>
          <p:cNvSpPr txBox="1"/>
          <p:nvPr/>
        </p:nvSpPr>
        <p:spPr>
          <a:xfrm>
            <a:off x="6664325" y="937975"/>
            <a:ext cx="2601900" cy="8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000"/>
          </a:p>
        </p:txBody>
      </p:sp>
      <p:sp>
        <p:nvSpPr>
          <p:cNvPr id="955" name="Google Shape;955;p35"/>
          <p:cNvSpPr txBox="1"/>
          <p:nvPr/>
        </p:nvSpPr>
        <p:spPr>
          <a:xfrm>
            <a:off x="7683500" y="1035825"/>
            <a:ext cx="355500" cy="22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56" name="Google Shape;956;p35"/>
          <p:cNvSpPr txBox="1"/>
          <p:nvPr/>
        </p:nvSpPr>
        <p:spPr>
          <a:xfrm>
            <a:off x="7045325" y="5662375"/>
            <a:ext cx="2601900" cy="8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000"/>
          </a:p>
        </p:txBody>
      </p:sp>
      <p:sp>
        <p:nvSpPr>
          <p:cNvPr id="957" name="Google Shape;957;p35"/>
          <p:cNvSpPr txBox="1"/>
          <p:nvPr/>
        </p:nvSpPr>
        <p:spPr>
          <a:xfrm>
            <a:off x="6664325" y="934113"/>
            <a:ext cx="2317800" cy="8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600">
                <a:latin typeface="Times New Roman"/>
                <a:ea typeface="Times New Roman"/>
                <a:cs typeface="Times New Roman"/>
                <a:sym typeface="Times New Roman"/>
              </a:rPr>
              <a:t>(</a:t>
            </a:r>
            <a:r>
              <a:rPr i="1" lang="en-US" sz="3000">
                <a:latin typeface="Times New Roman"/>
                <a:ea typeface="Times New Roman"/>
                <a:cs typeface="Times New Roman"/>
                <a:sym typeface="Times New Roman"/>
              </a:rPr>
              <a:t>3pq</a:t>
            </a:r>
            <a:r>
              <a:rPr i="1" lang="en-US" sz="3600">
                <a:latin typeface="Times New Roman"/>
                <a:ea typeface="Times New Roman"/>
                <a:cs typeface="Times New Roman"/>
                <a:sym typeface="Times New Roman"/>
              </a:rPr>
              <a:t> </a:t>
            </a:r>
            <a:r>
              <a:rPr lang="en-US" sz="3600">
                <a:latin typeface="Times New Roman"/>
                <a:ea typeface="Times New Roman"/>
                <a:cs typeface="Times New Roman"/>
                <a:sym typeface="Times New Roman"/>
              </a:rPr>
              <a:t>)(</a:t>
            </a:r>
            <a:r>
              <a:rPr i="1" lang="en-US" sz="3000">
                <a:latin typeface="Times New Roman"/>
                <a:ea typeface="Times New Roman"/>
                <a:cs typeface="Times New Roman"/>
                <a:sym typeface="Times New Roman"/>
              </a:rPr>
              <a:t>p</a:t>
            </a:r>
            <a:r>
              <a:rPr i="1" lang="en-US" sz="3600">
                <a:latin typeface="Times New Roman"/>
                <a:ea typeface="Times New Roman"/>
                <a:cs typeface="Times New Roman"/>
                <a:sym typeface="Times New Roman"/>
              </a:rPr>
              <a:t> </a:t>
            </a:r>
            <a:r>
              <a:rPr lang="en-US" sz="3600">
                <a:latin typeface="Times New Roman"/>
                <a:ea typeface="Times New Roman"/>
                <a:cs typeface="Times New Roman"/>
                <a:sym typeface="Times New Roman"/>
              </a:rPr>
              <a:t>)</a:t>
            </a:r>
            <a:endParaRPr sz="3600">
              <a:latin typeface="Times New Roman"/>
              <a:ea typeface="Times New Roman"/>
              <a:cs typeface="Times New Roman"/>
              <a:sym typeface="Times New Roman"/>
            </a:endParaRPr>
          </a:p>
        </p:txBody>
      </p:sp>
      <p:sp>
        <p:nvSpPr>
          <p:cNvPr id="958" name="Google Shape;958;p35"/>
          <p:cNvSpPr txBox="1"/>
          <p:nvPr/>
        </p:nvSpPr>
        <p:spPr>
          <a:xfrm>
            <a:off x="7988300" y="1112025"/>
            <a:ext cx="355500" cy="22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a:solidFill>
                  <a:srgbClr val="000000"/>
                </a:solidFill>
                <a:latin typeface="Times New Roman"/>
                <a:ea typeface="Times New Roman"/>
                <a:cs typeface="Times New Roman"/>
                <a:sym typeface="Times New Roman"/>
              </a:rPr>
              <a:t>2</a:t>
            </a:r>
            <a:endParaRPr/>
          </a:p>
        </p:txBody>
      </p:sp>
      <p:sp>
        <p:nvSpPr>
          <p:cNvPr id="959" name="Google Shape;959;p35"/>
          <p:cNvSpPr txBox="1"/>
          <p:nvPr/>
        </p:nvSpPr>
        <p:spPr>
          <a:xfrm>
            <a:off x="7397600" y="1150875"/>
            <a:ext cx="260400" cy="15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a:solidFill>
                  <a:srgbClr val="000000"/>
                </a:solidFill>
                <a:latin typeface="Times New Roman"/>
                <a:ea typeface="Times New Roman"/>
                <a:cs typeface="Times New Roman"/>
                <a:sym typeface="Times New Roman"/>
              </a:rPr>
              <a:t>2</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63" name="Shape 963"/>
        <p:cNvGrpSpPr/>
        <p:nvPr/>
      </p:nvGrpSpPr>
      <p:grpSpPr>
        <a:xfrm>
          <a:off x="0" y="0"/>
          <a:ext cx="0" cy="0"/>
          <a:chOff x="0" y="0"/>
          <a:chExt cx="0" cy="0"/>
        </a:xfrm>
      </p:grpSpPr>
      <p:sp>
        <p:nvSpPr>
          <p:cNvPr id="964" name="Google Shape;964;p36"/>
          <p:cNvSpPr/>
          <p:nvPr/>
        </p:nvSpPr>
        <p:spPr>
          <a:xfrm>
            <a:off x="0" y="314325"/>
            <a:ext cx="9156600" cy="5334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433FF"/>
              </a:buClr>
              <a:buFont typeface="Tahoma"/>
              <a:buNone/>
            </a:pPr>
            <a:r>
              <a:rPr b="1" i="0" lang="en-US" sz="2800" u="none" cap="none" strike="noStrike">
                <a:solidFill>
                  <a:srgbClr val="0433FF"/>
                </a:solidFill>
                <a:latin typeface="Tahoma"/>
                <a:ea typeface="Tahoma"/>
                <a:cs typeface="Tahoma"/>
                <a:sym typeface="Tahoma"/>
              </a:rPr>
              <a:t>Reed-Frost: example with n=4 (2)</a:t>
            </a:r>
            <a:endParaRPr/>
          </a:p>
        </p:txBody>
      </p:sp>
      <p:sp>
        <p:nvSpPr>
          <p:cNvPr id="965" name="Google Shape;965;p36"/>
          <p:cNvSpPr txBox="1"/>
          <p:nvPr/>
        </p:nvSpPr>
        <p:spPr>
          <a:xfrm>
            <a:off x="7683500" y="1035825"/>
            <a:ext cx="355500" cy="22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66" name="Google Shape;966;p36"/>
          <p:cNvSpPr txBox="1"/>
          <p:nvPr/>
        </p:nvSpPr>
        <p:spPr>
          <a:xfrm>
            <a:off x="7045325" y="5662375"/>
            <a:ext cx="2601900" cy="8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000"/>
          </a:p>
        </p:txBody>
      </p:sp>
      <p:sp>
        <p:nvSpPr>
          <p:cNvPr id="967" name="Google Shape;967;p36"/>
          <p:cNvSpPr txBox="1"/>
          <p:nvPr/>
        </p:nvSpPr>
        <p:spPr>
          <a:xfrm>
            <a:off x="596075" y="1217125"/>
            <a:ext cx="7045200" cy="58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Remember: must look at all possible Infected - Susceptible pairs</a:t>
            </a:r>
            <a:endParaRPr/>
          </a:p>
          <a:p>
            <a:pPr indent="0" lvl="0" marL="0" rtl="0" algn="l">
              <a:spcBef>
                <a:spcPts val="0"/>
              </a:spcBef>
              <a:spcAft>
                <a:spcPts val="0"/>
              </a:spcAft>
              <a:buNone/>
            </a:pPr>
            <a:r>
              <a:rPr lang="en-US"/>
              <a:t>Probability of moving from SIIR → IRRR?</a:t>
            </a:r>
            <a:endParaRPr/>
          </a:p>
        </p:txBody>
      </p:sp>
      <p:sp>
        <p:nvSpPr>
          <p:cNvPr id="968" name="Google Shape;968;p36"/>
          <p:cNvSpPr txBox="1"/>
          <p:nvPr/>
        </p:nvSpPr>
        <p:spPr>
          <a:xfrm>
            <a:off x="624175" y="5139200"/>
            <a:ext cx="8145300" cy="104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solidFill>
                  <a:schemeClr val="dk1"/>
                </a:solidFill>
              </a:rPr>
              <a:t> </a:t>
            </a:r>
            <a:r>
              <a:rPr lang="en-US" sz="3000">
                <a:solidFill>
                  <a:schemeClr val="dk1"/>
                </a:solidFill>
                <a:latin typeface="Times New Roman"/>
                <a:ea typeface="Times New Roman"/>
                <a:cs typeface="Times New Roman"/>
                <a:sym typeface="Times New Roman"/>
              </a:rPr>
              <a:t>P</a:t>
            </a:r>
            <a:r>
              <a:rPr lang="en-US" sz="3600">
                <a:solidFill>
                  <a:schemeClr val="dk1"/>
                </a:solidFill>
                <a:latin typeface="Times New Roman"/>
                <a:ea typeface="Times New Roman"/>
                <a:cs typeface="Times New Roman"/>
                <a:sym typeface="Times New Roman"/>
              </a:rPr>
              <a:t>(</a:t>
            </a:r>
            <a:r>
              <a:rPr lang="en-US" sz="3000">
                <a:solidFill>
                  <a:schemeClr val="dk1"/>
                </a:solidFill>
              </a:rPr>
              <a:t>SIIR</a:t>
            </a:r>
            <a:r>
              <a:rPr lang="en-US" sz="3000">
                <a:solidFill>
                  <a:schemeClr val="dk1"/>
                </a:solidFill>
                <a:latin typeface="Times New Roman"/>
                <a:ea typeface="Times New Roman"/>
                <a:cs typeface="Times New Roman"/>
                <a:sym typeface="Times New Roman"/>
              </a:rPr>
              <a:t> → </a:t>
            </a:r>
            <a:r>
              <a:rPr lang="en-US" sz="3000">
                <a:solidFill>
                  <a:schemeClr val="dk1"/>
                </a:solidFill>
              </a:rPr>
              <a:t>IRRR</a:t>
            </a:r>
            <a:r>
              <a:rPr lang="en-US" sz="3600">
                <a:solidFill>
                  <a:schemeClr val="dk1"/>
                </a:solidFill>
                <a:latin typeface="Times New Roman"/>
                <a:ea typeface="Times New Roman"/>
                <a:cs typeface="Times New Roman"/>
                <a:sym typeface="Times New Roman"/>
              </a:rPr>
              <a:t>)</a:t>
            </a:r>
            <a:r>
              <a:rPr lang="en-US" sz="3000">
                <a:solidFill>
                  <a:schemeClr val="dk1"/>
                </a:solidFill>
                <a:latin typeface="Times New Roman"/>
                <a:ea typeface="Times New Roman"/>
                <a:cs typeface="Times New Roman"/>
                <a:sym typeface="Times New Roman"/>
              </a:rPr>
              <a:t> =</a:t>
            </a:r>
            <a:r>
              <a:rPr lang="en-US">
                <a:solidFill>
                  <a:schemeClr val="dk1"/>
                </a:solidFill>
              </a:rPr>
              <a:t>  </a:t>
            </a:r>
            <a:r>
              <a:rPr i="1" lang="en-US" sz="3000">
                <a:solidFill>
                  <a:schemeClr val="dk1"/>
                </a:solidFill>
                <a:latin typeface="Times New Roman"/>
                <a:ea typeface="Times New Roman"/>
                <a:cs typeface="Times New Roman"/>
                <a:sym typeface="Times New Roman"/>
              </a:rPr>
              <a:t>p  + 2pq = 1 - q</a:t>
            </a:r>
            <a:endParaRPr/>
          </a:p>
        </p:txBody>
      </p:sp>
      <p:grpSp>
        <p:nvGrpSpPr>
          <p:cNvPr id="969" name="Google Shape;969;p36"/>
          <p:cNvGrpSpPr/>
          <p:nvPr/>
        </p:nvGrpSpPr>
        <p:grpSpPr>
          <a:xfrm>
            <a:off x="2116137" y="1851025"/>
            <a:ext cx="2711412" cy="1046012"/>
            <a:chOff x="1651000" y="0"/>
            <a:chExt cx="2711412" cy="1046012"/>
          </a:xfrm>
        </p:grpSpPr>
        <p:grpSp>
          <p:nvGrpSpPr>
            <p:cNvPr id="970" name="Google Shape;970;p36"/>
            <p:cNvGrpSpPr/>
            <p:nvPr/>
          </p:nvGrpSpPr>
          <p:grpSpPr>
            <a:xfrm>
              <a:off x="1651000" y="36512"/>
              <a:ext cx="1023900" cy="1009500"/>
              <a:chOff x="0" y="0"/>
              <a:chExt cx="1023900" cy="1009500"/>
            </a:xfrm>
          </p:grpSpPr>
          <p:sp>
            <p:nvSpPr>
              <p:cNvPr id="971" name="Google Shape;971;p36"/>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72" name="Google Shape;972;p36"/>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73" name="Google Shape;973;p36"/>
              <p:cNvSpPr/>
              <p:nvPr/>
            </p:nvSpPr>
            <p:spPr>
              <a:xfrm>
                <a:off x="125412" y="569912"/>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74" name="Google Shape;974;p36"/>
              <p:cNvSpPr/>
              <p:nvPr/>
            </p:nvSpPr>
            <p:spPr>
              <a:xfrm>
                <a:off x="609600" y="655637"/>
                <a:ext cx="150900" cy="150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75" name="Google Shape;975;p36"/>
              <p:cNvSpPr/>
              <p:nvPr/>
            </p:nvSpPr>
            <p:spPr>
              <a:xfrm>
                <a:off x="781050" y="2746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976" name="Google Shape;976;p36"/>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977" name="Google Shape;977;p36"/>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978" name="Google Shape;978;p36"/>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979" name="Google Shape;979;p36"/>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980" name="Google Shape;980;p36"/>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981" name="Google Shape;981;p36"/>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cxnSp>
          <p:nvCxnSpPr>
            <p:cNvPr id="982" name="Google Shape;982;p36"/>
            <p:cNvCxnSpPr/>
            <p:nvPr/>
          </p:nvCxnSpPr>
          <p:spPr>
            <a:xfrm>
              <a:off x="2781300" y="498475"/>
              <a:ext cx="460500" cy="1500"/>
            </a:xfrm>
            <a:prstGeom prst="straightConnector1">
              <a:avLst/>
            </a:prstGeom>
            <a:noFill/>
            <a:ln cap="flat" cmpd="sng" w="9525">
              <a:solidFill>
                <a:srgbClr val="000000"/>
              </a:solidFill>
              <a:prstDash val="solid"/>
              <a:round/>
              <a:headEnd len="sm" w="sm" type="none"/>
              <a:tailEnd len="med" w="med" type="triangle"/>
            </a:ln>
          </p:spPr>
        </p:cxnSp>
        <p:grpSp>
          <p:nvGrpSpPr>
            <p:cNvPr id="983" name="Google Shape;983;p36"/>
            <p:cNvGrpSpPr/>
            <p:nvPr/>
          </p:nvGrpSpPr>
          <p:grpSpPr>
            <a:xfrm>
              <a:off x="3338512" y="0"/>
              <a:ext cx="1023900" cy="1009500"/>
              <a:chOff x="0" y="0"/>
              <a:chExt cx="1023900" cy="1009500"/>
            </a:xfrm>
          </p:grpSpPr>
          <p:sp>
            <p:nvSpPr>
              <p:cNvPr id="984" name="Google Shape;984;p36"/>
              <p:cNvSpPr/>
              <p:nvPr/>
            </p:nvSpPr>
            <p:spPr>
              <a:xfrm>
                <a:off x="0" y="0"/>
                <a:ext cx="1023900" cy="1009500"/>
              </a:xfrm>
              <a:prstGeom prst="ellipse">
                <a:avLst/>
              </a:prstGeom>
              <a:solidFill>
                <a:srgbClr val="CBCBCB"/>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85" name="Google Shape;985;p36"/>
              <p:cNvSpPr/>
              <p:nvPr/>
            </p:nvSpPr>
            <p:spPr>
              <a:xfrm>
                <a:off x="219075" y="1730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86" name="Google Shape;986;p36"/>
              <p:cNvSpPr/>
              <p:nvPr/>
            </p:nvSpPr>
            <p:spPr>
              <a:xfrm>
                <a:off x="125412" y="569912"/>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87" name="Google Shape;987;p36"/>
              <p:cNvSpPr/>
              <p:nvPr/>
            </p:nvSpPr>
            <p:spPr>
              <a:xfrm>
                <a:off x="609600" y="655637"/>
                <a:ext cx="150900" cy="150900"/>
              </a:xfrm>
              <a:prstGeom prst="ellipse">
                <a:avLst/>
              </a:prstGeom>
              <a:solidFill>
                <a:srgbClr val="FF2600"/>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988" name="Google Shape;988;p36"/>
              <p:cNvSpPr/>
              <p:nvPr/>
            </p:nvSpPr>
            <p:spPr>
              <a:xfrm>
                <a:off x="781050" y="274637"/>
                <a:ext cx="150900" cy="150900"/>
              </a:xfrm>
              <a:prstGeom prst="ellipse">
                <a:avLst/>
              </a:prstGeom>
              <a:solidFill>
                <a:srgbClr val="009193"/>
              </a:solidFill>
              <a:ln cap="flat" cmpd="sng" w="9525">
                <a:solidFill>
                  <a:srgbClr val="000000"/>
                </a:solidFill>
                <a:prstDash val="solid"/>
                <a:round/>
                <a:headEnd len="sm" w="sm" type="none"/>
                <a:tailEnd len="sm" w="sm" type="none"/>
              </a:ln>
            </p:spPr>
            <p:txBody>
              <a:bodyPr anchorCtr="0" anchor="ctr"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cxnSp>
            <p:nvCxnSpPr>
              <p:cNvPr id="989" name="Google Shape;989;p36"/>
              <p:cNvCxnSpPr/>
              <p:nvPr/>
            </p:nvCxnSpPr>
            <p:spPr>
              <a:xfrm>
                <a:off x="339725" y="306387"/>
                <a:ext cx="288900" cy="368400"/>
              </a:xfrm>
              <a:prstGeom prst="straightConnector1">
                <a:avLst/>
              </a:prstGeom>
              <a:noFill/>
              <a:ln cap="flat" cmpd="sng" w="28575">
                <a:solidFill>
                  <a:srgbClr val="FFFDA9"/>
                </a:solidFill>
                <a:prstDash val="solid"/>
                <a:round/>
                <a:headEnd len="sm" w="sm" type="none"/>
                <a:tailEnd len="sm" w="sm" type="none"/>
              </a:ln>
            </p:spPr>
          </p:cxnSp>
          <p:cxnSp>
            <p:nvCxnSpPr>
              <p:cNvPr id="990" name="Google Shape;990;p36"/>
              <p:cNvCxnSpPr/>
              <p:nvPr/>
            </p:nvCxnSpPr>
            <p:spPr>
              <a:xfrm flipH="1" rot="10800000">
                <a:off x="274637" y="387275"/>
                <a:ext cx="498600" cy="200100"/>
              </a:xfrm>
              <a:prstGeom prst="straightConnector1">
                <a:avLst/>
              </a:prstGeom>
              <a:noFill/>
              <a:ln cap="flat" cmpd="sng" w="28575">
                <a:solidFill>
                  <a:srgbClr val="FFFDA9"/>
                </a:solidFill>
                <a:prstDash val="solid"/>
                <a:round/>
                <a:headEnd len="sm" w="sm" type="none"/>
                <a:tailEnd len="sm" w="sm" type="none"/>
              </a:ln>
            </p:spPr>
          </p:cxnSp>
          <p:cxnSp>
            <p:nvCxnSpPr>
              <p:cNvPr id="991" name="Google Shape;991;p36"/>
              <p:cNvCxnSpPr/>
              <p:nvPr/>
            </p:nvCxnSpPr>
            <p:spPr>
              <a:xfrm>
                <a:off x="290512" y="673100"/>
                <a:ext cx="311100" cy="72900"/>
              </a:xfrm>
              <a:prstGeom prst="straightConnector1">
                <a:avLst/>
              </a:prstGeom>
              <a:noFill/>
              <a:ln cap="flat" cmpd="sng" w="28575">
                <a:solidFill>
                  <a:srgbClr val="FFFDA9"/>
                </a:solidFill>
                <a:prstDash val="solid"/>
                <a:round/>
                <a:headEnd len="sm" w="sm" type="none"/>
                <a:tailEnd len="sm" w="sm" type="none"/>
              </a:ln>
            </p:spPr>
          </p:cxnSp>
          <p:cxnSp>
            <p:nvCxnSpPr>
              <p:cNvPr id="992" name="Google Shape;992;p36"/>
              <p:cNvCxnSpPr/>
              <p:nvPr/>
            </p:nvCxnSpPr>
            <p:spPr>
              <a:xfrm flipH="1">
                <a:off x="239838" y="342900"/>
                <a:ext cx="34800" cy="203100"/>
              </a:xfrm>
              <a:prstGeom prst="straightConnector1">
                <a:avLst/>
              </a:prstGeom>
              <a:noFill/>
              <a:ln cap="flat" cmpd="sng" w="28575">
                <a:solidFill>
                  <a:srgbClr val="FFFDA9"/>
                </a:solidFill>
                <a:prstDash val="solid"/>
                <a:round/>
                <a:headEnd len="sm" w="sm" type="none"/>
                <a:tailEnd len="sm" w="sm" type="none"/>
              </a:ln>
            </p:spPr>
          </p:cxnSp>
          <p:cxnSp>
            <p:nvCxnSpPr>
              <p:cNvPr id="993" name="Google Shape;993;p36"/>
              <p:cNvCxnSpPr/>
              <p:nvPr/>
            </p:nvCxnSpPr>
            <p:spPr>
              <a:xfrm flipH="1">
                <a:off x="730338" y="434975"/>
                <a:ext cx="77700" cy="209400"/>
              </a:xfrm>
              <a:prstGeom prst="straightConnector1">
                <a:avLst/>
              </a:prstGeom>
              <a:noFill/>
              <a:ln cap="flat" cmpd="sng" w="28575">
                <a:solidFill>
                  <a:srgbClr val="FFFDA9"/>
                </a:solidFill>
                <a:prstDash val="solid"/>
                <a:round/>
                <a:headEnd len="sm" w="sm" type="none"/>
                <a:tailEnd len="sm" w="sm" type="none"/>
              </a:ln>
            </p:spPr>
          </p:cxnSp>
          <p:cxnSp>
            <p:nvCxnSpPr>
              <p:cNvPr id="994" name="Google Shape;994;p36"/>
              <p:cNvCxnSpPr/>
              <p:nvPr/>
            </p:nvCxnSpPr>
            <p:spPr>
              <a:xfrm rot="10800000">
                <a:off x="377688" y="274538"/>
                <a:ext cx="373200" cy="63600"/>
              </a:xfrm>
              <a:prstGeom prst="straightConnector1">
                <a:avLst/>
              </a:prstGeom>
              <a:noFill/>
              <a:ln cap="flat" cmpd="sng" w="28575">
                <a:solidFill>
                  <a:srgbClr val="FFFDA9"/>
                </a:solidFill>
                <a:prstDash val="solid"/>
                <a:round/>
                <a:headEnd len="sm" w="sm" type="none"/>
                <a:tailEnd len="sm" w="sm" type="none"/>
              </a:ln>
            </p:spPr>
          </p:cxnSp>
        </p:grpSp>
      </p:grpSp>
      <p:sp>
        <p:nvSpPr>
          <p:cNvPr id="995" name="Google Shape;995;p36"/>
          <p:cNvSpPr txBox="1"/>
          <p:nvPr/>
        </p:nvSpPr>
        <p:spPr>
          <a:xfrm>
            <a:off x="2194125" y="2375075"/>
            <a:ext cx="126900" cy="9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1</a:t>
            </a:r>
            <a:endParaRPr sz="1000"/>
          </a:p>
        </p:txBody>
      </p:sp>
      <p:sp>
        <p:nvSpPr>
          <p:cNvPr id="996" name="Google Shape;996;p36"/>
          <p:cNvSpPr txBox="1"/>
          <p:nvPr/>
        </p:nvSpPr>
        <p:spPr>
          <a:xfrm>
            <a:off x="2850250" y="2062725"/>
            <a:ext cx="2439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2</a:t>
            </a:r>
            <a:endParaRPr sz="1000"/>
          </a:p>
        </p:txBody>
      </p:sp>
      <p:sp>
        <p:nvSpPr>
          <p:cNvPr id="997" name="Google Shape;997;p36"/>
          <p:cNvSpPr txBox="1"/>
          <p:nvPr/>
        </p:nvSpPr>
        <p:spPr>
          <a:xfrm>
            <a:off x="2668175" y="2446175"/>
            <a:ext cx="2439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t>S</a:t>
            </a:r>
            <a:endParaRPr sz="1000"/>
          </a:p>
        </p:txBody>
      </p:sp>
      <p:sp>
        <p:nvSpPr>
          <p:cNvPr id="998" name="Google Shape;998;p36"/>
          <p:cNvSpPr txBox="1"/>
          <p:nvPr/>
        </p:nvSpPr>
        <p:spPr>
          <a:xfrm>
            <a:off x="1511700" y="3195475"/>
            <a:ext cx="6649200" cy="220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3 possible ways that the susceptible could become infected:</a:t>
            </a:r>
            <a:endParaRPr sz="3000">
              <a:latin typeface="Times New Roman"/>
              <a:ea typeface="Times New Roman"/>
              <a:cs typeface="Times New Roman"/>
              <a:sym typeface="Times New Roman"/>
            </a:endParaRPr>
          </a:p>
          <a:p>
            <a:pPr indent="0" lvl="0" marL="0" rtl="0" algn="l">
              <a:spcBef>
                <a:spcPts val="0"/>
              </a:spcBef>
              <a:spcAft>
                <a:spcPts val="0"/>
              </a:spcAft>
              <a:buNone/>
            </a:pPr>
            <a:r>
              <a:rPr lang="en-US" sz="3000">
                <a:latin typeface="Times New Roman"/>
                <a:ea typeface="Times New Roman"/>
                <a:cs typeface="Times New Roman"/>
                <a:sym typeface="Times New Roman"/>
              </a:rPr>
              <a:t>P</a:t>
            </a:r>
            <a:r>
              <a:rPr lang="en-US" sz="3600"/>
              <a:t>(</a:t>
            </a:r>
            <a:r>
              <a:rPr lang="en-US" sz="2400"/>
              <a:t>1 transmits &amp; 2 doesn’t</a:t>
            </a:r>
            <a:r>
              <a:rPr lang="en-US" sz="3600"/>
              <a:t>) </a:t>
            </a:r>
            <a:r>
              <a:rPr lang="en-US" sz="2400"/>
              <a:t>=</a:t>
            </a:r>
            <a:r>
              <a:rPr lang="en-US" sz="3600"/>
              <a:t> </a:t>
            </a:r>
            <a:r>
              <a:rPr i="1" lang="en-US" sz="3000">
                <a:solidFill>
                  <a:schemeClr val="dk1"/>
                </a:solidFill>
                <a:latin typeface="Times New Roman"/>
                <a:ea typeface="Times New Roman"/>
                <a:cs typeface="Times New Roman"/>
                <a:sym typeface="Times New Roman"/>
              </a:rPr>
              <a:t>pq</a:t>
            </a:r>
            <a:endParaRPr i="1" sz="3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3000">
                <a:solidFill>
                  <a:schemeClr val="dk1"/>
                </a:solidFill>
                <a:latin typeface="Times New Roman"/>
                <a:ea typeface="Times New Roman"/>
                <a:cs typeface="Times New Roman"/>
                <a:sym typeface="Times New Roman"/>
              </a:rPr>
              <a:t>P</a:t>
            </a:r>
            <a:r>
              <a:rPr lang="en-US" sz="3600">
                <a:solidFill>
                  <a:schemeClr val="dk1"/>
                </a:solidFill>
              </a:rPr>
              <a:t>(</a:t>
            </a:r>
            <a:r>
              <a:rPr lang="en-US" sz="2400">
                <a:solidFill>
                  <a:schemeClr val="dk1"/>
                </a:solidFill>
              </a:rPr>
              <a:t>1 doesn’t transmit &amp; 2 does</a:t>
            </a:r>
            <a:r>
              <a:rPr lang="en-US" sz="3600">
                <a:solidFill>
                  <a:schemeClr val="dk1"/>
                </a:solidFill>
              </a:rPr>
              <a:t>) </a:t>
            </a:r>
            <a:r>
              <a:rPr lang="en-US" sz="2400">
                <a:solidFill>
                  <a:schemeClr val="dk1"/>
                </a:solidFill>
              </a:rPr>
              <a:t>=</a:t>
            </a:r>
            <a:r>
              <a:rPr lang="en-US" sz="3600">
                <a:solidFill>
                  <a:schemeClr val="dk1"/>
                </a:solidFill>
              </a:rPr>
              <a:t> </a:t>
            </a:r>
            <a:r>
              <a:rPr i="1" lang="en-US" sz="3000">
                <a:solidFill>
                  <a:schemeClr val="dk1"/>
                </a:solidFill>
                <a:latin typeface="Times New Roman"/>
                <a:ea typeface="Times New Roman"/>
                <a:cs typeface="Times New Roman"/>
                <a:sym typeface="Times New Roman"/>
              </a:rPr>
              <a:t>pq</a:t>
            </a:r>
            <a:r>
              <a:rPr lang="en-US" sz="3600">
                <a:solidFill>
                  <a:schemeClr val="dk1"/>
                </a:solidFill>
              </a:rPr>
              <a:t> </a:t>
            </a:r>
            <a:endParaRPr sz="3600">
              <a:solidFill>
                <a:schemeClr val="dk1"/>
              </a:solidFill>
            </a:endParaRPr>
          </a:p>
          <a:p>
            <a:pPr indent="0" lvl="0" marL="0" rtl="0" algn="l">
              <a:spcBef>
                <a:spcPts val="0"/>
              </a:spcBef>
              <a:spcAft>
                <a:spcPts val="0"/>
              </a:spcAft>
              <a:buNone/>
            </a:pPr>
            <a:r>
              <a:rPr lang="en-US" sz="3000">
                <a:solidFill>
                  <a:schemeClr val="dk1"/>
                </a:solidFill>
                <a:latin typeface="Times New Roman"/>
                <a:ea typeface="Times New Roman"/>
                <a:cs typeface="Times New Roman"/>
                <a:sym typeface="Times New Roman"/>
              </a:rPr>
              <a:t>P</a:t>
            </a:r>
            <a:r>
              <a:rPr lang="en-US" sz="3600">
                <a:solidFill>
                  <a:schemeClr val="dk1"/>
                </a:solidFill>
              </a:rPr>
              <a:t>(</a:t>
            </a:r>
            <a:r>
              <a:rPr lang="en-US" sz="2400">
                <a:solidFill>
                  <a:schemeClr val="dk1"/>
                </a:solidFill>
              </a:rPr>
              <a:t>1 transmits &amp; 2 transmits</a:t>
            </a:r>
            <a:r>
              <a:rPr lang="en-US" sz="3600">
                <a:solidFill>
                  <a:schemeClr val="dk1"/>
                </a:solidFill>
              </a:rPr>
              <a:t>) </a:t>
            </a:r>
            <a:r>
              <a:rPr lang="en-US" sz="2400">
                <a:solidFill>
                  <a:schemeClr val="dk1"/>
                </a:solidFill>
              </a:rPr>
              <a:t>=</a:t>
            </a:r>
            <a:r>
              <a:rPr lang="en-US" sz="3600">
                <a:solidFill>
                  <a:schemeClr val="dk1"/>
                </a:solidFill>
              </a:rPr>
              <a:t> </a:t>
            </a:r>
            <a:r>
              <a:rPr i="1" lang="en-US" sz="3000">
                <a:solidFill>
                  <a:schemeClr val="dk1"/>
                </a:solidFill>
                <a:latin typeface="Times New Roman"/>
                <a:ea typeface="Times New Roman"/>
                <a:cs typeface="Times New Roman"/>
                <a:sym typeface="Times New Roman"/>
              </a:rPr>
              <a:t>p</a:t>
            </a:r>
            <a:r>
              <a:rPr lang="en-US" sz="3600">
                <a:solidFill>
                  <a:schemeClr val="dk1"/>
                </a:solidFill>
              </a:rPr>
              <a:t> </a:t>
            </a:r>
            <a:r>
              <a:rPr lang="en-US" sz="3600"/>
              <a:t> </a:t>
            </a:r>
            <a:endParaRPr sz="3600"/>
          </a:p>
        </p:txBody>
      </p:sp>
      <p:sp>
        <p:nvSpPr>
          <p:cNvPr id="999" name="Google Shape;999;p36"/>
          <p:cNvSpPr txBox="1"/>
          <p:nvPr/>
        </p:nvSpPr>
        <p:spPr>
          <a:xfrm>
            <a:off x="6056675" y="4663075"/>
            <a:ext cx="423900" cy="3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2</a:t>
            </a:r>
            <a:endParaRPr/>
          </a:p>
        </p:txBody>
      </p:sp>
      <p:sp>
        <p:nvSpPr>
          <p:cNvPr id="1000" name="Google Shape;1000;p36"/>
          <p:cNvSpPr/>
          <p:nvPr/>
        </p:nvSpPr>
        <p:spPr>
          <a:xfrm>
            <a:off x="1157750" y="3900950"/>
            <a:ext cx="355500" cy="355500"/>
          </a:xfrm>
          <a:prstGeom prst="mathPlus">
            <a:avLst>
              <a:gd fmla="val 23520" name="adj1"/>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36"/>
          <p:cNvSpPr/>
          <p:nvPr/>
        </p:nvSpPr>
        <p:spPr>
          <a:xfrm>
            <a:off x="1157750" y="4434350"/>
            <a:ext cx="355500" cy="355500"/>
          </a:xfrm>
          <a:prstGeom prst="mathPlus">
            <a:avLst>
              <a:gd fmla="val 23520" name="adj1"/>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36"/>
          <p:cNvSpPr txBox="1"/>
          <p:nvPr/>
        </p:nvSpPr>
        <p:spPr>
          <a:xfrm>
            <a:off x="4075475" y="5501275"/>
            <a:ext cx="423900" cy="3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2</a:t>
            </a:r>
            <a:endParaRPr/>
          </a:p>
        </p:txBody>
      </p:sp>
      <p:sp>
        <p:nvSpPr>
          <p:cNvPr id="1003" name="Google Shape;1003;p36"/>
          <p:cNvSpPr txBox="1"/>
          <p:nvPr/>
        </p:nvSpPr>
        <p:spPr>
          <a:xfrm>
            <a:off x="6285275" y="5501275"/>
            <a:ext cx="423900" cy="3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2</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07" name="Shape 1007"/>
        <p:cNvGrpSpPr/>
        <p:nvPr/>
      </p:nvGrpSpPr>
      <p:grpSpPr>
        <a:xfrm>
          <a:off x="0" y="0"/>
          <a:ext cx="0" cy="0"/>
          <a:chOff x="0" y="0"/>
          <a:chExt cx="0" cy="0"/>
        </a:xfrm>
      </p:grpSpPr>
      <p:sp>
        <p:nvSpPr>
          <p:cNvPr id="1008" name="Google Shape;1008;p37"/>
          <p:cNvSpPr/>
          <p:nvPr/>
        </p:nvSpPr>
        <p:spPr>
          <a:xfrm>
            <a:off x="0" y="333375"/>
            <a:ext cx="9156600" cy="5334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433FF"/>
              </a:buClr>
              <a:buFont typeface="Tahoma"/>
              <a:buNone/>
            </a:pPr>
            <a:r>
              <a:rPr b="1" i="0" lang="en-US" sz="2800" u="none" cap="none" strike="noStrike">
                <a:solidFill>
                  <a:srgbClr val="0433FF"/>
                </a:solidFill>
                <a:latin typeface="Tahoma"/>
                <a:ea typeface="Tahoma"/>
                <a:cs typeface="Tahoma"/>
                <a:sym typeface="Tahoma"/>
              </a:rPr>
              <a:t>An example R function</a:t>
            </a:r>
            <a:endParaRPr/>
          </a:p>
        </p:txBody>
      </p:sp>
      <p:sp>
        <p:nvSpPr>
          <p:cNvPr id="1009" name="Google Shape;1009;p37"/>
          <p:cNvSpPr txBox="1"/>
          <p:nvPr/>
        </p:nvSpPr>
        <p:spPr>
          <a:xfrm>
            <a:off x="626800" y="894725"/>
            <a:ext cx="8001000" cy="502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Courier New"/>
                <a:ea typeface="Courier New"/>
                <a:cs typeface="Courier New"/>
                <a:sym typeface="Courier New"/>
              </a:rPr>
              <a:t># Reed-Frost model:N = number of individuals per household;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 p = probability of a susceptible becoming infected per infected in the # household.  Output: number of new infected at each generation.</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aid.household &lt;- function(p, N){</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  rtn &lt;- c()</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  inf &lt;- 1</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  sus &lt;- N-1</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  while(inf &gt; 0 &amp;&amp; sus &gt; 0){</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    newinf &lt;- 0</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    for(i in 1:inf){</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      for(j in 1:sus){</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        if(runif(1) &lt; p){</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          newinf &lt;- newinf + 1</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          sus &lt;- sus - 1</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    rtn &lt;- c(rtn, newinf)</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    inf &lt;- newinf</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  rtn</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test &lt;- replicate(100, aid.household(p=0.41, N=4), simplify="array")</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latin typeface="Courier New"/>
                <a:ea typeface="Courier New"/>
                <a:cs typeface="Courier New"/>
                <a:sym typeface="Courier New"/>
              </a:rPr>
              <a:t>head(test, n = 10) # view first 10 outputs</a:t>
            </a:r>
            <a:endParaRPr>
              <a:latin typeface="Courier New"/>
              <a:ea typeface="Courier New"/>
              <a:cs typeface="Courier New"/>
              <a:sym typeface="Courier New"/>
            </a:endParaRPr>
          </a:p>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13" name="Shape 1013"/>
        <p:cNvGrpSpPr/>
        <p:nvPr/>
      </p:nvGrpSpPr>
      <p:grpSpPr>
        <a:xfrm>
          <a:off x="0" y="0"/>
          <a:ext cx="0" cy="0"/>
          <a:chOff x="0" y="0"/>
          <a:chExt cx="0" cy="0"/>
        </a:xfrm>
      </p:grpSpPr>
      <p:sp>
        <p:nvSpPr>
          <p:cNvPr id="1014" name="Google Shape;1014;p38"/>
          <p:cNvSpPr/>
          <p:nvPr/>
        </p:nvSpPr>
        <p:spPr>
          <a:xfrm>
            <a:off x="0" y="333375"/>
            <a:ext cx="9156700" cy="533400"/>
          </a:xfrm>
          <a:prstGeom prst="rect">
            <a:avLst/>
          </a:prstGeom>
          <a:noFill/>
          <a:ln>
            <a:noFill/>
          </a:ln>
        </p:spPr>
        <p:txBody>
          <a:bodyPr anchorCtr="0" anchor="t" bIns="50800" lIns="50800" spcFirstLastPara="1" rIns="50800" wrap="square" tIns="50800">
            <a:noAutofit/>
          </a:bodyPr>
          <a:lstStyle/>
          <a:p>
            <a:pPr indent="-2539" lvl="0" marL="40639" marR="40639" rtl="0" algn="ctr">
              <a:lnSpc>
                <a:spcPct val="100000"/>
              </a:lnSpc>
              <a:spcBef>
                <a:spcPts val="0"/>
              </a:spcBef>
              <a:spcAft>
                <a:spcPts val="0"/>
              </a:spcAft>
              <a:buClr>
                <a:srgbClr val="0433FF"/>
              </a:buClr>
              <a:buFont typeface="Tahoma"/>
              <a:buNone/>
            </a:pPr>
            <a:r>
              <a:rPr b="1" i="0" lang="en-US" sz="2800" u="none" cap="none" strike="noStrike">
                <a:solidFill>
                  <a:srgbClr val="0433FF"/>
                </a:solidFill>
                <a:latin typeface="Tahoma"/>
                <a:ea typeface="Tahoma"/>
                <a:cs typeface="Tahoma"/>
                <a:sym typeface="Tahoma"/>
              </a:rPr>
              <a:t>Reed-Frost: example with n=4 (3)</a:t>
            </a:r>
            <a:endParaRPr/>
          </a:p>
        </p:txBody>
      </p:sp>
      <p:pic>
        <p:nvPicPr>
          <p:cNvPr id="1015" name="Google Shape;1015;p38"/>
          <p:cNvPicPr preferRelativeResize="0"/>
          <p:nvPr/>
        </p:nvPicPr>
        <p:blipFill rotWithShape="1">
          <a:blip r:embed="rId3">
            <a:alphaModFix/>
          </a:blip>
          <a:srcRect b="0" l="0" r="0" t="0"/>
          <a:stretch/>
        </p:blipFill>
        <p:spPr>
          <a:xfrm>
            <a:off x="1008062" y="1104900"/>
            <a:ext cx="7208838" cy="4406900"/>
          </a:xfrm>
          <a:prstGeom prst="rect">
            <a:avLst/>
          </a:prstGeom>
          <a:noFill/>
          <a:ln>
            <a:noFill/>
          </a:ln>
        </p:spPr>
      </p:pic>
      <p:sp>
        <p:nvSpPr>
          <p:cNvPr id="1016" name="Google Shape;1016;p38"/>
          <p:cNvSpPr/>
          <p:nvPr/>
        </p:nvSpPr>
        <p:spPr>
          <a:xfrm>
            <a:off x="633412" y="5380037"/>
            <a:ext cx="8267701" cy="1358901"/>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rPr b="1" i="0" lang="en-US" sz="1800" u="none" cap="none" strike="noStrike">
                <a:solidFill>
                  <a:srgbClr val="000000"/>
                </a:solidFill>
                <a:latin typeface="Tahoma"/>
                <a:ea typeface="Tahoma"/>
                <a:cs typeface="Tahoma"/>
                <a:sym typeface="Tahoma"/>
              </a:rPr>
              <a:t>For a large range of parameters, all outcomes are almost equiprobable.</a:t>
            </a:r>
            <a:r>
              <a:rPr b="0" i="0" lang="en-US" sz="1800" u="none" cap="none" strike="noStrike">
                <a:solidFill>
                  <a:srgbClr val="000000"/>
                </a:solidFill>
                <a:latin typeface="Tahoma"/>
                <a:ea typeface="Tahoma"/>
                <a:cs typeface="Tahoma"/>
                <a:sym typeface="Tahoma"/>
              </a:rPr>
              <a:t> </a:t>
            </a:r>
            <a:endParaRPr b="0" i="0" sz="1800" u="none" cap="none" strike="noStrike">
              <a:solidFill>
                <a:srgbClr val="000000"/>
              </a:solidFill>
              <a:latin typeface="Tahoma"/>
              <a:ea typeface="Tahoma"/>
              <a:cs typeface="Tahoma"/>
              <a:sym typeface="Tahoma"/>
            </a:endParaRPr>
          </a:p>
          <a:p>
            <a:pPr indent="-2539" lvl="0" marL="40639" marR="40639" rtl="0" algn="l">
              <a:lnSpc>
                <a:spcPct val="100000"/>
              </a:lnSpc>
              <a:spcBef>
                <a:spcPts val="1100"/>
              </a:spcBef>
              <a:spcAft>
                <a:spcPts val="0"/>
              </a:spcAft>
              <a:buClr>
                <a:srgbClr val="000000"/>
              </a:buClr>
              <a:buFont typeface="Tahoma"/>
              <a:buNone/>
            </a:pPr>
            <a:r>
              <a:rPr b="0" i="0" lang="en-US" sz="1800" u="none" cap="none" strike="noStrike">
                <a:solidFill>
                  <a:srgbClr val="000000"/>
                </a:solidFill>
                <a:latin typeface="Tahoma"/>
                <a:ea typeface="Tahoma"/>
                <a:cs typeface="Tahoma"/>
                <a:sym typeface="Tahoma"/>
              </a:rPr>
              <a:t>(1,0) most likely for p&lt;0.41 (</a:t>
            </a:r>
            <a:r>
              <a:rPr b="0" i="0" lang="en-US" sz="1800" u="none" cap="none" strike="noStrike">
                <a:solidFill>
                  <a:srgbClr val="FF2600"/>
                </a:solidFill>
                <a:latin typeface="Tahoma"/>
                <a:ea typeface="Tahoma"/>
                <a:cs typeface="Tahoma"/>
                <a:sym typeface="Tahoma"/>
              </a:rPr>
              <a:t>mumps</a:t>
            </a:r>
            <a:r>
              <a:rPr b="0" i="0" lang="en-US" sz="1800" u="none" cap="none" strike="noStrike">
                <a:solidFill>
                  <a:srgbClr val="000000"/>
                </a:solidFill>
                <a:latin typeface="Tahoma"/>
                <a:ea typeface="Tahoma"/>
                <a:cs typeface="Tahoma"/>
                <a:sym typeface="Tahoma"/>
              </a:rPr>
              <a:t>), (1,2,1) most likely for 0.41&lt;p&lt;0.73 (</a:t>
            </a:r>
            <a:r>
              <a:rPr b="0" i="0" lang="en-US" sz="1800" u="none" cap="none" strike="noStrike">
                <a:solidFill>
                  <a:srgbClr val="FF2600"/>
                </a:solidFill>
                <a:latin typeface="Tahoma"/>
                <a:ea typeface="Tahoma"/>
                <a:cs typeface="Tahoma"/>
                <a:sym typeface="Tahoma"/>
              </a:rPr>
              <a:t>chickenpox</a:t>
            </a:r>
            <a:r>
              <a:rPr b="0" i="0" lang="en-US" sz="1800" u="none" cap="none" strike="noStrike">
                <a:solidFill>
                  <a:srgbClr val="000000"/>
                </a:solidFill>
                <a:latin typeface="Tahoma"/>
                <a:ea typeface="Tahoma"/>
                <a:cs typeface="Tahoma"/>
                <a:sym typeface="Tahoma"/>
              </a:rPr>
              <a:t>), then (1,3) most likely for p&gt;0.73 (</a:t>
            </a:r>
            <a:r>
              <a:rPr b="0" i="0" lang="en-US" sz="1800" u="none" cap="none" strike="noStrike">
                <a:solidFill>
                  <a:srgbClr val="FF2600"/>
                </a:solidFill>
                <a:latin typeface="Tahoma"/>
                <a:ea typeface="Tahoma"/>
                <a:cs typeface="Tahoma"/>
                <a:sym typeface="Tahoma"/>
              </a:rPr>
              <a:t>measles</a:t>
            </a:r>
            <a:r>
              <a:rPr b="0" i="0" lang="en-US" sz="1800" u="none" cap="none" strike="noStrike">
                <a:solidFill>
                  <a:srgbClr val="000000"/>
                </a:solidFill>
                <a:latin typeface="Tahoma"/>
                <a:ea typeface="Tahoma"/>
                <a:cs typeface="Tahoma"/>
                <a:sym typeface="Tahoma"/>
              </a:rPr>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20" name="Shape 1020"/>
        <p:cNvGrpSpPr/>
        <p:nvPr/>
      </p:nvGrpSpPr>
      <p:grpSpPr>
        <a:xfrm>
          <a:off x="0" y="0"/>
          <a:ext cx="0" cy="0"/>
          <a:chOff x="0" y="0"/>
          <a:chExt cx="0" cy="0"/>
        </a:xfrm>
      </p:grpSpPr>
      <p:sp>
        <p:nvSpPr>
          <p:cNvPr id="1021" name="Google Shape;1021;p39"/>
          <p:cNvSpPr/>
          <p:nvPr/>
        </p:nvSpPr>
        <p:spPr>
          <a:xfrm>
            <a:off x="0" y="333375"/>
            <a:ext cx="9156700" cy="533400"/>
          </a:xfrm>
          <a:prstGeom prst="rect">
            <a:avLst/>
          </a:prstGeom>
          <a:noFill/>
          <a:ln>
            <a:noFill/>
          </a:ln>
        </p:spPr>
        <p:txBody>
          <a:bodyPr anchorCtr="0" anchor="t" bIns="50800" lIns="50800" spcFirstLastPara="1" rIns="50800" wrap="square" tIns="50800">
            <a:noAutofit/>
          </a:bodyPr>
          <a:lstStyle/>
          <a:p>
            <a:pPr indent="-2539" lvl="0" marL="40639" marR="40639" rtl="0" algn="ctr">
              <a:lnSpc>
                <a:spcPct val="100000"/>
              </a:lnSpc>
              <a:spcBef>
                <a:spcPts val="0"/>
              </a:spcBef>
              <a:spcAft>
                <a:spcPts val="0"/>
              </a:spcAft>
              <a:buClr>
                <a:srgbClr val="0433FF"/>
              </a:buClr>
              <a:buFont typeface="Tahoma"/>
              <a:buNone/>
            </a:pPr>
            <a:r>
              <a:rPr b="1" i="0" lang="en-US" sz="2800" u="none" cap="none" strike="noStrike">
                <a:solidFill>
                  <a:srgbClr val="0433FF"/>
                </a:solidFill>
                <a:latin typeface="Tahoma"/>
                <a:ea typeface="Tahoma"/>
                <a:cs typeface="Tahoma"/>
                <a:sym typeface="Tahoma"/>
              </a:rPr>
              <a:t>Reed-Frost: final size</a:t>
            </a:r>
            <a:endParaRPr/>
          </a:p>
        </p:txBody>
      </p:sp>
      <p:sp>
        <p:nvSpPr>
          <p:cNvPr id="1022" name="Google Shape;1022;p39"/>
          <p:cNvSpPr/>
          <p:nvPr/>
        </p:nvSpPr>
        <p:spPr>
          <a:xfrm>
            <a:off x="684212" y="866775"/>
            <a:ext cx="8267701" cy="3810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rPr b="0" i="0" lang="en-US" sz="1800" u="none" cap="none" strike="noStrike">
                <a:solidFill>
                  <a:srgbClr val="000000"/>
                </a:solidFill>
                <a:latin typeface="Tahoma"/>
                <a:ea typeface="Tahoma"/>
                <a:cs typeface="Tahoma"/>
                <a:sym typeface="Tahoma"/>
              </a:rPr>
              <a:t>Often difficult to distinguish generations, so focus on final size </a:t>
            </a:r>
            <a:endParaRPr/>
          </a:p>
        </p:txBody>
      </p:sp>
      <p:sp>
        <p:nvSpPr>
          <p:cNvPr id="1023" name="Google Shape;1023;p39"/>
          <p:cNvSpPr/>
          <p:nvPr/>
        </p:nvSpPr>
        <p:spPr>
          <a:xfrm>
            <a:off x="1055687" y="1819275"/>
            <a:ext cx="1397001" cy="4064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(1,0)</a:t>
            </a:r>
            <a:endParaRPr/>
          </a:p>
        </p:txBody>
      </p:sp>
      <p:sp>
        <p:nvSpPr>
          <p:cNvPr id="1024" name="Google Shape;1024;p39"/>
          <p:cNvSpPr/>
          <p:nvPr/>
        </p:nvSpPr>
        <p:spPr>
          <a:xfrm>
            <a:off x="2903537" y="1819275"/>
            <a:ext cx="1397001" cy="4064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(1,1,0)</a:t>
            </a:r>
            <a:endParaRPr/>
          </a:p>
        </p:txBody>
      </p:sp>
      <p:sp>
        <p:nvSpPr>
          <p:cNvPr id="1025" name="Google Shape;1025;p39"/>
          <p:cNvSpPr/>
          <p:nvPr/>
        </p:nvSpPr>
        <p:spPr>
          <a:xfrm>
            <a:off x="4751387" y="1590675"/>
            <a:ext cx="1397001" cy="8636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(1,1,1,0)</a:t>
            </a:r>
            <a:endParaRPr/>
          </a:p>
          <a:p>
            <a:pPr indent="-2539" lvl="0" marL="40639" marR="40639" rtl="0" algn="l">
              <a:lnSpc>
                <a:spcPct val="100000"/>
              </a:lnSpc>
              <a:spcBef>
                <a:spcPts val="120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(1,2,0)</a:t>
            </a:r>
            <a:endParaRPr/>
          </a:p>
        </p:txBody>
      </p:sp>
      <p:sp>
        <p:nvSpPr>
          <p:cNvPr id="1026" name="Google Shape;1026;p39"/>
          <p:cNvSpPr/>
          <p:nvPr/>
        </p:nvSpPr>
        <p:spPr>
          <a:xfrm>
            <a:off x="7134225" y="1209675"/>
            <a:ext cx="1397100" cy="1883700"/>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(1,2,1)</a:t>
            </a:r>
            <a:endParaRPr/>
          </a:p>
          <a:p>
            <a:pPr indent="-2539" lvl="0" marL="40639" marR="40639" rtl="0" algn="l">
              <a:lnSpc>
                <a:spcPct val="100000"/>
              </a:lnSpc>
              <a:spcBef>
                <a:spcPts val="120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(1,1,1,1)</a:t>
            </a:r>
            <a:endParaRPr/>
          </a:p>
          <a:p>
            <a:pPr indent="-2538" lvl="0" marL="40638" marR="40638" rtl="0" algn="l">
              <a:lnSpc>
                <a:spcPct val="100000"/>
              </a:lnSpc>
              <a:spcBef>
                <a:spcPts val="120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(1,3)</a:t>
            </a:r>
            <a:endParaRPr b="0" i="0" sz="2000" u="none" cap="none" strike="noStrike">
              <a:solidFill>
                <a:srgbClr val="000000"/>
              </a:solidFill>
              <a:latin typeface="Tahoma"/>
              <a:ea typeface="Tahoma"/>
              <a:cs typeface="Tahoma"/>
              <a:sym typeface="Tahoma"/>
            </a:endParaRPr>
          </a:p>
          <a:p>
            <a:pPr indent="-2538" lvl="0" marL="40638" marR="40638" rtl="0" algn="l">
              <a:spcBef>
                <a:spcPts val="1200"/>
              </a:spcBef>
              <a:spcAft>
                <a:spcPts val="0"/>
              </a:spcAft>
              <a:buClr>
                <a:schemeClr val="dk1"/>
              </a:buClr>
              <a:buFont typeface="Tahoma"/>
              <a:buNone/>
            </a:pPr>
            <a:r>
              <a:rPr lang="en-US" sz="2000">
                <a:solidFill>
                  <a:schemeClr val="dk1"/>
                </a:solidFill>
                <a:latin typeface="Tahoma"/>
                <a:ea typeface="Tahoma"/>
                <a:cs typeface="Tahoma"/>
                <a:sym typeface="Tahoma"/>
              </a:rPr>
              <a:t>(1,1,2)</a:t>
            </a:r>
            <a:endParaRPr sz="2000">
              <a:latin typeface="Tahoma"/>
              <a:ea typeface="Tahoma"/>
              <a:cs typeface="Tahoma"/>
              <a:sym typeface="Tahoma"/>
            </a:endParaRPr>
          </a:p>
          <a:p>
            <a:pPr indent="-2538" lvl="0" marL="40638" marR="40638" rtl="0" algn="l">
              <a:lnSpc>
                <a:spcPct val="100000"/>
              </a:lnSpc>
              <a:spcBef>
                <a:spcPts val="1200"/>
              </a:spcBef>
              <a:spcAft>
                <a:spcPts val="0"/>
              </a:spcAft>
              <a:buClr>
                <a:srgbClr val="000000"/>
              </a:buClr>
              <a:buFont typeface="Tahoma"/>
              <a:buNone/>
            </a:pPr>
            <a:r>
              <a:t/>
            </a:r>
            <a:endParaRPr sz="2000">
              <a:latin typeface="Tahoma"/>
              <a:ea typeface="Tahoma"/>
              <a:cs typeface="Tahoma"/>
              <a:sym typeface="Tahoma"/>
            </a:endParaRPr>
          </a:p>
          <a:p>
            <a:pPr indent="-2539" lvl="0" marL="40639" marR="40639" rtl="0" algn="l">
              <a:lnSpc>
                <a:spcPct val="100000"/>
              </a:lnSpc>
              <a:spcBef>
                <a:spcPts val="1200"/>
              </a:spcBef>
              <a:spcAft>
                <a:spcPts val="0"/>
              </a:spcAft>
              <a:buClr>
                <a:srgbClr val="000000"/>
              </a:buClr>
              <a:buFont typeface="Tahoma"/>
              <a:buNone/>
            </a:pPr>
            <a:r>
              <a:t/>
            </a:r>
            <a:endParaRPr sz="2000">
              <a:latin typeface="Tahoma"/>
              <a:ea typeface="Tahoma"/>
              <a:cs typeface="Tahoma"/>
              <a:sym typeface="Tahoma"/>
            </a:endParaRPr>
          </a:p>
        </p:txBody>
      </p:sp>
      <p:sp>
        <p:nvSpPr>
          <p:cNvPr id="1027" name="Google Shape;1027;p39"/>
          <p:cNvSpPr/>
          <p:nvPr/>
        </p:nvSpPr>
        <p:spPr>
          <a:xfrm>
            <a:off x="757237" y="1350962"/>
            <a:ext cx="1338263" cy="1398588"/>
          </a:xfrm>
          <a:prstGeom prst="ellipse">
            <a:avLst/>
          </a:prstGeom>
          <a:noFill/>
          <a:ln cap="flat" cmpd="sng" w="9525">
            <a:solidFill>
              <a:srgbClr val="000000"/>
            </a:solidFill>
            <a:prstDash val="dashDot"/>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028" name="Google Shape;1028;p39"/>
          <p:cNvSpPr/>
          <p:nvPr/>
        </p:nvSpPr>
        <p:spPr>
          <a:xfrm>
            <a:off x="2643187" y="1350962"/>
            <a:ext cx="1338263" cy="1398588"/>
          </a:xfrm>
          <a:prstGeom prst="ellipse">
            <a:avLst/>
          </a:prstGeom>
          <a:noFill/>
          <a:ln cap="flat" cmpd="sng" w="9525">
            <a:solidFill>
              <a:srgbClr val="000000"/>
            </a:solidFill>
            <a:prstDash val="dashDot"/>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029" name="Google Shape;1029;p39"/>
          <p:cNvSpPr/>
          <p:nvPr/>
        </p:nvSpPr>
        <p:spPr>
          <a:xfrm>
            <a:off x="4605337" y="1350962"/>
            <a:ext cx="1338300" cy="1398600"/>
          </a:xfrm>
          <a:prstGeom prst="ellipse">
            <a:avLst/>
          </a:prstGeom>
          <a:noFill/>
          <a:ln cap="flat" cmpd="sng" w="9525">
            <a:solidFill>
              <a:srgbClr val="000000"/>
            </a:solidFill>
            <a:prstDash val="dashDot"/>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p:txBody>
      </p:sp>
      <p:sp>
        <p:nvSpPr>
          <p:cNvPr id="1030" name="Google Shape;1030;p39"/>
          <p:cNvSpPr/>
          <p:nvPr/>
        </p:nvSpPr>
        <p:spPr>
          <a:xfrm>
            <a:off x="6894175" y="1031971"/>
            <a:ext cx="1637100" cy="2135700"/>
          </a:xfrm>
          <a:prstGeom prst="ellipse">
            <a:avLst/>
          </a:prstGeom>
          <a:noFill/>
          <a:ln cap="flat" cmpd="sng" w="9525">
            <a:solidFill>
              <a:srgbClr val="000000"/>
            </a:solidFill>
            <a:prstDash val="dashDot"/>
            <a:round/>
            <a:headEnd len="sm" w="sm" type="none"/>
            <a:tailEnd len="sm" w="sm" type="none"/>
          </a:ln>
        </p:spPr>
        <p:txBody>
          <a:bodyPr anchorCtr="0" anchor="ctr"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rPr lang="en-US" sz="2000">
                <a:latin typeface="Tahoma"/>
                <a:ea typeface="Tahoma"/>
                <a:cs typeface="Tahoma"/>
                <a:sym typeface="Tahoma"/>
              </a:rPr>
              <a:t>  </a:t>
            </a:r>
            <a:endParaRPr b="0" i="0" sz="2000" u="none" cap="none" strike="noStrike">
              <a:solidFill>
                <a:srgbClr val="000000"/>
              </a:solidFill>
              <a:latin typeface="Tahoma"/>
              <a:ea typeface="Tahoma"/>
              <a:cs typeface="Tahoma"/>
              <a:sym typeface="Tahoma"/>
            </a:endParaRPr>
          </a:p>
        </p:txBody>
      </p:sp>
      <p:pic>
        <p:nvPicPr>
          <p:cNvPr id="1031" name="Google Shape;1031;p39"/>
          <p:cNvPicPr preferRelativeResize="0"/>
          <p:nvPr/>
        </p:nvPicPr>
        <p:blipFill rotWithShape="1">
          <a:blip r:embed="rId3">
            <a:alphaModFix/>
          </a:blip>
          <a:srcRect b="0" l="0" r="0" t="0"/>
          <a:stretch/>
        </p:blipFill>
        <p:spPr>
          <a:xfrm>
            <a:off x="1479550" y="2865437"/>
            <a:ext cx="5562600" cy="3465513"/>
          </a:xfrm>
          <a:prstGeom prst="rect">
            <a:avLst/>
          </a:prstGeom>
          <a:noFill/>
          <a:ln>
            <a:noFill/>
          </a:ln>
        </p:spPr>
      </p:pic>
      <p:sp>
        <p:nvSpPr>
          <p:cNvPr id="1032" name="Google Shape;1032;p39"/>
          <p:cNvSpPr/>
          <p:nvPr/>
        </p:nvSpPr>
        <p:spPr>
          <a:xfrm>
            <a:off x="576262" y="6240462"/>
            <a:ext cx="8267701" cy="381001"/>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Tahoma"/>
              <a:buNone/>
            </a:pPr>
            <a:r>
              <a:rPr b="0" i="0" lang="en-US" sz="1800" u="none" cap="none" strike="noStrike">
                <a:solidFill>
                  <a:srgbClr val="000000"/>
                </a:solidFill>
                <a:latin typeface="Tahoma"/>
                <a:ea typeface="Tahoma"/>
                <a:cs typeface="Tahoma"/>
                <a:sym typeface="Tahoma"/>
              </a:rPr>
              <a:t>For p&gt;0.75, all infected becomes by far the most likely infected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36" name="Shape 1036"/>
        <p:cNvGrpSpPr/>
        <p:nvPr/>
      </p:nvGrpSpPr>
      <p:grpSpPr>
        <a:xfrm>
          <a:off x="0" y="0"/>
          <a:ext cx="0" cy="0"/>
          <a:chOff x="0" y="0"/>
          <a:chExt cx="0" cy="0"/>
        </a:xfrm>
      </p:grpSpPr>
      <p:sp>
        <p:nvSpPr>
          <p:cNvPr id="1037" name="Google Shape;1037;p40"/>
          <p:cNvSpPr/>
          <p:nvPr/>
        </p:nvSpPr>
        <p:spPr>
          <a:xfrm>
            <a:off x="0" y="333375"/>
            <a:ext cx="9156700" cy="533400"/>
          </a:xfrm>
          <a:prstGeom prst="rect">
            <a:avLst/>
          </a:prstGeom>
          <a:noFill/>
          <a:ln>
            <a:noFill/>
          </a:ln>
        </p:spPr>
        <p:txBody>
          <a:bodyPr anchorCtr="0" anchor="t" bIns="50800" lIns="50800" spcFirstLastPara="1" rIns="50800" wrap="square" tIns="50800">
            <a:noAutofit/>
          </a:bodyPr>
          <a:lstStyle/>
          <a:p>
            <a:pPr indent="-2539" lvl="0" marL="40639" marR="40639" rtl="0" algn="ctr">
              <a:lnSpc>
                <a:spcPct val="100000"/>
              </a:lnSpc>
              <a:spcBef>
                <a:spcPts val="0"/>
              </a:spcBef>
              <a:spcAft>
                <a:spcPts val="0"/>
              </a:spcAft>
              <a:buClr>
                <a:srgbClr val="0433FF"/>
              </a:buClr>
              <a:buFont typeface="Tahoma"/>
              <a:buNone/>
            </a:pPr>
            <a:r>
              <a:rPr b="1" i="0" lang="en-US" sz="2800" u="none" cap="none" strike="noStrike">
                <a:solidFill>
                  <a:srgbClr val="0433FF"/>
                </a:solidFill>
                <a:latin typeface="Tahoma"/>
                <a:ea typeface="Tahoma"/>
                <a:cs typeface="Tahoma"/>
                <a:sym typeface="Tahoma"/>
              </a:rPr>
              <a:t>Reed-Frost: fitting to data</a:t>
            </a:r>
            <a:endParaRPr/>
          </a:p>
        </p:txBody>
      </p:sp>
      <p:sp>
        <p:nvSpPr>
          <p:cNvPr id="1038" name="Google Shape;1038;p40"/>
          <p:cNvSpPr/>
          <p:nvPr/>
        </p:nvSpPr>
        <p:spPr>
          <a:xfrm>
            <a:off x="684212" y="866775"/>
            <a:ext cx="8267701" cy="1638300"/>
          </a:xfrm>
          <a:prstGeom prst="rect">
            <a:avLst/>
          </a:prstGeom>
          <a:noFill/>
          <a:ln>
            <a:noFill/>
          </a:ln>
        </p:spPr>
        <p:txBody>
          <a:bodyPr anchorCtr="0" anchor="t" bIns="50800" lIns="50800" spcFirstLastPara="1" rIns="50800" wrap="square" tIns="50800">
            <a:noAutofit/>
          </a:bodyPr>
          <a:lstStyle/>
          <a:p>
            <a:pPr indent="-345440" lvl="0" marL="383540" marR="40639" rtl="0" algn="l">
              <a:lnSpc>
                <a:spcPct val="100000"/>
              </a:lnSpc>
              <a:spcBef>
                <a:spcPts val="0"/>
              </a:spcBef>
              <a:spcAft>
                <a:spcPts val="0"/>
              </a:spcAft>
              <a:buClr>
                <a:srgbClr val="000000"/>
              </a:buClr>
              <a:buFont typeface="Tahoma"/>
              <a:buNone/>
            </a:pPr>
            <a:r>
              <a:rPr b="0" i="0" lang="en-US" sz="1800" u="none" cap="none" strike="noStrike">
                <a:solidFill>
                  <a:srgbClr val="000000"/>
                </a:solidFill>
                <a:latin typeface="Tahoma"/>
                <a:ea typeface="Tahoma"/>
                <a:cs typeface="Tahoma"/>
                <a:sym typeface="Tahoma"/>
              </a:rPr>
              <a:t>Example, Tecumseh study of H3N2 influenza, Longini et al, Am J Epi 1988.</a:t>
            </a:r>
            <a:endParaRPr/>
          </a:p>
          <a:p>
            <a:pPr indent="-345440" lvl="0" marL="383540" marR="40639" rtl="0" algn="l">
              <a:lnSpc>
                <a:spcPct val="100000"/>
              </a:lnSpc>
              <a:spcBef>
                <a:spcPts val="1100"/>
              </a:spcBef>
              <a:spcAft>
                <a:spcPts val="0"/>
              </a:spcAft>
              <a:buClr>
                <a:srgbClr val="000000"/>
              </a:buClr>
              <a:buFont typeface="Tahoma"/>
              <a:buNone/>
            </a:pPr>
            <a:r>
              <a:rPr b="0" i="0" lang="en-US" sz="1800" u="none" cap="none" strike="noStrike">
                <a:solidFill>
                  <a:srgbClr val="000000"/>
                </a:solidFill>
                <a:latin typeface="Tahoma"/>
                <a:ea typeface="Tahoma"/>
                <a:cs typeface="Tahoma"/>
                <a:sym typeface="Tahoma"/>
              </a:rPr>
              <a:t>Final number infected in households of size 4 where all are susceptible:</a:t>
            </a:r>
            <a:endParaRPr/>
          </a:p>
          <a:p>
            <a:pPr indent="-345440" lvl="0" marL="383540" marR="40639" rtl="0" algn="l">
              <a:lnSpc>
                <a:spcPct val="100000"/>
              </a:lnSpc>
              <a:spcBef>
                <a:spcPts val="1100"/>
              </a:spcBef>
              <a:spcAft>
                <a:spcPts val="0"/>
              </a:spcAft>
              <a:buClr>
                <a:srgbClr val="000000"/>
              </a:buClr>
              <a:buFont typeface="Tahoma"/>
              <a:buNone/>
            </a:pPr>
            <a:r>
              <a:rPr b="0" i="0" lang="en-US" sz="1800" u="none" cap="none" strike="noStrike">
                <a:solidFill>
                  <a:srgbClr val="000000"/>
                </a:solidFill>
                <a:latin typeface="Tahoma"/>
                <a:ea typeface="Tahoma"/>
                <a:cs typeface="Tahoma"/>
                <a:sym typeface="Tahoma"/>
              </a:rPr>
              <a:t>4 households had 1 case, 6 had 2, none had 3, and 2 had 4. </a:t>
            </a:r>
            <a:endParaRPr/>
          </a:p>
          <a:p>
            <a:pPr indent="-345440" lvl="0" marL="383540" marR="40639" rtl="0" algn="l">
              <a:lnSpc>
                <a:spcPct val="100000"/>
              </a:lnSpc>
              <a:spcBef>
                <a:spcPts val="1100"/>
              </a:spcBef>
              <a:spcAft>
                <a:spcPts val="0"/>
              </a:spcAft>
              <a:buClr>
                <a:srgbClr val="000000"/>
              </a:buClr>
              <a:buFont typeface="Tahoma"/>
              <a:buNone/>
            </a:pPr>
            <a:r>
              <a:rPr b="0" i="0" lang="en-US" sz="1800" u="none" cap="none" strike="noStrike">
                <a:solidFill>
                  <a:srgbClr val="000000"/>
                </a:solidFill>
                <a:latin typeface="Tahoma"/>
                <a:ea typeface="Tahoma"/>
                <a:cs typeface="Tahoma"/>
                <a:sym typeface="Tahoma"/>
              </a:rPr>
              <a:t>Likelihood is</a:t>
            </a:r>
            <a:endParaRPr/>
          </a:p>
        </p:txBody>
      </p:sp>
      <p:pic>
        <p:nvPicPr>
          <p:cNvPr id="1039" name="Google Shape;1039;p40"/>
          <p:cNvPicPr preferRelativeResize="0"/>
          <p:nvPr/>
        </p:nvPicPr>
        <p:blipFill rotWithShape="1">
          <a:blip r:embed="rId3">
            <a:alphaModFix/>
          </a:blip>
          <a:srcRect b="0" l="0" r="0" t="0"/>
          <a:stretch/>
        </p:blipFill>
        <p:spPr>
          <a:xfrm>
            <a:off x="1852612" y="2493962"/>
            <a:ext cx="4678363" cy="538163"/>
          </a:xfrm>
          <a:prstGeom prst="rect">
            <a:avLst/>
          </a:prstGeom>
          <a:noFill/>
          <a:ln>
            <a:noFill/>
          </a:ln>
        </p:spPr>
      </p:pic>
      <p:sp>
        <p:nvSpPr>
          <p:cNvPr id="1040" name="Google Shape;1040;p40"/>
          <p:cNvSpPr/>
          <p:nvPr/>
        </p:nvSpPr>
        <p:spPr>
          <a:xfrm>
            <a:off x="631825" y="6073775"/>
            <a:ext cx="7035800" cy="385391"/>
          </a:xfrm>
          <a:prstGeom prst="rect">
            <a:avLst/>
          </a:prstGeom>
          <a:noFill/>
          <a:ln>
            <a:noFill/>
          </a:ln>
        </p:spPr>
        <p:txBody>
          <a:bodyPr anchorCtr="0" anchor="t" bIns="50800" lIns="50800" spcFirstLastPara="1" rIns="50800" wrap="square" tIns="50800">
            <a:noAutofit/>
          </a:bodyPr>
          <a:lstStyle/>
          <a:p>
            <a:pPr indent="-2539" lvl="0" marL="40639" marR="40639" rtl="0" algn="l">
              <a:lnSpc>
                <a:spcPct val="100000"/>
              </a:lnSpc>
              <a:spcBef>
                <a:spcPts val="0"/>
              </a:spcBef>
              <a:spcAft>
                <a:spcPts val="0"/>
              </a:spcAft>
              <a:buClr>
                <a:srgbClr val="000000"/>
              </a:buClr>
              <a:buFont typeface="Arial"/>
              <a:buNone/>
            </a:pPr>
            <a:r>
              <a:rPr b="0" i="0" lang="en-US" sz="2000" u="none" cap="none" strike="noStrike">
                <a:solidFill>
                  <a:srgbClr val="000000"/>
                </a:solidFill>
                <a:latin typeface="Arial"/>
                <a:ea typeface="Arial"/>
                <a:cs typeface="Arial"/>
                <a:sym typeface="Arial"/>
              </a:rPr>
              <a:t>→ influenza less infectious than mumps, attack rate ≈ 25%</a:t>
            </a:r>
            <a:endParaRPr/>
          </a:p>
        </p:txBody>
      </p:sp>
      <p:pic>
        <p:nvPicPr>
          <p:cNvPr id="1041" name="Google Shape;1041;p40"/>
          <p:cNvPicPr preferRelativeResize="0"/>
          <p:nvPr/>
        </p:nvPicPr>
        <p:blipFill rotWithShape="1">
          <a:blip r:embed="rId4">
            <a:alphaModFix/>
          </a:blip>
          <a:srcRect b="0" l="0" r="0" t="0"/>
          <a:stretch/>
        </p:blipFill>
        <p:spPr>
          <a:xfrm>
            <a:off x="1757362" y="3165475"/>
            <a:ext cx="4802189" cy="284956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45" name="Shape 1045"/>
        <p:cNvGrpSpPr/>
        <p:nvPr/>
      </p:nvGrpSpPr>
      <p:grpSpPr>
        <a:xfrm>
          <a:off x="0" y="0"/>
          <a:ext cx="0" cy="0"/>
          <a:chOff x="0" y="0"/>
          <a:chExt cx="0" cy="0"/>
        </a:xfrm>
      </p:grpSpPr>
      <p:sp>
        <p:nvSpPr>
          <p:cNvPr id="1046" name="Google Shape;1046;p41"/>
          <p:cNvSpPr/>
          <p:nvPr/>
        </p:nvSpPr>
        <p:spPr>
          <a:xfrm>
            <a:off x="0" y="333375"/>
            <a:ext cx="9156600" cy="5334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433FF"/>
              </a:buClr>
              <a:buFont typeface="Tahoma"/>
              <a:buNone/>
            </a:pPr>
            <a:r>
              <a:rPr b="1" i="0" lang="en-US" sz="2800" u="none" cap="none" strike="noStrike">
                <a:solidFill>
                  <a:srgbClr val="0433FF"/>
                </a:solidFill>
                <a:latin typeface="Tahoma"/>
                <a:ea typeface="Tahoma"/>
                <a:cs typeface="Tahoma"/>
                <a:sym typeface="Tahoma"/>
              </a:rPr>
              <a:t>Reproduction number for household models</a:t>
            </a:r>
            <a:endParaRPr/>
          </a:p>
        </p:txBody>
      </p:sp>
      <p:sp>
        <p:nvSpPr>
          <p:cNvPr id="1047" name="Google Shape;1047;p41"/>
          <p:cNvSpPr/>
          <p:nvPr/>
        </p:nvSpPr>
        <p:spPr>
          <a:xfrm>
            <a:off x="771850" y="1320400"/>
            <a:ext cx="7455000" cy="4775700"/>
          </a:xfrm>
          <a:prstGeom prst="rect">
            <a:avLst/>
          </a:prstGeom>
          <a:noFill/>
          <a:ln>
            <a:noFill/>
          </a:ln>
        </p:spPr>
        <p:txBody>
          <a:bodyPr anchorCtr="0" anchor="t" bIns="50800" lIns="50800" spcFirstLastPara="1" rIns="50800" wrap="square" tIns="50800">
            <a:noAutofit/>
          </a:bodyPr>
          <a:lstStyle/>
          <a:p>
            <a:pPr indent="-2538" lvl="0" marL="40638" marR="40638" rtl="0" algn="l">
              <a:lnSpc>
                <a:spcPct val="100000"/>
              </a:lnSpc>
              <a:spcBef>
                <a:spcPts val="120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Define </a:t>
            </a:r>
            <a:r>
              <a:rPr b="0" i="1" lang="en-US" sz="2000" u="none" cap="none" strike="noStrike">
                <a:solidFill>
                  <a:srgbClr val="000000"/>
                </a:solidFill>
                <a:latin typeface="Times New Roman"/>
                <a:ea typeface="Times New Roman"/>
                <a:cs typeface="Times New Roman"/>
                <a:sym typeface="Times New Roman"/>
              </a:rPr>
              <a:t>R</a:t>
            </a:r>
            <a:r>
              <a:rPr i="1" lang="en-US" sz="800">
                <a:latin typeface="Times New Roman"/>
                <a:ea typeface="Times New Roman"/>
                <a:cs typeface="Times New Roman"/>
                <a:sym typeface="Times New Roman"/>
              </a:rPr>
              <a:t>HV</a:t>
            </a:r>
            <a:r>
              <a:rPr b="0" i="0" lang="en-US" sz="2000" u="none" cap="none" strike="noStrike">
                <a:solidFill>
                  <a:srgbClr val="000000"/>
                </a:solidFill>
                <a:latin typeface="Tahoma"/>
                <a:ea typeface="Tahoma"/>
                <a:cs typeface="Tahoma"/>
                <a:sym typeface="Tahoma"/>
              </a:rPr>
              <a:t> as number of households infected by one household.</a:t>
            </a:r>
            <a:endParaRPr/>
          </a:p>
          <a:p>
            <a:pPr indent="-2538" lvl="0" marL="40638" marR="40638" rtl="0" algn="l">
              <a:lnSpc>
                <a:spcPct val="100000"/>
              </a:lnSpc>
              <a:spcBef>
                <a:spcPts val="120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Becker &amp; Dietz (1995) calculate a </a:t>
            </a:r>
            <a:r>
              <a:rPr lang="en-US" sz="2000">
                <a:latin typeface="Tahoma"/>
                <a:ea typeface="Tahoma"/>
                <a:cs typeface="Tahoma"/>
                <a:sym typeface="Tahoma"/>
              </a:rPr>
              <a:t>reproduction</a:t>
            </a:r>
            <a:r>
              <a:rPr b="0" i="0" lang="en-US" sz="2000" u="none" cap="none" strike="noStrike">
                <a:solidFill>
                  <a:srgbClr val="000000"/>
                </a:solidFill>
                <a:latin typeface="Tahoma"/>
                <a:ea typeface="Tahoma"/>
                <a:cs typeface="Tahoma"/>
                <a:sym typeface="Tahoma"/>
              </a:rPr>
              <a:t> number for households infecting houses, and compare with R0.  Consider how an immunisation str</a:t>
            </a:r>
            <a:r>
              <a:rPr lang="en-US" sz="2000">
                <a:latin typeface="Tahoma"/>
                <a:ea typeface="Tahoma"/>
                <a:cs typeface="Tahoma"/>
                <a:sym typeface="Tahoma"/>
              </a:rPr>
              <a:t>ategy may be affected. Find a (mathematical) condition for when immunising random individuals from the population is worse than immunising all individuals within a proportion of households.</a:t>
            </a:r>
            <a:endParaRPr b="0" i="0" sz="2000" u="none" cap="none" strike="noStrike">
              <a:solidFill>
                <a:srgbClr val="000000"/>
              </a:solidFill>
              <a:latin typeface="Tahoma"/>
              <a:ea typeface="Tahoma"/>
              <a:cs typeface="Tahoma"/>
              <a:sym typeface="Tahoma"/>
            </a:endParaRPr>
          </a:p>
          <a:p>
            <a:pPr indent="-2538" lvl="0" marL="40638" marR="40638" rtl="0" algn="l">
              <a:lnSpc>
                <a:spcPct val="100000"/>
              </a:lnSpc>
              <a:spcBef>
                <a:spcPts val="1200"/>
              </a:spcBef>
              <a:spcAft>
                <a:spcPts val="0"/>
              </a:spcAft>
              <a:buClr>
                <a:srgbClr val="000000"/>
              </a:buClr>
              <a:buFont typeface="Tahoma"/>
              <a:buNone/>
            </a:pPr>
            <a:r>
              <a:rPr lang="en-US" sz="2000" u="sng">
                <a:solidFill>
                  <a:schemeClr val="hlink"/>
                </a:solidFill>
                <a:latin typeface="Tahoma"/>
                <a:ea typeface="Tahoma"/>
                <a:cs typeface="Tahoma"/>
                <a:sym typeface="Tahoma"/>
                <a:hlinkClick r:id="rId3"/>
              </a:rPr>
              <a:t>https://projecteuclid.org/download/pdf_1/euclid.aoap/1034625252</a:t>
            </a:r>
            <a:endParaRPr sz="2000">
              <a:latin typeface="Tahoma"/>
              <a:ea typeface="Tahoma"/>
              <a:cs typeface="Tahoma"/>
              <a:sym typeface="Tahoma"/>
            </a:endParaRPr>
          </a:p>
          <a:p>
            <a:pPr indent="-2538" lvl="0" marL="40638" marR="40638" rtl="0" algn="l">
              <a:lnSpc>
                <a:spcPct val="100000"/>
              </a:lnSpc>
              <a:spcBef>
                <a:spcPts val="1200"/>
              </a:spcBef>
              <a:spcAft>
                <a:spcPts val="0"/>
              </a:spcAft>
              <a:buClr>
                <a:srgbClr val="000000"/>
              </a:buClr>
              <a:buFont typeface="Tahoma"/>
              <a:buNone/>
            </a:pPr>
            <a:r>
              <a:t/>
            </a:r>
            <a:endParaRPr sz="2000">
              <a:latin typeface="Tahoma"/>
              <a:ea typeface="Tahoma"/>
              <a:cs typeface="Tahoma"/>
              <a:sym typeface="Tahom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51" name="Shape 1051"/>
        <p:cNvGrpSpPr/>
        <p:nvPr/>
      </p:nvGrpSpPr>
      <p:grpSpPr>
        <a:xfrm>
          <a:off x="0" y="0"/>
          <a:ext cx="0" cy="0"/>
          <a:chOff x="0" y="0"/>
          <a:chExt cx="0" cy="0"/>
        </a:xfrm>
      </p:grpSpPr>
      <p:sp>
        <p:nvSpPr>
          <p:cNvPr id="1052" name="Google Shape;1052;p42"/>
          <p:cNvSpPr/>
          <p:nvPr/>
        </p:nvSpPr>
        <p:spPr>
          <a:xfrm>
            <a:off x="0" y="333375"/>
            <a:ext cx="9156600" cy="5334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433FF"/>
              </a:buClr>
              <a:buFont typeface="Tahoma"/>
              <a:buNone/>
            </a:pPr>
            <a:r>
              <a:rPr b="1" i="0" lang="en-US" sz="2800" u="none" cap="none" strike="noStrike">
                <a:solidFill>
                  <a:srgbClr val="0433FF"/>
                </a:solidFill>
                <a:latin typeface="Tahoma"/>
                <a:ea typeface="Tahoma"/>
                <a:cs typeface="Tahoma"/>
                <a:sym typeface="Tahoma"/>
              </a:rPr>
              <a:t>Reproduction number for household models (2)</a:t>
            </a:r>
            <a:endParaRPr/>
          </a:p>
        </p:txBody>
      </p:sp>
      <p:sp>
        <p:nvSpPr>
          <p:cNvPr id="1053" name="Google Shape;1053;p42"/>
          <p:cNvSpPr/>
          <p:nvPr/>
        </p:nvSpPr>
        <p:spPr>
          <a:xfrm>
            <a:off x="900450" y="1103675"/>
            <a:ext cx="7455000" cy="3555900"/>
          </a:xfrm>
          <a:prstGeom prst="rect">
            <a:avLst/>
          </a:prstGeom>
          <a:noFill/>
          <a:ln>
            <a:noFill/>
          </a:ln>
        </p:spPr>
        <p:txBody>
          <a:bodyPr anchorCtr="0" anchor="t" bIns="50800" lIns="50800" spcFirstLastPara="1" rIns="50800" wrap="square" tIns="50800">
            <a:noAutofit/>
          </a:bodyPr>
          <a:lstStyle/>
          <a:p>
            <a:pPr indent="-2538" lvl="0" marL="40638" marR="40638" rtl="0" algn="l">
              <a:lnSpc>
                <a:spcPct val="100000"/>
              </a:lnSpc>
              <a:spcBef>
                <a:spcPts val="120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Can be estimated in real time in an epidemic (Fraser, PLoS One 2007).</a:t>
            </a:r>
            <a:endParaRPr b="0" i="0" sz="2000" u="none" cap="none" strike="noStrike">
              <a:solidFill>
                <a:srgbClr val="000000"/>
              </a:solidFill>
              <a:latin typeface="Tahoma"/>
              <a:ea typeface="Tahoma"/>
              <a:cs typeface="Tahoma"/>
              <a:sym typeface="Tahoma"/>
            </a:endParaRPr>
          </a:p>
          <a:p>
            <a:pPr indent="-2538" lvl="0" marL="40638" marR="40638" rtl="0" algn="l">
              <a:lnSpc>
                <a:spcPct val="100000"/>
              </a:lnSpc>
              <a:spcBef>
                <a:spcPts val="1200"/>
              </a:spcBef>
              <a:spcAft>
                <a:spcPts val="0"/>
              </a:spcAft>
              <a:buClr>
                <a:srgbClr val="000000"/>
              </a:buClr>
              <a:buFont typeface="Tahoma"/>
              <a:buNone/>
            </a:pPr>
            <a:r>
              <a:rPr lang="en-US" sz="2000">
                <a:latin typeface="Tahoma"/>
                <a:ea typeface="Tahoma"/>
                <a:cs typeface="Tahoma"/>
                <a:sym typeface="Tahoma"/>
              </a:rPr>
              <a:t>Household reproduction number perhaps most useful if proposed interventions target households, eg quarantine, antivirals, etc</a:t>
            </a:r>
            <a:endParaRPr sz="2000">
              <a:latin typeface="Tahoma"/>
              <a:ea typeface="Tahoma"/>
              <a:cs typeface="Tahoma"/>
              <a:sym typeface="Tahoma"/>
            </a:endParaRPr>
          </a:p>
          <a:p>
            <a:pPr indent="-2538" lvl="0" marL="40638" marR="40638" rtl="0" algn="l">
              <a:lnSpc>
                <a:spcPct val="100000"/>
              </a:lnSpc>
              <a:spcBef>
                <a:spcPts val="1200"/>
              </a:spcBef>
              <a:spcAft>
                <a:spcPts val="0"/>
              </a:spcAft>
              <a:buClr>
                <a:srgbClr val="000000"/>
              </a:buClr>
              <a:buFont typeface="Tahoma"/>
              <a:buNone/>
            </a:pPr>
            <a:r>
              <a:rPr lang="en-US" sz="2000" u="sng">
                <a:solidFill>
                  <a:schemeClr val="hlink"/>
                </a:solidFill>
                <a:latin typeface="Tahoma"/>
                <a:ea typeface="Tahoma"/>
                <a:cs typeface="Tahoma"/>
                <a:sym typeface="Tahoma"/>
                <a:hlinkClick r:id="rId3"/>
              </a:rPr>
              <a:t>https://journals.plos.org/plosone/article?id=10.1371/journal.pone.0000758</a:t>
            </a:r>
            <a:endParaRPr sz="2000">
              <a:latin typeface="Tahoma"/>
              <a:ea typeface="Tahoma"/>
              <a:cs typeface="Tahoma"/>
              <a:sym typeface="Tahoma"/>
            </a:endParaRPr>
          </a:p>
          <a:p>
            <a:pPr indent="-2538" lvl="0" marL="40638" marR="40638" rtl="0" algn="l">
              <a:lnSpc>
                <a:spcPct val="100000"/>
              </a:lnSpc>
              <a:spcBef>
                <a:spcPts val="1200"/>
              </a:spcBef>
              <a:spcAft>
                <a:spcPts val="0"/>
              </a:spcAft>
              <a:buClr>
                <a:srgbClr val="000000"/>
              </a:buClr>
              <a:buFont typeface="Tahoma"/>
              <a:buNone/>
            </a:pPr>
            <a:r>
              <a:t/>
            </a:r>
            <a:endParaRPr sz="2000">
              <a:latin typeface="Tahoma"/>
              <a:ea typeface="Tahoma"/>
              <a:cs typeface="Tahoma"/>
              <a:sym typeface="Tahom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57" name="Shape 1057"/>
        <p:cNvGrpSpPr/>
        <p:nvPr/>
      </p:nvGrpSpPr>
      <p:grpSpPr>
        <a:xfrm>
          <a:off x="0" y="0"/>
          <a:ext cx="0" cy="0"/>
          <a:chOff x="0" y="0"/>
          <a:chExt cx="0" cy="0"/>
        </a:xfrm>
      </p:grpSpPr>
      <p:sp>
        <p:nvSpPr>
          <p:cNvPr id="1058" name="Google Shape;1058;p43"/>
          <p:cNvSpPr/>
          <p:nvPr/>
        </p:nvSpPr>
        <p:spPr>
          <a:xfrm>
            <a:off x="0" y="333375"/>
            <a:ext cx="9156600" cy="533400"/>
          </a:xfrm>
          <a:prstGeom prst="rect">
            <a:avLst/>
          </a:prstGeom>
          <a:noFill/>
          <a:ln>
            <a:noFill/>
          </a:ln>
        </p:spPr>
        <p:txBody>
          <a:bodyPr anchorCtr="0" anchor="t" bIns="50800" lIns="50800" spcFirstLastPara="1" rIns="50800" wrap="square" tIns="50800">
            <a:noAutofit/>
          </a:bodyPr>
          <a:lstStyle/>
          <a:p>
            <a:pPr indent="-2538" lvl="0" marL="40638" marR="40638" rtl="0" algn="ctr">
              <a:lnSpc>
                <a:spcPct val="100000"/>
              </a:lnSpc>
              <a:spcBef>
                <a:spcPts val="0"/>
              </a:spcBef>
              <a:spcAft>
                <a:spcPts val="0"/>
              </a:spcAft>
              <a:buClr>
                <a:srgbClr val="0433FF"/>
              </a:buClr>
              <a:buFont typeface="Tahoma"/>
              <a:buNone/>
            </a:pPr>
            <a:r>
              <a:rPr b="1" i="0" lang="en-US" sz="2800" u="none" cap="none" strike="noStrike">
                <a:solidFill>
                  <a:srgbClr val="0433FF"/>
                </a:solidFill>
                <a:latin typeface="Tahoma"/>
                <a:ea typeface="Tahoma"/>
                <a:cs typeface="Tahoma"/>
                <a:sym typeface="Tahoma"/>
              </a:rPr>
              <a:t>Future challenges</a:t>
            </a:r>
            <a:endParaRPr/>
          </a:p>
        </p:txBody>
      </p:sp>
      <p:sp>
        <p:nvSpPr>
          <p:cNvPr id="1059" name="Google Shape;1059;p43"/>
          <p:cNvSpPr/>
          <p:nvPr/>
        </p:nvSpPr>
        <p:spPr>
          <a:xfrm>
            <a:off x="673100" y="1282700"/>
            <a:ext cx="7455000" cy="4864200"/>
          </a:xfrm>
          <a:prstGeom prst="rect">
            <a:avLst/>
          </a:prstGeom>
          <a:noFill/>
          <a:ln>
            <a:noFill/>
          </a:ln>
        </p:spPr>
        <p:txBody>
          <a:bodyPr anchorCtr="0" anchor="t" bIns="50800" lIns="50800" spcFirstLastPara="1" rIns="50800" wrap="square" tIns="50800">
            <a:noAutofit/>
          </a:bodyPr>
          <a:lstStyle/>
          <a:p>
            <a:pPr indent="-2538" lvl="0" marL="40638" marR="40638" rtl="0" algn="l">
              <a:lnSpc>
                <a:spcPct val="100000"/>
              </a:lnSpc>
              <a:spcBef>
                <a:spcPts val="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Theory of household outbreaks well developed.</a:t>
            </a:r>
            <a:endParaRPr/>
          </a:p>
          <a:p>
            <a:pPr indent="-2538" lvl="0" marL="40638" marR="40638" rtl="0" algn="l">
              <a:lnSpc>
                <a:spcPct val="100000"/>
              </a:lnSpc>
              <a:spcBef>
                <a:spcPts val="40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a:p>
            <a:pPr indent="-2538" lvl="0" marL="40638" marR="40638" rtl="0" algn="l">
              <a:lnSpc>
                <a:spcPct val="100000"/>
              </a:lnSpc>
              <a:spcBef>
                <a:spcPts val="40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Would like to extend to overlapping static structures, i.e. household/workplace/school models.</a:t>
            </a:r>
            <a:endParaRPr/>
          </a:p>
          <a:p>
            <a:pPr indent="-2538" lvl="0" marL="40638" marR="40638" rtl="0" algn="l">
              <a:lnSpc>
                <a:spcPct val="100000"/>
              </a:lnSpc>
              <a:spcBef>
                <a:spcPts val="40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a:p>
            <a:pPr indent="-2538" lvl="0" marL="40638" marR="40638" rtl="0" algn="l">
              <a:lnSpc>
                <a:spcPct val="100000"/>
              </a:lnSpc>
              <a:spcBef>
                <a:spcPts val="40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Would also like to extend to multiple level hierarchies, i.e. households/village/district/region/country models.</a:t>
            </a:r>
            <a:endParaRPr/>
          </a:p>
          <a:p>
            <a:pPr indent="-2538" lvl="0" marL="40638" marR="40638" rtl="0" algn="l">
              <a:lnSpc>
                <a:spcPct val="100000"/>
              </a:lnSpc>
              <a:spcBef>
                <a:spcPts val="40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a:p>
            <a:pPr indent="-2538" lvl="0" marL="40638" marR="40638" rtl="0" algn="l">
              <a:lnSpc>
                <a:spcPct val="100000"/>
              </a:lnSpc>
              <a:spcBef>
                <a:spcPts val="400"/>
              </a:spcBef>
              <a:spcAft>
                <a:spcPts val="0"/>
              </a:spcAft>
              <a:buClr>
                <a:srgbClr val="000000"/>
              </a:buClr>
              <a:buFont typeface="Tahoma"/>
              <a:buNone/>
            </a:pPr>
            <a:r>
              <a:rPr b="0" i="0" lang="en-US" sz="2000" u="none" cap="none" strike="noStrike">
                <a:solidFill>
                  <a:srgbClr val="000000"/>
                </a:solidFill>
                <a:latin typeface="Tahoma"/>
                <a:ea typeface="Tahoma"/>
                <a:cs typeface="Tahoma"/>
                <a:sym typeface="Tahoma"/>
              </a:rPr>
              <a:t>More work needed on parameter estimation (especially between household transmission).</a:t>
            </a:r>
            <a:endParaRPr/>
          </a:p>
          <a:p>
            <a:pPr indent="-2538" lvl="0" marL="40638" marR="40638" rtl="0" algn="l">
              <a:lnSpc>
                <a:spcPct val="100000"/>
              </a:lnSpc>
              <a:spcBef>
                <a:spcPts val="400"/>
              </a:spcBef>
              <a:spcAft>
                <a:spcPts val="0"/>
              </a:spcAft>
              <a:buClr>
                <a:srgbClr val="000000"/>
              </a:buClr>
              <a:buFont typeface="Tahoma"/>
              <a:buNone/>
            </a:pPr>
            <a:r>
              <a:t/>
            </a:r>
            <a:endParaRPr b="0" i="0" sz="2000" u="none" cap="none" strike="noStrike">
              <a:solidFill>
                <a:srgbClr val="000000"/>
              </a:solidFill>
              <a:latin typeface="Tahoma"/>
              <a:ea typeface="Tahoma"/>
              <a:cs typeface="Tahoma"/>
              <a:sym typeface="Tahoma"/>
            </a:endParaRPr>
          </a:p>
          <a:p>
            <a:pPr indent="-2538" lvl="0" marL="40638" marR="40638" rtl="0" algn="l">
              <a:lnSpc>
                <a:spcPct val="100000"/>
              </a:lnSpc>
              <a:spcBef>
                <a:spcPts val="400"/>
              </a:spcBef>
              <a:spcAft>
                <a:spcPts val="0"/>
              </a:spcAft>
              <a:buClr>
                <a:srgbClr val="000000"/>
              </a:buClr>
              <a:buFont typeface="Tahoma"/>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64" name="Shape 1064"/>
        <p:cNvGrpSpPr/>
        <p:nvPr/>
      </p:nvGrpSpPr>
      <p:grpSpPr>
        <a:xfrm>
          <a:off x="0" y="0"/>
          <a:ext cx="0" cy="0"/>
          <a:chOff x="0" y="0"/>
          <a:chExt cx="0" cy="0"/>
        </a:xfrm>
      </p:grpSpPr>
      <p:sp>
        <p:nvSpPr>
          <p:cNvPr id="1065" name="Google Shape;1065;p44"/>
          <p:cNvSpPr/>
          <p:nvPr/>
        </p:nvSpPr>
        <p:spPr>
          <a:xfrm>
            <a:off x="500034" y="4005064"/>
            <a:ext cx="8643900" cy="147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C00000"/>
                </a:solidFill>
                <a:latin typeface="Arial"/>
                <a:ea typeface="Arial"/>
                <a:cs typeface="Arial"/>
                <a:sym typeface="Arial"/>
              </a:rPr>
              <a:t>Ada Yan, Caroline Walters, Steven Riley</a:t>
            </a:r>
            <a:endParaRPr/>
          </a:p>
          <a:p>
            <a:pPr indent="0" lvl="0" marL="0" marR="0" rtl="0" algn="ctr">
              <a:spcBef>
                <a:spcPts val="0"/>
              </a:spcBef>
              <a:spcAft>
                <a:spcPts val="0"/>
              </a:spcAft>
              <a:buNone/>
            </a:pPr>
            <a:r>
              <a:rPr b="0" i="1" lang="en-US" sz="1800" u="none" cap="none" strike="noStrike">
                <a:solidFill>
                  <a:schemeClr val="dk1"/>
                </a:solidFill>
                <a:latin typeface="Arial"/>
                <a:ea typeface="Arial"/>
                <a:cs typeface="Arial"/>
                <a:sym typeface="Arial"/>
              </a:rPr>
              <a:t>MRC Centre for </a:t>
            </a:r>
            <a:r>
              <a:rPr i="1" lang="en-US" sz="1800">
                <a:solidFill>
                  <a:schemeClr val="dk1"/>
                </a:solidFill>
              </a:rPr>
              <a:t>Global Infectious Disease Analysis</a:t>
            </a:r>
            <a:endParaRPr/>
          </a:p>
          <a:p>
            <a:pPr indent="0" lvl="0" marL="0" marR="0" rtl="0" algn="ctr">
              <a:spcBef>
                <a:spcPts val="0"/>
              </a:spcBef>
              <a:spcAft>
                <a:spcPts val="0"/>
              </a:spcAft>
              <a:buNone/>
            </a:pPr>
            <a:r>
              <a:rPr b="0" i="1" lang="en-US" sz="1800" u="none" cap="none" strike="noStrike">
                <a:solidFill>
                  <a:schemeClr val="dk1"/>
                </a:solidFill>
                <a:latin typeface="Arial"/>
                <a:ea typeface="Arial"/>
                <a:cs typeface="Arial"/>
                <a:sym typeface="Arial"/>
              </a:rPr>
              <a:t>Imperial College London </a:t>
            </a:r>
            <a:endParaRPr/>
          </a:p>
          <a:p>
            <a:pPr indent="0" lvl="0" marL="0" marR="0" rtl="0" algn="ctr">
              <a:spcBef>
                <a:spcPts val="0"/>
              </a:spcBef>
              <a:spcAft>
                <a:spcPts val="0"/>
              </a:spcAft>
              <a:buNone/>
            </a:pPr>
            <a:r>
              <a:t/>
            </a:r>
            <a:endParaRPr b="0" i="1" sz="18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0" i="1" lang="en-US" sz="1800" u="none" cap="none" strike="noStrike">
                <a:solidFill>
                  <a:schemeClr val="dk1"/>
                </a:solidFill>
                <a:latin typeface="Arial"/>
                <a:ea typeface="Arial"/>
                <a:cs typeface="Arial"/>
                <a:sym typeface="Arial"/>
              </a:rPr>
              <a:t>(Slides by Ada Yan and Oliver Ratmann, based on slides by Simon Cauchemez)</a:t>
            </a:r>
            <a:endParaRPr/>
          </a:p>
        </p:txBody>
      </p:sp>
      <p:sp>
        <p:nvSpPr>
          <p:cNvPr id="1066" name="Google Shape;1066;p44"/>
          <p:cNvSpPr txBox="1"/>
          <p:nvPr/>
        </p:nvSpPr>
        <p:spPr>
          <a:xfrm>
            <a:off x="2123728" y="2348880"/>
            <a:ext cx="5040600" cy="1385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800" u="none" cap="none" strike="noStrike">
                <a:solidFill>
                  <a:srgbClr val="0000CC"/>
                </a:solidFill>
                <a:latin typeface="Arial"/>
                <a:ea typeface="Arial"/>
                <a:cs typeface="Arial"/>
                <a:sym typeface="Arial"/>
              </a:rPr>
              <a:t>Inference with MCMC and data augmentation for infectious disease data</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70" name="Shape 1070"/>
        <p:cNvGrpSpPr/>
        <p:nvPr/>
      </p:nvGrpSpPr>
      <p:grpSpPr>
        <a:xfrm>
          <a:off x="0" y="0"/>
          <a:ext cx="0" cy="0"/>
          <a:chOff x="0" y="0"/>
          <a:chExt cx="0" cy="0"/>
        </a:xfrm>
      </p:grpSpPr>
      <p:sp>
        <p:nvSpPr>
          <p:cNvPr id="1071" name="Google Shape;1071;p45"/>
          <p:cNvSpPr txBox="1"/>
          <p:nvPr/>
        </p:nvSpPr>
        <p:spPr>
          <a:xfrm>
            <a:off x="1979712" y="116632"/>
            <a:ext cx="5688600" cy="523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rPr>
              <a:t>Accessing the practical</a:t>
            </a:r>
            <a:endParaRPr b="1" i="0" sz="2000" u="none" cap="none" strike="noStrike">
              <a:solidFill>
                <a:srgbClr val="0033CC"/>
              </a:solidFill>
              <a:latin typeface="Arial"/>
              <a:ea typeface="Arial"/>
              <a:cs typeface="Arial"/>
              <a:sym typeface="Arial"/>
            </a:endParaRPr>
          </a:p>
        </p:txBody>
      </p:sp>
      <p:sp>
        <p:nvSpPr>
          <p:cNvPr id="1072" name="Google Shape;1072;p45"/>
          <p:cNvSpPr/>
          <p:nvPr/>
        </p:nvSpPr>
        <p:spPr>
          <a:xfrm>
            <a:off x="1907704" y="2132856"/>
            <a:ext cx="5976600" cy="2923800"/>
          </a:xfrm>
          <a:prstGeom prst="rect">
            <a:avLst/>
          </a:prstGeom>
          <a:noFill/>
          <a:ln>
            <a:noFill/>
          </a:ln>
        </p:spPr>
        <p:txBody>
          <a:bodyPr anchorCtr="0" anchor="t" bIns="45700" lIns="91425" spcFirstLastPara="1" rIns="91425" wrap="square" tIns="45700">
            <a:noAutofit/>
          </a:bodyPr>
          <a:lstStyle/>
          <a:p>
            <a:pPr indent="0" lvl="0" marL="0" marR="0" rtl="0" algn="l">
              <a:spcBef>
                <a:spcPts val="600"/>
              </a:spcBef>
              <a:spcAft>
                <a:spcPts val="0"/>
              </a:spcAft>
              <a:buNone/>
            </a:pPr>
            <a:r>
              <a:rPr lang="en-US"/>
              <a:t>In RStudio, run </a:t>
            </a:r>
            <a:r>
              <a:rPr lang="en-US"/>
              <a:t>devtools::install_github("c97sr/learnidd", build_opts = c("--no-manual"), force = TRUE)</a:t>
            </a:r>
            <a:endParaRPr/>
          </a:p>
          <a:p>
            <a:pPr indent="-85725" lvl="1" marL="631825" marR="0" rtl="0" algn="l">
              <a:spcBef>
                <a:spcPts val="600"/>
              </a:spcBef>
              <a:spcAft>
                <a:spcPts val="0"/>
              </a:spcAft>
              <a:buClr>
                <a:schemeClr val="dk1"/>
              </a:buClr>
              <a:buSzPts val="1400"/>
              <a:buFont typeface="Arial"/>
              <a:buNone/>
            </a:pPr>
            <a:r>
              <a:t/>
            </a:r>
            <a:endParaRPr>
              <a:solidFill>
                <a:schemeClr val="dk1"/>
              </a:solidFill>
            </a:endParaRPr>
          </a:p>
          <a:p>
            <a:pPr indent="0" lvl="1" marL="0" marR="0" rtl="0" algn="l">
              <a:spcBef>
                <a:spcPts val="600"/>
              </a:spcBef>
              <a:spcAft>
                <a:spcPts val="0"/>
              </a:spcAft>
              <a:buClr>
                <a:schemeClr val="dk1"/>
              </a:buClr>
              <a:buSzPts val="1400"/>
              <a:buFont typeface="Arial"/>
              <a:buNone/>
            </a:pPr>
            <a:r>
              <a:rPr lang="en-US">
                <a:solidFill>
                  <a:schemeClr val="dk1"/>
                </a:solidFill>
              </a:rPr>
              <a:t>browseVignettes("learnidd")</a:t>
            </a:r>
            <a:endParaRPr>
              <a:solidFill>
                <a:schemeClr val="dk1"/>
              </a:solidFill>
            </a:endParaRPr>
          </a:p>
          <a:p>
            <a:pPr indent="0" lvl="1" marL="0" marR="0" rtl="0" algn="l">
              <a:spcBef>
                <a:spcPts val="600"/>
              </a:spcBef>
              <a:spcAft>
                <a:spcPts val="0"/>
              </a:spcAft>
              <a:buClr>
                <a:schemeClr val="dk1"/>
              </a:buClr>
              <a:buSzPts val="1400"/>
              <a:buFont typeface="Arial"/>
              <a:buNone/>
            </a:pPr>
            <a:r>
              <a:t/>
            </a:r>
            <a:endParaRPr>
              <a:solidFill>
                <a:schemeClr val="dk1"/>
              </a:solidFill>
            </a:endParaRPr>
          </a:p>
          <a:p>
            <a:pPr indent="0" lvl="1" marL="0" marR="0" rtl="0" algn="l">
              <a:spcBef>
                <a:spcPts val="600"/>
              </a:spcBef>
              <a:spcAft>
                <a:spcPts val="0"/>
              </a:spcAft>
              <a:buClr>
                <a:schemeClr val="dk1"/>
              </a:buClr>
              <a:buSzPts val="1400"/>
              <a:buFont typeface="Arial"/>
              <a:buNone/>
            </a:pPr>
            <a:r>
              <a:rPr lang="en-US">
                <a:solidFill>
                  <a:schemeClr val="dk1"/>
                </a:solidFill>
              </a:rPr>
              <a:t>Click on transmission_inference (HTML)</a:t>
            </a:r>
            <a:endParaRPr>
              <a:solidFill>
                <a:schemeClr val="dk1"/>
              </a:solidFill>
            </a:endParaRPr>
          </a:p>
          <a:p>
            <a:pPr indent="0" lvl="1" marL="0" marR="0" rtl="0" algn="l">
              <a:spcBef>
                <a:spcPts val="600"/>
              </a:spcBef>
              <a:spcAft>
                <a:spcPts val="0"/>
              </a:spcAft>
              <a:buClr>
                <a:schemeClr val="dk1"/>
              </a:buClr>
              <a:buSzPts val="1400"/>
              <a:buFont typeface="Arial"/>
              <a:buNone/>
            </a:pPr>
            <a:r>
              <a:rPr lang="en-US">
                <a:solidFill>
                  <a:schemeClr val="dk1"/>
                </a:solidFill>
              </a:rPr>
              <a:t>(Solutions are transmission_inference_ans)</a:t>
            </a:r>
            <a:endParaRPr>
              <a:solidFill>
                <a:schemeClr val="dk1"/>
              </a:solidFill>
            </a:endParaRPr>
          </a:p>
          <a:p>
            <a:pPr indent="0" lvl="1" marL="0" marR="0" rtl="0" algn="l">
              <a:spcBef>
                <a:spcPts val="600"/>
              </a:spcBef>
              <a:spcAft>
                <a:spcPts val="0"/>
              </a:spcAft>
              <a:buClr>
                <a:schemeClr val="dk1"/>
              </a:buClr>
              <a:buSzPts val="1400"/>
              <a:buFont typeface="Arial"/>
              <a:buNone/>
            </a:pPr>
            <a:r>
              <a:t/>
            </a:r>
            <a:endParaRPr>
              <a:solidFill>
                <a:schemeClr val="dk1"/>
              </a:solidFill>
            </a:endParaRPr>
          </a:p>
          <a:p>
            <a:pPr indent="0" lvl="1" marL="0" marR="0" rtl="0" algn="l">
              <a:spcBef>
                <a:spcPts val="600"/>
              </a:spcBef>
              <a:spcAft>
                <a:spcPts val="0"/>
              </a:spcAft>
              <a:buClr>
                <a:schemeClr val="dk1"/>
              </a:buClr>
              <a:buSzPts val="1400"/>
              <a:buFont typeface="Arial"/>
              <a:buNone/>
            </a:pPr>
            <a:r>
              <a:rPr lang="en-US">
                <a:solidFill>
                  <a:schemeClr val="dk1"/>
                </a:solidFill>
              </a:rPr>
              <a:t>Backup link: http://bit.ly/2FF41qR</a:t>
            </a:r>
            <a:endParaRPr>
              <a:solidFill>
                <a:schemeClr val="dk1"/>
              </a:solidFill>
            </a:endParaRPr>
          </a:p>
          <a:p>
            <a:pPr indent="-85725" lvl="1" marL="631825" marR="0" rtl="0" algn="l">
              <a:spcBef>
                <a:spcPts val="60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174625" lvl="1" marL="631825" marR="0" rtl="0" algn="l">
              <a:spcBef>
                <a:spcPts val="600"/>
              </a:spcBef>
              <a:spcAft>
                <a:spcPts val="0"/>
              </a:spcAft>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76" name="Shape 1076"/>
        <p:cNvGrpSpPr/>
        <p:nvPr/>
      </p:nvGrpSpPr>
      <p:grpSpPr>
        <a:xfrm>
          <a:off x="0" y="0"/>
          <a:ext cx="0" cy="0"/>
          <a:chOff x="0" y="0"/>
          <a:chExt cx="0" cy="0"/>
        </a:xfrm>
      </p:grpSpPr>
      <p:sp>
        <p:nvSpPr>
          <p:cNvPr id="1077" name="Google Shape;1077;p46"/>
          <p:cNvSpPr txBox="1"/>
          <p:nvPr/>
        </p:nvSpPr>
        <p:spPr>
          <a:xfrm>
            <a:off x="1979712" y="116632"/>
            <a:ext cx="5688600" cy="523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800" u="none" cap="none" strike="noStrike">
                <a:solidFill>
                  <a:srgbClr val="0033CC"/>
                </a:solidFill>
                <a:latin typeface="Arial"/>
                <a:ea typeface="Arial"/>
                <a:cs typeface="Arial"/>
                <a:sym typeface="Arial"/>
              </a:rPr>
              <a:t>Learning outcomes</a:t>
            </a:r>
            <a:endParaRPr b="1" i="0" sz="2000" u="none" cap="none" strike="noStrike">
              <a:solidFill>
                <a:srgbClr val="0033CC"/>
              </a:solidFill>
              <a:latin typeface="Arial"/>
              <a:ea typeface="Arial"/>
              <a:cs typeface="Arial"/>
              <a:sym typeface="Arial"/>
            </a:endParaRPr>
          </a:p>
        </p:txBody>
      </p:sp>
      <p:sp>
        <p:nvSpPr>
          <p:cNvPr id="1078" name="Google Shape;1078;p46"/>
          <p:cNvSpPr/>
          <p:nvPr/>
        </p:nvSpPr>
        <p:spPr>
          <a:xfrm>
            <a:off x="1907704" y="2132856"/>
            <a:ext cx="5976600" cy="2923800"/>
          </a:xfrm>
          <a:prstGeom prst="rect">
            <a:avLst/>
          </a:prstGeom>
          <a:noFill/>
          <a:ln>
            <a:noFill/>
          </a:ln>
        </p:spPr>
        <p:txBody>
          <a:bodyPr anchorCtr="0" anchor="t" bIns="45700" lIns="91425" spcFirstLastPara="1" rIns="91425" wrap="square" tIns="45700">
            <a:noAutofit/>
          </a:bodyPr>
          <a:lstStyle/>
          <a:p>
            <a:pPr indent="-174625" lvl="0" marL="174625" marR="0" rtl="0" algn="l">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Understand why it is typically not straightforward to estimate transmission dynamics from outbreak data</a:t>
            </a:r>
            <a:endParaRPr/>
          </a:p>
          <a:p>
            <a:pPr indent="-174625" lvl="0" marL="174625" marR="0" rtl="0" algn="l">
              <a:spcBef>
                <a:spcPts val="6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Be able to explain what is meant by data augmentation</a:t>
            </a:r>
            <a:endParaRPr/>
          </a:p>
          <a:p>
            <a:pPr indent="-174625" lvl="0" marL="174625" marR="0" rtl="0" algn="l">
              <a:spcBef>
                <a:spcPts val="6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Be able to explain the Markov Chain Monte Carlo algorithm to estimate transmission dynamics</a:t>
            </a:r>
            <a:endParaRPr/>
          </a:p>
          <a:p>
            <a:pPr indent="-174625" lvl="0" marL="174625" marR="0" rtl="0" algn="l">
              <a:spcBef>
                <a:spcPts val="6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Be able to apply the data augmentation technique and MCMC inference on a toy example</a:t>
            </a:r>
            <a:endParaRPr/>
          </a:p>
          <a:p>
            <a:pPr indent="-85725" lvl="1" marL="631825" marR="0" rtl="0" algn="l">
              <a:spcBef>
                <a:spcPts val="60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85725" lvl="1" marL="631825" marR="0" rtl="0" algn="l">
              <a:spcBef>
                <a:spcPts val="60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174625" lvl="1" marL="631825" marR="0" rtl="0" algn="l">
              <a:spcBef>
                <a:spcPts val="600"/>
              </a:spcBef>
              <a:spcAft>
                <a:spcPts val="0"/>
              </a:spcAft>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82" name="Shape 1082"/>
        <p:cNvGrpSpPr/>
        <p:nvPr/>
      </p:nvGrpSpPr>
      <p:grpSpPr>
        <a:xfrm>
          <a:off x="0" y="0"/>
          <a:ext cx="0" cy="0"/>
          <a:chOff x="0" y="0"/>
          <a:chExt cx="0" cy="0"/>
        </a:xfrm>
      </p:grpSpPr>
      <p:sp>
        <p:nvSpPr>
          <p:cNvPr id="1083" name="Google Shape;1083;p47"/>
          <p:cNvSpPr txBox="1"/>
          <p:nvPr/>
        </p:nvSpPr>
        <p:spPr>
          <a:xfrm>
            <a:off x="1187624" y="260648"/>
            <a:ext cx="6336600" cy="523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rPr>
              <a:t>Why</a:t>
            </a:r>
            <a:r>
              <a:rPr b="1" i="0" lang="en-US" sz="2800" u="none" cap="none" strike="noStrike">
                <a:solidFill>
                  <a:srgbClr val="0033CC"/>
                </a:solidFill>
                <a:latin typeface="Arial"/>
                <a:ea typeface="Arial"/>
                <a:cs typeface="Arial"/>
                <a:sym typeface="Arial"/>
              </a:rPr>
              <a:t> fit a m</a:t>
            </a:r>
            <a:r>
              <a:rPr b="1" lang="en-US" sz="2800">
                <a:solidFill>
                  <a:srgbClr val="0033CC"/>
                </a:solidFill>
              </a:rPr>
              <a:t>echanistic </a:t>
            </a:r>
            <a:r>
              <a:rPr b="1" i="0" lang="en-US" sz="2800" u="none" cap="none" strike="noStrike">
                <a:solidFill>
                  <a:srgbClr val="0033CC"/>
                </a:solidFill>
                <a:latin typeface="Arial"/>
                <a:ea typeface="Arial"/>
                <a:cs typeface="Arial"/>
                <a:sym typeface="Arial"/>
              </a:rPr>
              <a:t>model to ID data?  How?</a:t>
            </a:r>
            <a:endParaRPr/>
          </a:p>
        </p:txBody>
      </p:sp>
      <p:sp>
        <p:nvSpPr>
          <p:cNvPr id="1084" name="Google Shape;1084;p47"/>
          <p:cNvSpPr txBox="1"/>
          <p:nvPr/>
        </p:nvSpPr>
        <p:spPr>
          <a:xfrm>
            <a:off x="107504" y="1196752"/>
            <a:ext cx="9036600" cy="5786100"/>
          </a:xfrm>
          <a:prstGeom prst="rect">
            <a:avLst/>
          </a:prstGeom>
          <a:noFill/>
          <a:ln>
            <a:noFill/>
          </a:ln>
        </p:spPr>
        <p:txBody>
          <a:bodyPr anchorCtr="0" anchor="t" bIns="45700" lIns="91425" spcFirstLastPara="1" rIns="91425" wrap="square" tIns="45700">
            <a:noAutofit/>
          </a:bodyPr>
          <a:lstStyle/>
          <a:p>
            <a:pPr indent="25400" lvl="0" marL="0" marR="0" rtl="0" algn="l">
              <a:spcBef>
                <a:spcPts val="0"/>
              </a:spcBef>
              <a:spcAft>
                <a:spcPts val="0"/>
              </a:spcAft>
              <a:buClr>
                <a:srgbClr val="000000"/>
              </a:buClr>
              <a:buSzPts val="1400"/>
              <a:buFont typeface="Arial"/>
              <a:buChar char="•"/>
            </a:pPr>
            <a:r>
              <a:rPr lang="en-US"/>
              <a:t>Why fit a mechanistic model to data? </a:t>
            </a:r>
            <a:endParaRPr b="0" i="0" u="none" cap="none" strike="noStrike">
              <a:latin typeface="Arial"/>
              <a:ea typeface="Arial"/>
              <a:cs typeface="Arial"/>
              <a:sym typeface="Arial"/>
            </a:endParaRPr>
          </a:p>
          <a:p>
            <a:pPr indent="12700" lvl="1" marL="457200" marR="0" rtl="0" algn="l">
              <a:spcBef>
                <a:spcPts val="0"/>
              </a:spcBef>
              <a:spcAft>
                <a:spcPts val="0"/>
              </a:spcAft>
              <a:buClr>
                <a:srgbClr val="000000"/>
              </a:buClr>
              <a:buSzPts val="1400"/>
              <a:buFont typeface="Noto Sans Symbols"/>
              <a:buChar char="➢"/>
            </a:pPr>
            <a:r>
              <a:rPr lang="en-US"/>
              <a:t>Example: </a:t>
            </a:r>
            <a:r>
              <a:rPr lang="en-US">
                <a:solidFill>
                  <a:schemeClr val="dk1"/>
                </a:solidFill>
              </a:rPr>
              <a:t>H1N1pdm influenza school outbreak (Cauchemez et al. 2011): </a:t>
            </a:r>
            <a:r>
              <a:rPr lang="en-US"/>
              <a:t>can answer questions such as</a:t>
            </a:r>
            <a:endParaRPr/>
          </a:p>
          <a:p>
            <a:pPr indent="12700" lvl="2" marL="914400" marR="0" rtl="0" algn="l">
              <a:spcBef>
                <a:spcPts val="0"/>
              </a:spcBef>
              <a:spcAft>
                <a:spcPts val="0"/>
              </a:spcAft>
              <a:buClr>
                <a:srgbClr val="000000"/>
              </a:buClr>
              <a:buSzPts val="1400"/>
              <a:buFont typeface="Noto Sans Symbols"/>
              <a:buChar char="✓"/>
            </a:pPr>
            <a:r>
              <a:rPr b="0" i="0" lang="en-US" u="none" cap="none" strike="noStrike">
                <a:latin typeface="Arial"/>
                <a:ea typeface="Arial"/>
                <a:cs typeface="Arial"/>
                <a:sym typeface="Arial"/>
              </a:rPr>
              <a:t> How does H1N1pdm transmission differ in/between households; school; grade; classroom?</a:t>
            </a:r>
            <a:endParaRPr/>
          </a:p>
          <a:p>
            <a:pPr indent="12700" lvl="2" marL="914400" marR="0" rtl="0" algn="l">
              <a:spcBef>
                <a:spcPts val="0"/>
              </a:spcBef>
              <a:spcAft>
                <a:spcPts val="0"/>
              </a:spcAft>
              <a:buClr>
                <a:srgbClr val="000000"/>
              </a:buClr>
              <a:buSzPts val="1400"/>
              <a:buFont typeface="Noto Sans Symbols"/>
              <a:buChar char="✓"/>
            </a:pPr>
            <a:r>
              <a:rPr b="0" i="0" lang="en-US" u="none" cap="none" strike="noStrike">
                <a:latin typeface="Arial"/>
                <a:ea typeface="Arial"/>
                <a:cs typeface="Arial"/>
                <a:sym typeface="Arial"/>
              </a:rPr>
              <a:t>Do sex related mixing patterns or seating arrangements affect transmission?</a:t>
            </a:r>
            <a:endParaRPr/>
          </a:p>
          <a:p>
            <a:pPr indent="12700" lvl="2" marL="914400" marR="0" rtl="0" algn="l">
              <a:spcBef>
                <a:spcPts val="0"/>
              </a:spcBef>
              <a:spcAft>
                <a:spcPts val="0"/>
              </a:spcAft>
              <a:buClr>
                <a:srgbClr val="000000"/>
              </a:buClr>
              <a:buSzPts val="1400"/>
              <a:buFont typeface="Noto Sans Symbols"/>
              <a:buChar char="✓"/>
            </a:pPr>
            <a:r>
              <a:rPr b="0" i="0" lang="en-US" u="none" cap="none" strike="noStrike">
                <a:latin typeface="Arial"/>
                <a:ea typeface="Arial"/>
                <a:cs typeface="Arial"/>
                <a:sym typeface="Arial"/>
              </a:rPr>
              <a:t>Was school closure responsible to halt the outbreak?</a:t>
            </a:r>
            <a:endParaRPr/>
          </a:p>
          <a:p>
            <a:pPr indent="114300" lvl="0" marL="0" marR="0" rtl="0" algn="l">
              <a:spcBef>
                <a:spcPts val="0"/>
              </a:spcBef>
              <a:spcAft>
                <a:spcPts val="0"/>
              </a:spcAft>
              <a:buClr>
                <a:schemeClr val="dk1"/>
              </a:buClr>
              <a:buSzPts val="1800"/>
              <a:buFont typeface="Arial"/>
              <a:buNone/>
            </a:pPr>
            <a:r>
              <a:t/>
            </a:r>
            <a:endParaRPr>
              <a:latin typeface="Arial"/>
              <a:ea typeface="Arial"/>
              <a:cs typeface="Arial"/>
              <a:sym typeface="Arial"/>
            </a:endParaRPr>
          </a:p>
          <a:p>
            <a:pPr indent="25400" lvl="0" marL="0" marR="0" rtl="0" algn="l">
              <a:spcBef>
                <a:spcPts val="0"/>
              </a:spcBef>
              <a:spcAft>
                <a:spcPts val="0"/>
              </a:spcAft>
              <a:buClr>
                <a:srgbClr val="000000"/>
              </a:buClr>
              <a:buSzPts val="1400"/>
              <a:buFont typeface="Arial"/>
              <a:buChar char="•"/>
            </a:pPr>
            <a:r>
              <a:rPr lang="en-US">
                <a:latin typeface="Arial"/>
                <a:ea typeface="Arial"/>
                <a:cs typeface="Arial"/>
                <a:sym typeface="Arial"/>
              </a:rPr>
              <a:t>How </a:t>
            </a:r>
            <a:r>
              <a:rPr lang="en-US"/>
              <a:t>do we</a:t>
            </a:r>
            <a:r>
              <a:rPr lang="en-US">
                <a:latin typeface="Arial"/>
                <a:ea typeface="Arial"/>
                <a:cs typeface="Arial"/>
                <a:sym typeface="Arial"/>
              </a:rPr>
              <a:t> fit </a:t>
            </a:r>
            <a:r>
              <a:rPr lang="en-US"/>
              <a:t>a</a:t>
            </a:r>
            <a:r>
              <a:rPr lang="en-US">
                <a:latin typeface="Arial"/>
                <a:ea typeface="Arial"/>
                <a:cs typeface="Arial"/>
                <a:sym typeface="Arial"/>
              </a:rPr>
              <a:t> model to data (i.</a:t>
            </a:r>
            <a:r>
              <a:rPr lang="en-US"/>
              <a:t>e. </a:t>
            </a:r>
            <a:r>
              <a:rPr lang="en-US">
                <a:latin typeface="Arial"/>
                <a:ea typeface="Arial"/>
                <a:cs typeface="Arial"/>
                <a:sym typeface="Arial"/>
              </a:rPr>
              <a:t>estimate model parameters)?</a:t>
            </a:r>
            <a:endParaRPr/>
          </a:p>
          <a:p>
            <a:pPr indent="12700" lvl="1" marL="457200" marR="0" rtl="0" algn="l">
              <a:spcBef>
                <a:spcPts val="0"/>
              </a:spcBef>
              <a:spcAft>
                <a:spcPts val="0"/>
              </a:spcAft>
              <a:buClr>
                <a:srgbClr val="000000"/>
              </a:buClr>
              <a:buSzPts val="1400"/>
              <a:buFont typeface="Noto Sans Symbols"/>
              <a:buChar char="➢"/>
            </a:pPr>
            <a:r>
              <a:rPr b="0" i="0" lang="en-US" u="none" cap="none" strike="noStrike">
                <a:latin typeface="Arial"/>
                <a:ea typeface="Arial"/>
                <a:cs typeface="Arial"/>
                <a:sym typeface="Arial"/>
              </a:rPr>
              <a:t> </a:t>
            </a:r>
            <a:r>
              <a:rPr lang="en-US"/>
              <a:t>W</a:t>
            </a:r>
            <a:r>
              <a:rPr b="0" i="0" lang="en-US" u="none" cap="none" strike="noStrike">
                <a:latin typeface="Arial"/>
                <a:ea typeface="Arial"/>
                <a:cs typeface="Arial"/>
                <a:sym typeface="Arial"/>
              </a:rPr>
              <a:t>rite down the likelihood for </a:t>
            </a:r>
            <a:r>
              <a:rPr lang="en-US"/>
              <a:t>model parameters given data</a:t>
            </a:r>
            <a:endParaRPr/>
          </a:p>
          <a:p>
            <a:pPr indent="12700" lvl="1" marL="457200" marR="0" rtl="0" algn="l">
              <a:spcBef>
                <a:spcPts val="0"/>
              </a:spcBef>
              <a:spcAft>
                <a:spcPts val="0"/>
              </a:spcAft>
              <a:buClr>
                <a:srgbClr val="000000"/>
              </a:buClr>
              <a:buSzPts val="1400"/>
              <a:buFont typeface="Noto Sans Symbols"/>
              <a:buChar char="➢"/>
            </a:pPr>
            <a:r>
              <a:rPr lang="en-US"/>
              <a:t>Use an algorithm such as MCMC to sample from the posterior distribution of the parameters, given the data</a:t>
            </a:r>
            <a:endParaRPr b="0" i="0" u="none" cap="none" strike="noStrike">
              <a:latin typeface="Arial"/>
              <a:ea typeface="Arial"/>
              <a:cs typeface="Arial"/>
              <a:sym typeface="Arial"/>
            </a:endParaRPr>
          </a:p>
          <a:p>
            <a:pPr indent="0" lvl="0" marL="0" marR="0" rtl="0" algn="l">
              <a:spcBef>
                <a:spcPts val="0"/>
              </a:spcBef>
              <a:spcAft>
                <a:spcPts val="0"/>
              </a:spcAft>
              <a:buNone/>
            </a:pPr>
            <a:r>
              <a:t/>
            </a:r>
            <a:endParaRPr/>
          </a:p>
          <a:p>
            <a:pPr indent="25400" lvl="0" marL="0" rtl="0" algn="l">
              <a:spcBef>
                <a:spcPts val="0"/>
              </a:spcBef>
              <a:spcAft>
                <a:spcPts val="0"/>
              </a:spcAft>
              <a:buClr>
                <a:srgbClr val="000000"/>
              </a:buClr>
              <a:buSzPts val="1400"/>
              <a:buFont typeface="Arial"/>
              <a:buChar char="•"/>
            </a:pPr>
            <a:r>
              <a:rPr lang="en-US"/>
              <a:t>How might we deal with missing data?</a:t>
            </a:r>
            <a:endParaRPr/>
          </a:p>
          <a:p>
            <a:pPr indent="12700" lvl="1" marL="457200" rtl="0" algn="l">
              <a:spcBef>
                <a:spcPts val="0"/>
              </a:spcBef>
              <a:spcAft>
                <a:spcPts val="0"/>
              </a:spcAft>
              <a:buClr>
                <a:srgbClr val="000000"/>
              </a:buClr>
              <a:buSzPts val="1400"/>
              <a:buFont typeface="Noto Sans Symbols"/>
              <a:buChar char="➢"/>
            </a:pPr>
            <a:r>
              <a:rPr lang="en-US"/>
              <a:t>Outbreak data is often incompletely observed.  Missing data might be:</a:t>
            </a:r>
            <a:endParaRPr/>
          </a:p>
          <a:p>
            <a:pPr indent="12700" lvl="2" marL="914400" rtl="0" algn="l">
              <a:spcBef>
                <a:spcPts val="0"/>
              </a:spcBef>
              <a:spcAft>
                <a:spcPts val="0"/>
              </a:spcAft>
              <a:buClr>
                <a:srgbClr val="000000"/>
              </a:buClr>
              <a:buSzPts val="1400"/>
              <a:buFont typeface="Noto Sans Symbols"/>
              <a:buChar char="✓"/>
            </a:pPr>
            <a:r>
              <a:rPr lang="en-US"/>
              <a:t> Missing variables. E.g.:</a:t>
            </a:r>
            <a:endParaRPr/>
          </a:p>
          <a:p>
            <a:pPr indent="-317500" lvl="3" marL="1828800" rtl="0" algn="l">
              <a:spcBef>
                <a:spcPts val="0"/>
              </a:spcBef>
              <a:spcAft>
                <a:spcPts val="0"/>
              </a:spcAft>
              <a:buSzPts val="1400"/>
              <a:buChar char="●"/>
            </a:pPr>
            <a:r>
              <a:rPr lang="en-US"/>
              <a:t> We know the time of symptoms onset; </a:t>
            </a:r>
            <a:endParaRPr/>
          </a:p>
          <a:p>
            <a:pPr indent="-317500" lvl="3" marL="1828800" rtl="0" algn="l">
              <a:spcBef>
                <a:spcPts val="0"/>
              </a:spcBef>
              <a:spcAft>
                <a:spcPts val="0"/>
              </a:spcAft>
              <a:buSzPts val="1400"/>
              <a:buChar char="●"/>
            </a:pPr>
            <a:r>
              <a:rPr lang="en-US"/>
              <a:t> But we don’t know when, where, by whom a person was infected.</a:t>
            </a:r>
            <a:endParaRPr/>
          </a:p>
          <a:p>
            <a:pPr indent="12700" lvl="2" marL="914400" rtl="0" algn="l">
              <a:spcBef>
                <a:spcPts val="0"/>
              </a:spcBef>
              <a:spcAft>
                <a:spcPts val="0"/>
              </a:spcAft>
              <a:buClr>
                <a:srgbClr val="000000"/>
              </a:buClr>
              <a:buSzPts val="1400"/>
              <a:buFont typeface="Noto Sans Symbols"/>
              <a:buChar char="✓"/>
            </a:pPr>
            <a:r>
              <a:rPr lang="en-US"/>
              <a:t> Missing cases, censoring etc.</a:t>
            </a:r>
            <a:endParaRPr/>
          </a:p>
          <a:p>
            <a:pPr indent="12700" lvl="1" marL="457200" rtl="0" algn="l">
              <a:spcBef>
                <a:spcPts val="0"/>
              </a:spcBef>
              <a:spcAft>
                <a:spcPts val="0"/>
              </a:spcAft>
              <a:buClr>
                <a:srgbClr val="000000"/>
              </a:buClr>
              <a:buSzPts val="1400"/>
              <a:buFont typeface="Noto Sans Symbols"/>
              <a:buChar char="➢"/>
            </a:pPr>
            <a:r>
              <a:rPr lang="en-US"/>
              <a:t> Data augmentation techniques help us deal with missing data.</a:t>
            </a:r>
            <a:endParaRPr/>
          </a:p>
          <a:p>
            <a:pPr indent="0" lvl="0" marL="457200" rtl="0" algn="l">
              <a:spcBef>
                <a:spcPts val="0"/>
              </a:spcBef>
              <a:spcAft>
                <a:spcPts val="0"/>
              </a:spcAft>
              <a:buNone/>
            </a:pPr>
            <a:r>
              <a:t/>
            </a:r>
            <a:endParaRPr/>
          </a:p>
          <a:p>
            <a:pPr indent="25400" lvl="0" marL="0" marR="0" rtl="0" algn="l">
              <a:spcBef>
                <a:spcPts val="0"/>
              </a:spcBef>
              <a:spcAft>
                <a:spcPts val="0"/>
              </a:spcAft>
              <a:buClr>
                <a:srgbClr val="000000"/>
              </a:buClr>
              <a:buSzPts val="1400"/>
              <a:buFont typeface="Arial"/>
              <a:buChar char="•"/>
            </a:pPr>
            <a:r>
              <a:rPr lang="en-US">
                <a:latin typeface="Arial"/>
                <a:ea typeface="Arial"/>
                <a:cs typeface="Arial"/>
                <a:sym typeface="Arial"/>
              </a:rPr>
              <a:t> From theory to practice:</a:t>
            </a:r>
            <a:endParaRPr/>
          </a:p>
          <a:p>
            <a:pPr indent="12700" lvl="1" marL="457200" marR="0" rtl="0" algn="l">
              <a:spcBef>
                <a:spcPts val="0"/>
              </a:spcBef>
              <a:spcAft>
                <a:spcPts val="0"/>
              </a:spcAft>
              <a:buClr>
                <a:srgbClr val="000000"/>
              </a:buClr>
              <a:buSzPts val="1400"/>
              <a:buFont typeface="Noto Sans Symbols"/>
              <a:buChar char="➢"/>
            </a:pPr>
            <a:r>
              <a:rPr b="0" i="0" lang="en-US" u="none" cap="none" strike="noStrike">
                <a:latin typeface="Arial"/>
                <a:ea typeface="Arial"/>
                <a:cs typeface="Arial"/>
                <a:sym typeface="Arial"/>
              </a:rPr>
              <a:t> You are going to analyze data from a transmission challenge study with data augmentation and MCMC techniques.</a:t>
            </a:r>
            <a:endParaRPr>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88" name="Shape 1088"/>
        <p:cNvGrpSpPr/>
        <p:nvPr/>
      </p:nvGrpSpPr>
      <p:grpSpPr>
        <a:xfrm>
          <a:off x="0" y="0"/>
          <a:ext cx="0" cy="0"/>
          <a:chOff x="0" y="0"/>
          <a:chExt cx="0" cy="0"/>
        </a:xfrm>
      </p:grpSpPr>
      <p:sp>
        <p:nvSpPr>
          <p:cNvPr id="1089" name="Google Shape;1089;p48"/>
          <p:cNvSpPr txBox="1"/>
          <p:nvPr/>
        </p:nvSpPr>
        <p:spPr>
          <a:xfrm>
            <a:off x="1187624" y="260648"/>
            <a:ext cx="6336600" cy="523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latin typeface="Arial"/>
                <a:ea typeface="Arial"/>
                <a:cs typeface="Arial"/>
                <a:sym typeface="Arial"/>
              </a:rPr>
              <a:t>Part 1: Exploring the data</a:t>
            </a:r>
            <a:endParaRPr/>
          </a:p>
        </p:txBody>
      </p:sp>
      <p:sp>
        <p:nvSpPr>
          <p:cNvPr id="1090" name="Google Shape;1090;p48"/>
          <p:cNvSpPr txBox="1"/>
          <p:nvPr>
            <p:ph idx="1" type="body"/>
          </p:nvPr>
        </p:nvSpPr>
        <p:spPr>
          <a:xfrm>
            <a:off x="457200" y="1600200"/>
            <a:ext cx="8229600" cy="4526100"/>
          </a:xfrm>
          <a:prstGeom prst="rect">
            <a:avLst/>
          </a:prstGeom>
        </p:spPr>
        <p:txBody>
          <a:bodyPr anchorCtr="0" anchor="t" bIns="91425" lIns="91425" spcFirstLastPara="1" rIns="91425" wrap="square" tIns="91425">
            <a:noAutofit/>
          </a:bodyPr>
          <a:lstStyle/>
          <a:p>
            <a:pPr indent="0" lvl="0" marL="0" rtl="0" algn="l">
              <a:spcBef>
                <a:spcPts val="640"/>
              </a:spcBef>
              <a:spcAft>
                <a:spcPts val="0"/>
              </a:spcAft>
              <a:buNone/>
            </a:pPr>
            <a:r>
              <a:rPr lang="en-US" sz="2400"/>
              <a:t>If using backup,</a:t>
            </a:r>
            <a:endParaRPr sz="2400"/>
          </a:p>
          <a:p>
            <a:pPr indent="0" lvl="0" marL="0" rtl="0" algn="l">
              <a:spcBef>
                <a:spcPts val="640"/>
              </a:spcBef>
              <a:spcAft>
                <a:spcPts val="0"/>
              </a:spcAft>
              <a:buNone/>
            </a:pPr>
            <a:r>
              <a:rPr lang="en-US" sz="2400"/>
              <a:t>source(“households.R”)</a:t>
            </a:r>
            <a:endParaRPr sz="2400"/>
          </a:p>
          <a:p>
            <a:pPr indent="0" lvl="0" marL="0" rtl="0" algn="l">
              <a:spcBef>
                <a:spcPts val="640"/>
              </a:spcBef>
              <a:spcAft>
                <a:spcPts val="0"/>
              </a:spcAft>
              <a:buNone/>
            </a:pPr>
            <a:r>
              <a:rPr lang="en-US" sz="2400"/>
              <a:t>data</a:t>
            </a:r>
            <a:r>
              <a:rPr lang="en-US" sz="2400"/>
              <a:t> &lt;- read.csv("data.txt", header = TRUE, sep = " ")</a:t>
            </a:r>
            <a:endParaRPr sz="24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95" name="Shape 1095"/>
        <p:cNvGrpSpPr/>
        <p:nvPr/>
      </p:nvGrpSpPr>
      <p:grpSpPr>
        <a:xfrm>
          <a:off x="0" y="0"/>
          <a:ext cx="0" cy="0"/>
          <a:chOff x="0" y="0"/>
          <a:chExt cx="0" cy="0"/>
        </a:xfrm>
      </p:grpSpPr>
      <p:sp>
        <p:nvSpPr>
          <p:cNvPr id="1096" name="Google Shape;1096;p49"/>
          <p:cNvSpPr txBox="1"/>
          <p:nvPr/>
        </p:nvSpPr>
        <p:spPr>
          <a:xfrm>
            <a:off x="8001000" y="6237312"/>
            <a:ext cx="11430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Time</a:t>
            </a:r>
            <a:endParaRPr/>
          </a:p>
        </p:txBody>
      </p:sp>
      <p:cxnSp>
        <p:nvCxnSpPr>
          <p:cNvPr id="1097" name="Google Shape;1097;p49"/>
          <p:cNvCxnSpPr/>
          <p:nvPr/>
        </p:nvCxnSpPr>
        <p:spPr>
          <a:xfrm>
            <a:off x="1905000" y="6669360"/>
            <a:ext cx="7239000" cy="0"/>
          </a:xfrm>
          <a:prstGeom prst="straightConnector1">
            <a:avLst/>
          </a:prstGeom>
          <a:noFill/>
          <a:ln cap="flat" cmpd="sng" w="9525">
            <a:solidFill>
              <a:schemeClr val="dk1"/>
            </a:solidFill>
            <a:prstDash val="solid"/>
            <a:round/>
            <a:headEnd len="sm" w="sm" type="none"/>
            <a:tailEnd len="med" w="med" type="triangle"/>
          </a:ln>
        </p:spPr>
      </p:cxnSp>
      <p:sp>
        <p:nvSpPr>
          <p:cNvPr id="1098" name="Google Shape;1098;p49"/>
          <p:cNvSpPr txBox="1"/>
          <p:nvPr/>
        </p:nvSpPr>
        <p:spPr>
          <a:xfrm>
            <a:off x="1835696" y="0"/>
            <a:ext cx="5184600" cy="95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b="1" lang="en-US" sz="2800">
                <a:solidFill>
                  <a:srgbClr val="0033CC"/>
                </a:solidFill>
              </a:rPr>
              <a:t>Part 2: Modelling incubation</a:t>
            </a:r>
            <a:endParaRPr>
              <a:solidFill>
                <a:schemeClr val="dk1"/>
              </a:solidFill>
            </a:endParaRPr>
          </a:p>
          <a:p>
            <a:pPr indent="0" lvl="0" marL="0" marR="0" rtl="0" algn="ctr">
              <a:spcBef>
                <a:spcPts val="0"/>
              </a:spcBef>
              <a:spcAft>
                <a:spcPts val="0"/>
              </a:spcAft>
              <a:buNone/>
            </a:pPr>
            <a:r>
              <a:t/>
            </a:r>
            <a:endParaRPr b="1" sz="2800">
              <a:solidFill>
                <a:srgbClr val="0033CC"/>
              </a:solidFill>
            </a:endParaRPr>
          </a:p>
        </p:txBody>
      </p:sp>
      <p:cxnSp>
        <p:nvCxnSpPr>
          <p:cNvPr id="1099" name="Google Shape;1099;p49"/>
          <p:cNvCxnSpPr/>
          <p:nvPr/>
        </p:nvCxnSpPr>
        <p:spPr>
          <a:xfrm>
            <a:off x="1981200" y="4293096"/>
            <a:ext cx="7162800" cy="0"/>
          </a:xfrm>
          <a:prstGeom prst="straightConnector1">
            <a:avLst/>
          </a:prstGeom>
          <a:noFill/>
          <a:ln cap="rnd" cmpd="sng" w="9525">
            <a:solidFill>
              <a:schemeClr val="dk1"/>
            </a:solidFill>
            <a:prstDash val="dot"/>
            <a:round/>
            <a:headEnd len="sm" w="sm" type="none"/>
            <a:tailEnd len="sm" w="sm" type="none"/>
          </a:ln>
        </p:spPr>
      </p:cxnSp>
      <p:sp>
        <p:nvSpPr>
          <p:cNvPr id="1100" name="Google Shape;1100;p49"/>
          <p:cNvSpPr txBox="1"/>
          <p:nvPr/>
        </p:nvSpPr>
        <p:spPr>
          <a:xfrm>
            <a:off x="251520" y="4077072"/>
            <a:ext cx="1370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Donor 1</a:t>
            </a:r>
            <a:endParaRPr/>
          </a:p>
        </p:txBody>
      </p:sp>
      <p:sp>
        <p:nvSpPr>
          <p:cNvPr id="1101" name="Google Shape;1101;p49"/>
          <p:cNvSpPr txBox="1"/>
          <p:nvPr/>
        </p:nvSpPr>
        <p:spPr>
          <a:xfrm>
            <a:off x="251520" y="4725144"/>
            <a:ext cx="1329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Donor 2</a:t>
            </a:r>
            <a:endParaRPr/>
          </a:p>
        </p:txBody>
      </p:sp>
      <p:cxnSp>
        <p:nvCxnSpPr>
          <p:cNvPr id="1102" name="Google Shape;1102;p49"/>
          <p:cNvCxnSpPr/>
          <p:nvPr/>
        </p:nvCxnSpPr>
        <p:spPr>
          <a:xfrm rot="5400000">
            <a:off x="4128350" y="4238271"/>
            <a:ext cx="214200" cy="0"/>
          </a:xfrm>
          <a:prstGeom prst="straightConnector1">
            <a:avLst/>
          </a:prstGeom>
          <a:noFill/>
          <a:ln cap="flat" cmpd="sng" w="50800">
            <a:solidFill>
              <a:srgbClr val="FF0000"/>
            </a:solidFill>
            <a:prstDash val="solid"/>
            <a:round/>
            <a:headEnd len="sm" w="sm" type="none"/>
            <a:tailEnd len="sm" w="sm" type="none"/>
          </a:ln>
        </p:spPr>
      </p:cxnSp>
      <p:sp>
        <p:nvSpPr>
          <p:cNvPr id="1103" name="Google Shape;1103;p49"/>
          <p:cNvSpPr txBox="1"/>
          <p:nvPr/>
        </p:nvSpPr>
        <p:spPr>
          <a:xfrm>
            <a:off x="3419872" y="3717032"/>
            <a:ext cx="16113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FF0000"/>
                </a:solidFill>
                <a:latin typeface="Arial"/>
                <a:ea typeface="Arial"/>
                <a:cs typeface="Arial"/>
                <a:sym typeface="Arial"/>
              </a:rPr>
              <a:t>Symptom onset</a:t>
            </a:r>
            <a:endParaRPr/>
          </a:p>
        </p:txBody>
      </p:sp>
      <p:cxnSp>
        <p:nvCxnSpPr>
          <p:cNvPr id="1104" name="Google Shape;1104;p49"/>
          <p:cNvCxnSpPr/>
          <p:nvPr/>
        </p:nvCxnSpPr>
        <p:spPr>
          <a:xfrm>
            <a:off x="2195736" y="4077072"/>
            <a:ext cx="0" cy="216000"/>
          </a:xfrm>
          <a:prstGeom prst="straightConnector1">
            <a:avLst/>
          </a:prstGeom>
          <a:noFill/>
          <a:ln cap="flat" cmpd="sng" w="19050">
            <a:solidFill>
              <a:srgbClr val="0000CC"/>
            </a:solidFill>
            <a:prstDash val="solid"/>
            <a:round/>
            <a:headEnd len="sm" w="sm" type="none"/>
            <a:tailEnd len="med" w="med" type="triangle"/>
          </a:ln>
        </p:spPr>
      </p:cxnSp>
      <p:sp>
        <p:nvSpPr>
          <p:cNvPr id="1105" name="Google Shape;1105;p49"/>
          <p:cNvSpPr txBox="1"/>
          <p:nvPr/>
        </p:nvSpPr>
        <p:spPr>
          <a:xfrm>
            <a:off x="1691680" y="3717032"/>
            <a:ext cx="9606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00CC"/>
                </a:solidFill>
                <a:latin typeface="Arial"/>
                <a:ea typeface="Arial"/>
                <a:cs typeface="Arial"/>
                <a:sym typeface="Arial"/>
              </a:rPr>
              <a:t>Infection</a:t>
            </a:r>
            <a:endParaRPr/>
          </a:p>
        </p:txBody>
      </p:sp>
      <p:cxnSp>
        <p:nvCxnSpPr>
          <p:cNvPr id="1106" name="Google Shape;1106;p49"/>
          <p:cNvCxnSpPr/>
          <p:nvPr/>
        </p:nvCxnSpPr>
        <p:spPr>
          <a:xfrm>
            <a:off x="1981200" y="4978896"/>
            <a:ext cx="7162800" cy="0"/>
          </a:xfrm>
          <a:prstGeom prst="straightConnector1">
            <a:avLst/>
          </a:prstGeom>
          <a:noFill/>
          <a:ln cap="rnd" cmpd="sng" w="9525">
            <a:solidFill>
              <a:schemeClr val="dk1"/>
            </a:solidFill>
            <a:prstDash val="dot"/>
            <a:round/>
            <a:headEnd len="sm" w="sm" type="none"/>
            <a:tailEnd len="sm" w="sm" type="none"/>
          </a:ln>
        </p:spPr>
      </p:cxnSp>
      <p:cxnSp>
        <p:nvCxnSpPr>
          <p:cNvPr id="1107" name="Google Shape;1107;p49"/>
          <p:cNvCxnSpPr/>
          <p:nvPr/>
        </p:nvCxnSpPr>
        <p:spPr>
          <a:xfrm>
            <a:off x="2195736" y="4762872"/>
            <a:ext cx="0" cy="216000"/>
          </a:xfrm>
          <a:prstGeom prst="straightConnector1">
            <a:avLst/>
          </a:prstGeom>
          <a:noFill/>
          <a:ln cap="flat" cmpd="sng" w="19050">
            <a:solidFill>
              <a:srgbClr val="0000CC"/>
            </a:solidFill>
            <a:prstDash val="solid"/>
            <a:round/>
            <a:headEnd len="sm" w="sm" type="none"/>
            <a:tailEnd len="med" w="med" type="triangle"/>
          </a:ln>
        </p:spPr>
      </p:cxnSp>
      <p:sp>
        <p:nvSpPr>
          <p:cNvPr id="1108" name="Google Shape;1108;p49"/>
          <p:cNvSpPr txBox="1"/>
          <p:nvPr/>
        </p:nvSpPr>
        <p:spPr>
          <a:xfrm>
            <a:off x="1691680" y="4402832"/>
            <a:ext cx="9606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00CC"/>
                </a:solidFill>
                <a:latin typeface="Arial"/>
                <a:ea typeface="Arial"/>
                <a:cs typeface="Arial"/>
                <a:sym typeface="Arial"/>
              </a:rPr>
              <a:t>Infection</a:t>
            </a:r>
            <a:endParaRPr/>
          </a:p>
        </p:txBody>
      </p:sp>
      <p:cxnSp>
        <p:nvCxnSpPr>
          <p:cNvPr id="1109" name="Google Shape;1109;p49"/>
          <p:cNvCxnSpPr/>
          <p:nvPr/>
        </p:nvCxnSpPr>
        <p:spPr>
          <a:xfrm rot="5400000">
            <a:off x="3776675" y="4993546"/>
            <a:ext cx="214200" cy="0"/>
          </a:xfrm>
          <a:prstGeom prst="straightConnector1">
            <a:avLst/>
          </a:prstGeom>
          <a:noFill/>
          <a:ln cap="flat" cmpd="sng" w="50800">
            <a:solidFill>
              <a:srgbClr val="FF0000"/>
            </a:solidFill>
            <a:prstDash val="solid"/>
            <a:round/>
            <a:headEnd len="sm" w="sm" type="none"/>
            <a:tailEnd len="sm" w="sm" type="none"/>
          </a:ln>
        </p:spPr>
      </p:cxnSp>
      <p:sp>
        <p:nvSpPr>
          <p:cNvPr id="1110" name="Google Shape;1110;p49"/>
          <p:cNvSpPr txBox="1"/>
          <p:nvPr/>
        </p:nvSpPr>
        <p:spPr>
          <a:xfrm>
            <a:off x="3068197" y="4472307"/>
            <a:ext cx="16113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FF0000"/>
                </a:solidFill>
                <a:latin typeface="Arial"/>
                <a:ea typeface="Arial"/>
                <a:cs typeface="Arial"/>
                <a:sym typeface="Arial"/>
              </a:rPr>
              <a:t>Symptom onset</a:t>
            </a:r>
            <a:endParaRPr/>
          </a:p>
        </p:txBody>
      </p:sp>
      <p:sp>
        <p:nvSpPr>
          <p:cNvPr id="1111" name="Google Shape;1111;p49"/>
          <p:cNvSpPr txBox="1"/>
          <p:nvPr/>
        </p:nvSpPr>
        <p:spPr>
          <a:xfrm>
            <a:off x="4220344" y="3988296"/>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latin typeface="Arial"/>
                <a:ea typeface="Arial"/>
                <a:cs typeface="Arial"/>
                <a:sym typeface="Arial"/>
              </a:rPr>
              <a:t>d</a:t>
            </a:r>
            <a:r>
              <a:rPr baseline="-25000" i="1" lang="en-US" sz="1600">
                <a:solidFill>
                  <a:srgbClr val="C00000"/>
                </a:solidFill>
                <a:latin typeface="Arial"/>
                <a:ea typeface="Arial"/>
                <a:cs typeface="Arial"/>
                <a:sym typeface="Arial"/>
              </a:rPr>
              <a:t>1</a:t>
            </a:r>
            <a:endParaRPr/>
          </a:p>
        </p:txBody>
      </p:sp>
      <p:sp>
        <p:nvSpPr>
          <p:cNvPr id="1112" name="Google Shape;1112;p49"/>
          <p:cNvSpPr txBox="1"/>
          <p:nvPr/>
        </p:nvSpPr>
        <p:spPr>
          <a:xfrm>
            <a:off x="3915544" y="4674096"/>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latin typeface="Arial"/>
                <a:ea typeface="Arial"/>
                <a:cs typeface="Arial"/>
                <a:sym typeface="Arial"/>
              </a:rPr>
              <a:t>d</a:t>
            </a:r>
            <a:r>
              <a:rPr baseline="-25000" i="1" lang="en-US" sz="1600">
                <a:solidFill>
                  <a:srgbClr val="C00000"/>
                </a:solidFill>
              </a:rPr>
              <a:t>2</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17" name="Shape 1117"/>
        <p:cNvGrpSpPr/>
        <p:nvPr/>
      </p:nvGrpSpPr>
      <p:grpSpPr>
        <a:xfrm>
          <a:off x="0" y="0"/>
          <a:ext cx="0" cy="0"/>
          <a:chOff x="0" y="0"/>
          <a:chExt cx="0" cy="0"/>
        </a:xfrm>
      </p:grpSpPr>
      <p:sp>
        <p:nvSpPr>
          <p:cNvPr id="1118" name="Google Shape;1118;p50"/>
          <p:cNvSpPr txBox="1"/>
          <p:nvPr/>
        </p:nvSpPr>
        <p:spPr>
          <a:xfrm>
            <a:off x="8001000" y="6237312"/>
            <a:ext cx="11430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Time</a:t>
            </a:r>
            <a:endParaRPr/>
          </a:p>
        </p:txBody>
      </p:sp>
      <p:sp>
        <p:nvSpPr>
          <p:cNvPr id="1119" name="Google Shape;1119;p50"/>
          <p:cNvSpPr txBox="1"/>
          <p:nvPr/>
        </p:nvSpPr>
        <p:spPr>
          <a:xfrm>
            <a:off x="2976736" y="1501552"/>
            <a:ext cx="3300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C00000"/>
                </a:solidFill>
                <a:latin typeface="Arial"/>
                <a:ea typeface="Arial"/>
                <a:cs typeface="Arial"/>
                <a:sym typeface="Arial"/>
              </a:rPr>
              <a:t>Density of incubation period</a:t>
            </a:r>
            <a:endParaRPr sz="1800">
              <a:solidFill>
                <a:srgbClr val="C00000"/>
              </a:solidFill>
              <a:latin typeface="Arial"/>
              <a:ea typeface="Arial"/>
              <a:cs typeface="Arial"/>
              <a:sym typeface="Arial"/>
            </a:endParaRPr>
          </a:p>
        </p:txBody>
      </p:sp>
      <p:sp>
        <p:nvSpPr>
          <p:cNvPr id="1120" name="Google Shape;1120;p50"/>
          <p:cNvSpPr txBox="1"/>
          <p:nvPr/>
        </p:nvSpPr>
        <p:spPr>
          <a:xfrm>
            <a:off x="4067944" y="1124744"/>
            <a:ext cx="1018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1800" u="sng">
                <a:solidFill>
                  <a:schemeClr val="dk1"/>
                </a:solidFill>
                <a:latin typeface="Arial"/>
                <a:ea typeface="Arial"/>
                <a:cs typeface="Arial"/>
                <a:sym typeface="Arial"/>
              </a:rPr>
              <a:t>MODEL</a:t>
            </a:r>
            <a:endParaRPr/>
          </a:p>
        </p:txBody>
      </p:sp>
      <p:cxnSp>
        <p:nvCxnSpPr>
          <p:cNvPr id="1121" name="Google Shape;1121;p50"/>
          <p:cNvCxnSpPr/>
          <p:nvPr/>
        </p:nvCxnSpPr>
        <p:spPr>
          <a:xfrm>
            <a:off x="1905000" y="6669360"/>
            <a:ext cx="7239000" cy="0"/>
          </a:xfrm>
          <a:prstGeom prst="straightConnector1">
            <a:avLst/>
          </a:prstGeom>
          <a:noFill/>
          <a:ln cap="flat" cmpd="sng" w="9525">
            <a:solidFill>
              <a:schemeClr val="dk1"/>
            </a:solidFill>
            <a:prstDash val="solid"/>
            <a:round/>
            <a:headEnd len="sm" w="sm" type="none"/>
            <a:tailEnd len="med" w="med" type="triangle"/>
          </a:ln>
        </p:spPr>
      </p:cxnSp>
      <p:cxnSp>
        <p:nvCxnSpPr>
          <p:cNvPr id="1122" name="Google Shape;1122;p50"/>
          <p:cNvCxnSpPr/>
          <p:nvPr/>
        </p:nvCxnSpPr>
        <p:spPr>
          <a:xfrm>
            <a:off x="3444280" y="2941712"/>
            <a:ext cx="2521200" cy="0"/>
          </a:xfrm>
          <a:prstGeom prst="straightConnector1">
            <a:avLst/>
          </a:prstGeom>
          <a:noFill/>
          <a:ln cap="flat" cmpd="sng" w="9525">
            <a:solidFill>
              <a:schemeClr val="dk1"/>
            </a:solidFill>
            <a:prstDash val="solid"/>
            <a:round/>
            <a:headEnd len="sm" w="sm" type="none"/>
            <a:tailEnd len="med" w="med" type="triangle"/>
          </a:ln>
        </p:spPr>
      </p:cxnSp>
      <p:sp>
        <p:nvSpPr>
          <p:cNvPr id="1123" name="Google Shape;1123;p50"/>
          <p:cNvSpPr txBox="1"/>
          <p:nvPr/>
        </p:nvSpPr>
        <p:spPr>
          <a:xfrm>
            <a:off x="5389512" y="3013720"/>
            <a:ext cx="6324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Time</a:t>
            </a:r>
            <a:endParaRPr/>
          </a:p>
        </p:txBody>
      </p:sp>
      <p:sp>
        <p:nvSpPr>
          <p:cNvPr id="1124" name="Google Shape;1124;p50"/>
          <p:cNvSpPr txBox="1"/>
          <p:nvPr/>
        </p:nvSpPr>
        <p:spPr>
          <a:xfrm>
            <a:off x="3408784" y="2941712"/>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0</a:t>
            </a:r>
            <a:endParaRPr/>
          </a:p>
        </p:txBody>
      </p:sp>
      <p:sp>
        <p:nvSpPr>
          <p:cNvPr id="1125" name="Google Shape;1125;p50"/>
          <p:cNvSpPr txBox="1"/>
          <p:nvPr/>
        </p:nvSpPr>
        <p:spPr>
          <a:xfrm>
            <a:off x="1835696" y="0"/>
            <a:ext cx="5184600" cy="95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b="1" lang="en-US" sz="2800">
                <a:solidFill>
                  <a:srgbClr val="0033CC"/>
                </a:solidFill>
              </a:rPr>
              <a:t>Part 2: Modelling incubation</a:t>
            </a:r>
            <a:endParaRPr>
              <a:solidFill>
                <a:schemeClr val="dk1"/>
              </a:solidFill>
            </a:endParaRPr>
          </a:p>
          <a:p>
            <a:pPr indent="0" lvl="0" marL="0" marR="0" rtl="0" algn="ctr">
              <a:spcBef>
                <a:spcPts val="0"/>
              </a:spcBef>
              <a:spcAft>
                <a:spcPts val="0"/>
              </a:spcAft>
              <a:buNone/>
            </a:pPr>
            <a:r>
              <a:t/>
            </a:r>
            <a:endParaRPr b="1" sz="2800">
              <a:solidFill>
                <a:srgbClr val="0033CC"/>
              </a:solidFill>
            </a:endParaRPr>
          </a:p>
        </p:txBody>
      </p:sp>
      <p:sp>
        <p:nvSpPr>
          <p:cNvPr id="1126" name="Google Shape;1126;p50"/>
          <p:cNvSpPr/>
          <p:nvPr/>
        </p:nvSpPr>
        <p:spPr>
          <a:xfrm>
            <a:off x="3512450" y="1805738"/>
            <a:ext cx="1233725" cy="1059550"/>
          </a:xfrm>
          <a:custGeom>
            <a:rect b="b" l="l" r="r" t="t"/>
            <a:pathLst>
              <a:path extrusionOk="0" h="42382" w="49349">
                <a:moveTo>
                  <a:pt x="0" y="0"/>
                </a:moveTo>
                <a:cubicBezTo>
                  <a:pt x="1548" y="5515"/>
                  <a:pt x="1064" y="26028"/>
                  <a:pt x="9289" y="33092"/>
                </a:cubicBezTo>
                <a:cubicBezTo>
                  <a:pt x="17514" y="40156"/>
                  <a:pt x="42672" y="40834"/>
                  <a:pt x="49349" y="42382"/>
                </a:cubicBezTo>
              </a:path>
            </a:pathLst>
          </a:custGeom>
          <a:noFill/>
          <a:ln cap="flat" cmpd="sng" w="19050">
            <a:solidFill>
              <a:srgbClr val="0000FF"/>
            </a:solidFill>
            <a:prstDash val="solid"/>
            <a:round/>
            <a:headEnd len="med" w="med" type="none"/>
            <a:tailEnd len="med" w="med" type="none"/>
          </a:ln>
        </p:spPr>
      </p:sp>
      <p:pic>
        <p:nvPicPr>
          <p:cNvPr id="1127" name="Google Shape;1127;p50"/>
          <p:cNvPicPr preferRelativeResize="0"/>
          <p:nvPr/>
        </p:nvPicPr>
        <p:blipFill>
          <a:blip r:embed="rId3">
            <a:alphaModFix/>
          </a:blip>
          <a:stretch>
            <a:fillRect/>
          </a:stretch>
        </p:blipFill>
        <p:spPr>
          <a:xfrm>
            <a:off x="5242161" y="2138488"/>
            <a:ext cx="2561564" cy="394087"/>
          </a:xfrm>
          <a:prstGeom prst="rect">
            <a:avLst/>
          </a:prstGeom>
          <a:noFill/>
          <a:ln>
            <a:noFill/>
          </a:ln>
        </p:spPr>
      </p:pic>
      <p:pic>
        <p:nvPicPr>
          <p:cNvPr id="1128" name="Google Shape;1128;p50"/>
          <p:cNvPicPr preferRelativeResize="0"/>
          <p:nvPr/>
        </p:nvPicPr>
        <p:blipFill>
          <a:blip r:embed="rId4">
            <a:alphaModFix/>
          </a:blip>
          <a:stretch>
            <a:fillRect/>
          </a:stretch>
        </p:blipFill>
        <p:spPr>
          <a:xfrm>
            <a:off x="6222900" y="2773270"/>
            <a:ext cx="447675" cy="104775"/>
          </a:xfrm>
          <a:prstGeom prst="rect">
            <a:avLst/>
          </a:prstGeom>
          <a:noFill/>
          <a:ln>
            <a:noFill/>
          </a:ln>
        </p:spPr>
      </p:pic>
      <p:sp>
        <p:nvSpPr>
          <p:cNvPr id="1129" name="Google Shape;1129;p50"/>
          <p:cNvSpPr txBox="1"/>
          <p:nvPr/>
        </p:nvSpPr>
        <p:spPr>
          <a:xfrm>
            <a:off x="6629400" y="2581625"/>
            <a:ext cx="45615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is the mean incubation period</a:t>
            </a:r>
            <a:endParaRPr/>
          </a:p>
        </p:txBody>
      </p:sp>
      <p:cxnSp>
        <p:nvCxnSpPr>
          <p:cNvPr id="1130" name="Google Shape;1130;p50"/>
          <p:cNvCxnSpPr/>
          <p:nvPr/>
        </p:nvCxnSpPr>
        <p:spPr>
          <a:xfrm>
            <a:off x="1981200" y="4293096"/>
            <a:ext cx="7162800" cy="0"/>
          </a:xfrm>
          <a:prstGeom prst="straightConnector1">
            <a:avLst/>
          </a:prstGeom>
          <a:noFill/>
          <a:ln cap="rnd" cmpd="sng" w="9525">
            <a:solidFill>
              <a:schemeClr val="dk1"/>
            </a:solidFill>
            <a:prstDash val="dot"/>
            <a:round/>
            <a:headEnd len="sm" w="sm" type="none"/>
            <a:tailEnd len="sm" w="sm" type="none"/>
          </a:ln>
        </p:spPr>
      </p:cxnSp>
      <p:sp>
        <p:nvSpPr>
          <p:cNvPr id="1131" name="Google Shape;1131;p50"/>
          <p:cNvSpPr txBox="1"/>
          <p:nvPr/>
        </p:nvSpPr>
        <p:spPr>
          <a:xfrm>
            <a:off x="251520" y="4077072"/>
            <a:ext cx="1370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Donor 1</a:t>
            </a:r>
            <a:endParaRPr/>
          </a:p>
        </p:txBody>
      </p:sp>
      <p:sp>
        <p:nvSpPr>
          <p:cNvPr id="1132" name="Google Shape;1132;p50"/>
          <p:cNvSpPr txBox="1"/>
          <p:nvPr/>
        </p:nvSpPr>
        <p:spPr>
          <a:xfrm>
            <a:off x="251520" y="4725144"/>
            <a:ext cx="1329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Donor 2</a:t>
            </a:r>
            <a:endParaRPr/>
          </a:p>
        </p:txBody>
      </p:sp>
      <p:cxnSp>
        <p:nvCxnSpPr>
          <p:cNvPr id="1133" name="Google Shape;1133;p50"/>
          <p:cNvCxnSpPr/>
          <p:nvPr/>
        </p:nvCxnSpPr>
        <p:spPr>
          <a:xfrm rot="5400000">
            <a:off x="4128350" y="4238271"/>
            <a:ext cx="214200" cy="0"/>
          </a:xfrm>
          <a:prstGeom prst="straightConnector1">
            <a:avLst/>
          </a:prstGeom>
          <a:noFill/>
          <a:ln cap="flat" cmpd="sng" w="50800">
            <a:solidFill>
              <a:srgbClr val="FF0000"/>
            </a:solidFill>
            <a:prstDash val="solid"/>
            <a:round/>
            <a:headEnd len="sm" w="sm" type="none"/>
            <a:tailEnd len="sm" w="sm" type="none"/>
          </a:ln>
        </p:spPr>
      </p:cxnSp>
      <p:sp>
        <p:nvSpPr>
          <p:cNvPr id="1134" name="Google Shape;1134;p50"/>
          <p:cNvSpPr txBox="1"/>
          <p:nvPr/>
        </p:nvSpPr>
        <p:spPr>
          <a:xfrm>
            <a:off x="3419872" y="3717032"/>
            <a:ext cx="16113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FF0000"/>
                </a:solidFill>
                <a:latin typeface="Arial"/>
                <a:ea typeface="Arial"/>
                <a:cs typeface="Arial"/>
                <a:sym typeface="Arial"/>
              </a:rPr>
              <a:t>Symptom onset</a:t>
            </a:r>
            <a:endParaRPr/>
          </a:p>
        </p:txBody>
      </p:sp>
      <p:cxnSp>
        <p:nvCxnSpPr>
          <p:cNvPr id="1135" name="Google Shape;1135;p50"/>
          <p:cNvCxnSpPr/>
          <p:nvPr/>
        </p:nvCxnSpPr>
        <p:spPr>
          <a:xfrm>
            <a:off x="2195736" y="4077072"/>
            <a:ext cx="0" cy="216000"/>
          </a:xfrm>
          <a:prstGeom prst="straightConnector1">
            <a:avLst/>
          </a:prstGeom>
          <a:noFill/>
          <a:ln cap="flat" cmpd="sng" w="19050">
            <a:solidFill>
              <a:srgbClr val="0000CC"/>
            </a:solidFill>
            <a:prstDash val="solid"/>
            <a:round/>
            <a:headEnd len="sm" w="sm" type="none"/>
            <a:tailEnd len="med" w="med" type="triangle"/>
          </a:ln>
        </p:spPr>
      </p:cxnSp>
      <p:sp>
        <p:nvSpPr>
          <p:cNvPr id="1136" name="Google Shape;1136;p50"/>
          <p:cNvSpPr txBox="1"/>
          <p:nvPr/>
        </p:nvSpPr>
        <p:spPr>
          <a:xfrm>
            <a:off x="1691680" y="3717032"/>
            <a:ext cx="9606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00CC"/>
                </a:solidFill>
                <a:latin typeface="Arial"/>
                <a:ea typeface="Arial"/>
                <a:cs typeface="Arial"/>
                <a:sym typeface="Arial"/>
              </a:rPr>
              <a:t>Infection</a:t>
            </a:r>
            <a:endParaRPr/>
          </a:p>
        </p:txBody>
      </p:sp>
      <p:sp>
        <p:nvSpPr>
          <p:cNvPr id="1137" name="Google Shape;1137;p50"/>
          <p:cNvSpPr txBox="1"/>
          <p:nvPr/>
        </p:nvSpPr>
        <p:spPr>
          <a:xfrm>
            <a:off x="4067944" y="3356992"/>
            <a:ext cx="7917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1800" u="sng">
                <a:solidFill>
                  <a:schemeClr val="dk1"/>
                </a:solidFill>
                <a:latin typeface="Arial"/>
                <a:ea typeface="Arial"/>
                <a:cs typeface="Arial"/>
                <a:sym typeface="Arial"/>
              </a:rPr>
              <a:t>DATA</a:t>
            </a:r>
            <a:endParaRPr/>
          </a:p>
        </p:txBody>
      </p:sp>
      <p:cxnSp>
        <p:nvCxnSpPr>
          <p:cNvPr id="1138" name="Google Shape;1138;p50"/>
          <p:cNvCxnSpPr/>
          <p:nvPr/>
        </p:nvCxnSpPr>
        <p:spPr>
          <a:xfrm>
            <a:off x="1981200" y="4978896"/>
            <a:ext cx="7162800" cy="0"/>
          </a:xfrm>
          <a:prstGeom prst="straightConnector1">
            <a:avLst/>
          </a:prstGeom>
          <a:noFill/>
          <a:ln cap="rnd" cmpd="sng" w="9525">
            <a:solidFill>
              <a:schemeClr val="dk1"/>
            </a:solidFill>
            <a:prstDash val="dot"/>
            <a:round/>
            <a:headEnd len="sm" w="sm" type="none"/>
            <a:tailEnd len="sm" w="sm" type="none"/>
          </a:ln>
        </p:spPr>
      </p:cxnSp>
      <p:cxnSp>
        <p:nvCxnSpPr>
          <p:cNvPr id="1139" name="Google Shape;1139;p50"/>
          <p:cNvCxnSpPr/>
          <p:nvPr/>
        </p:nvCxnSpPr>
        <p:spPr>
          <a:xfrm>
            <a:off x="2195736" y="4762872"/>
            <a:ext cx="0" cy="216000"/>
          </a:xfrm>
          <a:prstGeom prst="straightConnector1">
            <a:avLst/>
          </a:prstGeom>
          <a:noFill/>
          <a:ln cap="flat" cmpd="sng" w="19050">
            <a:solidFill>
              <a:srgbClr val="0000CC"/>
            </a:solidFill>
            <a:prstDash val="solid"/>
            <a:round/>
            <a:headEnd len="sm" w="sm" type="none"/>
            <a:tailEnd len="med" w="med" type="triangle"/>
          </a:ln>
        </p:spPr>
      </p:cxnSp>
      <p:sp>
        <p:nvSpPr>
          <p:cNvPr id="1140" name="Google Shape;1140;p50"/>
          <p:cNvSpPr txBox="1"/>
          <p:nvPr/>
        </p:nvSpPr>
        <p:spPr>
          <a:xfrm>
            <a:off x="1691680" y="4402832"/>
            <a:ext cx="9606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00CC"/>
                </a:solidFill>
                <a:latin typeface="Arial"/>
                <a:ea typeface="Arial"/>
                <a:cs typeface="Arial"/>
                <a:sym typeface="Arial"/>
              </a:rPr>
              <a:t>Infection</a:t>
            </a:r>
            <a:endParaRPr/>
          </a:p>
        </p:txBody>
      </p:sp>
      <p:cxnSp>
        <p:nvCxnSpPr>
          <p:cNvPr id="1141" name="Google Shape;1141;p50"/>
          <p:cNvCxnSpPr/>
          <p:nvPr/>
        </p:nvCxnSpPr>
        <p:spPr>
          <a:xfrm rot="5400000">
            <a:off x="3776675" y="4993546"/>
            <a:ext cx="214200" cy="0"/>
          </a:xfrm>
          <a:prstGeom prst="straightConnector1">
            <a:avLst/>
          </a:prstGeom>
          <a:noFill/>
          <a:ln cap="flat" cmpd="sng" w="50800">
            <a:solidFill>
              <a:srgbClr val="FF0000"/>
            </a:solidFill>
            <a:prstDash val="solid"/>
            <a:round/>
            <a:headEnd len="sm" w="sm" type="none"/>
            <a:tailEnd len="sm" w="sm" type="none"/>
          </a:ln>
        </p:spPr>
      </p:cxnSp>
      <p:sp>
        <p:nvSpPr>
          <p:cNvPr id="1142" name="Google Shape;1142;p50"/>
          <p:cNvSpPr txBox="1"/>
          <p:nvPr/>
        </p:nvSpPr>
        <p:spPr>
          <a:xfrm>
            <a:off x="3068197" y="4472307"/>
            <a:ext cx="16113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FF0000"/>
                </a:solidFill>
                <a:latin typeface="Arial"/>
                <a:ea typeface="Arial"/>
                <a:cs typeface="Arial"/>
                <a:sym typeface="Arial"/>
              </a:rPr>
              <a:t>Symptom onset</a:t>
            </a:r>
            <a:endParaRPr/>
          </a:p>
        </p:txBody>
      </p:sp>
      <p:sp>
        <p:nvSpPr>
          <p:cNvPr id="1143" name="Google Shape;1143;p50"/>
          <p:cNvSpPr txBox="1"/>
          <p:nvPr/>
        </p:nvSpPr>
        <p:spPr>
          <a:xfrm>
            <a:off x="4220344" y="3988296"/>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latin typeface="Arial"/>
                <a:ea typeface="Arial"/>
                <a:cs typeface="Arial"/>
                <a:sym typeface="Arial"/>
              </a:rPr>
              <a:t>d</a:t>
            </a:r>
            <a:r>
              <a:rPr baseline="-25000" i="1" lang="en-US" sz="1600">
                <a:solidFill>
                  <a:srgbClr val="C00000"/>
                </a:solidFill>
                <a:latin typeface="Arial"/>
                <a:ea typeface="Arial"/>
                <a:cs typeface="Arial"/>
                <a:sym typeface="Arial"/>
              </a:rPr>
              <a:t>1</a:t>
            </a:r>
            <a:endParaRPr/>
          </a:p>
        </p:txBody>
      </p:sp>
      <p:sp>
        <p:nvSpPr>
          <p:cNvPr id="1144" name="Google Shape;1144;p50"/>
          <p:cNvSpPr txBox="1"/>
          <p:nvPr/>
        </p:nvSpPr>
        <p:spPr>
          <a:xfrm>
            <a:off x="3915544" y="4674096"/>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latin typeface="Arial"/>
                <a:ea typeface="Arial"/>
                <a:cs typeface="Arial"/>
                <a:sym typeface="Arial"/>
              </a:rPr>
              <a:t>d</a:t>
            </a:r>
            <a:r>
              <a:rPr baseline="-25000" i="1" lang="en-US" sz="1600">
                <a:solidFill>
                  <a:srgbClr val="C00000"/>
                </a:solidFill>
              </a:rPr>
              <a:t>2</a:t>
            </a:r>
            <a:endParaRPr/>
          </a:p>
        </p:txBody>
      </p:sp>
      <p:sp>
        <p:nvSpPr>
          <p:cNvPr id="1145" name="Google Shape;1145;p50"/>
          <p:cNvSpPr txBox="1"/>
          <p:nvPr/>
        </p:nvSpPr>
        <p:spPr>
          <a:xfrm>
            <a:off x="978800" y="5354250"/>
            <a:ext cx="76341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Different models have different functions for             -- depends on the host and the pathogen</a:t>
            </a:r>
            <a:endParaRPr/>
          </a:p>
        </p:txBody>
      </p:sp>
      <p:pic>
        <p:nvPicPr>
          <p:cNvPr id="1146" name="Google Shape;1146;p50"/>
          <p:cNvPicPr preferRelativeResize="0"/>
          <p:nvPr/>
        </p:nvPicPr>
        <p:blipFill>
          <a:blip r:embed="rId5">
            <a:alphaModFix/>
          </a:blip>
          <a:stretch>
            <a:fillRect/>
          </a:stretch>
        </p:blipFill>
        <p:spPr>
          <a:xfrm>
            <a:off x="4530100" y="5470750"/>
            <a:ext cx="600075" cy="1714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51" name="Shape 1151"/>
        <p:cNvGrpSpPr/>
        <p:nvPr/>
      </p:nvGrpSpPr>
      <p:grpSpPr>
        <a:xfrm>
          <a:off x="0" y="0"/>
          <a:ext cx="0" cy="0"/>
          <a:chOff x="0" y="0"/>
          <a:chExt cx="0" cy="0"/>
        </a:xfrm>
      </p:grpSpPr>
      <p:cxnSp>
        <p:nvCxnSpPr>
          <p:cNvPr id="1152" name="Google Shape;1152;p51"/>
          <p:cNvCxnSpPr/>
          <p:nvPr/>
        </p:nvCxnSpPr>
        <p:spPr>
          <a:xfrm>
            <a:off x="1981200" y="4293096"/>
            <a:ext cx="7162800" cy="0"/>
          </a:xfrm>
          <a:prstGeom prst="straightConnector1">
            <a:avLst/>
          </a:prstGeom>
          <a:noFill/>
          <a:ln cap="rnd" cmpd="sng" w="9525">
            <a:solidFill>
              <a:schemeClr val="dk1"/>
            </a:solidFill>
            <a:prstDash val="dot"/>
            <a:round/>
            <a:headEnd len="sm" w="sm" type="none"/>
            <a:tailEnd len="sm" w="sm" type="none"/>
          </a:ln>
        </p:spPr>
      </p:cxnSp>
      <p:sp>
        <p:nvSpPr>
          <p:cNvPr id="1153" name="Google Shape;1153;p51"/>
          <p:cNvSpPr txBox="1"/>
          <p:nvPr/>
        </p:nvSpPr>
        <p:spPr>
          <a:xfrm>
            <a:off x="251520" y="4077072"/>
            <a:ext cx="1370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Donor 1</a:t>
            </a:r>
            <a:endParaRPr/>
          </a:p>
        </p:txBody>
      </p:sp>
      <p:sp>
        <p:nvSpPr>
          <p:cNvPr id="1154" name="Google Shape;1154;p51"/>
          <p:cNvSpPr txBox="1"/>
          <p:nvPr/>
        </p:nvSpPr>
        <p:spPr>
          <a:xfrm>
            <a:off x="8001000" y="6237312"/>
            <a:ext cx="11430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Time</a:t>
            </a:r>
            <a:endParaRPr/>
          </a:p>
        </p:txBody>
      </p:sp>
      <p:sp>
        <p:nvSpPr>
          <p:cNvPr id="1155" name="Google Shape;1155;p51"/>
          <p:cNvSpPr txBox="1"/>
          <p:nvPr/>
        </p:nvSpPr>
        <p:spPr>
          <a:xfrm>
            <a:off x="251520" y="4725144"/>
            <a:ext cx="1329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Donor 2</a:t>
            </a:r>
            <a:endParaRPr/>
          </a:p>
        </p:txBody>
      </p:sp>
      <p:cxnSp>
        <p:nvCxnSpPr>
          <p:cNvPr id="1156" name="Google Shape;1156;p51"/>
          <p:cNvCxnSpPr/>
          <p:nvPr/>
        </p:nvCxnSpPr>
        <p:spPr>
          <a:xfrm rot="5400000">
            <a:off x="4128350" y="4238271"/>
            <a:ext cx="214200" cy="0"/>
          </a:xfrm>
          <a:prstGeom prst="straightConnector1">
            <a:avLst/>
          </a:prstGeom>
          <a:noFill/>
          <a:ln cap="flat" cmpd="sng" w="50800">
            <a:solidFill>
              <a:srgbClr val="FF0000"/>
            </a:solidFill>
            <a:prstDash val="solid"/>
            <a:round/>
            <a:headEnd len="sm" w="sm" type="none"/>
            <a:tailEnd len="sm" w="sm" type="none"/>
          </a:ln>
        </p:spPr>
      </p:cxnSp>
      <p:sp>
        <p:nvSpPr>
          <p:cNvPr id="1157" name="Google Shape;1157;p51"/>
          <p:cNvSpPr txBox="1"/>
          <p:nvPr/>
        </p:nvSpPr>
        <p:spPr>
          <a:xfrm>
            <a:off x="3419872" y="3717032"/>
            <a:ext cx="16113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FF0000"/>
                </a:solidFill>
                <a:latin typeface="Arial"/>
                <a:ea typeface="Arial"/>
                <a:cs typeface="Arial"/>
                <a:sym typeface="Arial"/>
              </a:rPr>
              <a:t>Symptom onset</a:t>
            </a:r>
            <a:endParaRPr/>
          </a:p>
        </p:txBody>
      </p:sp>
      <p:cxnSp>
        <p:nvCxnSpPr>
          <p:cNvPr id="1158" name="Google Shape;1158;p51"/>
          <p:cNvCxnSpPr/>
          <p:nvPr/>
        </p:nvCxnSpPr>
        <p:spPr>
          <a:xfrm>
            <a:off x="2195736" y="4077072"/>
            <a:ext cx="0" cy="216000"/>
          </a:xfrm>
          <a:prstGeom prst="straightConnector1">
            <a:avLst/>
          </a:prstGeom>
          <a:noFill/>
          <a:ln cap="flat" cmpd="sng" w="19050">
            <a:solidFill>
              <a:srgbClr val="0000CC"/>
            </a:solidFill>
            <a:prstDash val="solid"/>
            <a:round/>
            <a:headEnd len="sm" w="sm" type="none"/>
            <a:tailEnd len="med" w="med" type="triangle"/>
          </a:ln>
        </p:spPr>
      </p:cxnSp>
      <p:sp>
        <p:nvSpPr>
          <p:cNvPr id="1159" name="Google Shape;1159;p51"/>
          <p:cNvSpPr txBox="1"/>
          <p:nvPr/>
        </p:nvSpPr>
        <p:spPr>
          <a:xfrm>
            <a:off x="1691680" y="3717032"/>
            <a:ext cx="9606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00CC"/>
                </a:solidFill>
                <a:latin typeface="Arial"/>
                <a:ea typeface="Arial"/>
                <a:cs typeface="Arial"/>
                <a:sym typeface="Arial"/>
              </a:rPr>
              <a:t>Infection</a:t>
            </a:r>
            <a:endParaRPr/>
          </a:p>
        </p:txBody>
      </p:sp>
      <p:sp>
        <p:nvSpPr>
          <p:cNvPr id="1160" name="Google Shape;1160;p51"/>
          <p:cNvSpPr txBox="1"/>
          <p:nvPr/>
        </p:nvSpPr>
        <p:spPr>
          <a:xfrm>
            <a:off x="2976736" y="1501552"/>
            <a:ext cx="3300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C00000"/>
                </a:solidFill>
                <a:latin typeface="Arial"/>
                <a:ea typeface="Arial"/>
                <a:cs typeface="Arial"/>
                <a:sym typeface="Arial"/>
              </a:rPr>
              <a:t>Density of incubation period</a:t>
            </a:r>
            <a:endParaRPr sz="1800">
              <a:solidFill>
                <a:srgbClr val="C00000"/>
              </a:solidFill>
              <a:latin typeface="Arial"/>
              <a:ea typeface="Arial"/>
              <a:cs typeface="Arial"/>
              <a:sym typeface="Arial"/>
            </a:endParaRPr>
          </a:p>
        </p:txBody>
      </p:sp>
      <p:sp>
        <p:nvSpPr>
          <p:cNvPr id="1161" name="Google Shape;1161;p51"/>
          <p:cNvSpPr txBox="1"/>
          <p:nvPr/>
        </p:nvSpPr>
        <p:spPr>
          <a:xfrm>
            <a:off x="4067944" y="3356992"/>
            <a:ext cx="7917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1800" u="sng">
                <a:solidFill>
                  <a:schemeClr val="dk1"/>
                </a:solidFill>
                <a:latin typeface="Arial"/>
                <a:ea typeface="Arial"/>
                <a:cs typeface="Arial"/>
                <a:sym typeface="Arial"/>
              </a:rPr>
              <a:t>DATA</a:t>
            </a:r>
            <a:endParaRPr/>
          </a:p>
        </p:txBody>
      </p:sp>
      <p:sp>
        <p:nvSpPr>
          <p:cNvPr id="1162" name="Google Shape;1162;p51"/>
          <p:cNvSpPr txBox="1"/>
          <p:nvPr/>
        </p:nvSpPr>
        <p:spPr>
          <a:xfrm>
            <a:off x="4067944" y="1124744"/>
            <a:ext cx="1018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1800" u="sng">
                <a:solidFill>
                  <a:schemeClr val="dk1"/>
                </a:solidFill>
                <a:latin typeface="Arial"/>
                <a:ea typeface="Arial"/>
                <a:cs typeface="Arial"/>
                <a:sym typeface="Arial"/>
              </a:rPr>
              <a:t>MODEL</a:t>
            </a:r>
            <a:endParaRPr/>
          </a:p>
        </p:txBody>
      </p:sp>
      <p:cxnSp>
        <p:nvCxnSpPr>
          <p:cNvPr id="1163" name="Google Shape;1163;p51"/>
          <p:cNvCxnSpPr/>
          <p:nvPr/>
        </p:nvCxnSpPr>
        <p:spPr>
          <a:xfrm>
            <a:off x="1905000" y="6669360"/>
            <a:ext cx="7239000" cy="0"/>
          </a:xfrm>
          <a:prstGeom prst="straightConnector1">
            <a:avLst/>
          </a:prstGeom>
          <a:noFill/>
          <a:ln cap="flat" cmpd="sng" w="9525">
            <a:solidFill>
              <a:schemeClr val="dk1"/>
            </a:solidFill>
            <a:prstDash val="solid"/>
            <a:round/>
            <a:headEnd len="sm" w="sm" type="none"/>
            <a:tailEnd len="med" w="med" type="triangle"/>
          </a:ln>
        </p:spPr>
      </p:cxnSp>
      <p:cxnSp>
        <p:nvCxnSpPr>
          <p:cNvPr id="1164" name="Google Shape;1164;p51"/>
          <p:cNvCxnSpPr/>
          <p:nvPr/>
        </p:nvCxnSpPr>
        <p:spPr>
          <a:xfrm>
            <a:off x="3444280" y="2941712"/>
            <a:ext cx="2521200" cy="0"/>
          </a:xfrm>
          <a:prstGeom prst="straightConnector1">
            <a:avLst/>
          </a:prstGeom>
          <a:noFill/>
          <a:ln cap="flat" cmpd="sng" w="9525">
            <a:solidFill>
              <a:schemeClr val="dk1"/>
            </a:solidFill>
            <a:prstDash val="solid"/>
            <a:round/>
            <a:headEnd len="sm" w="sm" type="none"/>
            <a:tailEnd len="med" w="med" type="triangle"/>
          </a:ln>
        </p:spPr>
      </p:cxnSp>
      <p:sp>
        <p:nvSpPr>
          <p:cNvPr id="1165" name="Google Shape;1165;p51"/>
          <p:cNvSpPr txBox="1"/>
          <p:nvPr/>
        </p:nvSpPr>
        <p:spPr>
          <a:xfrm>
            <a:off x="5389512" y="3013720"/>
            <a:ext cx="6324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Time</a:t>
            </a:r>
            <a:endParaRPr/>
          </a:p>
        </p:txBody>
      </p:sp>
      <p:sp>
        <p:nvSpPr>
          <p:cNvPr id="1166" name="Google Shape;1166;p51"/>
          <p:cNvSpPr txBox="1"/>
          <p:nvPr/>
        </p:nvSpPr>
        <p:spPr>
          <a:xfrm>
            <a:off x="3408784" y="2941712"/>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0</a:t>
            </a:r>
            <a:endParaRPr/>
          </a:p>
        </p:txBody>
      </p:sp>
      <p:cxnSp>
        <p:nvCxnSpPr>
          <p:cNvPr id="1167" name="Google Shape;1167;p51"/>
          <p:cNvCxnSpPr/>
          <p:nvPr/>
        </p:nvCxnSpPr>
        <p:spPr>
          <a:xfrm>
            <a:off x="1981200" y="4978896"/>
            <a:ext cx="7162800" cy="0"/>
          </a:xfrm>
          <a:prstGeom prst="straightConnector1">
            <a:avLst/>
          </a:prstGeom>
          <a:noFill/>
          <a:ln cap="rnd" cmpd="sng" w="9525">
            <a:solidFill>
              <a:schemeClr val="dk1"/>
            </a:solidFill>
            <a:prstDash val="dot"/>
            <a:round/>
            <a:headEnd len="sm" w="sm" type="none"/>
            <a:tailEnd len="sm" w="sm" type="none"/>
          </a:ln>
        </p:spPr>
      </p:cxnSp>
      <p:cxnSp>
        <p:nvCxnSpPr>
          <p:cNvPr id="1168" name="Google Shape;1168;p51"/>
          <p:cNvCxnSpPr/>
          <p:nvPr/>
        </p:nvCxnSpPr>
        <p:spPr>
          <a:xfrm>
            <a:off x="2195736" y="4762872"/>
            <a:ext cx="0" cy="216000"/>
          </a:xfrm>
          <a:prstGeom prst="straightConnector1">
            <a:avLst/>
          </a:prstGeom>
          <a:noFill/>
          <a:ln cap="flat" cmpd="sng" w="19050">
            <a:solidFill>
              <a:srgbClr val="0000CC"/>
            </a:solidFill>
            <a:prstDash val="solid"/>
            <a:round/>
            <a:headEnd len="sm" w="sm" type="none"/>
            <a:tailEnd len="med" w="med" type="triangle"/>
          </a:ln>
        </p:spPr>
      </p:cxnSp>
      <p:sp>
        <p:nvSpPr>
          <p:cNvPr id="1169" name="Google Shape;1169;p51"/>
          <p:cNvSpPr txBox="1"/>
          <p:nvPr/>
        </p:nvSpPr>
        <p:spPr>
          <a:xfrm>
            <a:off x="1691680" y="4402832"/>
            <a:ext cx="9606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00CC"/>
                </a:solidFill>
                <a:latin typeface="Arial"/>
                <a:ea typeface="Arial"/>
                <a:cs typeface="Arial"/>
                <a:sym typeface="Arial"/>
              </a:rPr>
              <a:t>Infection</a:t>
            </a:r>
            <a:endParaRPr/>
          </a:p>
        </p:txBody>
      </p:sp>
      <p:cxnSp>
        <p:nvCxnSpPr>
          <p:cNvPr id="1170" name="Google Shape;1170;p51"/>
          <p:cNvCxnSpPr/>
          <p:nvPr/>
        </p:nvCxnSpPr>
        <p:spPr>
          <a:xfrm rot="5400000">
            <a:off x="3776675" y="4993546"/>
            <a:ext cx="214200" cy="0"/>
          </a:xfrm>
          <a:prstGeom prst="straightConnector1">
            <a:avLst/>
          </a:prstGeom>
          <a:noFill/>
          <a:ln cap="flat" cmpd="sng" w="50800">
            <a:solidFill>
              <a:srgbClr val="FF0000"/>
            </a:solidFill>
            <a:prstDash val="solid"/>
            <a:round/>
            <a:headEnd len="sm" w="sm" type="none"/>
            <a:tailEnd len="sm" w="sm" type="none"/>
          </a:ln>
        </p:spPr>
      </p:cxnSp>
      <p:sp>
        <p:nvSpPr>
          <p:cNvPr id="1171" name="Google Shape;1171;p51"/>
          <p:cNvSpPr txBox="1"/>
          <p:nvPr/>
        </p:nvSpPr>
        <p:spPr>
          <a:xfrm>
            <a:off x="3068197" y="4472307"/>
            <a:ext cx="16113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FF0000"/>
                </a:solidFill>
                <a:latin typeface="Arial"/>
                <a:ea typeface="Arial"/>
                <a:cs typeface="Arial"/>
                <a:sym typeface="Arial"/>
              </a:rPr>
              <a:t>Symptom onset</a:t>
            </a:r>
            <a:endParaRPr/>
          </a:p>
        </p:txBody>
      </p:sp>
      <p:sp>
        <p:nvSpPr>
          <p:cNvPr id="1172" name="Google Shape;1172;p51"/>
          <p:cNvSpPr/>
          <p:nvPr/>
        </p:nvSpPr>
        <p:spPr>
          <a:xfrm>
            <a:off x="3512450" y="1805738"/>
            <a:ext cx="1233725" cy="1059550"/>
          </a:xfrm>
          <a:custGeom>
            <a:rect b="b" l="l" r="r" t="t"/>
            <a:pathLst>
              <a:path extrusionOk="0" h="42382" w="49349">
                <a:moveTo>
                  <a:pt x="0" y="0"/>
                </a:moveTo>
                <a:cubicBezTo>
                  <a:pt x="1548" y="5515"/>
                  <a:pt x="1064" y="26028"/>
                  <a:pt x="9289" y="33092"/>
                </a:cubicBezTo>
                <a:cubicBezTo>
                  <a:pt x="17514" y="40156"/>
                  <a:pt x="42672" y="40834"/>
                  <a:pt x="49349" y="42382"/>
                </a:cubicBezTo>
              </a:path>
            </a:pathLst>
          </a:custGeom>
          <a:noFill/>
          <a:ln cap="flat" cmpd="sng" w="19050">
            <a:solidFill>
              <a:srgbClr val="0000FF"/>
            </a:solidFill>
            <a:prstDash val="solid"/>
            <a:round/>
            <a:headEnd len="med" w="med" type="none"/>
            <a:tailEnd len="med" w="med" type="none"/>
          </a:ln>
        </p:spPr>
      </p:sp>
      <p:pic>
        <p:nvPicPr>
          <p:cNvPr id="1173" name="Google Shape;1173;p51"/>
          <p:cNvPicPr preferRelativeResize="0"/>
          <p:nvPr/>
        </p:nvPicPr>
        <p:blipFill>
          <a:blip r:embed="rId3">
            <a:alphaModFix/>
          </a:blip>
          <a:stretch>
            <a:fillRect/>
          </a:stretch>
        </p:blipFill>
        <p:spPr>
          <a:xfrm>
            <a:off x="5242161" y="2138488"/>
            <a:ext cx="2561564" cy="394087"/>
          </a:xfrm>
          <a:prstGeom prst="rect">
            <a:avLst/>
          </a:prstGeom>
          <a:noFill/>
          <a:ln>
            <a:noFill/>
          </a:ln>
        </p:spPr>
      </p:pic>
      <p:sp>
        <p:nvSpPr>
          <p:cNvPr id="1174" name="Google Shape;1174;p51"/>
          <p:cNvSpPr txBox="1"/>
          <p:nvPr/>
        </p:nvSpPr>
        <p:spPr>
          <a:xfrm>
            <a:off x="1915470" y="5262000"/>
            <a:ext cx="7239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1800" u="sng">
                <a:solidFill>
                  <a:schemeClr val="dk1"/>
                </a:solidFill>
              </a:rPr>
              <a:t>CONTRIBUTION OF DONOR 1 TO LIKELIHOOD</a:t>
            </a:r>
            <a:endParaRPr/>
          </a:p>
        </p:txBody>
      </p:sp>
      <p:sp>
        <p:nvSpPr>
          <p:cNvPr id="1175" name="Google Shape;1175;p51"/>
          <p:cNvSpPr txBox="1"/>
          <p:nvPr/>
        </p:nvSpPr>
        <p:spPr>
          <a:xfrm>
            <a:off x="4220344" y="3988296"/>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latin typeface="Arial"/>
                <a:ea typeface="Arial"/>
                <a:cs typeface="Arial"/>
                <a:sym typeface="Arial"/>
              </a:rPr>
              <a:t>d</a:t>
            </a:r>
            <a:r>
              <a:rPr baseline="-25000" i="1" lang="en-US" sz="1600">
                <a:solidFill>
                  <a:srgbClr val="C00000"/>
                </a:solidFill>
                <a:latin typeface="Arial"/>
                <a:ea typeface="Arial"/>
                <a:cs typeface="Arial"/>
                <a:sym typeface="Arial"/>
              </a:rPr>
              <a:t>1</a:t>
            </a:r>
            <a:endParaRPr/>
          </a:p>
        </p:txBody>
      </p:sp>
      <p:sp>
        <p:nvSpPr>
          <p:cNvPr id="1176" name="Google Shape;1176;p51"/>
          <p:cNvSpPr txBox="1"/>
          <p:nvPr/>
        </p:nvSpPr>
        <p:spPr>
          <a:xfrm>
            <a:off x="3915544" y="4674096"/>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latin typeface="Arial"/>
                <a:ea typeface="Arial"/>
                <a:cs typeface="Arial"/>
                <a:sym typeface="Arial"/>
              </a:rPr>
              <a:t>d</a:t>
            </a:r>
            <a:r>
              <a:rPr baseline="-25000" i="1" lang="en-US" sz="1600">
                <a:solidFill>
                  <a:srgbClr val="C00000"/>
                </a:solidFill>
              </a:rPr>
              <a:t>2</a:t>
            </a:r>
            <a:endParaRPr/>
          </a:p>
        </p:txBody>
      </p:sp>
      <p:pic>
        <p:nvPicPr>
          <p:cNvPr id="1177" name="Google Shape;1177;p51"/>
          <p:cNvPicPr preferRelativeResize="0"/>
          <p:nvPr/>
        </p:nvPicPr>
        <p:blipFill>
          <a:blip r:embed="rId4">
            <a:alphaModFix/>
          </a:blip>
          <a:stretch>
            <a:fillRect/>
          </a:stretch>
        </p:blipFill>
        <p:spPr>
          <a:xfrm>
            <a:off x="6222900" y="2773270"/>
            <a:ext cx="447675" cy="104775"/>
          </a:xfrm>
          <a:prstGeom prst="rect">
            <a:avLst/>
          </a:prstGeom>
          <a:noFill/>
          <a:ln>
            <a:noFill/>
          </a:ln>
        </p:spPr>
      </p:pic>
      <p:sp>
        <p:nvSpPr>
          <p:cNvPr id="1178" name="Google Shape;1178;p51"/>
          <p:cNvSpPr txBox="1"/>
          <p:nvPr/>
        </p:nvSpPr>
        <p:spPr>
          <a:xfrm>
            <a:off x="6629400" y="2581625"/>
            <a:ext cx="45615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is the mean incubation period</a:t>
            </a:r>
            <a:endParaRPr/>
          </a:p>
        </p:txBody>
      </p:sp>
      <p:pic>
        <p:nvPicPr>
          <p:cNvPr id="1179" name="Google Shape;1179;p51"/>
          <p:cNvPicPr preferRelativeResize="0"/>
          <p:nvPr/>
        </p:nvPicPr>
        <p:blipFill>
          <a:blip r:embed="rId5">
            <a:alphaModFix/>
          </a:blip>
          <a:stretch>
            <a:fillRect/>
          </a:stretch>
        </p:blipFill>
        <p:spPr>
          <a:xfrm>
            <a:off x="3657600" y="5783700"/>
            <a:ext cx="1685925" cy="180975"/>
          </a:xfrm>
          <a:prstGeom prst="rect">
            <a:avLst/>
          </a:prstGeom>
          <a:noFill/>
          <a:ln>
            <a:noFill/>
          </a:ln>
        </p:spPr>
      </p:pic>
      <p:sp>
        <p:nvSpPr>
          <p:cNvPr id="1180" name="Google Shape;1180;p51"/>
          <p:cNvSpPr txBox="1"/>
          <p:nvPr/>
        </p:nvSpPr>
        <p:spPr>
          <a:xfrm>
            <a:off x="1835701" y="0"/>
            <a:ext cx="6020100" cy="95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b="1" lang="en-US" sz="2800">
                <a:solidFill>
                  <a:srgbClr val="0033CC"/>
                </a:solidFill>
              </a:rPr>
              <a:t>Part 3: Intro to MCMC --</a:t>
            </a:r>
            <a:endParaRPr b="1" sz="2800">
              <a:solidFill>
                <a:srgbClr val="0033CC"/>
              </a:solidFill>
            </a:endParaRPr>
          </a:p>
          <a:p>
            <a:pPr indent="0" lvl="0" marL="0" rtl="0" algn="ctr">
              <a:spcBef>
                <a:spcPts val="0"/>
              </a:spcBef>
              <a:spcAft>
                <a:spcPts val="0"/>
              </a:spcAft>
              <a:buNone/>
            </a:pPr>
            <a:r>
              <a:rPr b="1" lang="en-US" sz="2800">
                <a:solidFill>
                  <a:srgbClr val="0033CC"/>
                </a:solidFill>
              </a:rPr>
              <a:t>Estimating the incubation period</a:t>
            </a:r>
            <a:endParaRPr b="1" sz="2800">
              <a:solidFill>
                <a:srgbClr val="0033CC"/>
              </a:solidFill>
            </a:endParaRPr>
          </a:p>
          <a:p>
            <a:pPr indent="0" lvl="0" marL="0" marR="0" rtl="0" algn="ctr">
              <a:spcBef>
                <a:spcPts val="0"/>
              </a:spcBef>
              <a:spcAft>
                <a:spcPts val="0"/>
              </a:spcAft>
              <a:buNone/>
            </a:pPr>
            <a:r>
              <a:t/>
            </a:r>
            <a:endParaRPr b="1" sz="2800">
              <a:solidFill>
                <a:srgbClr val="0033CC"/>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85" name="Shape 1185"/>
        <p:cNvGrpSpPr/>
        <p:nvPr/>
      </p:nvGrpSpPr>
      <p:grpSpPr>
        <a:xfrm>
          <a:off x="0" y="0"/>
          <a:ext cx="0" cy="0"/>
          <a:chOff x="0" y="0"/>
          <a:chExt cx="0" cy="0"/>
        </a:xfrm>
      </p:grpSpPr>
      <p:cxnSp>
        <p:nvCxnSpPr>
          <p:cNvPr id="1186" name="Google Shape;1186;p52"/>
          <p:cNvCxnSpPr/>
          <p:nvPr/>
        </p:nvCxnSpPr>
        <p:spPr>
          <a:xfrm>
            <a:off x="1981200" y="4293096"/>
            <a:ext cx="7162800" cy="0"/>
          </a:xfrm>
          <a:prstGeom prst="straightConnector1">
            <a:avLst/>
          </a:prstGeom>
          <a:noFill/>
          <a:ln cap="rnd" cmpd="sng" w="9525">
            <a:solidFill>
              <a:schemeClr val="dk1"/>
            </a:solidFill>
            <a:prstDash val="dot"/>
            <a:round/>
            <a:headEnd len="sm" w="sm" type="none"/>
            <a:tailEnd len="sm" w="sm" type="none"/>
          </a:ln>
        </p:spPr>
      </p:cxnSp>
      <p:sp>
        <p:nvSpPr>
          <p:cNvPr id="1187" name="Google Shape;1187;p52"/>
          <p:cNvSpPr txBox="1"/>
          <p:nvPr/>
        </p:nvSpPr>
        <p:spPr>
          <a:xfrm>
            <a:off x="251520" y="4077072"/>
            <a:ext cx="1370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Donor 1</a:t>
            </a:r>
            <a:endParaRPr/>
          </a:p>
        </p:txBody>
      </p:sp>
      <p:sp>
        <p:nvSpPr>
          <p:cNvPr id="1188" name="Google Shape;1188;p52"/>
          <p:cNvSpPr txBox="1"/>
          <p:nvPr/>
        </p:nvSpPr>
        <p:spPr>
          <a:xfrm>
            <a:off x="251520" y="4725144"/>
            <a:ext cx="1329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Donor 2</a:t>
            </a:r>
            <a:endParaRPr/>
          </a:p>
        </p:txBody>
      </p:sp>
      <p:cxnSp>
        <p:nvCxnSpPr>
          <p:cNvPr id="1189" name="Google Shape;1189;p52"/>
          <p:cNvCxnSpPr/>
          <p:nvPr/>
        </p:nvCxnSpPr>
        <p:spPr>
          <a:xfrm rot="5400000">
            <a:off x="4128350" y="4238271"/>
            <a:ext cx="214200" cy="0"/>
          </a:xfrm>
          <a:prstGeom prst="straightConnector1">
            <a:avLst/>
          </a:prstGeom>
          <a:noFill/>
          <a:ln cap="flat" cmpd="sng" w="50800">
            <a:solidFill>
              <a:srgbClr val="FF0000"/>
            </a:solidFill>
            <a:prstDash val="solid"/>
            <a:round/>
            <a:headEnd len="sm" w="sm" type="none"/>
            <a:tailEnd len="sm" w="sm" type="none"/>
          </a:ln>
        </p:spPr>
      </p:cxnSp>
      <p:sp>
        <p:nvSpPr>
          <p:cNvPr id="1190" name="Google Shape;1190;p52"/>
          <p:cNvSpPr txBox="1"/>
          <p:nvPr/>
        </p:nvSpPr>
        <p:spPr>
          <a:xfrm>
            <a:off x="3419872" y="3717032"/>
            <a:ext cx="16113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FF0000"/>
                </a:solidFill>
                <a:latin typeface="Arial"/>
                <a:ea typeface="Arial"/>
                <a:cs typeface="Arial"/>
                <a:sym typeface="Arial"/>
              </a:rPr>
              <a:t>Symptom onset</a:t>
            </a:r>
            <a:endParaRPr/>
          </a:p>
        </p:txBody>
      </p:sp>
      <p:cxnSp>
        <p:nvCxnSpPr>
          <p:cNvPr id="1191" name="Google Shape;1191;p52"/>
          <p:cNvCxnSpPr/>
          <p:nvPr/>
        </p:nvCxnSpPr>
        <p:spPr>
          <a:xfrm>
            <a:off x="2195736" y="4077072"/>
            <a:ext cx="0" cy="216000"/>
          </a:xfrm>
          <a:prstGeom prst="straightConnector1">
            <a:avLst/>
          </a:prstGeom>
          <a:noFill/>
          <a:ln cap="flat" cmpd="sng" w="19050">
            <a:solidFill>
              <a:srgbClr val="0000CC"/>
            </a:solidFill>
            <a:prstDash val="solid"/>
            <a:round/>
            <a:headEnd len="sm" w="sm" type="none"/>
            <a:tailEnd len="med" w="med" type="triangle"/>
          </a:ln>
        </p:spPr>
      </p:cxnSp>
      <p:sp>
        <p:nvSpPr>
          <p:cNvPr id="1192" name="Google Shape;1192;p52"/>
          <p:cNvSpPr txBox="1"/>
          <p:nvPr/>
        </p:nvSpPr>
        <p:spPr>
          <a:xfrm>
            <a:off x="1691680" y="3717032"/>
            <a:ext cx="9606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00CC"/>
                </a:solidFill>
                <a:latin typeface="Arial"/>
                <a:ea typeface="Arial"/>
                <a:cs typeface="Arial"/>
                <a:sym typeface="Arial"/>
              </a:rPr>
              <a:t>Infection</a:t>
            </a:r>
            <a:endParaRPr/>
          </a:p>
        </p:txBody>
      </p:sp>
      <p:sp>
        <p:nvSpPr>
          <p:cNvPr id="1193" name="Google Shape;1193;p52"/>
          <p:cNvSpPr txBox="1"/>
          <p:nvPr/>
        </p:nvSpPr>
        <p:spPr>
          <a:xfrm>
            <a:off x="2976736" y="1501552"/>
            <a:ext cx="3300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C00000"/>
                </a:solidFill>
                <a:latin typeface="Arial"/>
                <a:ea typeface="Arial"/>
                <a:cs typeface="Arial"/>
                <a:sym typeface="Arial"/>
              </a:rPr>
              <a:t>Density of incubation period</a:t>
            </a:r>
            <a:endParaRPr sz="1800">
              <a:solidFill>
                <a:srgbClr val="C00000"/>
              </a:solidFill>
              <a:latin typeface="Arial"/>
              <a:ea typeface="Arial"/>
              <a:cs typeface="Arial"/>
              <a:sym typeface="Arial"/>
            </a:endParaRPr>
          </a:p>
        </p:txBody>
      </p:sp>
      <p:sp>
        <p:nvSpPr>
          <p:cNvPr id="1194" name="Google Shape;1194;p52"/>
          <p:cNvSpPr txBox="1"/>
          <p:nvPr/>
        </p:nvSpPr>
        <p:spPr>
          <a:xfrm>
            <a:off x="4067944" y="3356992"/>
            <a:ext cx="7917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1800" u="sng">
                <a:solidFill>
                  <a:schemeClr val="dk1"/>
                </a:solidFill>
                <a:latin typeface="Arial"/>
                <a:ea typeface="Arial"/>
                <a:cs typeface="Arial"/>
                <a:sym typeface="Arial"/>
              </a:rPr>
              <a:t>DATA</a:t>
            </a:r>
            <a:endParaRPr/>
          </a:p>
        </p:txBody>
      </p:sp>
      <p:sp>
        <p:nvSpPr>
          <p:cNvPr id="1195" name="Google Shape;1195;p52"/>
          <p:cNvSpPr txBox="1"/>
          <p:nvPr/>
        </p:nvSpPr>
        <p:spPr>
          <a:xfrm>
            <a:off x="4067944" y="1124744"/>
            <a:ext cx="1018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1800" u="sng">
                <a:solidFill>
                  <a:schemeClr val="dk1"/>
                </a:solidFill>
                <a:latin typeface="Arial"/>
                <a:ea typeface="Arial"/>
                <a:cs typeface="Arial"/>
                <a:sym typeface="Arial"/>
              </a:rPr>
              <a:t>MODEL</a:t>
            </a:r>
            <a:endParaRPr/>
          </a:p>
        </p:txBody>
      </p:sp>
      <p:cxnSp>
        <p:nvCxnSpPr>
          <p:cNvPr id="1196" name="Google Shape;1196;p52"/>
          <p:cNvCxnSpPr/>
          <p:nvPr/>
        </p:nvCxnSpPr>
        <p:spPr>
          <a:xfrm>
            <a:off x="3444280" y="2941712"/>
            <a:ext cx="2521200" cy="0"/>
          </a:xfrm>
          <a:prstGeom prst="straightConnector1">
            <a:avLst/>
          </a:prstGeom>
          <a:noFill/>
          <a:ln cap="flat" cmpd="sng" w="9525">
            <a:solidFill>
              <a:schemeClr val="dk1"/>
            </a:solidFill>
            <a:prstDash val="solid"/>
            <a:round/>
            <a:headEnd len="sm" w="sm" type="none"/>
            <a:tailEnd len="med" w="med" type="triangle"/>
          </a:ln>
        </p:spPr>
      </p:cxnSp>
      <p:sp>
        <p:nvSpPr>
          <p:cNvPr id="1197" name="Google Shape;1197;p52"/>
          <p:cNvSpPr txBox="1"/>
          <p:nvPr/>
        </p:nvSpPr>
        <p:spPr>
          <a:xfrm>
            <a:off x="5389512" y="3013720"/>
            <a:ext cx="6324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Time</a:t>
            </a:r>
            <a:endParaRPr/>
          </a:p>
        </p:txBody>
      </p:sp>
      <p:sp>
        <p:nvSpPr>
          <p:cNvPr id="1198" name="Google Shape;1198;p52"/>
          <p:cNvSpPr txBox="1"/>
          <p:nvPr/>
        </p:nvSpPr>
        <p:spPr>
          <a:xfrm>
            <a:off x="3408784" y="2941712"/>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0</a:t>
            </a:r>
            <a:endParaRPr/>
          </a:p>
        </p:txBody>
      </p:sp>
      <p:cxnSp>
        <p:nvCxnSpPr>
          <p:cNvPr id="1199" name="Google Shape;1199;p52"/>
          <p:cNvCxnSpPr/>
          <p:nvPr/>
        </p:nvCxnSpPr>
        <p:spPr>
          <a:xfrm>
            <a:off x="1981200" y="4978896"/>
            <a:ext cx="7162800" cy="0"/>
          </a:xfrm>
          <a:prstGeom prst="straightConnector1">
            <a:avLst/>
          </a:prstGeom>
          <a:noFill/>
          <a:ln cap="rnd" cmpd="sng" w="9525">
            <a:solidFill>
              <a:schemeClr val="dk1"/>
            </a:solidFill>
            <a:prstDash val="dot"/>
            <a:round/>
            <a:headEnd len="sm" w="sm" type="none"/>
            <a:tailEnd len="sm" w="sm" type="none"/>
          </a:ln>
        </p:spPr>
      </p:cxnSp>
      <p:cxnSp>
        <p:nvCxnSpPr>
          <p:cNvPr id="1200" name="Google Shape;1200;p52"/>
          <p:cNvCxnSpPr/>
          <p:nvPr/>
        </p:nvCxnSpPr>
        <p:spPr>
          <a:xfrm>
            <a:off x="2195736" y="4762872"/>
            <a:ext cx="0" cy="216000"/>
          </a:xfrm>
          <a:prstGeom prst="straightConnector1">
            <a:avLst/>
          </a:prstGeom>
          <a:noFill/>
          <a:ln cap="flat" cmpd="sng" w="19050">
            <a:solidFill>
              <a:srgbClr val="0000CC"/>
            </a:solidFill>
            <a:prstDash val="solid"/>
            <a:round/>
            <a:headEnd len="sm" w="sm" type="none"/>
            <a:tailEnd len="med" w="med" type="triangle"/>
          </a:ln>
        </p:spPr>
      </p:cxnSp>
      <p:sp>
        <p:nvSpPr>
          <p:cNvPr id="1201" name="Google Shape;1201;p52"/>
          <p:cNvSpPr txBox="1"/>
          <p:nvPr/>
        </p:nvSpPr>
        <p:spPr>
          <a:xfrm>
            <a:off x="1691680" y="4402832"/>
            <a:ext cx="9606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00CC"/>
                </a:solidFill>
                <a:latin typeface="Arial"/>
                <a:ea typeface="Arial"/>
                <a:cs typeface="Arial"/>
                <a:sym typeface="Arial"/>
              </a:rPr>
              <a:t>Infection</a:t>
            </a:r>
            <a:endParaRPr/>
          </a:p>
        </p:txBody>
      </p:sp>
      <p:cxnSp>
        <p:nvCxnSpPr>
          <p:cNvPr id="1202" name="Google Shape;1202;p52"/>
          <p:cNvCxnSpPr/>
          <p:nvPr/>
        </p:nvCxnSpPr>
        <p:spPr>
          <a:xfrm rot="5400000">
            <a:off x="3776675" y="4993546"/>
            <a:ext cx="214200" cy="0"/>
          </a:xfrm>
          <a:prstGeom prst="straightConnector1">
            <a:avLst/>
          </a:prstGeom>
          <a:noFill/>
          <a:ln cap="flat" cmpd="sng" w="50800">
            <a:solidFill>
              <a:srgbClr val="FF0000"/>
            </a:solidFill>
            <a:prstDash val="solid"/>
            <a:round/>
            <a:headEnd len="sm" w="sm" type="none"/>
            <a:tailEnd len="sm" w="sm" type="none"/>
          </a:ln>
        </p:spPr>
      </p:cxnSp>
      <p:sp>
        <p:nvSpPr>
          <p:cNvPr id="1203" name="Google Shape;1203;p52"/>
          <p:cNvSpPr txBox="1"/>
          <p:nvPr/>
        </p:nvSpPr>
        <p:spPr>
          <a:xfrm>
            <a:off x="3068197" y="4472307"/>
            <a:ext cx="16113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FF0000"/>
                </a:solidFill>
                <a:latin typeface="Arial"/>
                <a:ea typeface="Arial"/>
                <a:cs typeface="Arial"/>
                <a:sym typeface="Arial"/>
              </a:rPr>
              <a:t>Symptom onset</a:t>
            </a:r>
            <a:endParaRPr/>
          </a:p>
        </p:txBody>
      </p:sp>
      <p:sp>
        <p:nvSpPr>
          <p:cNvPr id="1204" name="Google Shape;1204;p52"/>
          <p:cNvSpPr/>
          <p:nvPr/>
        </p:nvSpPr>
        <p:spPr>
          <a:xfrm>
            <a:off x="3512450" y="1805738"/>
            <a:ext cx="1233725" cy="1059550"/>
          </a:xfrm>
          <a:custGeom>
            <a:rect b="b" l="l" r="r" t="t"/>
            <a:pathLst>
              <a:path extrusionOk="0" h="42382" w="49349">
                <a:moveTo>
                  <a:pt x="0" y="0"/>
                </a:moveTo>
                <a:cubicBezTo>
                  <a:pt x="1548" y="5515"/>
                  <a:pt x="1064" y="26028"/>
                  <a:pt x="9289" y="33092"/>
                </a:cubicBezTo>
                <a:cubicBezTo>
                  <a:pt x="17514" y="40156"/>
                  <a:pt x="42672" y="40834"/>
                  <a:pt x="49349" y="42382"/>
                </a:cubicBezTo>
              </a:path>
            </a:pathLst>
          </a:custGeom>
          <a:noFill/>
          <a:ln cap="flat" cmpd="sng" w="19050">
            <a:solidFill>
              <a:srgbClr val="0000FF"/>
            </a:solidFill>
            <a:prstDash val="solid"/>
            <a:round/>
            <a:headEnd len="med" w="med" type="none"/>
            <a:tailEnd len="med" w="med" type="none"/>
          </a:ln>
        </p:spPr>
      </p:sp>
      <p:pic>
        <p:nvPicPr>
          <p:cNvPr id="1205" name="Google Shape;1205;p52"/>
          <p:cNvPicPr preferRelativeResize="0"/>
          <p:nvPr/>
        </p:nvPicPr>
        <p:blipFill>
          <a:blip r:embed="rId3">
            <a:alphaModFix/>
          </a:blip>
          <a:stretch>
            <a:fillRect/>
          </a:stretch>
        </p:blipFill>
        <p:spPr>
          <a:xfrm>
            <a:off x="5242161" y="2138488"/>
            <a:ext cx="2561564" cy="394087"/>
          </a:xfrm>
          <a:prstGeom prst="rect">
            <a:avLst/>
          </a:prstGeom>
          <a:noFill/>
          <a:ln>
            <a:noFill/>
          </a:ln>
        </p:spPr>
      </p:pic>
      <p:sp>
        <p:nvSpPr>
          <p:cNvPr id="1206" name="Google Shape;1206;p52"/>
          <p:cNvSpPr txBox="1"/>
          <p:nvPr/>
        </p:nvSpPr>
        <p:spPr>
          <a:xfrm>
            <a:off x="2448870" y="5262000"/>
            <a:ext cx="7239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1800" u="sng">
                <a:solidFill>
                  <a:schemeClr val="dk1"/>
                </a:solidFill>
              </a:rPr>
              <a:t>LIKELIHOOD OVER ALL DONORS</a:t>
            </a:r>
            <a:endParaRPr/>
          </a:p>
        </p:txBody>
      </p:sp>
      <p:sp>
        <p:nvSpPr>
          <p:cNvPr id="1207" name="Google Shape;1207;p52"/>
          <p:cNvSpPr txBox="1"/>
          <p:nvPr/>
        </p:nvSpPr>
        <p:spPr>
          <a:xfrm>
            <a:off x="4220344" y="3988296"/>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latin typeface="Arial"/>
                <a:ea typeface="Arial"/>
                <a:cs typeface="Arial"/>
                <a:sym typeface="Arial"/>
              </a:rPr>
              <a:t>d</a:t>
            </a:r>
            <a:r>
              <a:rPr baseline="-25000" i="1" lang="en-US" sz="1600">
                <a:solidFill>
                  <a:srgbClr val="C00000"/>
                </a:solidFill>
                <a:latin typeface="Arial"/>
                <a:ea typeface="Arial"/>
                <a:cs typeface="Arial"/>
                <a:sym typeface="Arial"/>
              </a:rPr>
              <a:t>1</a:t>
            </a:r>
            <a:endParaRPr/>
          </a:p>
        </p:txBody>
      </p:sp>
      <p:sp>
        <p:nvSpPr>
          <p:cNvPr id="1208" name="Google Shape;1208;p52"/>
          <p:cNvSpPr txBox="1"/>
          <p:nvPr/>
        </p:nvSpPr>
        <p:spPr>
          <a:xfrm>
            <a:off x="3915544" y="4674096"/>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latin typeface="Arial"/>
                <a:ea typeface="Arial"/>
                <a:cs typeface="Arial"/>
                <a:sym typeface="Arial"/>
              </a:rPr>
              <a:t>d</a:t>
            </a:r>
            <a:r>
              <a:rPr baseline="-25000" i="1" lang="en-US" sz="1600">
                <a:solidFill>
                  <a:srgbClr val="C00000"/>
                </a:solidFill>
              </a:rPr>
              <a:t>2</a:t>
            </a:r>
            <a:endParaRPr/>
          </a:p>
        </p:txBody>
      </p:sp>
      <p:pic>
        <p:nvPicPr>
          <p:cNvPr id="1209" name="Google Shape;1209;p52"/>
          <p:cNvPicPr preferRelativeResize="0"/>
          <p:nvPr/>
        </p:nvPicPr>
        <p:blipFill>
          <a:blip r:embed="rId4">
            <a:alphaModFix/>
          </a:blip>
          <a:stretch>
            <a:fillRect/>
          </a:stretch>
        </p:blipFill>
        <p:spPr>
          <a:xfrm>
            <a:off x="6222900" y="2773270"/>
            <a:ext cx="447675" cy="104775"/>
          </a:xfrm>
          <a:prstGeom prst="rect">
            <a:avLst/>
          </a:prstGeom>
          <a:noFill/>
          <a:ln>
            <a:noFill/>
          </a:ln>
        </p:spPr>
      </p:pic>
      <p:sp>
        <p:nvSpPr>
          <p:cNvPr id="1210" name="Google Shape;1210;p52"/>
          <p:cNvSpPr txBox="1"/>
          <p:nvPr/>
        </p:nvSpPr>
        <p:spPr>
          <a:xfrm>
            <a:off x="6629400" y="2581625"/>
            <a:ext cx="45615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is the mean incubation period</a:t>
            </a:r>
            <a:endParaRPr/>
          </a:p>
        </p:txBody>
      </p:sp>
      <p:pic>
        <p:nvPicPr>
          <p:cNvPr id="1211" name="Google Shape;1211;p52"/>
          <p:cNvPicPr preferRelativeResize="0"/>
          <p:nvPr/>
        </p:nvPicPr>
        <p:blipFill>
          <a:blip r:embed="rId5">
            <a:alphaModFix/>
          </a:blip>
          <a:stretch>
            <a:fillRect/>
          </a:stretch>
        </p:blipFill>
        <p:spPr>
          <a:xfrm>
            <a:off x="2209800" y="5783700"/>
            <a:ext cx="4524375" cy="381000"/>
          </a:xfrm>
          <a:prstGeom prst="rect">
            <a:avLst/>
          </a:prstGeom>
          <a:noFill/>
          <a:ln>
            <a:noFill/>
          </a:ln>
        </p:spPr>
      </p:pic>
      <p:sp>
        <p:nvSpPr>
          <p:cNvPr id="1212" name="Google Shape;1212;p52"/>
          <p:cNvSpPr txBox="1"/>
          <p:nvPr/>
        </p:nvSpPr>
        <p:spPr>
          <a:xfrm>
            <a:off x="3326050" y="6125575"/>
            <a:ext cx="45615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product symbol: multiply over all   where   is the donor index</a:t>
            </a:r>
            <a:endParaRPr/>
          </a:p>
        </p:txBody>
      </p:sp>
      <p:cxnSp>
        <p:nvCxnSpPr>
          <p:cNvPr id="1213" name="Google Shape;1213;p52"/>
          <p:cNvCxnSpPr/>
          <p:nvPr/>
        </p:nvCxnSpPr>
        <p:spPr>
          <a:xfrm flipH="1" rot="10800000">
            <a:off x="4181300" y="6026425"/>
            <a:ext cx="396000" cy="238800"/>
          </a:xfrm>
          <a:prstGeom prst="straightConnector1">
            <a:avLst/>
          </a:prstGeom>
          <a:noFill/>
          <a:ln cap="flat" cmpd="sng" w="9525">
            <a:solidFill>
              <a:schemeClr val="dk2"/>
            </a:solidFill>
            <a:prstDash val="solid"/>
            <a:round/>
            <a:headEnd len="med" w="med" type="none"/>
            <a:tailEnd len="med" w="med" type="triangle"/>
          </a:ln>
        </p:spPr>
      </p:cxnSp>
      <p:pic>
        <p:nvPicPr>
          <p:cNvPr id="1214" name="Google Shape;1214;p52"/>
          <p:cNvPicPr preferRelativeResize="0"/>
          <p:nvPr/>
        </p:nvPicPr>
        <p:blipFill>
          <a:blip r:embed="rId6">
            <a:alphaModFix/>
          </a:blip>
          <a:stretch>
            <a:fillRect/>
          </a:stretch>
        </p:blipFill>
        <p:spPr>
          <a:xfrm>
            <a:off x="5991225" y="6262688"/>
            <a:ext cx="57150" cy="123825"/>
          </a:xfrm>
          <a:prstGeom prst="rect">
            <a:avLst/>
          </a:prstGeom>
          <a:noFill/>
          <a:ln>
            <a:noFill/>
          </a:ln>
        </p:spPr>
      </p:pic>
      <p:pic>
        <p:nvPicPr>
          <p:cNvPr id="1215" name="Google Shape;1215;p52"/>
          <p:cNvPicPr preferRelativeResize="0"/>
          <p:nvPr/>
        </p:nvPicPr>
        <p:blipFill>
          <a:blip r:embed="rId6">
            <a:alphaModFix/>
          </a:blip>
          <a:stretch>
            <a:fillRect/>
          </a:stretch>
        </p:blipFill>
        <p:spPr>
          <a:xfrm>
            <a:off x="6600825" y="6262688"/>
            <a:ext cx="57150" cy="123825"/>
          </a:xfrm>
          <a:prstGeom prst="rect">
            <a:avLst/>
          </a:prstGeom>
          <a:noFill/>
          <a:ln>
            <a:noFill/>
          </a:ln>
        </p:spPr>
      </p:pic>
      <p:sp>
        <p:nvSpPr>
          <p:cNvPr id="1216" name="Google Shape;1216;p52"/>
          <p:cNvSpPr txBox="1"/>
          <p:nvPr/>
        </p:nvSpPr>
        <p:spPr>
          <a:xfrm>
            <a:off x="1835701" y="0"/>
            <a:ext cx="6020100" cy="95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b="1" lang="en-US" sz="2800">
                <a:solidFill>
                  <a:srgbClr val="0033CC"/>
                </a:solidFill>
              </a:rPr>
              <a:t>Part 3: Intro to MCMC --</a:t>
            </a:r>
            <a:endParaRPr b="1" sz="2800">
              <a:solidFill>
                <a:srgbClr val="0033CC"/>
              </a:solidFill>
            </a:endParaRPr>
          </a:p>
          <a:p>
            <a:pPr indent="0" lvl="0" marL="0" rtl="0" algn="ctr">
              <a:spcBef>
                <a:spcPts val="0"/>
              </a:spcBef>
              <a:spcAft>
                <a:spcPts val="0"/>
              </a:spcAft>
              <a:buNone/>
            </a:pPr>
            <a:r>
              <a:rPr b="1" lang="en-US" sz="2800">
                <a:solidFill>
                  <a:srgbClr val="0033CC"/>
                </a:solidFill>
              </a:rPr>
              <a:t>Estimating the incubation period</a:t>
            </a:r>
            <a:endParaRPr b="1" sz="2800">
              <a:solidFill>
                <a:srgbClr val="0033CC"/>
              </a:solidFill>
            </a:endParaRPr>
          </a:p>
          <a:p>
            <a:pPr indent="0" lvl="0" marL="0" marR="0" rtl="0" algn="ctr">
              <a:spcBef>
                <a:spcPts val="0"/>
              </a:spcBef>
              <a:spcAft>
                <a:spcPts val="0"/>
              </a:spcAft>
              <a:buNone/>
            </a:pPr>
            <a:r>
              <a:t/>
            </a:r>
            <a:endParaRPr b="1" sz="2800">
              <a:solidFill>
                <a:srgbClr val="0033CC"/>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21" name="Shape 1221"/>
        <p:cNvGrpSpPr/>
        <p:nvPr/>
      </p:nvGrpSpPr>
      <p:grpSpPr>
        <a:xfrm>
          <a:off x="0" y="0"/>
          <a:ext cx="0" cy="0"/>
          <a:chOff x="0" y="0"/>
          <a:chExt cx="0" cy="0"/>
        </a:xfrm>
      </p:grpSpPr>
      <p:sp>
        <p:nvSpPr>
          <p:cNvPr id="1222" name="Google Shape;1222;p53"/>
          <p:cNvSpPr txBox="1"/>
          <p:nvPr/>
        </p:nvSpPr>
        <p:spPr>
          <a:xfrm>
            <a:off x="2448870" y="1299600"/>
            <a:ext cx="7239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1800" u="sng">
                <a:solidFill>
                  <a:schemeClr val="dk1"/>
                </a:solidFill>
              </a:rPr>
              <a:t>LIKELIHOOD OVER ALL DONORS</a:t>
            </a:r>
            <a:endParaRPr/>
          </a:p>
        </p:txBody>
      </p:sp>
      <p:pic>
        <p:nvPicPr>
          <p:cNvPr id="1223" name="Google Shape;1223;p53"/>
          <p:cNvPicPr preferRelativeResize="0"/>
          <p:nvPr/>
        </p:nvPicPr>
        <p:blipFill>
          <a:blip r:embed="rId3">
            <a:alphaModFix/>
          </a:blip>
          <a:stretch>
            <a:fillRect/>
          </a:stretch>
        </p:blipFill>
        <p:spPr>
          <a:xfrm>
            <a:off x="2209800" y="1821300"/>
            <a:ext cx="4524375" cy="381000"/>
          </a:xfrm>
          <a:prstGeom prst="rect">
            <a:avLst/>
          </a:prstGeom>
          <a:noFill/>
          <a:ln>
            <a:noFill/>
          </a:ln>
        </p:spPr>
      </p:pic>
      <p:sp>
        <p:nvSpPr>
          <p:cNvPr id="1224" name="Google Shape;1224;p53"/>
          <p:cNvSpPr txBox="1"/>
          <p:nvPr/>
        </p:nvSpPr>
        <p:spPr>
          <a:xfrm>
            <a:off x="3326050" y="2163175"/>
            <a:ext cx="45615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product symbol: multiply over all   where   is the donor index</a:t>
            </a:r>
            <a:endParaRPr/>
          </a:p>
        </p:txBody>
      </p:sp>
      <p:cxnSp>
        <p:nvCxnSpPr>
          <p:cNvPr id="1225" name="Google Shape;1225;p53"/>
          <p:cNvCxnSpPr/>
          <p:nvPr/>
        </p:nvCxnSpPr>
        <p:spPr>
          <a:xfrm flipH="1" rot="10800000">
            <a:off x="4181300" y="2064025"/>
            <a:ext cx="396000" cy="238800"/>
          </a:xfrm>
          <a:prstGeom prst="straightConnector1">
            <a:avLst/>
          </a:prstGeom>
          <a:noFill/>
          <a:ln cap="flat" cmpd="sng" w="9525">
            <a:solidFill>
              <a:schemeClr val="dk2"/>
            </a:solidFill>
            <a:prstDash val="solid"/>
            <a:round/>
            <a:headEnd len="med" w="med" type="none"/>
            <a:tailEnd len="med" w="med" type="triangle"/>
          </a:ln>
        </p:spPr>
      </p:cxnSp>
      <p:pic>
        <p:nvPicPr>
          <p:cNvPr id="1226" name="Google Shape;1226;p53"/>
          <p:cNvPicPr preferRelativeResize="0"/>
          <p:nvPr/>
        </p:nvPicPr>
        <p:blipFill>
          <a:blip r:embed="rId4">
            <a:alphaModFix/>
          </a:blip>
          <a:stretch>
            <a:fillRect/>
          </a:stretch>
        </p:blipFill>
        <p:spPr>
          <a:xfrm>
            <a:off x="5991225" y="2300288"/>
            <a:ext cx="57150" cy="123825"/>
          </a:xfrm>
          <a:prstGeom prst="rect">
            <a:avLst/>
          </a:prstGeom>
          <a:noFill/>
          <a:ln>
            <a:noFill/>
          </a:ln>
        </p:spPr>
      </p:pic>
      <p:pic>
        <p:nvPicPr>
          <p:cNvPr id="1227" name="Google Shape;1227;p53"/>
          <p:cNvPicPr preferRelativeResize="0"/>
          <p:nvPr/>
        </p:nvPicPr>
        <p:blipFill>
          <a:blip r:embed="rId4">
            <a:alphaModFix/>
          </a:blip>
          <a:stretch>
            <a:fillRect/>
          </a:stretch>
        </p:blipFill>
        <p:spPr>
          <a:xfrm>
            <a:off x="6600825" y="2300288"/>
            <a:ext cx="57150" cy="123825"/>
          </a:xfrm>
          <a:prstGeom prst="rect">
            <a:avLst/>
          </a:prstGeom>
          <a:noFill/>
          <a:ln>
            <a:noFill/>
          </a:ln>
        </p:spPr>
      </p:pic>
      <p:sp>
        <p:nvSpPr>
          <p:cNvPr id="1228" name="Google Shape;1228;p53"/>
          <p:cNvSpPr txBox="1"/>
          <p:nvPr/>
        </p:nvSpPr>
        <p:spPr>
          <a:xfrm>
            <a:off x="3287070" y="2976000"/>
            <a:ext cx="7239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1800" u="sng">
                <a:solidFill>
                  <a:schemeClr val="dk1"/>
                </a:solidFill>
              </a:rPr>
              <a:t>LOG </a:t>
            </a:r>
            <a:r>
              <a:rPr b="1" i="1" lang="en-US" sz="1800" u="sng">
                <a:solidFill>
                  <a:schemeClr val="dk1"/>
                </a:solidFill>
              </a:rPr>
              <a:t>LIKELIHOOD</a:t>
            </a:r>
            <a:endParaRPr/>
          </a:p>
        </p:txBody>
      </p:sp>
      <p:pic>
        <p:nvPicPr>
          <p:cNvPr id="1229" name="Google Shape;1229;p53"/>
          <p:cNvPicPr preferRelativeResize="0"/>
          <p:nvPr/>
        </p:nvPicPr>
        <p:blipFill>
          <a:blip r:embed="rId5">
            <a:alphaModFix/>
          </a:blip>
          <a:stretch>
            <a:fillRect/>
          </a:stretch>
        </p:blipFill>
        <p:spPr>
          <a:xfrm>
            <a:off x="2362200" y="3497700"/>
            <a:ext cx="3886200" cy="371475"/>
          </a:xfrm>
          <a:prstGeom prst="rect">
            <a:avLst/>
          </a:prstGeom>
          <a:noFill/>
          <a:ln>
            <a:noFill/>
          </a:ln>
        </p:spPr>
      </p:pic>
      <p:sp>
        <p:nvSpPr>
          <p:cNvPr id="1230" name="Google Shape;1230;p53"/>
          <p:cNvSpPr txBox="1"/>
          <p:nvPr/>
        </p:nvSpPr>
        <p:spPr>
          <a:xfrm>
            <a:off x="1835701" y="0"/>
            <a:ext cx="6020100" cy="95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b="1" lang="en-US" sz="2800">
                <a:solidFill>
                  <a:srgbClr val="0033CC"/>
                </a:solidFill>
              </a:rPr>
              <a:t>Part 3: Intro to MCMC --</a:t>
            </a:r>
            <a:endParaRPr b="1" sz="2800">
              <a:solidFill>
                <a:srgbClr val="0033CC"/>
              </a:solidFill>
            </a:endParaRPr>
          </a:p>
          <a:p>
            <a:pPr indent="0" lvl="0" marL="0" rtl="0" algn="ctr">
              <a:spcBef>
                <a:spcPts val="0"/>
              </a:spcBef>
              <a:spcAft>
                <a:spcPts val="0"/>
              </a:spcAft>
              <a:buNone/>
            </a:pPr>
            <a:r>
              <a:rPr b="1" lang="en-US" sz="2800">
                <a:solidFill>
                  <a:srgbClr val="0033CC"/>
                </a:solidFill>
              </a:rPr>
              <a:t>Estimating the incubation period</a:t>
            </a:r>
            <a:endParaRPr b="1" sz="2800">
              <a:solidFill>
                <a:srgbClr val="0033CC"/>
              </a:solidFill>
            </a:endParaRPr>
          </a:p>
          <a:p>
            <a:pPr indent="0" lvl="0" marL="0" marR="0" rtl="0" algn="ctr">
              <a:spcBef>
                <a:spcPts val="0"/>
              </a:spcBef>
              <a:spcAft>
                <a:spcPts val="0"/>
              </a:spcAft>
              <a:buNone/>
            </a:pPr>
            <a:r>
              <a:t/>
            </a:r>
            <a:endParaRPr b="1" sz="2800">
              <a:solidFill>
                <a:srgbClr val="0033CC"/>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34" name="Shape 1234"/>
        <p:cNvGrpSpPr/>
        <p:nvPr/>
      </p:nvGrpSpPr>
      <p:grpSpPr>
        <a:xfrm>
          <a:off x="0" y="0"/>
          <a:ext cx="0" cy="0"/>
          <a:chOff x="0" y="0"/>
          <a:chExt cx="0" cy="0"/>
        </a:xfrm>
      </p:grpSpPr>
      <p:sp>
        <p:nvSpPr>
          <p:cNvPr id="1235" name="Google Shape;1235;p54"/>
          <p:cNvSpPr txBox="1"/>
          <p:nvPr/>
        </p:nvSpPr>
        <p:spPr>
          <a:xfrm>
            <a:off x="714375" y="285750"/>
            <a:ext cx="7215300" cy="523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latin typeface="Arial"/>
                <a:ea typeface="Arial"/>
                <a:cs typeface="Arial"/>
                <a:sym typeface="Arial"/>
              </a:rPr>
              <a:t>MCMC - basics</a:t>
            </a:r>
            <a:endParaRPr/>
          </a:p>
        </p:txBody>
      </p:sp>
      <p:sp>
        <p:nvSpPr>
          <p:cNvPr id="1236" name="Google Shape;1236;p54"/>
          <p:cNvSpPr txBox="1"/>
          <p:nvPr/>
        </p:nvSpPr>
        <p:spPr>
          <a:xfrm>
            <a:off x="323524" y="1196750"/>
            <a:ext cx="8395500" cy="1477200"/>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rPr>
              <a:t>We want to estimate the posterior distribution of the parameters, that is the probability density function of the parameters given the data.  The posterior distribution is given by</a:t>
            </a:r>
            <a:endParaRPr/>
          </a:p>
          <a:p>
            <a:pPr indent="0" lvl="0" marL="0" marR="0" rtl="0" algn="l">
              <a:spcBef>
                <a:spcPts val="0"/>
              </a:spcBef>
              <a:spcAft>
                <a:spcPts val="0"/>
              </a:spcAft>
              <a:buNone/>
            </a:pPr>
            <a:r>
              <a:t/>
            </a:r>
            <a:endParaRPr/>
          </a:p>
        </p:txBody>
      </p:sp>
      <p:sp>
        <p:nvSpPr>
          <p:cNvPr id="1237" name="Google Shape;1237;p54"/>
          <p:cNvSpPr/>
          <p:nvPr/>
        </p:nvSpPr>
        <p:spPr>
          <a:xfrm>
            <a:off x="3275856" y="3501008"/>
            <a:ext cx="914400" cy="2232300"/>
          </a:xfrm>
          <a:prstGeom prst="rect">
            <a:avLst/>
          </a:prstGeom>
          <a:solidFill>
            <a:schemeClr val="lt1"/>
          </a:solidFill>
          <a:ln cap="rnd"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38" name="Google Shape;1238;p54"/>
          <p:cNvSpPr txBox="1"/>
          <p:nvPr/>
        </p:nvSpPr>
        <p:spPr>
          <a:xfrm>
            <a:off x="427625" y="3447650"/>
            <a:ext cx="8248800" cy="532200"/>
          </a:xfrm>
          <a:prstGeom prst="rect">
            <a:avLst/>
          </a:prstGeom>
          <a:noFill/>
          <a:ln>
            <a:noFill/>
          </a:ln>
        </p:spPr>
        <p:txBody>
          <a:bodyPr anchorCtr="0" anchor="t" bIns="91425" lIns="91425" spcFirstLastPara="1" rIns="91425" wrap="square" tIns="91425">
            <a:noAutofit/>
          </a:bodyPr>
          <a:lstStyle/>
          <a:p>
            <a:pPr indent="-285750" lvl="0" marL="285750" rtl="0" algn="l">
              <a:spcBef>
                <a:spcPts val="0"/>
              </a:spcBef>
              <a:spcAft>
                <a:spcPts val="0"/>
              </a:spcAft>
              <a:buClr>
                <a:schemeClr val="dk1"/>
              </a:buClr>
              <a:buSzPts val="1800"/>
              <a:buChar char="•"/>
            </a:pPr>
            <a:r>
              <a:rPr lang="en-US" sz="1800">
                <a:solidFill>
                  <a:schemeClr val="dk1"/>
                </a:solidFill>
              </a:rPr>
              <a:t>The posterior distribution is a concept in Bayesian statistics.  It incorporates both the likelihood (the probability of observing the data given model parameters) and the prior distribution (existing information we have about likely parameter values).  In this practical we will use a uniform prior, i.e. assume no existing information. </a:t>
            </a:r>
            <a:endParaRPr sz="1800">
              <a:solidFill>
                <a:schemeClr val="dk1"/>
              </a:solidFill>
            </a:endParaRPr>
          </a:p>
          <a:p>
            <a:pPr indent="-285750" lvl="0" marL="285750" rtl="0" algn="l">
              <a:spcBef>
                <a:spcPts val="0"/>
              </a:spcBef>
              <a:spcAft>
                <a:spcPts val="0"/>
              </a:spcAft>
              <a:buClr>
                <a:schemeClr val="dk1"/>
              </a:buClr>
              <a:buSzPts val="1800"/>
              <a:buChar char="•"/>
            </a:pPr>
            <a:r>
              <a:rPr lang="en-US" sz="1800">
                <a:solidFill>
                  <a:schemeClr val="dk1"/>
                </a:solidFill>
              </a:rPr>
              <a:t>Markov Chain Monte Carlo is one algorithm to sample from the posterior distribution.</a:t>
            </a:r>
            <a:endParaRPr>
              <a:solidFill>
                <a:schemeClr val="dk1"/>
              </a:solidFill>
            </a:endParaRPr>
          </a:p>
          <a:p>
            <a:pPr indent="-285750" lvl="0" marL="285750" rtl="0" algn="l">
              <a:spcBef>
                <a:spcPts val="0"/>
              </a:spcBef>
              <a:spcAft>
                <a:spcPts val="0"/>
              </a:spcAft>
              <a:buClr>
                <a:schemeClr val="dk1"/>
              </a:buClr>
              <a:buSzPts val="1800"/>
              <a:buChar char="•"/>
            </a:pPr>
            <a:r>
              <a:rPr lang="en-US" sz="1800">
                <a:solidFill>
                  <a:schemeClr val="dk1"/>
                </a:solidFill>
              </a:rPr>
              <a:t>It is an iterative algorithm, where each iteration produces one sample from the posterior distribution.</a:t>
            </a:r>
            <a:endParaRPr sz="1800">
              <a:solidFill>
                <a:schemeClr val="dk1"/>
              </a:solidFill>
            </a:endParaRPr>
          </a:p>
          <a:p>
            <a:pPr indent="-285750" lvl="0" marL="285750" rtl="0" algn="l">
              <a:spcBef>
                <a:spcPts val="0"/>
              </a:spcBef>
              <a:spcAft>
                <a:spcPts val="0"/>
              </a:spcAft>
              <a:buClr>
                <a:schemeClr val="dk1"/>
              </a:buClr>
              <a:buSzPts val="1800"/>
              <a:buChar char="•"/>
            </a:pPr>
            <a:r>
              <a:rPr lang="en-US" sz="1800">
                <a:solidFill>
                  <a:schemeClr val="dk1"/>
                </a:solidFill>
              </a:rPr>
              <a:t>Notation notes: bold = vector of 1+ values, normal font = single value.  </a:t>
            </a:r>
            <a:r>
              <a:rPr lang="en-US" sz="1800">
                <a:solidFill>
                  <a:srgbClr val="FFFFFF"/>
                </a:solidFill>
              </a:rPr>
              <a:t>Aaaa</a:t>
            </a:r>
            <a:r>
              <a:rPr lang="en-US" sz="1800">
                <a:solidFill>
                  <a:schemeClr val="dk1"/>
                </a:solidFill>
              </a:rPr>
              <a:t>                                 </a:t>
            </a:r>
            <a:r>
              <a:rPr lang="en-US" sz="1800">
                <a:solidFill>
                  <a:srgbClr val="FFFFFF"/>
                </a:solidFill>
              </a:rPr>
              <a:t>aaaaaaaaaaaaaaa</a:t>
            </a:r>
            <a:r>
              <a:rPr lang="en-US" sz="1800">
                <a:solidFill>
                  <a:schemeClr val="dk1"/>
                </a:solidFill>
              </a:rPr>
              <a:t>= parameter values,   = data. </a:t>
            </a:r>
            <a:endParaRPr sz="1800">
              <a:solidFill>
                <a:schemeClr val="dk1"/>
              </a:solidFill>
            </a:endParaRPr>
          </a:p>
        </p:txBody>
      </p:sp>
      <p:sp>
        <p:nvSpPr>
          <p:cNvPr id="1239" name="Google Shape;1239;p54"/>
          <p:cNvSpPr txBox="1"/>
          <p:nvPr/>
        </p:nvSpPr>
        <p:spPr>
          <a:xfrm>
            <a:off x="4233982" y="2679463"/>
            <a:ext cx="1224000" cy="338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rgbClr val="0000CC"/>
                </a:solidFill>
                <a:latin typeface="Arial"/>
                <a:ea typeface="Arial"/>
                <a:cs typeface="Arial"/>
                <a:sym typeface="Arial"/>
              </a:rPr>
              <a:t>Likelihood</a:t>
            </a:r>
            <a:endParaRPr/>
          </a:p>
        </p:txBody>
      </p:sp>
      <p:sp>
        <p:nvSpPr>
          <p:cNvPr id="1240" name="Google Shape;1240;p54"/>
          <p:cNvSpPr txBox="1"/>
          <p:nvPr/>
        </p:nvSpPr>
        <p:spPr>
          <a:xfrm>
            <a:off x="5277834" y="2679487"/>
            <a:ext cx="1224000" cy="338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rgbClr val="0000CC"/>
                </a:solidFill>
                <a:latin typeface="Arial"/>
                <a:ea typeface="Arial"/>
                <a:cs typeface="Arial"/>
                <a:sym typeface="Arial"/>
              </a:rPr>
              <a:t>Prior distribution</a:t>
            </a:r>
            <a:endParaRPr/>
          </a:p>
        </p:txBody>
      </p:sp>
      <p:sp>
        <p:nvSpPr>
          <p:cNvPr id="1241" name="Google Shape;1241;p54"/>
          <p:cNvSpPr txBox="1"/>
          <p:nvPr/>
        </p:nvSpPr>
        <p:spPr>
          <a:xfrm>
            <a:off x="3091959" y="2679487"/>
            <a:ext cx="1224000" cy="338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rgbClr val="0000CC"/>
                </a:solidFill>
                <a:latin typeface="Arial"/>
                <a:ea typeface="Arial"/>
                <a:cs typeface="Arial"/>
                <a:sym typeface="Arial"/>
              </a:rPr>
              <a:t>P</a:t>
            </a:r>
            <a:r>
              <a:rPr lang="en-US" sz="1600">
                <a:solidFill>
                  <a:srgbClr val="0000CC"/>
                </a:solidFill>
              </a:rPr>
              <a:t>osterior distribution</a:t>
            </a:r>
            <a:endParaRPr/>
          </a:p>
        </p:txBody>
      </p:sp>
      <p:cxnSp>
        <p:nvCxnSpPr>
          <p:cNvPr id="1242" name="Google Shape;1242;p54"/>
          <p:cNvCxnSpPr/>
          <p:nvPr/>
        </p:nvCxnSpPr>
        <p:spPr>
          <a:xfrm flipH="1" rot="10800000">
            <a:off x="3447419" y="2505088"/>
            <a:ext cx="432000" cy="288000"/>
          </a:xfrm>
          <a:prstGeom prst="straightConnector1">
            <a:avLst/>
          </a:prstGeom>
          <a:noFill/>
          <a:ln cap="rnd" cmpd="sng" w="9525">
            <a:solidFill>
              <a:srgbClr val="0000CC"/>
            </a:solidFill>
            <a:prstDash val="solid"/>
            <a:round/>
            <a:headEnd len="sm" w="sm" type="none"/>
            <a:tailEnd len="med" w="med" type="stealth"/>
          </a:ln>
        </p:spPr>
      </p:cxnSp>
      <p:cxnSp>
        <p:nvCxnSpPr>
          <p:cNvPr id="1243" name="Google Shape;1243;p54"/>
          <p:cNvCxnSpPr/>
          <p:nvPr/>
        </p:nvCxnSpPr>
        <p:spPr>
          <a:xfrm rot="10800000">
            <a:off x="4783144" y="2589538"/>
            <a:ext cx="20400" cy="165900"/>
          </a:xfrm>
          <a:prstGeom prst="straightConnector1">
            <a:avLst/>
          </a:prstGeom>
          <a:noFill/>
          <a:ln cap="rnd" cmpd="sng" w="9525">
            <a:solidFill>
              <a:srgbClr val="0000CC"/>
            </a:solidFill>
            <a:prstDash val="solid"/>
            <a:round/>
            <a:headEnd len="sm" w="sm" type="none"/>
            <a:tailEnd len="med" w="med" type="stealth"/>
          </a:ln>
        </p:spPr>
      </p:cxnSp>
      <p:cxnSp>
        <p:nvCxnSpPr>
          <p:cNvPr id="1244" name="Google Shape;1244;p54"/>
          <p:cNvCxnSpPr/>
          <p:nvPr/>
        </p:nvCxnSpPr>
        <p:spPr>
          <a:xfrm rot="10800000">
            <a:off x="5511794" y="2621338"/>
            <a:ext cx="339000" cy="134100"/>
          </a:xfrm>
          <a:prstGeom prst="straightConnector1">
            <a:avLst/>
          </a:prstGeom>
          <a:noFill/>
          <a:ln cap="rnd" cmpd="sng" w="9525">
            <a:solidFill>
              <a:srgbClr val="0000CC"/>
            </a:solidFill>
            <a:prstDash val="solid"/>
            <a:round/>
            <a:headEnd len="sm" w="sm" type="none"/>
            <a:tailEnd len="med" w="med" type="stealth"/>
          </a:ln>
        </p:spPr>
      </p:cxnSp>
      <p:pic>
        <p:nvPicPr>
          <p:cNvPr id="1245" name="Google Shape;1245;p54"/>
          <p:cNvPicPr preferRelativeResize="0"/>
          <p:nvPr/>
        </p:nvPicPr>
        <p:blipFill>
          <a:blip r:embed="rId3">
            <a:alphaModFix/>
          </a:blip>
          <a:stretch>
            <a:fillRect/>
          </a:stretch>
        </p:blipFill>
        <p:spPr>
          <a:xfrm>
            <a:off x="3733056" y="2303450"/>
            <a:ext cx="1838325" cy="180975"/>
          </a:xfrm>
          <a:prstGeom prst="rect">
            <a:avLst/>
          </a:prstGeom>
          <a:noFill/>
          <a:ln>
            <a:noFill/>
          </a:ln>
        </p:spPr>
      </p:pic>
      <p:pic>
        <p:nvPicPr>
          <p:cNvPr id="1246" name="Google Shape;1246;p54"/>
          <p:cNvPicPr preferRelativeResize="0"/>
          <p:nvPr/>
        </p:nvPicPr>
        <p:blipFill>
          <a:blip r:embed="rId4">
            <a:alphaModFix/>
          </a:blip>
          <a:stretch>
            <a:fillRect/>
          </a:stretch>
        </p:blipFill>
        <p:spPr>
          <a:xfrm>
            <a:off x="2584756" y="6357775"/>
            <a:ext cx="95250" cy="114300"/>
          </a:xfrm>
          <a:prstGeom prst="rect">
            <a:avLst/>
          </a:prstGeom>
          <a:noFill/>
          <a:ln>
            <a:noFill/>
          </a:ln>
        </p:spPr>
      </p:pic>
      <p:pic>
        <p:nvPicPr>
          <p:cNvPr id="1247" name="Google Shape;1247;p54"/>
          <p:cNvPicPr preferRelativeResize="0"/>
          <p:nvPr/>
        </p:nvPicPr>
        <p:blipFill>
          <a:blip r:embed="rId5">
            <a:alphaModFix/>
          </a:blip>
          <a:stretch>
            <a:fillRect/>
          </a:stretch>
        </p:blipFill>
        <p:spPr>
          <a:xfrm>
            <a:off x="4799856" y="6418250"/>
            <a:ext cx="104775" cy="1143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51" name="Shape 1251"/>
        <p:cNvGrpSpPr/>
        <p:nvPr/>
      </p:nvGrpSpPr>
      <p:grpSpPr>
        <a:xfrm>
          <a:off x="0" y="0"/>
          <a:ext cx="0" cy="0"/>
          <a:chOff x="0" y="0"/>
          <a:chExt cx="0" cy="0"/>
        </a:xfrm>
      </p:grpSpPr>
      <p:sp>
        <p:nvSpPr>
          <p:cNvPr id="1252" name="Google Shape;1252;p55"/>
          <p:cNvSpPr txBox="1"/>
          <p:nvPr/>
        </p:nvSpPr>
        <p:spPr>
          <a:xfrm>
            <a:off x="714375" y="285750"/>
            <a:ext cx="7215300" cy="523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latin typeface="Arial"/>
                <a:ea typeface="Arial"/>
                <a:cs typeface="Arial"/>
                <a:sym typeface="Arial"/>
              </a:rPr>
              <a:t>MCMC - basics</a:t>
            </a:r>
            <a:endParaRPr/>
          </a:p>
        </p:txBody>
      </p:sp>
      <p:pic>
        <p:nvPicPr>
          <p:cNvPr descr="bayesianfig3.png" id="1253" name="Google Shape;1253;p55"/>
          <p:cNvPicPr preferRelativeResize="0"/>
          <p:nvPr/>
        </p:nvPicPr>
        <p:blipFill rotWithShape="1">
          <a:blip r:embed="rId3">
            <a:alphaModFix/>
          </a:blip>
          <a:srcRect b="0" l="0" r="0" t="0"/>
          <a:stretch/>
        </p:blipFill>
        <p:spPr>
          <a:xfrm>
            <a:off x="0" y="3065916"/>
            <a:ext cx="4846100" cy="3634575"/>
          </a:xfrm>
          <a:prstGeom prst="rect">
            <a:avLst/>
          </a:prstGeom>
          <a:noFill/>
          <a:ln>
            <a:noFill/>
          </a:ln>
        </p:spPr>
      </p:pic>
      <p:sp>
        <p:nvSpPr>
          <p:cNvPr id="1254" name="Google Shape;1254;p55"/>
          <p:cNvSpPr/>
          <p:nvPr/>
        </p:nvSpPr>
        <p:spPr>
          <a:xfrm>
            <a:off x="-648072" y="3604146"/>
            <a:ext cx="914400" cy="2232300"/>
          </a:xfrm>
          <a:prstGeom prst="rect">
            <a:avLst/>
          </a:prstGeom>
          <a:solidFill>
            <a:schemeClr val="lt1"/>
          </a:solidFill>
          <a:ln cap="rnd"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55" name="Google Shape;1255;p55"/>
          <p:cNvSpPr/>
          <p:nvPr/>
        </p:nvSpPr>
        <p:spPr>
          <a:xfrm>
            <a:off x="576064" y="6484466"/>
            <a:ext cx="3735900" cy="360000"/>
          </a:xfrm>
          <a:prstGeom prst="rect">
            <a:avLst/>
          </a:prstGeom>
          <a:solidFill>
            <a:schemeClr val="lt1"/>
          </a:solidFill>
          <a:ln cap="rnd"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pic>
        <p:nvPicPr>
          <p:cNvPr descr="bayesianfig4.png" id="1256" name="Google Shape;1256;p55"/>
          <p:cNvPicPr preferRelativeResize="0"/>
          <p:nvPr/>
        </p:nvPicPr>
        <p:blipFill rotWithShape="1">
          <a:blip r:embed="rId4">
            <a:alphaModFix/>
          </a:blip>
          <a:srcRect b="0" l="0" r="0" t="0"/>
          <a:stretch/>
        </p:blipFill>
        <p:spPr>
          <a:xfrm>
            <a:off x="4932040" y="3212976"/>
            <a:ext cx="3803916" cy="2852937"/>
          </a:xfrm>
          <a:prstGeom prst="rect">
            <a:avLst/>
          </a:prstGeom>
          <a:noFill/>
          <a:ln>
            <a:noFill/>
          </a:ln>
        </p:spPr>
      </p:pic>
      <p:sp>
        <p:nvSpPr>
          <p:cNvPr id="1257" name="Google Shape;1257;p55"/>
          <p:cNvSpPr/>
          <p:nvPr/>
        </p:nvSpPr>
        <p:spPr>
          <a:xfrm>
            <a:off x="4940424" y="5877272"/>
            <a:ext cx="3735900" cy="360000"/>
          </a:xfrm>
          <a:prstGeom prst="rect">
            <a:avLst/>
          </a:prstGeom>
          <a:solidFill>
            <a:schemeClr val="lt1"/>
          </a:solidFill>
          <a:ln cap="rnd"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58" name="Google Shape;1258;p55"/>
          <p:cNvSpPr txBox="1"/>
          <p:nvPr/>
        </p:nvSpPr>
        <p:spPr>
          <a:xfrm>
            <a:off x="5436096" y="6165304"/>
            <a:ext cx="2880300" cy="584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rgbClr val="0000CC"/>
                </a:solidFill>
                <a:latin typeface="Arial"/>
                <a:ea typeface="Arial"/>
                <a:cs typeface="Arial"/>
                <a:sym typeface="Arial"/>
              </a:rPr>
              <a:t>Numerical approximation to posterior distribution</a:t>
            </a:r>
            <a:endParaRPr/>
          </a:p>
        </p:txBody>
      </p:sp>
      <p:sp>
        <p:nvSpPr>
          <p:cNvPr id="1259" name="Google Shape;1259;p55"/>
          <p:cNvSpPr txBox="1"/>
          <p:nvPr/>
        </p:nvSpPr>
        <p:spPr>
          <a:xfrm>
            <a:off x="427625" y="1618850"/>
            <a:ext cx="8248800" cy="532200"/>
          </a:xfrm>
          <a:prstGeom prst="rect">
            <a:avLst/>
          </a:prstGeom>
          <a:noFill/>
          <a:ln>
            <a:noFill/>
          </a:ln>
        </p:spPr>
        <p:txBody>
          <a:bodyPr anchorCtr="0" anchor="t" bIns="91425" lIns="91425" spcFirstLastPara="1" rIns="91425" wrap="square" tIns="91425">
            <a:noAutofit/>
          </a:bodyPr>
          <a:lstStyle/>
          <a:p>
            <a:pPr indent="-285750" lvl="0" marL="285750" rtl="0" algn="l">
              <a:spcBef>
                <a:spcPts val="0"/>
              </a:spcBef>
              <a:spcAft>
                <a:spcPts val="0"/>
              </a:spcAft>
              <a:buClr>
                <a:schemeClr val="dk1"/>
              </a:buClr>
              <a:buSzPts val="1800"/>
              <a:buChar char="•"/>
            </a:pPr>
            <a:r>
              <a:rPr lang="en-US" sz="1800">
                <a:solidFill>
                  <a:schemeClr val="dk1"/>
                </a:solidFill>
              </a:rPr>
              <a:t>Markov Chain Monte Carlo is one algorithm to sample from the posterior distribution.</a:t>
            </a:r>
            <a:endParaRPr>
              <a:solidFill>
                <a:schemeClr val="dk1"/>
              </a:solidFill>
            </a:endParaRPr>
          </a:p>
          <a:p>
            <a:pPr indent="-285750" lvl="0" marL="285750" rtl="0" algn="l">
              <a:spcBef>
                <a:spcPts val="0"/>
              </a:spcBef>
              <a:spcAft>
                <a:spcPts val="0"/>
              </a:spcAft>
              <a:buClr>
                <a:schemeClr val="dk1"/>
              </a:buClr>
              <a:buSzPts val="1800"/>
              <a:buChar char="•"/>
            </a:pPr>
            <a:r>
              <a:rPr lang="en-US" sz="1800">
                <a:solidFill>
                  <a:schemeClr val="dk1"/>
                </a:solidFill>
              </a:rPr>
              <a:t>It is an iterative algorithm, where each iteration produces one sample from the posterior distribution.</a:t>
            </a:r>
            <a:endParaRPr/>
          </a:p>
        </p:txBody>
      </p:sp>
      <p:sp>
        <p:nvSpPr>
          <p:cNvPr id="1260" name="Google Shape;1260;p55"/>
          <p:cNvSpPr txBox="1"/>
          <p:nvPr/>
        </p:nvSpPr>
        <p:spPr>
          <a:xfrm>
            <a:off x="1828450" y="6445325"/>
            <a:ext cx="45615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Iteration</a:t>
            </a:r>
            <a:endParaRPr/>
          </a:p>
        </p:txBody>
      </p:sp>
      <p:sp>
        <p:nvSpPr>
          <p:cNvPr id="1261" name="Google Shape;1261;p55"/>
          <p:cNvSpPr txBox="1"/>
          <p:nvPr/>
        </p:nvSpPr>
        <p:spPr>
          <a:xfrm>
            <a:off x="-21800" y="3001350"/>
            <a:ext cx="45615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Parameter value</a:t>
            </a:r>
            <a:endParaRPr/>
          </a:p>
        </p:txBody>
      </p:sp>
      <p:sp>
        <p:nvSpPr>
          <p:cNvPr id="1262" name="Google Shape;1262;p55"/>
          <p:cNvSpPr txBox="1"/>
          <p:nvPr/>
        </p:nvSpPr>
        <p:spPr>
          <a:xfrm>
            <a:off x="6212525" y="5791175"/>
            <a:ext cx="45615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Parameter value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66" name="Shape 1266"/>
        <p:cNvGrpSpPr/>
        <p:nvPr/>
      </p:nvGrpSpPr>
      <p:grpSpPr>
        <a:xfrm>
          <a:off x="0" y="0"/>
          <a:ext cx="0" cy="0"/>
          <a:chOff x="0" y="0"/>
          <a:chExt cx="0" cy="0"/>
        </a:xfrm>
      </p:grpSpPr>
      <p:sp>
        <p:nvSpPr>
          <p:cNvPr id="1267" name="Google Shape;1267;p56"/>
          <p:cNvSpPr txBox="1"/>
          <p:nvPr/>
        </p:nvSpPr>
        <p:spPr>
          <a:xfrm>
            <a:off x="714375" y="285750"/>
            <a:ext cx="7215300" cy="523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latin typeface="Arial"/>
                <a:ea typeface="Arial"/>
                <a:cs typeface="Arial"/>
                <a:sym typeface="Arial"/>
              </a:rPr>
              <a:t>MCMC – basic algorithm</a:t>
            </a:r>
            <a:endParaRPr/>
          </a:p>
        </p:txBody>
      </p:sp>
      <p:sp>
        <p:nvSpPr>
          <p:cNvPr id="1268" name="Google Shape;1268;p56"/>
          <p:cNvSpPr txBox="1"/>
          <p:nvPr/>
        </p:nvSpPr>
        <p:spPr>
          <a:xfrm>
            <a:off x="395536" y="1772816"/>
            <a:ext cx="8748600" cy="4934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600">
                <a:solidFill>
                  <a:schemeClr val="dk1"/>
                </a:solidFill>
              </a:rPr>
              <a:t>Choose a starting point in parameter space,    . </a:t>
            </a:r>
            <a:endParaRPr sz="1600">
              <a:solidFill>
                <a:schemeClr val="dk1"/>
              </a:solidFill>
            </a:endParaRPr>
          </a:p>
          <a:p>
            <a:pPr indent="0" lvl="0" marL="0" marR="0" rtl="0" algn="l">
              <a:lnSpc>
                <a:spcPct val="100000"/>
              </a:lnSpc>
              <a:spcBef>
                <a:spcPts val="0"/>
              </a:spcBef>
              <a:spcAft>
                <a:spcPts val="0"/>
              </a:spcAft>
              <a:buNone/>
            </a:pPr>
            <a:r>
              <a:rPr lang="en-US" sz="1600">
                <a:solidFill>
                  <a:schemeClr val="dk1"/>
                </a:solidFill>
              </a:rPr>
              <a:t>Set the current parameter values,        , to    .</a:t>
            </a:r>
            <a:endParaRPr sz="1600">
              <a:solidFill>
                <a:schemeClr val="dk1"/>
              </a:solidFill>
            </a:endParaRPr>
          </a:p>
          <a:p>
            <a:pPr indent="0" lvl="0" marL="0" marR="0" rtl="0" algn="l">
              <a:lnSpc>
                <a:spcPct val="100000"/>
              </a:lnSpc>
              <a:spcBef>
                <a:spcPts val="0"/>
              </a:spcBef>
              <a:spcAft>
                <a:spcPts val="0"/>
              </a:spcAft>
              <a:buNone/>
            </a:pPr>
            <a:r>
              <a:rPr lang="en-US" sz="1600">
                <a:solidFill>
                  <a:schemeClr val="dk1"/>
                </a:solidFill>
              </a:rPr>
              <a:t>For each iteration  i = 2:N {</a:t>
            </a:r>
            <a:endParaRPr sz="1600">
              <a:solidFill>
                <a:schemeClr val="dk1"/>
              </a:solidFill>
            </a:endParaRPr>
          </a:p>
          <a:p>
            <a:pPr indent="457200" lvl="0" marL="0" marR="0" rtl="0" algn="l">
              <a:lnSpc>
                <a:spcPct val="100000"/>
              </a:lnSpc>
              <a:spcBef>
                <a:spcPts val="0"/>
              </a:spcBef>
              <a:spcAft>
                <a:spcPts val="0"/>
              </a:spcAft>
              <a:buNone/>
            </a:pPr>
            <a:r>
              <a:rPr lang="en-US" sz="1600">
                <a:solidFill>
                  <a:schemeClr val="dk1"/>
                </a:solidFill>
              </a:rPr>
              <a:t>For each parameter k = 1:K {</a:t>
            </a:r>
            <a:endParaRPr sz="1600">
              <a:solidFill>
                <a:schemeClr val="dk1"/>
              </a:solidFill>
            </a:endParaRPr>
          </a:p>
          <a:p>
            <a:pPr indent="-330200" lvl="0" marL="914400" marR="0" rtl="0" algn="l">
              <a:lnSpc>
                <a:spcPct val="100000"/>
              </a:lnSpc>
              <a:spcBef>
                <a:spcPts val="0"/>
              </a:spcBef>
              <a:spcAft>
                <a:spcPts val="0"/>
              </a:spcAft>
              <a:buClr>
                <a:schemeClr val="dk1"/>
              </a:buClr>
              <a:buSzPts val="1600"/>
              <a:buChar char="●"/>
            </a:pPr>
            <a:r>
              <a:rPr lang="en-US" sz="1600">
                <a:solidFill>
                  <a:schemeClr val="dk1"/>
                </a:solidFill>
              </a:rPr>
              <a:t>Set the proposed parameters     to        , then d</a:t>
            </a:r>
            <a:r>
              <a:rPr lang="en-US" sz="1600">
                <a:solidFill>
                  <a:schemeClr val="dk1"/>
                </a:solidFill>
              </a:rPr>
              <a:t>raw a new value for the kth component of     ,     , from a symmetric proposal distribution                 .  </a:t>
            </a:r>
            <a:endParaRPr sz="1600">
              <a:solidFill>
                <a:schemeClr val="dk1"/>
              </a:solidFill>
            </a:endParaRPr>
          </a:p>
          <a:p>
            <a:pPr indent="-330200" lvl="0" marL="914400" marR="0" rtl="0" algn="l">
              <a:lnSpc>
                <a:spcPct val="100000"/>
              </a:lnSpc>
              <a:spcBef>
                <a:spcPts val="0"/>
              </a:spcBef>
              <a:spcAft>
                <a:spcPts val="0"/>
              </a:spcAft>
              <a:buClr>
                <a:schemeClr val="dk1"/>
              </a:buClr>
              <a:buSzPts val="1600"/>
              <a:buChar char="●"/>
            </a:pPr>
            <a:r>
              <a:rPr lang="en-US" sz="1600">
                <a:solidFill>
                  <a:schemeClr val="dk1"/>
                </a:solidFill>
              </a:rPr>
              <a:t>Calculate the value of the posterior distribution at the old and new parameter values,          </a:t>
            </a:r>
            <a:r>
              <a:rPr lang="en-US" sz="1600">
                <a:solidFill>
                  <a:srgbClr val="FFFFFF"/>
                </a:solidFill>
              </a:rPr>
              <a:t>a</a:t>
            </a:r>
            <a:r>
              <a:rPr lang="en-US" sz="1600">
                <a:solidFill>
                  <a:schemeClr val="dk1"/>
                </a:solidFill>
              </a:rPr>
              <a:t>            and                 .</a:t>
            </a:r>
            <a:endParaRPr sz="1600">
              <a:solidFill>
                <a:schemeClr val="dk1"/>
              </a:solidFill>
            </a:endParaRPr>
          </a:p>
          <a:p>
            <a:pPr indent="-330200" lvl="0" marL="914400" marR="0" rtl="0" algn="l">
              <a:lnSpc>
                <a:spcPct val="100000"/>
              </a:lnSpc>
              <a:spcBef>
                <a:spcPts val="0"/>
              </a:spcBef>
              <a:spcAft>
                <a:spcPts val="0"/>
              </a:spcAft>
              <a:buClr>
                <a:schemeClr val="dk1"/>
              </a:buClr>
              <a:buSzPts val="1600"/>
              <a:buChar char="●"/>
            </a:pPr>
            <a:r>
              <a:rPr lang="en-US" sz="1600">
                <a:solidFill>
                  <a:schemeClr val="dk1"/>
                </a:solidFill>
              </a:rPr>
              <a:t>Accept the new value    if                                  </a:t>
            </a:r>
            <a:r>
              <a:rPr lang="en-US" sz="1600">
                <a:solidFill>
                  <a:schemeClr val="dk1"/>
                </a:solidFill>
              </a:rPr>
              <a:t> (i.e. the new value is more likely).  Otherwise accept the new value with probability                  .</a:t>
            </a:r>
            <a:endParaRPr sz="1600">
              <a:solidFill>
                <a:schemeClr val="dk1"/>
              </a:solidFill>
            </a:endParaRPr>
          </a:p>
          <a:p>
            <a:pPr indent="-330200" lvl="0" marL="914400" marR="0" rtl="0" algn="l">
              <a:lnSpc>
                <a:spcPct val="100000"/>
              </a:lnSpc>
              <a:spcBef>
                <a:spcPts val="0"/>
              </a:spcBef>
              <a:spcAft>
                <a:spcPts val="0"/>
              </a:spcAft>
              <a:buClr>
                <a:schemeClr val="dk1"/>
              </a:buClr>
              <a:buSzPts val="1600"/>
              <a:buChar char="●"/>
            </a:pPr>
            <a:r>
              <a:t/>
            </a:r>
            <a:endParaRPr sz="1600">
              <a:solidFill>
                <a:schemeClr val="dk1"/>
              </a:solidFill>
            </a:endParaRPr>
          </a:p>
          <a:p>
            <a:pPr indent="-330200" lvl="0" marL="914400" marR="0" rtl="0" algn="l">
              <a:lnSpc>
                <a:spcPct val="100000"/>
              </a:lnSpc>
              <a:spcBef>
                <a:spcPts val="0"/>
              </a:spcBef>
              <a:spcAft>
                <a:spcPts val="0"/>
              </a:spcAft>
              <a:buClr>
                <a:schemeClr val="dk1"/>
              </a:buClr>
              <a:buSzPts val="1600"/>
              <a:buChar char="●"/>
            </a:pPr>
            <a:r>
              <a:rPr lang="en-US" sz="1600">
                <a:solidFill>
                  <a:schemeClr val="dk1"/>
                </a:solidFill>
              </a:rPr>
              <a:t>If the new value was accepted, set               .  Otherwise        stays at its current value.</a:t>
            </a:r>
            <a:endParaRPr sz="1600">
              <a:solidFill>
                <a:schemeClr val="dk1"/>
              </a:solidFill>
            </a:endParaRPr>
          </a:p>
          <a:p>
            <a:pPr indent="0" lvl="0" marL="457200" marR="0" rtl="0" algn="l">
              <a:lnSpc>
                <a:spcPct val="100000"/>
              </a:lnSpc>
              <a:spcBef>
                <a:spcPts val="0"/>
              </a:spcBef>
              <a:spcAft>
                <a:spcPts val="0"/>
              </a:spcAft>
              <a:buNone/>
            </a:pPr>
            <a:r>
              <a:rPr lang="en-US" sz="1600">
                <a:solidFill>
                  <a:schemeClr val="dk1"/>
                </a:solidFill>
              </a:rPr>
              <a:t>}</a:t>
            </a:r>
            <a:endParaRPr sz="1600">
              <a:solidFill>
                <a:schemeClr val="dk1"/>
              </a:solidFill>
            </a:endParaRPr>
          </a:p>
          <a:p>
            <a:pPr indent="-330200" lvl="0" marL="914400" rtl="0" algn="l">
              <a:spcBef>
                <a:spcPts val="0"/>
              </a:spcBef>
              <a:spcAft>
                <a:spcPts val="0"/>
              </a:spcAft>
              <a:buClr>
                <a:schemeClr val="dk1"/>
              </a:buClr>
              <a:buSzPts val="1600"/>
              <a:buChar char="●"/>
            </a:pPr>
            <a:r>
              <a:rPr lang="en-US" sz="1600">
                <a:solidFill>
                  <a:schemeClr val="dk1"/>
                </a:solidFill>
              </a:rPr>
              <a:t>Record the current value of the chain,              .</a:t>
            </a:r>
            <a:endParaRPr sz="1600">
              <a:solidFill>
                <a:schemeClr val="dk1"/>
              </a:solidFill>
            </a:endParaRPr>
          </a:p>
          <a:p>
            <a:pPr indent="0" lvl="0" marL="0" marR="0" rtl="0" algn="l">
              <a:lnSpc>
                <a:spcPct val="100000"/>
              </a:lnSpc>
              <a:spcBef>
                <a:spcPts val="0"/>
              </a:spcBef>
              <a:spcAft>
                <a:spcPts val="0"/>
              </a:spcAft>
              <a:buNone/>
            </a:pPr>
            <a:r>
              <a:rPr lang="en-US" sz="1600">
                <a:solidFill>
                  <a:schemeClr val="dk1"/>
                </a:solidFill>
              </a:rPr>
              <a:t>}</a:t>
            </a:r>
            <a:endParaRPr sz="1600">
              <a:solidFill>
                <a:schemeClr val="dk1"/>
              </a:solidFill>
            </a:endParaRPr>
          </a:p>
        </p:txBody>
      </p:sp>
      <p:pic>
        <p:nvPicPr>
          <p:cNvPr id="1269" name="Google Shape;1269;p56"/>
          <p:cNvPicPr preferRelativeResize="0"/>
          <p:nvPr/>
        </p:nvPicPr>
        <p:blipFill>
          <a:blip r:embed="rId3">
            <a:alphaModFix/>
          </a:blip>
          <a:stretch>
            <a:fillRect/>
          </a:stretch>
        </p:blipFill>
        <p:spPr>
          <a:xfrm>
            <a:off x="3549725" y="2102325"/>
            <a:ext cx="342900" cy="123825"/>
          </a:xfrm>
          <a:prstGeom prst="rect">
            <a:avLst/>
          </a:prstGeom>
          <a:noFill/>
          <a:ln>
            <a:noFill/>
          </a:ln>
        </p:spPr>
      </p:pic>
      <p:pic>
        <p:nvPicPr>
          <p:cNvPr id="1270" name="Google Shape;1270;p56"/>
          <p:cNvPicPr preferRelativeResize="0"/>
          <p:nvPr/>
        </p:nvPicPr>
        <p:blipFill>
          <a:blip r:embed="rId4">
            <a:alphaModFix/>
          </a:blip>
          <a:stretch>
            <a:fillRect/>
          </a:stretch>
        </p:blipFill>
        <p:spPr>
          <a:xfrm>
            <a:off x="4112000" y="2886300"/>
            <a:ext cx="161925" cy="123825"/>
          </a:xfrm>
          <a:prstGeom prst="rect">
            <a:avLst/>
          </a:prstGeom>
          <a:noFill/>
          <a:ln>
            <a:noFill/>
          </a:ln>
        </p:spPr>
      </p:pic>
      <p:pic>
        <p:nvPicPr>
          <p:cNvPr id="1271" name="Google Shape;1271;p56"/>
          <p:cNvPicPr preferRelativeResize="0"/>
          <p:nvPr/>
        </p:nvPicPr>
        <p:blipFill>
          <a:blip r:embed="rId3">
            <a:alphaModFix/>
          </a:blip>
          <a:stretch>
            <a:fillRect/>
          </a:stretch>
        </p:blipFill>
        <p:spPr>
          <a:xfrm>
            <a:off x="4598375" y="2886300"/>
            <a:ext cx="342900" cy="123825"/>
          </a:xfrm>
          <a:prstGeom prst="rect">
            <a:avLst/>
          </a:prstGeom>
          <a:noFill/>
          <a:ln>
            <a:noFill/>
          </a:ln>
        </p:spPr>
      </p:pic>
      <p:pic>
        <p:nvPicPr>
          <p:cNvPr id="1272" name="Google Shape;1272;p56"/>
          <p:cNvPicPr preferRelativeResize="0"/>
          <p:nvPr/>
        </p:nvPicPr>
        <p:blipFill>
          <a:blip r:embed="rId4">
            <a:alphaModFix/>
          </a:blip>
          <a:stretch>
            <a:fillRect/>
          </a:stretch>
        </p:blipFill>
        <p:spPr>
          <a:xfrm>
            <a:off x="2740400" y="3114900"/>
            <a:ext cx="161925" cy="123825"/>
          </a:xfrm>
          <a:prstGeom prst="rect">
            <a:avLst/>
          </a:prstGeom>
          <a:noFill/>
          <a:ln>
            <a:noFill/>
          </a:ln>
        </p:spPr>
      </p:pic>
      <p:pic>
        <p:nvPicPr>
          <p:cNvPr id="1273" name="Google Shape;1273;p56"/>
          <p:cNvPicPr preferRelativeResize="0"/>
          <p:nvPr/>
        </p:nvPicPr>
        <p:blipFill>
          <a:blip r:embed="rId5">
            <a:alphaModFix/>
          </a:blip>
          <a:stretch>
            <a:fillRect/>
          </a:stretch>
        </p:blipFill>
        <p:spPr>
          <a:xfrm>
            <a:off x="3042900" y="3091088"/>
            <a:ext cx="142875" cy="171450"/>
          </a:xfrm>
          <a:prstGeom prst="rect">
            <a:avLst/>
          </a:prstGeom>
          <a:noFill/>
          <a:ln>
            <a:noFill/>
          </a:ln>
        </p:spPr>
      </p:pic>
      <p:pic>
        <p:nvPicPr>
          <p:cNvPr id="1274" name="Google Shape;1274;p56"/>
          <p:cNvPicPr preferRelativeResize="0"/>
          <p:nvPr/>
        </p:nvPicPr>
        <p:blipFill>
          <a:blip r:embed="rId6">
            <a:alphaModFix/>
          </a:blip>
          <a:stretch>
            <a:fillRect/>
          </a:stretch>
        </p:blipFill>
        <p:spPr>
          <a:xfrm>
            <a:off x="6852000" y="3086338"/>
            <a:ext cx="904875" cy="180975"/>
          </a:xfrm>
          <a:prstGeom prst="rect">
            <a:avLst/>
          </a:prstGeom>
          <a:noFill/>
          <a:ln>
            <a:noFill/>
          </a:ln>
        </p:spPr>
      </p:pic>
      <p:pic>
        <p:nvPicPr>
          <p:cNvPr id="1275" name="Google Shape;1275;p56"/>
          <p:cNvPicPr preferRelativeResize="0"/>
          <p:nvPr/>
        </p:nvPicPr>
        <p:blipFill>
          <a:blip r:embed="rId7">
            <a:alphaModFix/>
          </a:blip>
          <a:stretch>
            <a:fillRect/>
          </a:stretch>
        </p:blipFill>
        <p:spPr>
          <a:xfrm>
            <a:off x="1395700" y="3591100"/>
            <a:ext cx="685800" cy="180975"/>
          </a:xfrm>
          <a:prstGeom prst="rect">
            <a:avLst/>
          </a:prstGeom>
          <a:noFill/>
          <a:ln>
            <a:noFill/>
          </a:ln>
        </p:spPr>
      </p:pic>
      <p:pic>
        <p:nvPicPr>
          <p:cNvPr id="1276" name="Google Shape;1276;p56"/>
          <p:cNvPicPr preferRelativeResize="0"/>
          <p:nvPr/>
        </p:nvPicPr>
        <p:blipFill>
          <a:blip r:embed="rId8">
            <a:alphaModFix/>
          </a:blip>
          <a:stretch>
            <a:fillRect/>
          </a:stretch>
        </p:blipFill>
        <p:spPr>
          <a:xfrm>
            <a:off x="2615250" y="3591100"/>
            <a:ext cx="866775" cy="180975"/>
          </a:xfrm>
          <a:prstGeom prst="rect">
            <a:avLst/>
          </a:prstGeom>
          <a:noFill/>
          <a:ln>
            <a:noFill/>
          </a:ln>
        </p:spPr>
      </p:pic>
      <p:pic>
        <p:nvPicPr>
          <p:cNvPr id="1277" name="Google Shape;1277;p56"/>
          <p:cNvPicPr preferRelativeResize="0"/>
          <p:nvPr/>
        </p:nvPicPr>
        <p:blipFill>
          <a:blip r:embed="rId9">
            <a:alphaModFix/>
          </a:blip>
          <a:stretch>
            <a:fillRect/>
          </a:stretch>
        </p:blipFill>
        <p:spPr>
          <a:xfrm>
            <a:off x="3757725" y="3836600"/>
            <a:ext cx="1781175" cy="180975"/>
          </a:xfrm>
          <a:prstGeom prst="rect">
            <a:avLst/>
          </a:prstGeom>
          <a:noFill/>
          <a:ln>
            <a:noFill/>
          </a:ln>
        </p:spPr>
      </p:pic>
      <p:pic>
        <p:nvPicPr>
          <p:cNvPr id="1278" name="Google Shape;1278;p56"/>
          <p:cNvPicPr preferRelativeResize="0"/>
          <p:nvPr/>
        </p:nvPicPr>
        <p:blipFill>
          <a:blip r:embed="rId10">
            <a:alphaModFix/>
          </a:blip>
          <a:stretch>
            <a:fillRect/>
          </a:stretch>
        </p:blipFill>
        <p:spPr>
          <a:xfrm>
            <a:off x="5754425" y="4017575"/>
            <a:ext cx="876300" cy="419100"/>
          </a:xfrm>
          <a:prstGeom prst="rect">
            <a:avLst/>
          </a:prstGeom>
          <a:noFill/>
          <a:ln>
            <a:noFill/>
          </a:ln>
        </p:spPr>
      </p:pic>
      <p:pic>
        <p:nvPicPr>
          <p:cNvPr id="1279" name="Google Shape;1279;p56"/>
          <p:cNvPicPr preferRelativeResize="0"/>
          <p:nvPr/>
        </p:nvPicPr>
        <p:blipFill>
          <a:blip r:embed="rId11">
            <a:alphaModFix/>
          </a:blip>
          <a:stretch>
            <a:fillRect/>
          </a:stretch>
        </p:blipFill>
        <p:spPr>
          <a:xfrm>
            <a:off x="4598375" y="4596850"/>
            <a:ext cx="742950" cy="123825"/>
          </a:xfrm>
          <a:prstGeom prst="rect">
            <a:avLst/>
          </a:prstGeom>
          <a:noFill/>
          <a:ln>
            <a:noFill/>
          </a:ln>
        </p:spPr>
      </p:pic>
      <p:pic>
        <p:nvPicPr>
          <p:cNvPr id="1280" name="Google Shape;1280;p56"/>
          <p:cNvPicPr preferRelativeResize="0"/>
          <p:nvPr/>
        </p:nvPicPr>
        <p:blipFill>
          <a:blip r:embed="rId12">
            <a:alphaModFix/>
          </a:blip>
          <a:stretch>
            <a:fillRect/>
          </a:stretch>
        </p:blipFill>
        <p:spPr>
          <a:xfrm>
            <a:off x="6509100" y="4596850"/>
            <a:ext cx="342900" cy="123825"/>
          </a:xfrm>
          <a:prstGeom prst="rect">
            <a:avLst/>
          </a:prstGeom>
          <a:noFill/>
          <a:ln>
            <a:noFill/>
          </a:ln>
        </p:spPr>
      </p:pic>
      <p:pic>
        <p:nvPicPr>
          <p:cNvPr id="1281" name="Google Shape;1281;p56"/>
          <p:cNvPicPr preferRelativeResize="0"/>
          <p:nvPr/>
        </p:nvPicPr>
        <p:blipFill>
          <a:blip r:embed="rId13">
            <a:alphaModFix/>
          </a:blip>
          <a:stretch>
            <a:fillRect/>
          </a:stretch>
        </p:blipFill>
        <p:spPr>
          <a:xfrm>
            <a:off x="4491038" y="1872650"/>
            <a:ext cx="161925" cy="152400"/>
          </a:xfrm>
          <a:prstGeom prst="rect">
            <a:avLst/>
          </a:prstGeom>
          <a:noFill/>
          <a:ln>
            <a:noFill/>
          </a:ln>
        </p:spPr>
      </p:pic>
      <p:pic>
        <p:nvPicPr>
          <p:cNvPr id="1282" name="Google Shape;1282;p56"/>
          <p:cNvPicPr preferRelativeResize="0"/>
          <p:nvPr/>
        </p:nvPicPr>
        <p:blipFill>
          <a:blip r:embed="rId13">
            <a:alphaModFix/>
          </a:blip>
          <a:stretch>
            <a:fillRect/>
          </a:stretch>
        </p:blipFill>
        <p:spPr>
          <a:xfrm>
            <a:off x="4338638" y="2101250"/>
            <a:ext cx="161925" cy="152400"/>
          </a:xfrm>
          <a:prstGeom prst="rect">
            <a:avLst/>
          </a:prstGeom>
          <a:noFill/>
          <a:ln>
            <a:noFill/>
          </a:ln>
        </p:spPr>
      </p:pic>
      <p:pic>
        <p:nvPicPr>
          <p:cNvPr id="1283" name="Google Shape;1283;p56"/>
          <p:cNvPicPr preferRelativeResize="0"/>
          <p:nvPr/>
        </p:nvPicPr>
        <p:blipFill>
          <a:blip r:embed="rId14">
            <a:alphaModFix/>
          </a:blip>
          <a:stretch>
            <a:fillRect/>
          </a:stretch>
        </p:blipFill>
        <p:spPr>
          <a:xfrm>
            <a:off x="4840550" y="5349175"/>
            <a:ext cx="723900" cy="152400"/>
          </a:xfrm>
          <a:prstGeom prst="rect">
            <a:avLst/>
          </a:prstGeom>
          <a:noFill/>
          <a:ln>
            <a:noFill/>
          </a:ln>
        </p:spPr>
      </p:pic>
      <p:pic>
        <p:nvPicPr>
          <p:cNvPr id="1284" name="Google Shape;1284;p56"/>
          <p:cNvPicPr preferRelativeResize="0"/>
          <p:nvPr/>
        </p:nvPicPr>
        <p:blipFill>
          <a:blip r:embed="rId4">
            <a:alphaModFix/>
          </a:blip>
          <a:stretch>
            <a:fillRect/>
          </a:stretch>
        </p:blipFill>
        <p:spPr>
          <a:xfrm>
            <a:off x="3350000" y="3876900"/>
            <a:ext cx="161925" cy="1238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88" name="Shape 1288"/>
        <p:cNvGrpSpPr/>
        <p:nvPr/>
      </p:nvGrpSpPr>
      <p:grpSpPr>
        <a:xfrm>
          <a:off x="0" y="0"/>
          <a:ext cx="0" cy="0"/>
          <a:chOff x="0" y="0"/>
          <a:chExt cx="0" cy="0"/>
        </a:xfrm>
      </p:grpSpPr>
      <p:sp>
        <p:nvSpPr>
          <p:cNvPr id="1289" name="Google Shape;1289;p57"/>
          <p:cNvSpPr txBox="1"/>
          <p:nvPr/>
        </p:nvSpPr>
        <p:spPr>
          <a:xfrm>
            <a:off x="714375" y="285750"/>
            <a:ext cx="7215300" cy="523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latin typeface="Arial"/>
                <a:ea typeface="Arial"/>
                <a:cs typeface="Arial"/>
                <a:sym typeface="Arial"/>
              </a:rPr>
              <a:t>MCMC </a:t>
            </a:r>
            <a:r>
              <a:rPr b="1" lang="en-US" sz="2800">
                <a:solidFill>
                  <a:srgbClr val="0033CC"/>
                </a:solidFill>
              </a:rPr>
              <a:t>visualisation</a:t>
            </a:r>
            <a:endParaRPr/>
          </a:p>
        </p:txBody>
      </p:sp>
      <p:sp>
        <p:nvSpPr>
          <p:cNvPr id="1290" name="Google Shape;1290;p57"/>
          <p:cNvSpPr txBox="1"/>
          <p:nvPr/>
        </p:nvSpPr>
        <p:spPr>
          <a:xfrm>
            <a:off x="0" y="2743200"/>
            <a:ext cx="89631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u="sng">
                <a:solidFill>
                  <a:schemeClr val="hlink"/>
                </a:solidFill>
                <a:latin typeface="Merriweather Sans"/>
                <a:ea typeface="Merriweather Sans"/>
                <a:cs typeface="Merriweather Sans"/>
                <a:sym typeface="Merriweather Sans"/>
                <a:hlinkClick r:id="rId3"/>
              </a:rPr>
              <a:t>https://chi-feng.github.io/mcmc-demo/app.html#RandomWalkMH,standard</a:t>
            </a:r>
            <a:endParaRPr sz="2200">
              <a:solidFill>
                <a:schemeClr val="dk1"/>
              </a:solidFill>
              <a:latin typeface="Merriweather Sans"/>
              <a:ea typeface="Merriweather Sans"/>
              <a:cs typeface="Merriweather Sans"/>
              <a:sym typeface="Merriweather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94" name="Shape 1294"/>
        <p:cNvGrpSpPr/>
        <p:nvPr/>
      </p:nvGrpSpPr>
      <p:grpSpPr>
        <a:xfrm>
          <a:off x="0" y="0"/>
          <a:ext cx="0" cy="0"/>
          <a:chOff x="0" y="0"/>
          <a:chExt cx="0" cy="0"/>
        </a:xfrm>
      </p:grpSpPr>
      <p:sp>
        <p:nvSpPr>
          <p:cNvPr id="1295" name="Google Shape;1295;p58"/>
          <p:cNvSpPr txBox="1"/>
          <p:nvPr/>
        </p:nvSpPr>
        <p:spPr>
          <a:xfrm>
            <a:off x="714375" y="285750"/>
            <a:ext cx="7215300" cy="523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latin typeface="Arial"/>
                <a:ea typeface="Arial"/>
                <a:cs typeface="Arial"/>
                <a:sym typeface="Arial"/>
              </a:rPr>
              <a:t>MCMC – </a:t>
            </a:r>
            <a:r>
              <a:rPr b="1" lang="en-US" sz="2800">
                <a:solidFill>
                  <a:srgbClr val="0033CC"/>
                </a:solidFill>
              </a:rPr>
              <a:t>non-symmetric proposal distribution</a:t>
            </a:r>
            <a:endParaRPr/>
          </a:p>
        </p:txBody>
      </p:sp>
      <p:sp>
        <p:nvSpPr>
          <p:cNvPr id="1296" name="Google Shape;1296;p58"/>
          <p:cNvSpPr txBox="1"/>
          <p:nvPr/>
        </p:nvSpPr>
        <p:spPr>
          <a:xfrm>
            <a:off x="665200" y="1354175"/>
            <a:ext cx="8228100" cy="513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t>So far we have assumed a symmetric proposal distribution.  That is, the probability of proposing value y if I am currently at value x is the same as the probability of proposing value x if I am currently at value y.</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Sometimes it’s useful to use a non-symmetric proposal distribution.  e.g. if want parameter values to be positive, we can have a normally distributed proposal distribution in log space.  But this distribution is not symmetric in “normal” space.  In this case we need to alter the algorithm slightly.</a:t>
            </a:r>
            <a:endParaRPr sz="1800"/>
          </a:p>
        </p:txBody>
      </p:sp>
      <p:pic>
        <p:nvPicPr>
          <p:cNvPr id="1297" name="Google Shape;1297;p58"/>
          <p:cNvPicPr preferRelativeResize="0"/>
          <p:nvPr/>
        </p:nvPicPr>
        <p:blipFill rotWithShape="1">
          <a:blip r:embed="rId3">
            <a:alphaModFix/>
          </a:blip>
          <a:srcRect b="0" l="0" r="49279" t="0"/>
          <a:stretch/>
        </p:blipFill>
        <p:spPr>
          <a:xfrm>
            <a:off x="1624452" y="4220925"/>
            <a:ext cx="2604375" cy="1517375"/>
          </a:xfrm>
          <a:prstGeom prst="rect">
            <a:avLst/>
          </a:prstGeom>
          <a:noFill/>
          <a:ln>
            <a:noFill/>
          </a:ln>
        </p:spPr>
      </p:pic>
      <p:pic>
        <p:nvPicPr>
          <p:cNvPr id="1298" name="Google Shape;1298;p58"/>
          <p:cNvPicPr preferRelativeResize="0"/>
          <p:nvPr/>
        </p:nvPicPr>
        <p:blipFill rotWithShape="1">
          <a:blip r:embed="rId4">
            <a:alphaModFix/>
          </a:blip>
          <a:srcRect b="0" l="0" r="51081" t="0"/>
          <a:stretch/>
        </p:blipFill>
        <p:spPr>
          <a:xfrm>
            <a:off x="4622875" y="4035350"/>
            <a:ext cx="2829075" cy="1702950"/>
          </a:xfrm>
          <a:prstGeom prst="rect">
            <a:avLst/>
          </a:prstGeom>
          <a:noFill/>
          <a:ln>
            <a:noFill/>
          </a:ln>
        </p:spPr>
      </p:pic>
      <p:sp>
        <p:nvSpPr>
          <p:cNvPr id="1299" name="Google Shape;1299;p58"/>
          <p:cNvSpPr txBox="1"/>
          <p:nvPr/>
        </p:nvSpPr>
        <p:spPr>
          <a:xfrm>
            <a:off x="2252025" y="5767275"/>
            <a:ext cx="53295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Normal distribution			Lognormal distribution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03" name="Shape 1303"/>
        <p:cNvGrpSpPr/>
        <p:nvPr/>
      </p:nvGrpSpPr>
      <p:grpSpPr>
        <a:xfrm>
          <a:off x="0" y="0"/>
          <a:ext cx="0" cy="0"/>
          <a:chOff x="0" y="0"/>
          <a:chExt cx="0" cy="0"/>
        </a:xfrm>
      </p:grpSpPr>
      <p:sp>
        <p:nvSpPr>
          <p:cNvPr id="1304" name="Google Shape;1304;p59"/>
          <p:cNvSpPr txBox="1"/>
          <p:nvPr/>
        </p:nvSpPr>
        <p:spPr>
          <a:xfrm>
            <a:off x="714375" y="285750"/>
            <a:ext cx="7215300" cy="5238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Font typeface="Arial"/>
              <a:buNone/>
            </a:pPr>
            <a:r>
              <a:rPr b="1" lang="en-US" sz="2800">
                <a:solidFill>
                  <a:srgbClr val="0033CC"/>
                </a:solidFill>
              </a:rPr>
              <a:t>MCMC – non-symmetric proposal distribution</a:t>
            </a:r>
            <a:endParaRPr>
              <a:solidFill>
                <a:schemeClr val="dk1"/>
              </a:solidFill>
            </a:endParaRPr>
          </a:p>
          <a:p>
            <a:pPr indent="0" lvl="0" marL="0" marR="0" rtl="0" algn="ctr">
              <a:spcBef>
                <a:spcPts val="0"/>
              </a:spcBef>
              <a:spcAft>
                <a:spcPts val="0"/>
              </a:spcAft>
              <a:buNone/>
            </a:pPr>
            <a:r>
              <a:t/>
            </a:r>
            <a:endParaRPr b="1" sz="2800">
              <a:solidFill>
                <a:srgbClr val="0033CC"/>
              </a:solidFill>
            </a:endParaRPr>
          </a:p>
        </p:txBody>
      </p:sp>
      <p:sp>
        <p:nvSpPr>
          <p:cNvPr id="1305" name="Google Shape;1305;p59"/>
          <p:cNvSpPr txBox="1"/>
          <p:nvPr/>
        </p:nvSpPr>
        <p:spPr>
          <a:xfrm>
            <a:off x="395536" y="1772816"/>
            <a:ext cx="8748600" cy="4934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600">
                <a:solidFill>
                  <a:schemeClr val="dk1"/>
                </a:solidFill>
              </a:rPr>
              <a:t>Choose a starting point in parameter space,    . </a:t>
            </a:r>
            <a:endParaRPr sz="1600">
              <a:solidFill>
                <a:schemeClr val="dk1"/>
              </a:solidFill>
            </a:endParaRPr>
          </a:p>
          <a:p>
            <a:pPr indent="0" lvl="0" marL="0" marR="0" rtl="0" algn="l">
              <a:lnSpc>
                <a:spcPct val="100000"/>
              </a:lnSpc>
              <a:spcBef>
                <a:spcPts val="0"/>
              </a:spcBef>
              <a:spcAft>
                <a:spcPts val="0"/>
              </a:spcAft>
              <a:buNone/>
            </a:pPr>
            <a:r>
              <a:rPr lang="en-US" sz="1600">
                <a:solidFill>
                  <a:schemeClr val="dk1"/>
                </a:solidFill>
              </a:rPr>
              <a:t>Set the current parameter values,        , to    .</a:t>
            </a:r>
            <a:endParaRPr sz="1600">
              <a:solidFill>
                <a:schemeClr val="dk1"/>
              </a:solidFill>
            </a:endParaRPr>
          </a:p>
          <a:p>
            <a:pPr indent="0" lvl="0" marL="0" marR="0" rtl="0" algn="l">
              <a:lnSpc>
                <a:spcPct val="100000"/>
              </a:lnSpc>
              <a:spcBef>
                <a:spcPts val="0"/>
              </a:spcBef>
              <a:spcAft>
                <a:spcPts val="0"/>
              </a:spcAft>
              <a:buNone/>
            </a:pPr>
            <a:r>
              <a:rPr lang="en-US" sz="1600">
                <a:solidFill>
                  <a:schemeClr val="dk1"/>
                </a:solidFill>
              </a:rPr>
              <a:t>For each iteration  i = 2:N {</a:t>
            </a:r>
            <a:endParaRPr sz="1600">
              <a:solidFill>
                <a:schemeClr val="dk1"/>
              </a:solidFill>
            </a:endParaRPr>
          </a:p>
          <a:p>
            <a:pPr indent="457200" lvl="0" marL="0" marR="0" rtl="0" algn="l">
              <a:lnSpc>
                <a:spcPct val="100000"/>
              </a:lnSpc>
              <a:spcBef>
                <a:spcPts val="0"/>
              </a:spcBef>
              <a:spcAft>
                <a:spcPts val="0"/>
              </a:spcAft>
              <a:buNone/>
            </a:pPr>
            <a:r>
              <a:rPr lang="en-US" sz="1600">
                <a:solidFill>
                  <a:schemeClr val="dk1"/>
                </a:solidFill>
              </a:rPr>
              <a:t>For each parameter k = 1:K {</a:t>
            </a:r>
            <a:endParaRPr sz="1600">
              <a:solidFill>
                <a:schemeClr val="dk1"/>
              </a:solidFill>
            </a:endParaRPr>
          </a:p>
          <a:p>
            <a:pPr indent="-330200" lvl="0" marL="914400" marR="0" rtl="0" algn="l">
              <a:lnSpc>
                <a:spcPct val="100000"/>
              </a:lnSpc>
              <a:spcBef>
                <a:spcPts val="0"/>
              </a:spcBef>
              <a:spcAft>
                <a:spcPts val="0"/>
              </a:spcAft>
              <a:buClr>
                <a:schemeClr val="dk1"/>
              </a:buClr>
              <a:buSzPts val="1600"/>
              <a:buChar char="●"/>
            </a:pPr>
            <a:r>
              <a:rPr lang="en-US" sz="1600">
                <a:solidFill>
                  <a:schemeClr val="dk1"/>
                </a:solidFill>
              </a:rPr>
              <a:t>Set the proposed parameters     to        , then draw a new value for the kth component of     ,     , from a proposal distribution                 .  </a:t>
            </a:r>
            <a:endParaRPr sz="1600">
              <a:solidFill>
                <a:schemeClr val="dk1"/>
              </a:solidFill>
            </a:endParaRPr>
          </a:p>
          <a:p>
            <a:pPr indent="-330200" lvl="0" marL="914400" marR="0" rtl="0" algn="l">
              <a:lnSpc>
                <a:spcPct val="100000"/>
              </a:lnSpc>
              <a:spcBef>
                <a:spcPts val="0"/>
              </a:spcBef>
              <a:spcAft>
                <a:spcPts val="0"/>
              </a:spcAft>
              <a:buClr>
                <a:schemeClr val="dk1"/>
              </a:buClr>
              <a:buSzPts val="1600"/>
              <a:buChar char="●"/>
            </a:pPr>
            <a:r>
              <a:rPr lang="en-US" sz="1600">
                <a:solidFill>
                  <a:schemeClr val="dk1"/>
                </a:solidFill>
              </a:rPr>
              <a:t>Calculate          </a:t>
            </a:r>
            <a:r>
              <a:rPr lang="en-US" sz="1600">
                <a:solidFill>
                  <a:srgbClr val="FFFFFF"/>
                </a:solidFill>
              </a:rPr>
              <a:t>a</a:t>
            </a:r>
            <a:r>
              <a:rPr lang="en-US" sz="1600">
                <a:solidFill>
                  <a:schemeClr val="dk1"/>
                </a:solidFill>
              </a:rPr>
              <a:t>                 and                                .</a:t>
            </a:r>
            <a:endParaRPr sz="1600">
              <a:solidFill>
                <a:schemeClr val="dk1"/>
              </a:solidFill>
            </a:endParaRPr>
          </a:p>
          <a:p>
            <a:pPr indent="-330200" lvl="0" marL="914400" marR="0" rtl="0" algn="l">
              <a:lnSpc>
                <a:spcPct val="100000"/>
              </a:lnSpc>
              <a:spcBef>
                <a:spcPts val="0"/>
              </a:spcBef>
              <a:spcAft>
                <a:spcPts val="0"/>
              </a:spcAft>
              <a:buClr>
                <a:schemeClr val="dk1"/>
              </a:buClr>
              <a:buSzPts val="1600"/>
              <a:buChar char="●"/>
            </a:pPr>
            <a:r>
              <a:rPr lang="en-US" sz="1600">
                <a:solidFill>
                  <a:schemeClr val="dk1"/>
                </a:solidFill>
              </a:rPr>
              <a:t>Accept the new value     if                                                               . Otherwise accept the new value with probability                         .</a:t>
            </a:r>
            <a:endParaRPr sz="1600">
              <a:solidFill>
                <a:schemeClr val="dk1"/>
              </a:solidFill>
            </a:endParaRPr>
          </a:p>
          <a:p>
            <a:pPr indent="-330200" lvl="0" marL="914400" marR="0" rtl="0" algn="l">
              <a:lnSpc>
                <a:spcPct val="100000"/>
              </a:lnSpc>
              <a:spcBef>
                <a:spcPts val="0"/>
              </a:spcBef>
              <a:spcAft>
                <a:spcPts val="0"/>
              </a:spcAft>
              <a:buClr>
                <a:schemeClr val="dk1"/>
              </a:buClr>
              <a:buSzPts val="1600"/>
              <a:buChar char="●"/>
            </a:pPr>
            <a:r>
              <a:t/>
            </a:r>
            <a:endParaRPr sz="1600">
              <a:solidFill>
                <a:schemeClr val="dk1"/>
              </a:solidFill>
            </a:endParaRPr>
          </a:p>
          <a:p>
            <a:pPr indent="-330200" lvl="0" marL="914400" marR="0" rtl="0" algn="l">
              <a:lnSpc>
                <a:spcPct val="100000"/>
              </a:lnSpc>
              <a:spcBef>
                <a:spcPts val="0"/>
              </a:spcBef>
              <a:spcAft>
                <a:spcPts val="0"/>
              </a:spcAft>
              <a:buClr>
                <a:schemeClr val="dk1"/>
              </a:buClr>
              <a:buSzPts val="1600"/>
              <a:buChar char="●"/>
            </a:pPr>
            <a:r>
              <a:rPr lang="en-US" sz="1600">
                <a:solidFill>
                  <a:schemeClr val="dk1"/>
                </a:solidFill>
              </a:rPr>
              <a:t>If the new value was accepted, set               .  Otherwise        stays at its current value.</a:t>
            </a:r>
            <a:endParaRPr sz="1600">
              <a:solidFill>
                <a:schemeClr val="dk1"/>
              </a:solidFill>
            </a:endParaRPr>
          </a:p>
          <a:p>
            <a:pPr indent="0" lvl="0" marL="457200" marR="0" rtl="0" algn="l">
              <a:lnSpc>
                <a:spcPct val="100000"/>
              </a:lnSpc>
              <a:spcBef>
                <a:spcPts val="0"/>
              </a:spcBef>
              <a:spcAft>
                <a:spcPts val="0"/>
              </a:spcAft>
              <a:buNone/>
            </a:pPr>
            <a:r>
              <a:rPr lang="en-US" sz="1600">
                <a:solidFill>
                  <a:schemeClr val="dk1"/>
                </a:solidFill>
              </a:rPr>
              <a:t>}</a:t>
            </a:r>
            <a:endParaRPr sz="1600">
              <a:solidFill>
                <a:schemeClr val="dk1"/>
              </a:solidFill>
            </a:endParaRPr>
          </a:p>
          <a:p>
            <a:pPr indent="-330200" lvl="0" marL="914400" rtl="0" algn="l">
              <a:spcBef>
                <a:spcPts val="0"/>
              </a:spcBef>
              <a:spcAft>
                <a:spcPts val="0"/>
              </a:spcAft>
              <a:buClr>
                <a:schemeClr val="dk1"/>
              </a:buClr>
              <a:buSzPts val="1600"/>
              <a:buChar char="●"/>
            </a:pPr>
            <a:r>
              <a:rPr lang="en-US" sz="1600">
                <a:solidFill>
                  <a:schemeClr val="dk1"/>
                </a:solidFill>
              </a:rPr>
              <a:t>Record the current value of the chain,              .</a:t>
            </a:r>
            <a:endParaRPr sz="1600">
              <a:solidFill>
                <a:schemeClr val="dk1"/>
              </a:solidFill>
            </a:endParaRPr>
          </a:p>
          <a:p>
            <a:pPr indent="0" lvl="0" marL="0" marR="0" rtl="0" algn="l">
              <a:lnSpc>
                <a:spcPct val="100000"/>
              </a:lnSpc>
              <a:spcBef>
                <a:spcPts val="0"/>
              </a:spcBef>
              <a:spcAft>
                <a:spcPts val="0"/>
              </a:spcAft>
              <a:buNone/>
            </a:pPr>
            <a:r>
              <a:rPr lang="en-US" sz="1600">
                <a:solidFill>
                  <a:schemeClr val="dk1"/>
                </a:solidFill>
              </a:rPr>
              <a:t>}</a:t>
            </a:r>
            <a:endParaRPr sz="1600">
              <a:solidFill>
                <a:schemeClr val="dk1"/>
              </a:solidFill>
            </a:endParaRPr>
          </a:p>
        </p:txBody>
      </p:sp>
      <p:pic>
        <p:nvPicPr>
          <p:cNvPr id="1306" name="Google Shape;1306;p59"/>
          <p:cNvPicPr preferRelativeResize="0"/>
          <p:nvPr/>
        </p:nvPicPr>
        <p:blipFill>
          <a:blip r:embed="rId3">
            <a:alphaModFix/>
          </a:blip>
          <a:stretch>
            <a:fillRect/>
          </a:stretch>
        </p:blipFill>
        <p:spPr>
          <a:xfrm>
            <a:off x="3549725" y="2102325"/>
            <a:ext cx="342900" cy="123825"/>
          </a:xfrm>
          <a:prstGeom prst="rect">
            <a:avLst/>
          </a:prstGeom>
          <a:noFill/>
          <a:ln>
            <a:noFill/>
          </a:ln>
        </p:spPr>
      </p:pic>
      <p:pic>
        <p:nvPicPr>
          <p:cNvPr id="1307" name="Google Shape;1307;p59"/>
          <p:cNvPicPr preferRelativeResize="0"/>
          <p:nvPr/>
        </p:nvPicPr>
        <p:blipFill>
          <a:blip r:embed="rId4">
            <a:alphaModFix/>
          </a:blip>
          <a:stretch>
            <a:fillRect/>
          </a:stretch>
        </p:blipFill>
        <p:spPr>
          <a:xfrm>
            <a:off x="4112000" y="2886300"/>
            <a:ext cx="161925" cy="123825"/>
          </a:xfrm>
          <a:prstGeom prst="rect">
            <a:avLst/>
          </a:prstGeom>
          <a:noFill/>
          <a:ln>
            <a:noFill/>
          </a:ln>
        </p:spPr>
      </p:pic>
      <p:pic>
        <p:nvPicPr>
          <p:cNvPr id="1308" name="Google Shape;1308;p59"/>
          <p:cNvPicPr preferRelativeResize="0"/>
          <p:nvPr/>
        </p:nvPicPr>
        <p:blipFill>
          <a:blip r:embed="rId3">
            <a:alphaModFix/>
          </a:blip>
          <a:stretch>
            <a:fillRect/>
          </a:stretch>
        </p:blipFill>
        <p:spPr>
          <a:xfrm>
            <a:off x="4598375" y="2886300"/>
            <a:ext cx="342900" cy="123825"/>
          </a:xfrm>
          <a:prstGeom prst="rect">
            <a:avLst/>
          </a:prstGeom>
          <a:noFill/>
          <a:ln>
            <a:noFill/>
          </a:ln>
        </p:spPr>
      </p:pic>
      <p:pic>
        <p:nvPicPr>
          <p:cNvPr id="1309" name="Google Shape;1309;p59"/>
          <p:cNvPicPr preferRelativeResize="0"/>
          <p:nvPr/>
        </p:nvPicPr>
        <p:blipFill>
          <a:blip r:embed="rId4">
            <a:alphaModFix/>
          </a:blip>
          <a:stretch>
            <a:fillRect/>
          </a:stretch>
        </p:blipFill>
        <p:spPr>
          <a:xfrm>
            <a:off x="2740400" y="3114900"/>
            <a:ext cx="161925" cy="123825"/>
          </a:xfrm>
          <a:prstGeom prst="rect">
            <a:avLst/>
          </a:prstGeom>
          <a:noFill/>
          <a:ln>
            <a:noFill/>
          </a:ln>
        </p:spPr>
      </p:pic>
      <p:pic>
        <p:nvPicPr>
          <p:cNvPr id="1310" name="Google Shape;1310;p59"/>
          <p:cNvPicPr preferRelativeResize="0"/>
          <p:nvPr/>
        </p:nvPicPr>
        <p:blipFill>
          <a:blip r:embed="rId5">
            <a:alphaModFix/>
          </a:blip>
          <a:stretch>
            <a:fillRect/>
          </a:stretch>
        </p:blipFill>
        <p:spPr>
          <a:xfrm>
            <a:off x="3042900" y="3091088"/>
            <a:ext cx="142875" cy="171450"/>
          </a:xfrm>
          <a:prstGeom prst="rect">
            <a:avLst/>
          </a:prstGeom>
          <a:noFill/>
          <a:ln>
            <a:noFill/>
          </a:ln>
        </p:spPr>
      </p:pic>
      <p:pic>
        <p:nvPicPr>
          <p:cNvPr id="1311" name="Google Shape;1311;p59"/>
          <p:cNvPicPr preferRelativeResize="0"/>
          <p:nvPr/>
        </p:nvPicPr>
        <p:blipFill>
          <a:blip r:embed="rId6">
            <a:alphaModFix/>
          </a:blip>
          <a:stretch>
            <a:fillRect/>
          </a:stretch>
        </p:blipFill>
        <p:spPr>
          <a:xfrm>
            <a:off x="5937600" y="3086338"/>
            <a:ext cx="904875" cy="180975"/>
          </a:xfrm>
          <a:prstGeom prst="rect">
            <a:avLst/>
          </a:prstGeom>
          <a:noFill/>
          <a:ln>
            <a:noFill/>
          </a:ln>
        </p:spPr>
      </p:pic>
      <p:pic>
        <p:nvPicPr>
          <p:cNvPr id="1312" name="Google Shape;1312;p59"/>
          <p:cNvPicPr preferRelativeResize="0"/>
          <p:nvPr/>
        </p:nvPicPr>
        <p:blipFill>
          <a:blip r:embed="rId7">
            <a:alphaModFix/>
          </a:blip>
          <a:stretch>
            <a:fillRect/>
          </a:stretch>
        </p:blipFill>
        <p:spPr>
          <a:xfrm>
            <a:off x="4598375" y="4368250"/>
            <a:ext cx="742950" cy="123825"/>
          </a:xfrm>
          <a:prstGeom prst="rect">
            <a:avLst/>
          </a:prstGeom>
          <a:noFill/>
          <a:ln>
            <a:noFill/>
          </a:ln>
        </p:spPr>
      </p:pic>
      <p:pic>
        <p:nvPicPr>
          <p:cNvPr id="1313" name="Google Shape;1313;p59"/>
          <p:cNvPicPr preferRelativeResize="0"/>
          <p:nvPr/>
        </p:nvPicPr>
        <p:blipFill>
          <a:blip r:embed="rId8">
            <a:alphaModFix/>
          </a:blip>
          <a:stretch>
            <a:fillRect/>
          </a:stretch>
        </p:blipFill>
        <p:spPr>
          <a:xfrm>
            <a:off x="6509100" y="4368250"/>
            <a:ext cx="342900" cy="123825"/>
          </a:xfrm>
          <a:prstGeom prst="rect">
            <a:avLst/>
          </a:prstGeom>
          <a:noFill/>
          <a:ln>
            <a:noFill/>
          </a:ln>
        </p:spPr>
      </p:pic>
      <p:pic>
        <p:nvPicPr>
          <p:cNvPr id="1314" name="Google Shape;1314;p59"/>
          <p:cNvPicPr preferRelativeResize="0"/>
          <p:nvPr/>
        </p:nvPicPr>
        <p:blipFill>
          <a:blip r:embed="rId9">
            <a:alphaModFix/>
          </a:blip>
          <a:stretch>
            <a:fillRect/>
          </a:stretch>
        </p:blipFill>
        <p:spPr>
          <a:xfrm>
            <a:off x="4491038" y="1872650"/>
            <a:ext cx="161925" cy="152400"/>
          </a:xfrm>
          <a:prstGeom prst="rect">
            <a:avLst/>
          </a:prstGeom>
          <a:noFill/>
          <a:ln>
            <a:noFill/>
          </a:ln>
        </p:spPr>
      </p:pic>
      <p:pic>
        <p:nvPicPr>
          <p:cNvPr id="1315" name="Google Shape;1315;p59"/>
          <p:cNvPicPr preferRelativeResize="0"/>
          <p:nvPr/>
        </p:nvPicPr>
        <p:blipFill>
          <a:blip r:embed="rId9">
            <a:alphaModFix/>
          </a:blip>
          <a:stretch>
            <a:fillRect/>
          </a:stretch>
        </p:blipFill>
        <p:spPr>
          <a:xfrm>
            <a:off x="4338638" y="2101250"/>
            <a:ext cx="161925" cy="152400"/>
          </a:xfrm>
          <a:prstGeom prst="rect">
            <a:avLst/>
          </a:prstGeom>
          <a:noFill/>
          <a:ln>
            <a:noFill/>
          </a:ln>
        </p:spPr>
      </p:pic>
      <p:pic>
        <p:nvPicPr>
          <p:cNvPr id="1316" name="Google Shape;1316;p59"/>
          <p:cNvPicPr preferRelativeResize="0"/>
          <p:nvPr/>
        </p:nvPicPr>
        <p:blipFill>
          <a:blip r:embed="rId10">
            <a:alphaModFix/>
          </a:blip>
          <a:stretch>
            <a:fillRect/>
          </a:stretch>
        </p:blipFill>
        <p:spPr>
          <a:xfrm>
            <a:off x="4840550" y="5120575"/>
            <a:ext cx="723900" cy="152400"/>
          </a:xfrm>
          <a:prstGeom prst="rect">
            <a:avLst/>
          </a:prstGeom>
          <a:noFill/>
          <a:ln>
            <a:noFill/>
          </a:ln>
        </p:spPr>
      </p:pic>
      <p:sp>
        <p:nvSpPr>
          <p:cNvPr id="1317" name="Google Shape;1317;p59"/>
          <p:cNvSpPr txBox="1"/>
          <p:nvPr/>
        </p:nvSpPr>
        <p:spPr>
          <a:xfrm>
            <a:off x="401050" y="1449200"/>
            <a:ext cx="67314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Non-symmetric proposal distribution (e.g. normal distribution in log space):</a:t>
            </a:r>
            <a:endParaRPr/>
          </a:p>
        </p:txBody>
      </p:sp>
      <p:pic>
        <p:nvPicPr>
          <p:cNvPr id="1318" name="Google Shape;1318;p59"/>
          <p:cNvPicPr preferRelativeResize="0"/>
          <p:nvPr/>
        </p:nvPicPr>
        <p:blipFill>
          <a:blip r:embed="rId11">
            <a:alphaModFix/>
          </a:blip>
          <a:stretch>
            <a:fillRect/>
          </a:stretch>
        </p:blipFill>
        <p:spPr>
          <a:xfrm>
            <a:off x="2281875" y="3336338"/>
            <a:ext cx="1533525" cy="180975"/>
          </a:xfrm>
          <a:prstGeom prst="rect">
            <a:avLst/>
          </a:prstGeom>
          <a:noFill/>
          <a:ln>
            <a:noFill/>
          </a:ln>
        </p:spPr>
      </p:pic>
      <p:pic>
        <p:nvPicPr>
          <p:cNvPr id="1319" name="Google Shape;1319;p59"/>
          <p:cNvPicPr preferRelativeResize="0"/>
          <p:nvPr/>
        </p:nvPicPr>
        <p:blipFill>
          <a:blip r:embed="rId12">
            <a:alphaModFix/>
          </a:blip>
          <a:stretch>
            <a:fillRect/>
          </a:stretch>
        </p:blipFill>
        <p:spPr>
          <a:xfrm>
            <a:off x="4345250" y="3332875"/>
            <a:ext cx="1714500" cy="180975"/>
          </a:xfrm>
          <a:prstGeom prst="rect">
            <a:avLst/>
          </a:prstGeom>
          <a:noFill/>
          <a:ln>
            <a:noFill/>
          </a:ln>
        </p:spPr>
      </p:pic>
      <p:pic>
        <p:nvPicPr>
          <p:cNvPr id="1320" name="Google Shape;1320;p59"/>
          <p:cNvPicPr preferRelativeResize="0"/>
          <p:nvPr/>
        </p:nvPicPr>
        <p:blipFill>
          <a:blip r:embed="rId4">
            <a:alphaModFix/>
          </a:blip>
          <a:stretch>
            <a:fillRect/>
          </a:stretch>
        </p:blipFill>
        <p:spPr>
          <a:xfrm>
            <a:off x="3387800" y="3615625"/>
            <a:ext cx="161925" cy="123825"/>
          </a:xfrm>
          <a:prstGeom prst="rect">
            <a:avLst/>
          </a:prstGeom>
          <a:noFill/>
          <a:ln>
            <a:noFill/>
          </a:ln>
        </p:spPr>
      </p:pic>
      <p:pic>
        <p:nvPicPr>
          <p:cNvPr id="1321" name="Google Shape;1321;p59"/>
          <p:cNvPicPr preferRelativeResize="0"/>
          <p:nvPr/>
        </p:nvPicPr>
        <p:blipFill>
          <a:blip r:embed="rId13">
            <a:alphaModFix/>
          </a:blip>
          <a:stretch>
            <a:fillRect/>
          </a:stretch>
        </p:blipFill>
        <p:spPr>
          <a:xfrm>
            <a:off x="3815400" y="3628163"/>
            <a:ext cx="3476625" cy="180975"/>
          </a:xfrm>
          <a:prstGeom prst="rect">
            <a:avLst/>
          </a:prstGeom>
          <a:noFill/>
          <a:ln>
            <a:noFill/>
          </a:ln>
        </p:spPr>
      </p:pic>
      <p:pic>
        <p:nvPicPr>
          <p:cNvPr id="1322" name="Google Shape;1322;p59"/>
          <p:cNvPicPr preferRelativeResize="0"/>
          <p:nvPr/>
        </p:nvPicPr>
        <p:blipFill>
          <a:blip r:embed="rId14">
            <a:alphaModFix/>
          </a:blip>
          <a:stretch>
            <a:fillRect/>
          </a:stretch>
        </p:blipFill>
        <p:spPr>
          <a:xfrm>
            <a:off x="4081100" y="3887925"/>
            <a:ext cx="1377451" cy="3348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26" name="Shape 1326"/>
        <p:cNvGrpSpPr/>
        <p:nvPr/>
      </p:nvGrpSpPr>
      <p:grpSpPr>
        <a:xfrm>
          <a:off x="0" y="0"/>
          <a:ext cx="0" cy="0"/>
          <a:chOff x="0" y="0"/>
          <a:chExt cx="0" cy="0"/>
        </a:xfrm>
      </p:grpSpPr>
      <p:sp>
        <p:nvSpPr>
          <p:cNvPr id="1327" name="Google Shape;1327;p60"/>
          <p:cNvSpPr txBox="1"/>
          <p:nvPr/>
        </p:nvSpPr>
        <p:spPr>
          <a:xfrm>
            <a:off x="714375" y="285750"/>
            <a:ext cx="7215300" cy="523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latin typeface="Arial"/>
                <a:ea typeface="Arial"/>
                <a:cs typeface="Arial"/>
                <a:sym typeface="Arial"/>
              </a:rPr>
              <a:t>MCMC – </a:t>
            </a:r>
            <a:r>
              <a:rPr b="1" lang="en-US" sz="2800">
                <a:solidFill>
                  <a:srgbClr val="0033CC"/>
                </a:solidFill>
              </a:rPr>
              <a:t>non-symmetric proposal distribution</a:t>
            </a:r>
            <a:endParaRPr/>
          </a:p>
        </p:txBody>
      </p:sp>
      <p:sp>
        <p:nvSpPr>
          <p:cNvPr id="1328" name="Google Shape;1328;p60"/>
          <p:cNvSpPr txBox="1"/>
          <p:nvPr/>
        </p:nvSpPr>
        <p:spPr>
          <a:xfrm>
            <a:off x="683568" y="2720752"/>
            <a:ext cx="28905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00CC"/>
                </a:solidFill>
                <a:latin typeface="Arial"/>
                <a:ea typeface="Arial"/>
                <a:cs typeface="Arial"/>
                <a:sym typeface="Arial"/>
              </a:rPr>
              <a:t>Random walk on log-scale:</a:t>
            </a:r>
            <a:endParaRPr/>
          </a:p>
        </p:txBody>
      </p:sp>
      <p:sp>
        <p:nvSpPr>
          <p:cNvPr id="1329" name="Google Shape;1329;p60"/>
          <p:cNvSpPr txBox="1"/>
          <p:nvPr/>
        </p:nvSpPr>
        <p:spPr>
          <a:xfrm>
            <a:off x="2627784" y="3224808"/>
            <a:ext cx="17652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with </a:t>
            </a:r>
            <a:r>
              <a:rPr i="1" lang="en-US" sz="1600">
                <a:solidFill>
                  <a:schemeClr val="dk1"/>
                </a:solidFill>
                <a:latin typeface="Arial"/>
                <a:ea typeface="Arial"/>
                <a:cs typeface="Arial"/>
                <a:sym typeface="Arial"/>
              </a:rPr>
              <a:t>u</a:t>
            </a:r>
            <a:r>
              <a:rPr lang="en-US" sz="1600">
                <a:solidFill>
                  <a:schemeClr val="dk1"/>
                </a:solidFill>
                <a:latin typeface="Arial"/>
                <a:ea typeface="Arial"/>
                <a:cs typeface="Arial"/>
                <a:sym typeface="Arial"/>
              </a:rPr>
              <a:t>~Norm(0,1)</a:t>
            </a:r>
            <a:endParaRPr/>
          </a:p>
        </p:txBody>
      </p:sp>
      <p:sp>
        <p:nvSpPr>
          <p:cNvPr id="1330" name="Google Shape;1330;p60"/>
          <p:cNvSpPr txBox="1"/>
          <p:nvPr/>
        </p:nvSpPr>
        <p:spPr>
          <a:xfrm>
            <a:off x="5076056" y="3080792"/>
            <a:ext cx="3785100" cy="1323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This is equivalent to say that</a:t>
            </a:r>
            <a:endParaRPr/>
          </a:p>
          <a:p>
            <a:pPr indent="0" lvl="0" marL="0" marR="0" rtl="0" algn="l">
              <a:spcBef>
                <a:spcPts val="0"/>
              </a:spcBef>
              <a:spcAft>
                <a:spcPts val="0"/>
              </a:spcAft>
              <a:buNone/>
            </a:pPr>
            <a:r>
              <a:rPr i="1" lang="en-US" sz="1600">
                <a:solidFill>
                  <a:schemeClr val="dk1"/>
                </a:solidFill>
                <a:latin typeface="Arial"/>
                <a:ea typeface="Arial"/>
                <a:cs typeface="Arial"/>
                <a:sym typeface="Arial"/>
              </a:rPr>
              <a:t>θ</a:t>
            </a:r>
            <a:r>
              <a:rPr baseline="30000" i="1" lang="en-US" sz="1600">
                <a:solidFill>
                  <a:schemeClr val="dk1"/>
                </a:solidFill>
                <a:latin typeface="Arial"/>
                <a:ea typeface="Arial"/>
                <a:cs typeface="Arial"/>
                <a:sym typeface="Arial"/>
              </a:rPr>
              <a:t>*</a:t>
            </a:r>
            <a:r>
              <a:rPr i="1" lang="en-US" sz="1600">
                <a:solidFill>
                  <a:schemeClr val="dk1"/>
                </a:solidFill>
                <a:latin typeface="Arial"/>
                <a:ea typeface="Arial"/>
                <a:cs typeface="Arial"/>
                <a:sym typeface="Arial"/>
              </a:rPr>
              <a:t> </a:t>
            </a:r>
            <a:r>
              <a:rPr lang="en-US" sz="1600">
                <a:solidFill>
                  <a:schemeClr val="dk1"/>
                </a:solidFill>
                <a:latin typeface="Arial"/>
                <a:ea typeface="Arial"/>
                <a:cs typeface="Arial"/>
                <a:sym typeface="Arial"/>
              </a:rPr>
              <a:t>is drawn from Log-normal distribution</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with log mean            and log sd </a:t>
            </a:r>
            <a:r>
              <a:rPr lang="en-US" sz="1600">
                <a:solidFill>
                  <a:schemeClr val="dk1"/>
                </a:solidFill>
                <a:latin typeface="Noto Sans Symbols"/>
                <a:ea typeface="Noto Sans Symbols"/>
                <a:cs typeface="Noto Sans Symbols"/>
                <a:sym typeface="Noto Sans Symbols"/>
              </a:rPr>
              <a:t>σ</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and density</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p:txBody>
      </p:sp>
      <p:sp>
        <p:nvSpPr>
          <p:cNvPr id="1331" name="Google Shape;1331;p60"/>
          <p:cNvSpPr txBox="1"/>
          <p:nvPr/>
        </p:nvSpPr>
        <p:spPr>
          <a:xfrm>
            <a:off x="827584" y="5241032"/>
            <a:ext cx="3634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The ratio of proposals is therefore</a:t>
            </a:r>
            <a:endParaRPr/>
          </a:p>
        </p:txBody>
      </p:sp>
      <p:pic>
        <p:nvPicPr>
          <p:cNvPr id="1332" name="Google Shape;1332;p60"/>
          <p:cNvPicPr preferRelativeResize="0"/>
          <p:nvPr/>
        </p:nvPicPr>
        <p:blipFill>
          <a:blip r:embed="rId3">
            <a:alphaModFix/>
          </a:blip>
          <a:stretch>
            <a:fillRect/>
          </a:stretch>
        </p:blipFill>
        <p:spPr>
          <a:xfrm>
            <a:off x="755575" y="3323738"/>
            <a:ext cx="1628775" cy="171450"/>
          </a:xfrm>
          <a:prstGeom prst="rect">
            <a:avLst/>
          </a:prstGeom>
          <a:noFill/>
          <a:ln>
            <a:noFill/>
          </a:ln>
        </p:spPr>
      </p:pic>
      <p:pic>
        <p:nvPicPr>
          <p:cNvPr id="1333" name="Google Shape;1333;p60"/>
          <p:cNvPicPr preferRelativeResize="0"/>
          <p:nvPr/>
        </p:nvPicPr>
        <p:blipFill>
          <a:blip r:embed="rId4">
            <a:alphaModFix/>
          </a:blip>
          <a:stretch>
            <a:fillRect/>
          </a:stretch>
        </p:blipFill>
        <p:spPr>
          <a:xfrm>
            <a:off x="1064575" y="3652700"/>
            <a:ext cx="1333500" cy="180975"/>
          </a:xfrm>
          <a:prstGeom prst="rect">
            <a:avLst/>
          </a:prstGeom>
          <a:noFill/>
          <a:ln>
            <a:noFill/>
          </a:ln>
        </p:spPr>
      </p:pic>
      <p:pic>
        <p:nvPicPr>
          <p:cNvPr id="1334" name="Google Shape;1334;p60"/>
          <p:cNvPicPr preferRelativeResize="0"/>
          <p:nvPr/>
        </p:nvPicPr>
        <p:blipFill>
          <a:blip r:embed="rId5">
            <a:alphaModFix/>
          </a:blip>
          <a:stretch>
            <a:fillRect/>
          </a:stretch>
        </p:blipFill>
        <p:spPr>
          <a:xfrm>
            <a:off x="6582225" y="3656725"/>
            <a:ext cx="323850" cy="171450"/>
          </a:xfrm>
          <a:prstGeom prst="rect">
            <a:avLst/>
          </a:prstGeom>
          <a:noFill/>
          <a:ln>
            <a:noFill/>
          </a:ln>
        </p:spPr>
      </p:pic>
      <p:sp>
        <p:nvSpPr>
          <p:cNvPr id="1335" name="Google Shape;1335;p60"/>
          <p:cNvSpPr txBox="1"/>
          <p:nvPr/>
        </p:nvSpPr>
        <p:spPr>
          <a:xfrm>
            <a:off x="645875" y="1444175"/>
            <a:ext cx="7338300" cy="8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t>Derivation of ratio of proposals (just for interest)</a:t>
            </a:r>
            <a:endParaRPr sz="1800"/>
          </a:p>
        </p:txBody>
      </p:sp>
      <p:pic>
        <p:nvPicPr>
          <p:cNvPr id="1336" name="Google Shape;1336;p60"/>
          <p:cNvPicPr preferRelativeResize="0"/>
          <p:nvPr/>
        </p:nvPicPr>
        <p:blipFill>
          <a:blip r:embed="rId6">
            <a:alphaModFix/>
          </a:blip>
          <a:stretch>
            <a:fillRect/>
          </a:stretch>
        </p:blipFill>
        <p:spPr>
          <a:xfrm>
            <a:off x="5119200" y="4295242"/>
            <a:ext cx="3698800" cy="516330"/>
          </a:xfrm>
          <a:prstGeom prst="rect">
            <a:avLst/>
          </a:prstGeom>
          <a:noFill/>
          <a:ln>
            <a:noFill/>
          </a:ln>
        </p:spPr>
      </p:pic>
      <p:pic>
        <p:nvPicPr>
          <p:cNvPr id="1337" name="Google Shape;1337;p60"/>
          <p:cNvPicPr preferRelativeResize="0"/>
          <p:nvPr/>
        </p:nvPicPr>
        <p:blipFill>
          <a:blip r:embed="rId7">
            <a:alphaModFix/>
          </a:blip>
          <a:stretch>
            <a:fillRect/>
          </a:stretch>
        </p:blipFill>
        <p:spPr>
          <a:xfrm>
            <a:off x="3586363" y="5762732"/>
            <a:ext cx="1457325" cy="4191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41" name="Shape 1341"/>
        <p:cNvGrpSpPr/>
        <p:nvPr/>
      </p:nvGrpSpPr>
      <p:grpSpPr>
        <a:xfrm>
          <a:off x="0" y="0"/>
          <a:ext cx="0" cy="0"/>
          <a:chOff x="0" y="0"/>
          <a:chExt cx="0" cy="0"/>
        </a:xfrm>
      </p:grpSpPr>
      <p:sp>
        <p:nvSpPr>
          <p:cNvPr id="1342" name="Google Shape;1342;p61"/>
          <p:cNvSpPr txBox="1"/>
          <p:nvPr/>
        </p:nvSpPr>
        <p:spPr>
          <a:xfrm>
            <a:off x="714375" y="285750"/>
            <a:ext cx="7215300" cy="523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latin typeface="Arial"/>
                <a:ea typeface="Arial"/>
                <a:cs typeface="Arial"/>
                <a:sym typeface="Arial"/>
              </a:rPr>
              <a:t>MCMC – </a:t>
            </a:r>
            <a:r>
              <a:rPr b="1" lang="en-US" sz="2800">
                <a:solidFill>
                  <a:srgbClr val="0033CC"/>
                </a:solidFill>
              </a:rPr>
              <a:t>postprocessing</a:t>
            </a:r>
            <a:endParaRPr/>
          </a:p>
        </p:txBody>
      </p:sp>
      <p:pic>
        <p:nvPicPr>
          <p:cNvPr descr="bayesianfig3.png" id="1343" name="Google Shape;1343;p61"/>
          <p:cNvPicPr preferRelativeResize="0"/>
          <p:nvPr/>
        </p:nvPicPr>
        <p:blipFill rotWithShape="1">
          <a:blip r:embed="rId3">
            <a:alphaModFix/>
          </a:blip>
          <a:srcRect b="0" l="0" r="0" t="0"/>
          <a:stretch/>
        </p:blipFill>
        <p:spPr>
          <a:xfrm>
            <a:off x="5427741" y="4034059"/>
            <a:ext cx="3576344" cy="2506175"/>
          </a:xfrm>
          <a:prstGeom prst="rect">
            <a:avLst/>
          </a:prstGeom>
          <a:noFill/>
          <a:ln>
            <a:noFill/>
          </a:ln>
        </p:spPr>
      </p:pic>
      <p:sp>
        <p:nvSpPr>
          <p:cNvPr id="1344" name="Google Shape;1344;p61"/>
          <p:cNvSpPr/>
          <p:nvPr/>
        </p:nvSpPr>
        <p:spPr>
          <a:xfrm>
            <a:off x="4949475" y="4405189"/>
            <a:ext cx="674700" cy="1539300"/>
          </a:xfrm>
          <a:prstGeom prst="rect">
            <a:avLst/>
          </a:prstGeom>
          <a:solidFill>
            <a:schemeClr val="lt1"/>
          </a:solidFill>
          <a:ln cap="rnd"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345" name="Google Shape;1345;p61"/>
          <p:cNvSpPr/>
          <p:nvPr/>
        </p:nvSpPr>
        <p:spPr>
          <a:xfrm>
            <a:off x="5852867" y="6391280"/>
            <a:ext cx="2757000" cy="247800"/>
          </a:xfrm>
          <a:prstGeom prst="rect">
            <a:avLst/>
          </a:prstGeom>
          <a:solidFill>
            <a:schemeClr val="lt1"/>
          </a:solidFill>
          <a:ln cap="rnd"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346" name="Google Shape;1346;p61"/>
          <p:cNvSpPr txBox="1"/>
          <p:nvPr/>
        </p:nvSpPr>
        <p:spPr>
          <a:xfrm>
            <a:off x="6777106" y="6364291"/>
            <a:ext cx="3366300" cy="3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Iteration</a:t>
            </a:r>
            <a:endParaRPr/>
          </a:p>
        </p:txBody>
      </p:sp>
      <p:sp>
        <p:nvSpPr>
          <p:cNvPr id="1347" name="Google Shape;1347;p61"/>
          <p:cNvSpPr txBox="1"/>
          <p:nvPr/>
        </p:nvSpPr>
        <p:spPr>
          <a:xfrm>
            <a:off x="5411653" y="3989539"/>
            <a:ext cx="3366300" cy="3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Parameter value</a:t>
            </a:r>
            <a:endParaRPr/>
          </a:p>
        </p:txBody>
      </p:sp>
      <p:sp>
        <p:nvSpPr>
          <p:cNvPr id="1348" name="Google Shape;1348;p61"/>
          <p:cNvSpPr txBox="1"/>
          <p:nvPr>
            <p:ph idx="1" type="body"/>
          </p:nvPr>
        </p:nvSpPr>
        <p:spPr>
          <a:xfrm>
            <a:off x="457200" y="1600200"/>
            <a:ext cx="8229600" cy="4526100"/>
          </a:xfrm>
          <a:prstGeom prst="rect">
            <a:avLst/>
          </a:prstGeom>
        </p:spPr>
        <p:txBody>
          <a:bodyPr anchorCtr="0" anchor="t" bIns="91425" lIns="91425" spcFirstLastPara="1" rIns="91425" wrap="square" tIns="91425">
            <a:noAutofit/>
          </a:bodyPr>
          <a:lstStyle/>
          <a:p>
            <a:pPr indent="-342900" lvl="0" marL="457200" rtl="0" algn="l">
              <a:spcBef>
                <a:spcPts val="640"/>
              </a:spcBef>
              <a:spcAft>
                <a:spcPts val="0"/>
              </a:spcAft>
              <a:buSzPts val="1800"/>
              <a:buAutoNum type="arabicPeriod"/>
            </a:pPr>
            <a:r>
              <a:rPr lang="en-US" sz="1800"/>
              <a:t>At the start, the MCMC chain is far away from the likely region of parameter space.  Hence discard early iterations (“burn-in”)</a:t>
            </a:r>
            <a:endParaRPr sz="1800"/>
          </a:p>
          <a:p>
            <a:pPr indent="-342900" lvl="0" marL="457200" rtl="0" algn="l">
              <a:spcBef>
                <a:spcPts val="0"/>
              </a:spcBef>
              <a:spcAft>
                <a:spcPts val="0"/>
              </a:spcAft>
              <a:buSzPts val="1800"/>
              <a:buAutoNum type="arabicPeriod"/>
            </a:pPr>
            <a:r>
              <a:rPr lang="en-US" sz="1800"/>
              <a:t>Parameter values from consecutive iterations are correlated.  To save storage space, can only keep every nth iteration e.g. every 5th iteration (“thinning”)</a:t>
            </a:r>
            <a:endParaRPr sz="1800"/>
          </a:p>
          <a:p>
            <a:pPr indent="-342900" lvl="0" marL="457200" rtl="0" algn="l">
              <a:spcBef>
                <a:spcPts val="0"/>
              </a:spcBef>
              <a:spcAft>
                <a:spcPts val="0"/>
              </a:spcAft>
              <a:buSzPts val="1800"/>
              <a:buAutoNum type="arabicPeriod"/>
            </a:pPr>
            <a:r>
              <a:rPr lang="en-US" sz="1800"/>
              <a:t>Run multiple chains to see if they reach the same region of parameter space -- sometimes a chain can get stuck and look like it’s converged when it hasn’t.  (Won’t cover today)</a:t>
            </a:r>
            <a:endParaRPr sz="1800"/>
          </a:p>
        </p:txBody>
      </p:sp>
      <p:sp>
        <p:nvSpPr>
          <p:cNvPr id="1349" name="Google Shape;1349;p61"/>
          <p:cNvSpPr/>
          <p:nvPr/>
        </p:nvSpPr>
        <p:spPr>
          <a:xfrm>
            <a:off x="5786674" y="3826731"/>
            <a:ext cx="735600" cy="27417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61"/>
          <p:cNvSpPr txBox="1"/>
          <p:nvPr/>
        </p:nvSpPr>
        <p:spPr>
          <a:xfrm>
            <a:off x="6320230" y="3761599"/>
            <a:ext cx="4280100" cy="43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0000"/>
                </a:solidFill>
              </a:rPr>
              <a:t>burn-in</a:t>
            </a:r>
            <a:endParaRPr>
              <a:solidFill>
                <a:srgbClr val="FF0000"/>
              </a:solidFill>
            </a:endParaRPr>
          </a:p>
        </p:txBody>
      </p:sp>
      <p:sp>
        <p:nvSpPr>
          <p:cNvPr id="1351" name="Google Shape;1351;p61"/>
          <p:cNvSpPr/>
          <p:nvPr/>
        </p:nvSpPr>
        <p:spPr>
          <a:xfrm>
            <a:off x="6931011" y="5760938"/>
            <a:ext cx="1716600" cy="2931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61"/>
          <p:cNvSpPr txBox="1"/>
          <p:nvPr/>
        </p:nvSpPr>
        <p:spPr>
          <a:xfrm>
            <a:off x="7978747" y="5428801"/>
            <a:ext cx="4280100" cy="43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0000"/>
                </a:solidFill>
              </a:rPr>
              <a:t>thin</a:t>
            </a:r>
            <a:endParaRPr>
              <a:solidFill>
                <a:srgbClr val="FF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57" name="Shape 1357"/>
        <p:cNvGrpSpPr/>
        <p:nvPr/>
      </p:nvGrpSpPr>
      <p:grpSpPr>
        <a:xfrm>
          <a:off x="0" y="0"/>
          <a:ext cx="0" cy="0"/>
          <a:chOff x="0" y="0"/>
          <a:chExt cx="0" cy="0"/>
        </a:xfrm>
      </p:grpSpPr>
      <p:sp>
        <p:nvSpPr>
          <p:cNvPr id="1358" name="Google Shape;1358;p62"/>
          <p:cNvSpPr txBox="1"/>
          <p:nvPr/>
        </p:nvSpPr>
        <p:spPr>
          <a:xfrm>
            <a:off x="1403648" y="116632"/>
            <a:ext cx="6264600" cy="95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rPr>
              <a:t>Part 4: modelling transmission</a:t>
            </a:r>
            <a:endParaRPr/>
          </a:p>
        </p:txBody>
      </p:sp>
      <p:cxnSp>
        <p:nvCxnSpPr>
          <p:cNvPr id="1359" name="Google Shape;1359;p62"/>
          <p:cNvCxnSpPr/>
          <p:nvPr/>
        </p:nvCxnSpPr>
        <p:spPr>
          <a:xfrm>
            <a:off x="1981200" y="2311896"/>
            <a:ext cx="7162800" cy="0"/>
          </a:xfrm>
          <a:prstGeom prst="straightConnector1">
            <a:avLst/>
          </a:prstGeom>
          <a:noFill/>
          <a:ln cap="rnd" cmpd="sng" w="9525">
            <a:solidFill>
              <a:schemeClr val="dk1"/>
            </a:solidFill>
            <a:prstDash val="dot"/>
            <a:round/>
            <a:headEnd len="sm" w="sm" type="none"/>
            <a:tailEnd len="sm" w="sm" type="none"/>
          </a:ln>
        </p:spPr>
      </p:cxnSp>
      <p:cxnSp>
        <p:nvCxnSpPr>
          <p:cNvPr id="1360" name="Google Shape;1360;p62"/>
          <p:cNvCxnSpPr/>
          <p:nvPr/>
        </p:nvCxnSpPr>
        <p:spPr>
          <a:xfrm>
            <a:off x="1925637" y="3027858"/>
            <a:ext cx="7162800" cy="0"/>
          </a:xfrm>
          <a:prstGeom prst="straightConnector1">
            <a:avLst/>
          </a:prstGeom>
          <a:noFill/>
          <a:ln cap="rnd" cmpd="sng" w="9525">
            <a:solidFill>
              <a:schemeClr val="dk1"/>
            </a:solidFill>
            <a:prstDash val="dot"/>
            <a:round/>
            <a:headEnd len="sm" w="sm" type="none"/>
            <a:tailEnd len="sm" w="sm" type="none"/>
          </a:ln>
        </p:spPr>
      </p:cxnSp>
      <p:sp>
        <p:nvSpPr>
          <p:cNvPr id="1361" name="Google Shape;1361;p62"/>
          <p:cNvSpPr txBox="1"/>
          <p:nvPr/>
        </p:nvSpPr>
        <p:spPr>
          <a:xfrm>
            <a:off x="251520" y="3464024"/>
            <a:ext cx="1370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Donor 2</a:t>
            </a:r>
            <a:endParaRPr/>
          </a:p>
        </p:txBody>
      </p:sp>
      <p:sp>
        <p:nvSpPr>
          <p:cNvPr id="1362" name="Google Shape;1362;p62"/>
          <p:cNvSpPr txBox="1"/>
          <p:nvPr/>
        </p:nvSpPr>
        <p:spPr>
          <a:xfrm>
            <a:off x="251520" y="2095872"/>
            <a:ext cx="1370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Donor 1</a:t>
            </a:r>
            <a:endParaRPr/>
          </a:p>
        </p:txBody>
      </p:sp>
      <p:cxnSp>
        <p:nvCxnSpPr>
          <p:cNvPr id="1363" name="Google Shape;1363;p62"/>
          <p:cNvCxnSpPr/>
          <p:nvPr/>
        </p:nvCxnSpPr>
        <p:spPr>
          <a:xfrm>
            <a:off x="1676400" y="4713312"/>
            <a:ext cx="7239000" cy="0"/>
          </a:xfrm>
          <a:prstGeom prst="straightConnector1">
            <a:avLst/>
          </a:prstGeom>
          <a:noFill/>
          <a:ln cap="flat" cmpd="sng" w="9525">
            <a:solidFill>
              <a:schemeClr val="dk1"/>
            </a:solidFill>
            <a:prstDash val="solid"/>
            <a:round/>
            <a:headEnd len="sm" w="sm" type="none"/>
            <a:tailEnd len="med" w="med" type="triangle"/>
          </a:ln>
        </p:spPr>
      </p:cxnSp>
      <p:sp>
        <p:nvSpPr>
          <p:cNvPr id="1364" name="Google Shape;1364;p62"/>
          <p:cNvSpPr txBox="1"/>
          <p:nvPr/>
        </p:nvSpPr>
        <p:spPr>
          <a:xfrm>
            <a:off x="8001000" y="4256112"/>
            <a:ext cx="11430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Time</a:t>
            </a:r>
            <a:endParaRPr/>
          </a:p>
        </p:txBody>
      </p:sp>
      <p:sp>
        <p:nvSpPr>
          <p:cNvPr id="1365" name="Google Shape;1365;p62"/>
          <p:cNvSpPr txBox="1"/>
          <p:nvPr/>
        </p:nvSpPr>
        <p:spPr>
          <a:xfrm>
            <a:off x="251520" y="2743944"/>
            <a:ext cx="1329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Recipient 1</a:t>
            </a:r>
            <a:endParaRPr/>
          </a:p>
        </p:txBody>
      </p:sp>
      <p:cxnSp>
        <p:nvCxnSpPr>
          <p:cNvPr id="1366" name="Google Shape;1366;p62"/>
          <p:cNvCxnSpPr/>
          <p:nvPr/>
        </p:nvCxnSpPr>
        <p:spPr>
          <a:xfrm rot="5400000">
            <a:off x="4128350" y="2257071"/>
            <a:ext cx="214200" cy="0"/>
          </a:xfrm>
          <a:prstGeom prst="straightConnector1">
            <a:avLst/>
          </a:prstGeom>
          <a:noFill/>
          <a:ln cap="flat" cmpd="sng" w="50800">
            <a:solidFill>
              <a:srgbClr val="FF0000"/>
            </a:solidFill>
            <a:prstDash val="solid"/>
            <a:round/>
            <a:headEnd len="sm" w="sm" type="none"/>
            <a:tailEnd len="sm" w="sm" type="none"/>
          </a:ln>
        </p:spPr>
      </p:cxnSp>
      <p:cxnSp>
        <p:nvCxnSpPr>
          <p:cNvPr id="1367" name="Google Shape;1367;p62"/>
          <p:cNvCxnSpPr/>
          <p:nvPr/>
        </p:nvCxnSpPr>
        <p:spPr>
          <a:xfrm rot="5400000">
            <a:off x="3744820" y="2995060"/>
            <a:ext cx="214200" cy="0"/>
          </a:xfrm>
          <a:prstGeom prst="straightConnector1">
            <a:avLst/>
          </a:prstGeom>
          <a:noFill/>
          <a:ln cap="flat" cmpd="sng" w="50800">
            <a:solidFill>
              <a:srgbClr val="FF0000"/>
            </a:solidFill>
            <a:prstDash val="solid"/>
            <a:round/>
            <a:headEnd len="sm" w="sm" type="none"/>
            <a:tailEnd len="sm" w="sm" type="none"/>
          </a:ln>
        </p:spPr>
      </p:cxnSp>
      <p:sp>
        <p:nvSpPr>
          <p:cNvPr id="1368" name="Google Shape;1368;p62"/>
          <p:cNvSpPr txBox="1"/>
          <p:nvPr/>
        </p:nvSpPr>
        <p:spPr>
          <a:xfrm>
            <a:off x="3419872" y="1735832"/>
            <a:ext cx="16113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FF0000"/>
                </a:solidFill>
                <a:latin typeface="Arial"/>
                <a:ea typeface="Arial"/>
                <a:cs typeface="Arial"/>
                <a:sym typeface="Arial"/>
              </a:rPr>
              <a:t>Symptom onset</a:t>
            </a:r>
            <a:endParaRPr/>
          </a:p>
        </p:txBody>
      </p:sp>
      <p:cxnSp>
        <p:nvCxnSpPr>
          <p:cNvPr id="1369" name="Google Shape;1369;p62"/>
          <p:cNvCxnSpPr/>
          <p:nvPr/>
        </p:nvCxnSpPr>
        <p:spPr>
          <a:xfrm>
            <a:off x="2195736" y="2095872"/>
            <a:ext cx="0" cy="216000"/>
          </a:xfrm>
          <a:prstGeom prst="straightConnector1">
            <a:avLst/>
          </a:prstGeom>
          <a:noFill/>
          <a:ln cap="flat" cmpd="sng" w="19050">
            <a:solidFill>
              <a:srgbClr val="0000CC"/>
            </a:solidFill>
            <a:prstDash val="solid"/>
            <a:round/>
            <a:headEnd len="sm" w="sm" type="none"/>
            <a:tailEnd len="med" w="med" type="triangle"/>
          </a:ln>
        </p:spPr>
      </p:cxnSp>
      <p:sp>
        <p:nvSpPr>
          <p:cNvPr id="1370" name="Google Shape;1370;p62"/>
          <p:cNvSpPr txBox="1"/>
          <p:nvPr/>
        </p:nvSpPr>
        <p:spPr>
          <a:xfrm>
            <a:off x="1691680" y="1735832"/>
            <a:ext cx="9606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00CC"/>
                </a:solidFill>
                <a:latin typeface="Arial"/>
                <a:ea typeface="Arial"/>
                <a:cs typeface="Arial"/>
                <a:sym typeface="Arial"/>
              </a:rPr>
              <a:t>Infection</a:t>
            </a:r>
            <a:endParaRPr/>
          </a:p>
        </p:txBody>
      </p:sp>
      <p:cxnSp>
        <p:nvCxnSpPr>
          <p:cNvPr id="1371" name="Google Shape;1371;p62"/>
          <p:cNvCxnSpPr/>
          <p:nvPr/>
        </p:nvCxnSpPr>
        <p:spPr>
          <a:xfrm>
            <a:off x="3059832" y="2815952"/>
            <a:ext cx="0" cy="216000"/>
          </a:xfrm>
          <a:prstGeom prst="straightConnector1">
            <a:avLst/>
          </a:prstGeom>
          <a:noFill/>
          <a:ln cap="flat" cmpd="sng" w="19050">
            <a:solidFill>
              <a:srgbClr val="0000CC"/>
            </a:solidFill>
            <a:prstDash val="solid"/>
            <a:round/>
            <a:headEnd len="sm" w="sm" type="none"/>
            <a:tailEnd len="med" w="med" type="triangle"/>
          </a:ln>
        </p:spPr>
      </p:cxnSp>
      <p:sp>
        <p:nvSpPr>
          <p:cNvPr id="1372" name="Google Shape;1372;p62"/>
          <p:cNvSpPr txBox="1"/>
          <p:nvPr/>
        </p:nvSpPr>
        <p:spPr>
          <a:xfrm>
            <a:off x="251520" y="4112096"/>
            <a:ext cx="1370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Recipient 2</a:t>
            </a:r>
            <a:endParaRPr/>
          </a:p>
        </p:txBody>
      </p:sp>
      <p:cxnSp>
        <p:nvCxnSpPr>
          <p:cNvPr id="1373" name="Google Shape;1373;p62"/>
          <p:cNvCxnSpPr/>
          <p:nvPr/>
        </p:nvCxnSpPr>
        <p:spPr>
          <a:xfrm>
            <a:off x="1907704" y="4400128"/>
            <a:ext cx="7236300" cy="0"/>
          </a:xfrm>
          <a:prstGeom prst="straightConnector1">
            <a:avLst/>
          </a:prstGeom>
          <a:noFill/>
          <a:ln cap="rnd" cmpd="sng" w="9525">
            <a:solidFill>
              <a:schemeClr val="dk1"/>
            </a:solidFill>
            <a:prstDash val="dot"/>
            <a:round/>
            <a:headEnd len="sm" w="sm" type="none"/>
            <a:tailEnd len="sm" w="sm" type="none"/>
          </a:ln>
        </p:spPr>
      </p:cxnSp>
      <p:sp>
        <p:nvSpPr>
          <p:cNvPr id="1374" name="Google Shape;1374;p62"/>
          <p:cNvSpPr txBox="1"/>
          <p:nvPr/>
        </p:nvSpPr>
        <p:spPr>
          <a:xfrm>
            <a:off x="2915816" y="3031976"/>
            <a:ext cx="3177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0000CC"/>
                </a:solidFill>
                <a:latin typeface="Arial"/>
                <a:ea typeface="Arial"/>
                <a:cs typeface="Arial"/>
                <a:sym typeface="Arial"/>
              </a:rPr>
              <a:t>t</a:t>
            </a:r>
            <a:r>
              <a:rPr baseline="-25000" i="1" lang="en-US" sz="1600">
                <a:solidFill>
                  <a:srgbClr val="0000CC"/>
                </a:solidFill>
              </a:rPr>
              <a:t>1</a:t>
            </a:r>
            <a:endParaRPr/>
          </a:p>
        </p:txBody>
      </p:sp>
      <p:sp>
        <p:nvSpPr>
          <p:cNvPr id="1375" name="Google Shape;1375;p62"/>
          <p:cNvSpPr txBox="1"/>
          <p:nvPr/>
        </p:nvSpPr>
        <p:spPr>
          <a:xfrm>
            <a:off x="4067944" y="2311896"/>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latin typeface="Arial"/>
                <a:ea typeface="Arial"/>
                <a:cs typeface="Arial"/>
                <a:sym typeface="Arial"/>
              </a:rPr>
              <a:t>d</a:t>
            </a:r>
            <a:r>
              <a:rPr baseline="-25000" i="1" lang="en-US" sz="1600">
                <a:solidFill>
                  <a:srgbClr val="C00000"/>
                </a:solidFill>
                <a:latin typeface="Arial"/>
                <a:ea typeface="Arial"/>
                <a:cs typeface="Arial"/>
                <a:sym typeface="Arial"/>
              </a:rPr>
              <a:t>1</a:t>
            </a:r>
            <a:endParaRPr/>
          </a:p>
        </p:txBody>
      </p:sp>
      <p:sp>
        <p:nvSpPr>
          <p:cNvPr id="1376" name="Google Shape;1376;p62"/>
          <p:cNvSpPr txBox="1"/>
          <p:nvPr/>
        </p:nvSpPr>
        <p:spPr>
          <a:xfrm>
            <a:off x="3707904" y="3103984"/>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rPr>
              <a:t>r</a:t>
            </a:r>
            <a:r>
              <a:rPr baseline="-25000" i="1" lang="en-US" sz="1600">
                <a:solidFill>
                  <a:srgbClr val="C00000"/>
                </a:solidFill>
              </a:rPr>
              <a:t>1</a:t>
            </a:r>
            <a:endParaRPr/>
          </a:p>
        </p:txBody>
      </p:sp>
      <p:cxnSp>
        <p:nvCxnSpPr>
          <p:cNvPr id="1377" name="Google Shape;1377;p62"/>
          <p:cNvCxnSpPr/>
          <p:nvPr/>
        </p:nvCxnSpPr>
        <p:spPr>
          <a:xfrm>
            <a:off x="1905000" y="3759696"/>
            <a:ext cx="7162800" cy="0"/>
          </a:xfrm>
          <a:prstGeom prst="straightConnector1">
            <a:avLst/>
          </a:prstGeom>
          <a:noFill/>
          <a:ln cap="rnd" cmpd="sng" w="9525">
            <a:solidFill>
              <a:schemeClr val="dk1"/>
            </a:solidFill>
            <a:prstDash val="dot"/>
            <a:round/>
            <a:headEnd len="sm" w="sm" type="none"/>
            <a:tailEnd len="sm" w="sm" type="none"/>
          </a:ln>
        </p:spPr>
      </p:cxnSp>
      <p:cxnSp>
        <p:nvCxnSpPr>
          <p:cNvPr id="1378" name="Google Shape;1378;p62"/>
          <p:cNvCxnSpPr/>
          <p:nvPr/>
        </p:nvCxnSpPr>
        <p:spPr>
          <a:xfrm rot="5400000">
            <a:off x="3671150" y="3704871"/>
            <a:ext cx="214200" cy="0"/>
          </a:xfrm>
          <a:prstGeom prst="straightConnector1">
            <a:avLst/>
          </a:prstGeom>
          <a:noFill/>
          <a:ln cap="flat" cmpd="sng" w="50800">
            <a:solidFill>
              <a:srgbClr val="FF0000"/>
            </a:solidFill>
            <a:prstDash val="solid"/>
            <a:round/>
            <a:headEnd len="sm" w="sm" type="none"/>
            <a:tailEnd len="sm" w="sm" type="none"/>
          </a:ln>
        </p:spPr>
      </p:cxnSp>
      <p:cxnSp>
        <p:nvCxnSpPr>
          <p:cNvPr id="1379" name="Google Shape;1379;p62"/>
          <p:cNvCxnSpPr/>
          <p:nvPr/>
        </p:nvCxnSpPr>
        <p:spPr>
          <a:xfrm>
            <a:off x="2119536" y="3543672"/>
            <a:ext cx="0" cy="216000"/>
          </a:xfrm>
          <a:prstGeom prst="straightConnector1">
            <a:avLst/>
          </a:prstGeom>
          <a:noFill/>
          <a:ln cap="flat" cmpd="sng" w="19050">
            <a:solidFill>
              <a:srgbClr val="0000CC"/>
            </a:solidFill>
            <a:prstDash val="solid"/>
            <a:round/>
            <a:headEnd len="sm" w="sm" type="none"/>
            <a:tailEnd len="med" w="med" type="triangle"/>
          </a:ln>
        </p:spPr>
      </p:cxnSp>
      <p:sp>
        <p:nvSpPr>
          <p:cNvPr id="1380" name="Google Shape;1380;p62"/>
          <p:cNvSpPr txBox="1"/>
          <p:nvPr/>
        </p:nvSpPr>
        <p:spPr>
          <a:xfrm>
            <a:off x="3610744" y="3759696"/>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latin typeface="Arial"/>
                <a:ea typeface="Arial"/>
                <a:cs typeface="Arial"/>
                <a:sym typeface="Arial"/>
              </a:rPr>
              <a:t>d</a:t>
            </a:r>
            <a:r>
              <a:rPr baseline="-25000" i="1" lang="en-US" sz="1600">
                <a:solidFill>
                  <a:srgbClr val="C00000"/>
                </a:solidFill>
              </a:rPr>
              <a:t>2</a:t>
            </a:r>
            <a:endParaRPr/>
          </a:p>
        </p:txBody>
      </p:sp>
      <p:sp>
        <p:nvSpPr>
          <p:cNvPr id="1381" name="Google Shape;1381;p62"/>
          <p:cNvSpPr txBox="1"/>
          <p:nvPr/>
        </p:nvSpPr>
        <p:spPr>
          <a:xfrm>
            <a:off x="3382161" y="1277150"/>
            <a:ext cx="2980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1800" u="sng">
                <a:solidFill>
                  <a:schemeClr val="dk1"/>
                </a:solidFill>
              </a:rPr>
              <a:t>COMPLETE DATA</a:t>
            </a:r>
            <a:endParaRPr/>
          </a:p>
        </p:txBody>
      </p:sp>
      <p:sp>
        <p:nvSpPr>
          <p:cNvPr id="1382" name="Google Shape;1382;p62"/>
          <p:cNvSpPr txBox="1"/>
          <p:nvPr/>
        </p:nvSpPr>
        <p:spPr>
          <a:xfrm>
            <a:off x="538500" y="5417600"/>
            <a:ext cx="8196300" cy="53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t>Ideally we would observe the time of infection of the donor (t = 0) and the recipient, and the time of symptom onset of the donor and recipient.  </a:t>
            </a:r>
            <a:endParaRPr/>
          </a:p>
          <a:p>
            <a:pPr indent="0" lvl="0" marL="0" rtl="0" algn="ctr">
              <a:spcBef>
                <a:spcPts val="0"/>
              </a:spcBef>
              <a:spcAft>
                <a:spcPts val="0"/>
              </a:spcAft>
              <a:buNone/>
            </a:pPr>
            <a:r>
              <a:rPr lang="en-US"/>
              <a:t>In practice we don’t know the time of infection of the recipient -- more later</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87" name="Shape 1387"/>
        <p:cNvGrpSpPr/>
        <p:nvPr/>
      </p:nvGrpSpPr>
      <p:grpSpPr>
        <a:xfrm>
          <a:off x="0" y="0"/>
          <a:ext cx="0" cy="0"/>
          <a:chOff x="0" y="0"/>
          <a:chExt cx="0" cy="0"/>
        </a:xfrm>
      </p:grpSpPr>
      <p:sp>
        <p:nvSpPr>
          <p:cNvPr id="1388" name="Google Shape;1388;p63"/>
          <p:cNvSpPr txBox="1"/>
          <p:nvPr/>
        </p:nvSpPr>
        <p:spPr>
          <a:xfrm>
            <a:off x="1403648" y="116632"/>
            <a:ext cx="6264600" cy="95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rPr>
              <a:t>Part 4: modelling transmission</a:t>
            </a:r>
            <a:endParaRPr/>
          </a:p>
        </p:txBody>
      </p:sp>
      <p:sp>
        <p:nvSpPr>
          <p:cNvPr id="1389" name="Google Shape;1389;p63"/>
          <p:cNvSpPr txBox="1"/>
          <p:nvPr/>
        </p:nvSpPr>
        <p:spPr>
          <a:xfrm>
            <a:off x="2976736" y="1501552"/>
            <a:ext cx="3300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C00000"/>
                </a:solidFill>
                <a:latin typeface="Arial"/>
                <a:ea typeface="Arial"/>
                <a:cs typeface="Arial"/>
                <a:sym typeface="Arial"/>
              </a:rPr>
              <a:t>Density of incubation period</a:t>
            </a:r>
            <a:endParaRPr sz="1800">
              <a:solidFill>
                <a:srgbClr val="C00000"/>
              </a:solidFill>
              <a:latin typeface="Arial"/>
              <a:ea typeface="Arial"/>
              <a:cs typeface="Arial"/>
              <a:sym typeface="Arial"/>
            </a:endParaRPr>
          </a:p>
        </p:txBody>
      </p:sp>
      <p:sp>
        <p:nvSpPr>
          <p:cNvPr id="1390" name="Google Shape;1390;p63"/>
          <p:cNvSpPr txBox="1"/>
          <p:nvPr/>
        </p:nvSpPr>
        <p:spPr>
          <a:xfrm>
            <a:off x="4067944" y="1124744"/>
            <a:ext cx="1018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1800" u="sng">
                <a:solidFill>
                  <a:schemeClr val="dk1"/>
                </a:solidFill>
                <a:latin typeface="Arial"/>
                <a:ea typeface="Arial"/>
                <a:cs typeface="Arial"/>
                <a:sym typeface="Arial"/>
              </a:rPr>
              <a:t>MODEL</a:t>
            </a:r>
            <a:endParaRPr/>
          </a:p>
        </p:txBody>
      </p:sp>
      <p:cxnSp>
        <p:nvCxnSpPr>
          <p:cNvPr id="1391" name="Google Shape;1391;p63"/>
          <p:cNvCxnSpPr/>
          <p:nvPr/>
        </p:nvCxnSpPr>
        <p:spPr>
          <a:xfrm>
            <a:off x="3444280" y="2941712"/>
            <a:ext cx="2521200" cy="0"/>
          </a:xfrm>
          <a:prstGeom prst="straightConnector1">
            <a:avLst/>
          </a:prstGeom>
          <a:noFill/>
          <a:ln cap="flat" cmpd="sng" w="9525">
            <a:solidFill>
              <a:schemeClr val="dk1"/>
            </a:solidFill>
            <a:prstDash val="solid"/>
            <a:round/>
            <a:headEnd len="sm" w="sm" type="none"/>
            <a:tailEnd len="med" w="med" type="triangle"/>
          </a:ln>
        </p:spPr>
      </p:cxnSp>
      <p:sp>
        <p:nvSpPr>
          <p:cNvPr id="1392" name="Google Shape;1392;p63"/>
          <p:cNvSpPr txBox="1"/>
          <p:nvPr/>
        </p:nvSpPr>
        <p:spPr>
          <a:xfrm>
            <a:off x="5389512" y="3013720"/>
            <a:ext cx="6324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Time</a:t>
            </a:r>
            <a:endParaRPr/>
          </a:p>
        </p:txBody>
      </p:sp>
      <p:sp>
        <p:nvSpPr>
          <p:cNvPr id="1393" name="Google Shape;1393;p63"/>
          <p:cNvSpPr txBox="1"/>
          <p:nvPr/>
        </p:nvSpPr>
        <p:spPr>
          <a:xfrm>
            <a:off x="3408784" y="2941712"/>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0</a:t>
            </a:r>
            <a:endParaRPr/>
          </a:p>
        </p:txBody>
      </p:sp>
      <p:sp>
        <p:nvSpPr>
          <p:cNvPr id="1394" name="Google Shape;1394;p63"/>
          <p:cNvSpPr/>
          <p:nvPr/>
        </p:nvSpPr>
        <p:spPr>
          <a:xfrm>
            <a:off x="3512450" y="1805738"/>
            <a:ext cx="1233725" cy="1059550"/>
          </a:xfrm>
          <a:custGeom>
            <a:rect b="b" l="l" r="r" t="t"/>
            <a:pathLst>
              <a:path extrusionOk="0" h="42382" w="49349">
                <a:moveTo>
                  <a:pt x="0" y="0"/>
                </a:moveTo>
                <a:cubicBezTo>
                  <a:pt x="1548" y="5515"/>
                  <a:pt x="1064" y="26028"/>
                  <a:pt x="9289" y="33092"/>
                </a:cubicBezTo>
                <a:cubicBezTo>
                  <a:pt x="17514" y="40156"/>
                  <a:pt x="42672" y="40834"/>
                  <a:pt x="49349" y="42382"/>
                </a:cubicBezTo>
              </a:path>
            </a:pathLst>
          </a:custGeom>
          <a:noFill/>
          <a:ln cap="flat" cmpd="sng" w="19050">
            <a:solidFill>
              <a:srgbClr val="0000FF"/>
            </a:solidFill>
            <a:prstDash val="solid"/>
            <a:round/>
            <a:headEnd len="med" w="med" type="none"/>
            <a:tailEnd len="med" w="med" type="none"/>
          </a:ln>
        </p:spPr>
      </p:sp>
      <p:pic>
        <p:nvPicPr>
          <p:cNvPr id="1395" name="Google Shape;1395;p63"/>
          <p:cNvPicPr preferRelativeResize="0"/>
          <p:nvPr/>
        </p:nvPicPr>
        <p:blipFill>
          <a:blip r:embed="rId3">
            <a:alphaModFix/>
          </a:blip>
          <a:stretch>
            <a:fillRect/>
          </a:stretch>
        </p:blipFill>
        <p:spPr>
          <a:xfrm>
            <a:off x="5242161" y="2138488"/>
            <a:ext cx="2561564" cy="394087"/>
          </a:xfrm>
          <a:prstGeom prst="rect">
            <a:avLst/>
          </a:prstGeom>
          <a:noFill/>
          <a:ln>
            <a:noFill/>
          </a:ln>
        </p:spPr>
      </p:pic>
      <p:pic>
        <p:nvPicPr>
          <p:cNvPr id="1396" name="Google Shape;1396;p63"/>
          <p:cNvPicPr preferRelativeResize="0"/>
          <p:nvPr/>
        </p:nvPicPr>
        <p:blipFill>
          <a:blip r:embed="rId4">
            <a:alphaModFix/>
          </a:blip>
          <a:stretch>
            <a:fillRect/>
          </a:stretch>
        </p:blipFill>
        <p:spPr>
          <a:xfrm>
            <a:off x="6222900" y="2773270"/>
            <a:ext cx="447675" cy="104775"/>
          </a:xfrm>
          <a:prstGeom prst="rect">
            <a:avLst/>
          </a:prstGeom>
          <a:noFill/>
          <a:ln>
            <a:noFill/>
          </a:ln>
        </p:spPr>
      </p:pic>
      <p:sp>
        <p:nvSpPr>
          <p:cNvPr id="1397" name="Google Shape;1397;p63"/>
          <p:cNvSpPr txBox="1"/>
          <p:nvPr/>
        </p:nvSpPr>
        <p:spPr>
          <a:xfrm>
            <a:off x="6629400" y="2581625"/>
            <a:ext cx="45615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is the mean incubation period</a:t>
            </a:r>
            <a:endParaRPr/>
          </a:p>
        </p:txBody>
      </p:sp>
      <p:sp>
        <p:nvSpPr>
          <p:cNvPr id="1398" name="Google Shape;1398;p63"/>
          <p:cNvSpPr txBox="1"/>
          <p:nvPr/>
        </p:nvSpPr>
        <p:spPr>
          <a:xfrm>
            <a:off x="3891136" y="3558952"/>
            <a:ext cx="3300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C00000"/>
                </a:solidFill>
              </a:rPr>
              <a:t>Hazard function</a:t>
            </a:r>
            <a:endParaRPr sz="1800">
              <a:solidFill>
                <a:srgbClr val="C00000"/>
              </a:solidFill>
              <a:latin typeface="Arial"/>
              <a:ea typeface="Arial"/>
              <a:cs typeface="Arial"/>
              <a:sym typeface="Arial"/>
            </a:endParaRPr>
          </a:p>
        </p:txBody>
      </p:sp>
      <p:cxnSp>
        <p:nvCxnSpPr>
          <p:cNvPr id="1399" name="Google Shape;1399;p63"/>
          <p:cNvCxnSpPr/>
          <p:nvPr/>
        </p:nvCxnSpPr>
        <p:spPr>
          <a:xfrm>
            <a:off x="3520480" y="4999112"/>
            <a:ext cx="2521200" cy="0"/>
          </a:xfrm>
          <a:prstGeom prst="straightConnector1">
            <a:avLst/>
          </a:prstGeom>
          <a:noFill/>
          <a:ln cap="flat" cmpd="sng" w="9525">
            <a:solidFill>
              <a:schemeClr val="dk1"/>
            </a:solidFill>
            <a:prstDash val="solid"/>
            <a:round/>
            <a:headEnd len="sm" w="sm" type="none"/>
            <a:tailEnd len="med" w="med" type="triangle"/>
          </a:ln>
        </p:spPr>
      </p:cxnSp>
      <p:sp>
        <p:nvSpPr>
          <p:cNvPr id="1400" name="Google Shape;1400;p63"/>
          <p:cNvSpPr txBox="1"/>
          <p:nvPr/>
        </p:nvSpPr>
        <p:spPr>
          <a:xfrm>
            <a:off x="5465712" y="5071120"/>
            <a:ext cx="6324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Time</a:t>
            </a:r>
            <a:endParaRPr/>
          </a:p>
        </p:txBody>
      </p:sp>
      <p:sp>
        <p:nvSpPr>
          <p:cNvPr id="1401" name="Google Shape;1401;p63"/>
          <p:cNvSpPr txBox="1"/>
          <p:nvPr/>
        </p:nvSpPr>
        <p:spPr>
          <a:xfrm>
            <a:off x="3484984" y="4999112"/>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0</a:t>
            </a:r>
            <a:endParaRPr/>
          </a:p>
        </p:txBody>
      </p:sp>
      <p:sp>
        <p:nvSpPr>
          <p:cNvPr id="1402" name="Google Shape;1402;p63"/>
          <p:cNvSpPr txBox="1"/>
          <p:nvPr/>
        </p:nvSpPr>
        <p:spPr>
          <a:xfrm>
            <a:off x="6705600" y="4639025"/>
            <a:ext cx="2438400" cy="15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is the transmission parameter and controls the height of the curve</a:t>
            </a:r>
            <a:endParaRPr/>
          </a:p>
        </p:txBody>
      </p:sp>
      <p:sp>
        <p:nvSpPr>
          <p:cNvPr id="1403" name="Google Shape;1403;p63"/>
          <p:cNvSpPr/>
          <p:nvPr/>
        </p:nvSpPr>
        <p:spPr>
          <a:xfrm>
            <a:off x="3563625" y="4474325"/>
            <a:ext cx="1987700" cy="491000"/>
          </a:xfrm>
          <a:custGeom>
            <a:rect b="b" l="l" r="r" t="t"/>
            <a:pathLst>
              <a:path extrusionOk="0" h="19640" w="79508">
                <a:moveTo>
                  <a:pt x="0" y="0"/>
                </a:moveTo>
                <a:cubicBezTo>
                  <a:pt x="1953" y="2112"/>
                  <a:pt x="6335" y="9503"/>
                  <a:pt x="11720" y="12671"/>
                </a:cubicBezTo>
                <a:cubicBezTo>
                  <a:pt x="17105" y="15839"/>
                  <a:pt x="24866" y="17897"/>
                  <a:pt x="32310" y="19006"/>
                </a:cubicBezTo>
                <a:cubicBezTo>
                  <a:pt x="39754" y="20115"/>
                  <a:pt x="48519" y="19217"/>
                  <a:pt x="56385" y="19323"/>
                </a:cubicBezTo>
                <a:cubicBezTo>
                  <a:pt x="64251" y="19429"/>
                  <a:pt x="75654" y="19587"/>
                  <a:pt x="79508" y="19640"/>
                </a:cubicBezTo>
              </a:path>
            </a:pathLst>
          </a:custGeom>
          <a:noFill/>
          <a:ln cap="flat" cmpd="sng" w="19050">
            <a:solidFill>
              <a:srgbClr val="38761D"/>
            </a:solidFill>
            <a:prstDash val="solid"/>
            <a:round/>
            <a:headEnd len="med" w="med" type="none"/>
            <a:tailEnd len="med" w="med" type="none"/>
          </a:ln>
        </p:spPr>
      </p:sp>
      <p:pic>
        <p:nvPicPr>
          <p:cNvPr id="1404" name="Google Shape;1404;p63"/>
          <p:cNvPicPr preferRelativeResize="0"/>
          <p:nvPr/>
        </p:nvPicPr>
        <p:blipFill>
          <a:blip r:embed="rId5">
            <a:alphaModFix/>
          </a:blip>
          <a:stretch>
            <a:fillRect/>
          </a:stretch>
        </p:blipFill>
        <p:spPr>
          <a:xfrm>
            <a:off x="5356125" y="4069332"/>
            <a:ext cx="2333625" cy="428625"/>
          </a:xfrm>
          <a:prstGeom prst="rect">
            <a:avLst/>
          </a:prstGeom>
          <a:noFill/>
          <a:ln>
            <a:noFill/>
          </a:ln>
        </p:spPr>
      </p:pic>
      <p:sp>
        <p:nvSpPr>
          <p:cNvPr id="1405" name="Google Shape;1405;p63"/>
          <p:cNvSpPr txBox="1"/>
          <p:nvPr/>
        </p:nvSpPr>
        <p:spPr>
          <a:xfrm>
            <a:off x="6746775" y="5529475"/>
            <a:ext cx="2438400" cy="91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is the mean incubation period and controls the width of the curve</a:t>
            </a:r>
            <a:endParaRPr/>
          </a:p>
        </p:txBody>
      </p:sp>
      <p:pic>
        <p:nvPicPr>
          <p:cNvPr id="1406" name="Google Shape;1406;p63"/>
          <p:cNvPicPr preferRelativeResize="0"/>
          <p:nvPr/>
        </p:nvPicPr>
        <p:blipFill>
          <a:blip r:embed="rId6">
            <a:alphaModFix/>
          </a:blip>
          <a:stretch>
            <a:fillRect/>
          </a:stretch>
        </p:blipFill>
        <p:spPr>
          <a:xfrm>
            <a:off x="6356250" y="5689232"/>
            <a:ext cx="333375" cy="133350"/>
          </a:xfrm>
          <a:prstGeom prst="rect">
            <a:avLst/>
          </a:prstGeom>
          <a:noFill/>
          <a:ln>
            <a:noFill/>
          </a:ln>
        </p:spPr>
      </p:pic>
      <p:pic>
        <p:nvPicPr>
          <p:cNvPr id="1407" name="Google Shape;1407;p63"/>
          <p:cNvPicPr preferRelativeResize="0"/>
          <p:nvPr/>
        </p:nvPicPr>
        <p:blipFill>
          <a:blip r:embed="rId7">
            <a:alphaModFix/>
          </a:blip>
          <a:stretch>
            <a:fillRect/>
          </a:stretch>
        </p:blipFill>
        <p:spPr>
          <a:xfrm>
            <a:off x="6477000" y="4804432"/>
            <a:ext cx="104775" cy="152400"/>
          </a:xfrm>
          <a:prstGeom prst="rect">
            <a:avLst/>
          </a:prstGeom>
          <a:noFill/>
          <a:ln>
            <a:noFill/>
          </a:ln>
        </p:spPr>
      </p:pic>
      <p:sp>
        <p:nvSpPr>
          <p:cNvPr id="1408" name="Google Shape;1408;p63"/>
          <p:cNvSpPr txBox="1"/>
          <p:nvPr/>
        </p:nvSpPr>
        <p:spPr>
          <a:xfrm>
            <a:off x="2706725" y="6232325"/>
            <a:ext cx="4561500" cy="53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t>The hazard function describes the risk of transmission at a given time since infection</a:t>
            </a:r>
            <a:endParaRPr/>
          </a:p>
        </p:txBody>
      </p:sp>
      <p:sp>
        <p:nvSpPr>
          <p:cNvPr id="1409" name="Google Shape;1409;p63"/>
          <p:cNvSpPr txBox="1"/>
          <p:nvPr/>
        </p:nvSpPr>
        <p:spPr>
          <a:xfrm>
            <a:off x="-23275" y="6384725"/>
            <a:ext cx="3000000" cy="300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200"/>
              <a:t>(p</a:t>
            </a:r>
            <a:r>
              <a:rPr lang="en-US" sz="1200"/>
              <a:t>robability of infection between </a:t>
            </a:r>
            <a:r>
              <a:rPr i="1" lang="en-US" sz="1200"/>
              <a:t>[t,t+dt] </a:t>
            </a:r>
            <a:r>
              <a:rPr lang="en-US" sz="1200"/>
              <a:t>given not infected up to time </a:t>
            </a:r>
            <a:r>
              <a:rPr i="1" lang="en-US" sz="1200"/>
              <a:t>t is </a:t>
            </a:r>
            <a:r>
              <a:rPr i="1" lang="en-US" sz="1200"/>
              <a:t>h</a:t>
            </a:r>
            <a:r>
              <a:rPr i="1" lang="en-US" sz="1200"/>
              <a:t>(t)dt)</a:t>
            </a:r>
            <a:endParaRPr i="1" sz="12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14" name="Shape 1414"/>
        <p:cNvGrpSpPr/>
        <p:nvPr/>
      </p:nvGrpSpPr>
      <p:grpSpPr>
        <a:xfrm>
          <a:off x="0" y="0"/>
          <a:ext cx="0" cy="0"/>
          <a:chOff x="0" y="0"/>
          <a:chExt cx="0" cy="0"/>
        </a:xfrm>
      </p:grpSpPr>
      <p:sp>
        <p:nvSpPr>
          <p:cNvPr id="1415" name="Google Shape;1415;p64"/>
          <p:cNvSpPr txBox="1"/>
          <p:nvPr/>
        </p:nvSpPr>
        <p:spPr>
          <a:xfrm>
            <a:off x="1403648" y="116632"/>
            <a:ext cx="6264600" cy="95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rPr>
              <a:t>Part 4: modelling transmission</a:t>
            </a:r>
            <a:endParaRPr/>
          </a:p>
        </p:txBody>
      </p:sp>
      <p:sp>
        <p:nvSpPr>
          <p:cNvPr id="1416" name="Google Shape;1416;p64"/>
          <p:cNvSpPr txBox="1"/>
          <p:nvPr/>
        </p:nvSpPr>
        <p:spPr>
          <a:xfrm>
            <a:off x="3891136" y="1120552"/>
            <a:ext cx="3300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C00000"/>
                </a:solidFill>
              </a:rPr>
              <a:t>Hazard function</a:t>
            </a:r>
            <a:endParaRPr sz="1800">
              <a:solidFill>
                <a:srgbClr val="C00000"/>
              </a:solidFill>
              <a:latin typeface="Arial"/>
              <a:ea typeface="Arial"/>
              <a:cs typeface="Arial"/>
              <a:sym typeface="Arial"/>
            </a:endParaRPr>
          </a:p>
        </p:txBody>
      </p:sp>
      <p:cxnSp>
        <p:nvCxnSpPr>
          <p:cNvPr id="1417" name="Google Shape;1417;p64"/>
          <p:cNvCxnSpPr/>
          <p:nvPr/>
        </p:nvCxnSpPr>
        <p:spPr>
          <a:xfrm>
            <a:off x="3520480" y="2560712"/>
            <a:ext cx="2521200" cy="0"/>
          </a:xfrm>
          <a:prstGeom prst="straightConnector1">
            <a:avLst/>
          </a:prstGeom>
          <a:noFill/>
          <a:ln cap="flat" cmpd="sng" w="9525">
            <a:solidFill>
              <a:schemeClr val="dk1"/>
            </a:solidFill>
            <a:prstDash val="solid"/>
            <a:round/>
            <a:headEnd len="sm" w="sm" type="none"/>
            <a:tailEnd len="med" w="med" type="triangle"/>
          </a:ln>
        </p:spPr>
      </p:cxnSp>
      <p:sp>
        <p:nvSpPr>
          <p:cNvPr id="1418" name="Google Shape;1418;p64"/>
          <p:cNvSpPr txBox="1"/>
          <p:nvPr/>
        </p:nvSpPr>
        <p:spPr>
          <a:xfrm>
            <a:off x="5465712" y="2556520"/>
            <a:ext cx="6324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rPr>
              <a:t>t</a:t>
            </a:r>
            <a:endParaRPr/>
          </a:p>
        </p:txBody>
      </p:sp>
      <p:sp>
        <p:nvSpPr>
          <p:cNvPr id="1419" name="Google Shape;1419;p64"/>
          <p:cNvSpPr txBox="1"/>
          <p:nvPr/>
        </p:nvSpPr>
        <p:spPr>
          <a:xfrm>
            <a:off x="3484984" y="2560712"/>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0</a:t>
            </a:r>
            <a:endParaRPr/>
          </a:p>
        </p:txBody>
      </p:sp>
      <p:sp>
        <p:nvSpPr>
          <p:cNvPr id="1420" name="Google Shape;1420;p64"/>
          <p:cNvSpPr/>
          <p:nvPr/>
        </p:nvSpPr>
        <p:spPr>
          <a:xfrm>
            <a:off x="3563625" y="2035925"/>
            <a:ext cx="1987700" cy="491000"/>
          </a:xfrm>
          <a:custGeom>
            <a:rect b="b" l="l" r="r" t="t"/>
            <a:pathLst>
              <a:path extrusionOk="0" h="19640" w="79508">
                <a:moveTo>
                  <a:pt x="0" y="0"/>
                </a:moveTo>
                <a:cubicBezTo>
                  <a:pt x="1953" y="2112"/>
                  <a:pt x="6335" y="9503"/>
                  <a:pt x="11720" y="12671"/>
                </a:cubicBezTo>
                <a:cubicBezTo>
                  <a:pt x="17105" y="15839"/>
                  <a:pt x="24866" y="17897"/>
                  <a:pt x="32310" y="19006"/>
                </a:cubicBezTo>
                <a:cubicBezTo>
                  <a:pt x="39754" y="20115"/>
                  <a:pt x="48519" y="19217"/>
                  <a:pt x="56385" y="19323"/>
                </a:cubicBezTo>
                <a:cubicBezTo>
                  <a:pt x="64251" y="19429"/>
                  <a:pt x="75654" y="19587"/>
                  <a:pt x="79508" y="19640"/>
                </a:cubicBezTo>
              </a:path>
            </a:pathLst>
          </a:custGeom>
          <a:noFill/>
          <a:ln cap="flat" cmpd="sng" w="19050">
            <a:solidFill>
              <a:srgbClr val="38761D"/>
            </a:solidFill>
            <a:prstDash val="solid"/>
            <a:round/>
            <a:headEnd len="med" w="med" type="none"/>
            <a:tailEnd len="med" w="med" type="none"/>
          </a:ln>
        </p:spPr>
      </p:sp>
      <p:sp>
        <p:nvSpPr>
          <p:cNvPr id="1421" name="Google Shape;1421;p64"/>
          <p:cNvSpPr txBox="1"/>
          <p:nvPr/>
        </p:nvSpPr>
        <p:spPr>
          <a:xfrm>
            <a:off x="2706725" y="2879525"/>
            <a:ext cx="4561500" cy="53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t>The hazard function describes the risk of becoming infected at time t since infection of the donor</a:t>
            </a:r>
            <a:endParaRPr/>
          </a:p>
        </p:txBody>
      </p:sp>
      <p:sp>
        <p:nvSpPr>
          <p:cNvPr id="1422" name="Google Shape;1422;p64"/>
          <p:cNvSpPr txBox="1"/>
          <p:nvPr/>
        </p:nvSpPr>
        <p:spPr>
          <a:xfrm>
            <a:off x="1062036" y="3970852"/>
            <a:ext cx="3300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C00000"/>
                </a:solidFill>
              </a:rPr>
              <a:t>Cumulative hazard</a:t>
            </a:r>
            <a:r>
              <a:rPr lang="en-US" sz="1800">
                <a:solidFill>
                  <a:srgbClr val="C00000"/>
                </a:solidFill>
              </a:rPr>
              <a:t> function</a:t>
            </a:r>
            <a:endParaRPr sz="1800">
              <a:solidFill>
                <a:srgbClr val="C00000"/>
              </a:solidFill>
              <a:latin typeface="Arial"/>
              <a:ea typeface="Arial"/>
              <a:cs typeface="Arial"/>
              <a:sym typeface="Arial"/>
            </a:endParaRPr>
          </a:p>
        </p:txBody>
      </p:sp>
      <p:sp>
        <p:nvSpPr>
          <p:cNvPr id="1423" name="Google Shape;1423;p64"/>
          <p:cNvSpPr txBox="1"/>
          <p:nvPr/>
        </p:nvSpPr>
        <p:spPr>
          <a:xfrm>
            <a:off x="4119736" y="3482752"/>
            <a:ext cx="3300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C00000"/>
                </a:solidFill>
              </a:rPr>
              <a:t>and friends</a:t>
            </a:r>
            <a:endParaRPr sz="1800">
              <a:solidFill>
                <a:srgbClr val="C00000"/>
              </a:solidFill>
              <a:latin typeface="Arial"/>
              <a:ea typeface="Arial"/>
              <a:cs typeface="Arial"/>
              <a:sym typeface="Arial"/>
            </a:endParaRPr>
          </a:p>
        </p:txBody>
      </p:sp>
      <p:cxnSp>
        <p:nvCxnSpPr>
          <p:cNvPr id="1424" name="Google Shape;1424;p64"/>
          <p:cNvCxnSpPr/>
          <p:nvPr/>
        </p:nvCxnSpPr>
        <p:spPr>
          <a:xfrm>
            <a:off x="1463080" y="5456312"/>
            <a:ext cx="2521200" cy="0"/>
          </a:xfrm>
          <a:prstGeom prst="straightConnector1">
            <a:avLst/>
          </a:prstGeom>
          <a:noFill/>
          <a:ln cap="flat" cmpd="sng" w="9525">
            <a:solidFill>
              <a:schemeClr val="dk1"/>
            </a:solidFill>
            <a:prstDash val="solid"/>
            <a:round/>
            <a:headEnd len="sm" w="sm" type="none"/>
            <a:tailEnd len="med" w="med" type="triangle"/>
          </a:ln>
        </p:spPr>
      </p:cxnSp>
      <p:sp>
        <p:nvSpPr>
          <p:cNvPr id="1425" name="Google Shape;1425;p64"/>
          <p:cNvSpPr txBox="1"/>
          <p:nvPr/>
        </p:nvSpPr>
        <p:spPr>
          <a:xfrm>
            <a:off x="3713112" y="5528320"/>
            <a:ext cx="6324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rPr>
              <a:t>t</a:t>
            </a:r>
            <a:endParaRPr/>
          </a:p>
        </p:txBody>
      </p:sp>
      <p:sp>
        <p:nvSpPr>
          <p:cNvPr id="1426" name="Google Shape;1426;p64"/>
          <p:cNvSpPr txBox="1"/>
          <p:nvPr/>
        </p:nvSpPr>
        <p:spPr>
          <a:xfrm>
            <a:off x="1427584" y="5456312"/>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0</a:t>
            </a:r>
            <a:endParaRPr/>
          </a:p>
        </p:txBody>
      </p:sp>
      <p:sp>
        <p:nvSpPr>
          <p:cNvPr id="1427" name="Google Shape;1427;p64"/>
          <p:cNvSpPr/>
          <p:nvPr/>
        </p:nvSpPr>
        <p:spPr>
          <a:xfrm flipH="1" rot="10800000">
            <a:off x="1506225" y="4931525"/>
            <a:ext cx="1987700" cy="491000"/>
          </a:xfrm>
          <a:custGeom>
            <a:rect b="b" l="l" r="r" t="t"/>
            <a:pathLst>
              <a:path extrusionOk="0" h="19640" w="79508">
                <a:moveTo>
                  <a:pt x="0" y="0"/>
                </a:moveTo>
                <a:cubicBezTo>
                  <a:pt x="1953" y="2112"/>
                  <a:pt x="6335" y="9503"/>
                  <a:pt x="11720" y="12671"/>
                </a:cubicBezTo>
                <a:cubicBezTo>
                  <a:pt x="17105" y="15839"/>
                  <a:pt x="24866" y="17897"/>
                  <a:pt x="32310" y="19006"/>
                </a:cubicBezTo>
                <a:cubicBezTo>
                  <a:pt x="39754" y="20115"/>
                  <a:pt x="48519" y="19217"/>
                  <a:pt x="56385" y="19323"/>
                </a:cubicBezTo>
                <a:cubicBezTo>
                  <a:pt x="64251" y="19429"/>
                  <a:pt x="75654" y="19587"/>
                  <a:pt x="79508" y="19640"/>
                </a:cubicBezTo>
              </a:path>
            </a:pathLst>
          </a:custGeom>
          <a:noFill/>
          <a:ln cap="flat" cmpd="sng" w="19050">
            <a:solidFill>
              <a:srgbClr val="38761D"/>
            </a:solidFill>
            <a:prstDash val="solid"/>
            <a:round/>
            <a:headEnd len="med" w="med" type="none"/>
            <a:tailEnd len="med" w="med" type="none"/>
          </a:ln>
        </p:spPr>
      </p:sp>
      <p:sp>
        <p:nvSpPr>
          <p:cNvPr id="1428" name="Google Shape;1428;p64"/>
          <p:cNvSpPr txBox="1"/>
          <p:nvPr/>
        </p:nvSpPr>
        <p:spPr>
          <a:xfrm>
            <a:off x="877925" y="5775125"/>
            <a:ext cx="3650700" cy="108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t>The cumulative hazard function describes the total risk of having become infected at time t since infection of the donor</a:t>
            </a:r>
            <a:endParaRPr/>
          </a:p>
        </p:txBody>
      </p:sp>
      <p:sp>
        <p:nvSpPr>
          <p:cNvPr id="1429" name="Google Shape;1429;p64"/>
          <p:cNvSpPr txBox="1"/>
          <p:nvPr/>
        </p:nvSpPr>
        <p:spPr>
          <a:xfrm>
            <a:off x="5862636" y="3970852"/>
            <a:ext cx="3300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C00000"/>
                </a:solidFill>
              </a:rPr>
              <a:t>Survival</a:t>
            </a:r>
            <a:r>
              <a:rPr lang="en-US" sz="1800">
                <a:solidFill>
                  <a:srgbClr val="C00000"/>
                </a:solidFill>
              </a:rPr>
              <a:t> function</a:t>
            </a:r>
            <a:endParaRPr sz="1800">
              <a:solidFill>
                <a:srgbClr val="C00000"/>
              </a:solidFill>
              <a:latin typeface="Arial"/>
              <a:ea typeface="Arial"/>
              <a:cs typeface="Arial"/>
              <a:sym typeface="Arial"/>
            </a:endParaRPr>
          </a:p>
        </p:txBody>
      </p:sp>
      <p:cxnSp>
        <p:nvCxnSpPr>
          <p:cNvPr id="1430" name="Google Shape;1430;p64"/>
          <p:cNvCxnSpPr/>
          <p:nvPr/>
        </p:nvCxnSpPr>
        <p:spPr>
          <a:xfrm>
            <a:off x="5577880" y="5456312"/>
            <a:ext cx="2521200" cy="0"/>
          </a:xfrm>
          <a:prstGeom prst="straightConnector1">
            <a:avLst/>
          </a:prstGeom>
          <a:noFill/>
          <a:ln cap="flat" cmpd="sng" w="9525">
            <a:solidFill>
              <a:schemeClr val="dk1"/>
            </a:solidFill>
            <a:prstDash val="solid"/>
            <a:round/>
            <a:headEnd len="sm" w="sm" type="none"/>
            <a:tailEnd len="med" w="med" type="triangle"/>
          </a:ln>
        </p:spPr>
      </p:cxnSp>
      <p:sp>
        <p:nvSpPr>
          <p:cNvPr id="1431" name="Google Shape;1431;p64"/>
          <p:cNvSpPr txBox="1"/>
          <p:nvPr/>
        </p:nvSpPr>
        <p:spPr>
          <a:xfrm>
            <a:off x="7904112" y="5452120"/>
            <a:ext cx="6324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rPr>
              <a:t>t</a:t>
            </a:r>
            <a:endParaRPr/>
          </a:p>
        </p:txBody>
      </p:sp>
      <p:sp>
        <p:nvSpPr>
          <p:cNvPr id="1432" name="Google Shape;1432;p64"/>
          <p:cNvSpPr txBox="1"/>
          <p:nvPr/>
        </p:nvSpPr>
        <p:spPr>
          <a:xfrm>
            <a:off x="5542384" y="5456312"/>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0</a:t>
            </a:r>
            <a:endParaRPr/>
          </a:p>
        </p:txBody>
      </p:sp>
      <p:sp>
        <p:nvSpPr>
          <p:cNvPr id="1433" name="Google Shape;1433;p64"/>
          <p:cNvSpPr/>
          <p:nvPr/>
        </p:nvSpPr>
        <p:spPr>
          <a:xfrm>
            <a:off x="5621025" y="4931525"/>
            <a:ext cx="1987700" cy="491000"/>
          </a:xfrm>
          <a:custGeom>
            <a:rect b="b" l="l" r="r" t="t"/>
            <a:pathLst>
              <a:path extrusionOk="0" h="19640" w="79508">
                <a:moveTo>
                  <a:pt x="0" y="0"/>
                </a:moveTo>
                <a:cubicBezTo>
                  <a:pt x="1953" y="2112"/>
                  <a:pt x="6335" y="9503"/>
                  <a:pt x="11720" y="12671"/>
                </a:cubicBezTo>
                <a:cubicBezTo>
                  <a:pt x="17105" y="15839"/>
                  <a:pt x="24866" y="17897"/>
                  <a:pt x="32310" y="19006"/>
                </a:cubicBezTo>
                <a:cubicBezTo>
                  <a:pt x="39754" y="20115"/>
                  <a:pt x="48519" y="19217"/>
                  <a:pt x="56385" y="19323"/>
                </a:cubicBezTo>
                <a:cubicBezTo>
                  <a:pt x="64251" y="19429"/>
                  <a:pt x="75654" y="19587"/>
                  <a:pt x="79508" y="19640"/>
                </a:cubicBezTo>
              </a:path>
            </a:pathLst>
          </a:custGeom>
          <a:noFill/>
          <a:ln cap="flat" cmpd="sng" w="19050">
            <a:solidFill>
              <a:srgbClr val="38761D"/>
            </a:solidFill>
            <a:prstDash val="solid"/>
            <a:round/>
            <a:headEnd len="med" w="med" type="none"/>
            <a:tailEnd len="med" w="med" type="none"/>
          </a:ln>
        </p:spPr>
      </p:sp>
      <p:sp>
        <p:nvSpPr>
          <p:cNvPr id="1434" name="Google Shape;1434;p64"/>
          <p:cNvSpPr txBox="1"/>
          <p:nvPr/>
        </p:nvSpPr>
        <p:spPr>
          <a:xfrm>
            <a:off x="4916525" y="5775125"/>
            <a:ext cx="3772500" cy="101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t>The survival function describes the probability of escaping infection up to time t since infection of the donor</a:t>
            </a:r>
            <a:endParaRPr/>
          </a:p>
        </p:txBody>
      </p:sp>
      <p:pic>
        <p:nvPicPr>
          <p:cNvPr id="1435" name="Google Shape;1435;p64"/>
          <p:cNvPicPr preferRelativeResize="0"/>
          <p:nvPr/>
        </p:nvPicPr>
        <p:blipFill>
          <a:blip r:embed="rId3">
            <a:alphaModFix/>
          </a:blip>
          <a:stretch>
            <a:fillRect/>
          </a:stretch>
        </p:blipFill>
        <p:spPr>
          <a:xfrm>
            <a:off x="5534648" y="1828800"/>
            <a:ext cx="266700" cy="171450"/>
          </a:xfrm>
          <a:prstGeom prst="rect">
            <a:avLst/>
          </a:prstGeom>
          <a:noFill/>
          <a:ln>
            <a:noFill/>
          </a:ln>
        </p:spPr>
      </p:pic>
      <p:pic>
        <p:nvPicPr>
          <p:cNvPr id="1436" name="Google Shape;1436;p64"/>
          <p:cNvPicPr preferRelativeResize="0"/>
          <p:nvPr/>
        </p:nvPicPr>
        <p:blipFill>
          <a:blip r:embed="rId4">
            <a:alphaModFix/>
          </a:blip>
          <a:stretch>
            <a:fillRect/>
          </a:stretch>
        </p:blipFill>
        <p:spPr>
          <a:xfrm>
            <a:off x="3484975" y="4421532"/>
            <a:ext cx="1343025" cy="428625"/>
          </a:xfrm>
          <a:prstGeom prst="rect">
            <a:avLst/>
          </a:prstGeom>
          <a:noFill/>
          <a:ln>
            <a:noFill/>
          </a:ln>
        </p:spPr>
      </p:pic>
      <p:pic>
        <p:nvPicPr>
          <p:cNvPr id="1437" name="Google Shape;1437;p64"/>
          <p:cNvPicPr preferRelativeResize="0"/>
          <p:nvPr/>
        </p:nvPicPr>
        <p:blipFill>
          <a:blip r:embed="rId5">
            <a:alphaModFix/>
          </a:blip>
          <a:stretch>
            <a:fillRect/>
          </a:stretch>
        </p:blipFill>
        <p:spPr>
          <a:xfrm>
            <a:off x="7453875" y="4483682"/>
            <a:ext cx="1400175" cy="1714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42" name="Shape 1442"/>
        <p:cNvGrpSpPr/>
        <p:nvPr/>
      </p:nvGrpSpPr>
      <p:grpSpPr>
        <a:xfrm>
          <a:off x="0" y="0"/>
          <a:ext cx="0" cy="0"/>
          <a:chOff x="0" y="0"/>
          <a:chExt cx="0" cy="0"/>
        </a:xfrm>
      </p:grpSpPr>
      <p:sp>
        <p:nvSpPr>
          <p:cNvPr id="1443" name="Google Shape;1443;p65"/>
          <p:cNvSpPr txBox="1"/>
          <p:nvPr/>
        </p:nvSpPr>
        <p:spPr>
          <a:xfrm>
            <a:off x="1403648" y="116632"/>
            <a:ext cx="6264600" cy="95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rPr>
              <a:t>Part 4: modelling transmission</a:t>
            </a:r>
            <a:endParaRPr/>
          </a:p>
        </p:txBody>
      </p:sp>
      <p:cxnSp>
        <p:nvCxnSpPr>
          <p:cNvPr id="1444" name="Google Shape;1444;p65"/>
          <p:cNvCxnSpPr/>
          <p:nvPr/>
        </p:nvCxnSpPr>
        <p:spPr>
          <a:xfrm>
            <a:off x="1981200" y="2845296"/>
            <a:ext cx="7162800" cy="0"/>
          </a:xfrm>
          <a:prstGeom prst="straightConnector1">
            <a:avLst/>
          </a:prstGeom>
          <a:noFill/>
          <a:ln cap="rnd" cmpd="sng" w="9525">
            <a:solidFill>
              <a:schemeClr val="dk1"/>
            </a:solidFill>
            <a:prstDash val="dot"/>
            <a:round/>
            <a:headEnd len="sm" w="sm" type="none"/>
            <a:tailEnd len="sm" w="sm" type="none"/>
          </a:ln>
        </p:spPr>
      </p:cxnSp>
      <p:cxnSp>
        <p:nvCxnSpPr>
          <p:cNvPr id="1445" name="Google Shape;1445;p65"/>
          <p:cNvCxnSpPr/>
          <p:nvPr/>
        </p:nvCxnSpPr>
        <p:spPr>
          <a:xfrm>
            <a:off x="1925637" y="3561258"/>
            <a:ext cx="7162800" cy="0"/>
          </a:xfrm>
          <a:prstGeom prst="straightConnector1">
            <a:avLst/>
          </a:prstGeom>
          <a:noFill/>
          <a:ln cap="rnd" cmpd="sng" w="9525">
            <a:solidFill>
              <a:schemeClr val="dk1"/>
            </a:solidFill>
            <a:prstDash val="dot"/>
            <a:round/>
            <a:headEnd len="sm" w="sm" type="none"/>
            <a:tailEnd len="sm" w="sm" type="none"/>
          </a:ln>
        </p:spPr>
      </p:cxnSp>
      <p:sp>
        <p:nvSpPr>
          <p:cNvPr id="1446" name="Google Shape;1446;p65"/>
          <p:cNvSpPr txBox="1"/>
          <p:nvPr/>
        </p:nvSpPr>
        <p:spPr>
          <a:xfrm>
            <a:off x="251520" y="2629272"/>
            <a:ext cx="1370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Donor 1</a:t>
            </a:r>
            <a:endParaRPr/>
          </a:p>
        </p:txBody>
      </p:sp>
      <p:cxnSp>
        <p:nvCxnSpPr>
          <p:cNvPr id="1447" name="Google Shape;1447;p65"/>
          <p:cNvCxnSpPr/>
          <p:nvPr/>
        </p:nvCxnSpPr>
        <p:spPr>
          <a:xfrm>
            <a:off x="1676400" y="4103712"/>
            <a:ext cx="7239000" cy="0"/>
          </a:xfrm>
          <a:prstGeom prst="straightConnector1">
            <a:avLst/>
          </a:prstGeom>
          <a:noFill/>
          <a:ln cap="flat" cmpd="sng" w="9525">
            <a:solidFill>
              <a:schemeClr val="dk1"/>
            </a:solidFill>
            <a:prstDash val="solid"/>
            <a:round/>
            <a:headEnd len="sm" w="sm" type="none"/>
            <a:tailEnd len="med" w="med" type="triangle"/>
          </a:ln>
        </p:spPr>
      </p:cxnSp>
      <p:sp>
        <p:nvSpPr>
          <p:cNvPr id="1448" name="Google Shape;1448;p65"/>
          <p:cNvSpPr txBox="1"/>
          <p:nvPr/>
        </p:nvSpPr>
        <p:spPr>
          <a:xfrm>
            <a:off x="8001000" y="3646512"/>
            <a:ext cx="11430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Time</a:t>
            </a:r>
            <a:endParaRPr/>
          </a:p>
        </p:txBody>
      </p:sp>
      <p:sp>
        <p:nvSpPr>
          <p:cNvPr id="1449" name="Google Shape;1449;p65"/>
          <p:cNvSpPr txBox="1"/>
          <p:nvPr/>
        </p:nvSpPr>
        <p:spPr>
          <a:xfrm>
            <a:off x="251520" y="3277344"/>
            <a:ext cx="1329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Recipient 1</a:t>
            </a:r>
            <a:endParaRPr/>
          </a:p>
        </p:txBody>
      </p:sp>
      <p:cxnSp>
        <p:nvCxnSpPr>
          <p:cNvPr id="1450" name="Google Shape;1450;p65"/>
          <p:cNvCxnSpPr/>
          <p:nvPr/>
        </p:nvCxnSpPr>
        <p:spPr>
          <a:xfrm rot="5400000">
            <a:off x="4128350" y="2790471"/>
            <a:ext cx="214200" cy="0"/>
          </a:xfrm>
          <a:prstGeom prst="straightConnector1">
            <a:avLst/>
          </a:prstGeom>
          <a:noFill/>
          <a:ln cap="flat" cmpd="sng" w="50800">
            <a:solidFill>
              <a:srgbClr val="FF0000"/>
            </a:solidFill>
            <a:prstDash val="solid"/>
            <a:round/>
            <a:headEnd len="sm" w="sm" type="none"/>
            <a:tailEnd len="sm" w="sm" type="none"/>
          </a:ln>
        </p:spPr>
      </p:cxnSp>
      <p:cxnSp>
        <p:nvCxnSpPr>
          <p:cNvPr id="1451" name="Google Shape;1451;p65"/>
          <p:cNvCxnSpPr/>
          <p:nvPr/>
        </p:nvCxnSpPr>
        <p:spPr>
          <a:xfrm rot="5400000">
            <a:off x="3744820" y="3528460"/>
            <a:ext cx="214200" cy="0"/>
          </a:xfrm>
          <a:prstGeom prst="straightConnector1">
            <a:avLst/>
          </a:prstGeom>
          <a:noFill/>
          <a:ln cap="flat" cmpd="sng" w="50800">
            <a:solidFill>
              <a:srgbClr val="FF0000"/>
            </a:solidFill>
            <a:prstDash val="solid"/>
            <a:round/>
            <a:headEnd len="sm" w="sm" type="none"/>
            <a:tailEnd len="sm" w="sm" type="none"/>
          </a:ln>
        </p:spPr>
      </p:cxnSp>
      <p:sp>
        <p:nvSpPr>
          <p:cNvPr id="1452" name="Google Shape;1452;p65"/>
          <p:cNvSpPr txBox="1"/>
          <p:nvPr/>
        </p:nvSpPr>
        <p:spPr>
          <a:xfrm>
            <a:off x="3419872" y="2269232"/>
            <a:ext cx="16113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FF0000"/>
                </a:solidFill>
                <a:latin typeface="Arial"/>
                <a:ea typeface="Arial"/>
                <a:cs typeface="Arial"/>
                <a:sym typeface="Arial"/>
              </a:rPr>
              <a:t>Symptom onset</a:t>
            </a:r>
            <a:endParaRPr/>
          </a:p>
        </p:txBody>
      </p:sp>
      <p:cxnSp>
        <p:nvCxnSpPr>
          <p:cNvPr id="1453" name="Google Shape;1453;p65"/>
          <p:cNvCxnSpPr/>
          <p:nvPr/>
        </p:nvCxnSpPr>
        <p:spPr>
          <a:xfrm>
            <a:off x="2195736" y="2629272"/>
            <a:ext cx="0" cy="216000"/>
          </a:xfrm>
          <a:prstGeom prst="straightConnector1">
            <a:avLst/>
          </a:prstGeom>
          <a:noFill/>
          <a:ln cap="flat" cmpd="sng" w="19050">
            <a:solidFill>
              <a:srgbClr val="0000CC"/>
            </a:solidFill>
            <a:prstDash val="solid"/>
            <a:round/>
            <a:headEnd len="sm" w="sm" type="none"/>
            <a:tailEnd len="med" w="med" type="triangle"/>
          </a:ln>
        </p:spPr>
      </p:cxnSp>
      <p:sp>
        <p:nvSpPr>
          <p:cNvPr id="1454" name="Google Shape;1454;p65"/>
          <p:cNvSpPr txBox="1"/>
          <p:nvPr/>
        </p:nvSpPr>
        <p:spPr>
          <a:xfrm>
            <a:off x="1691680" y="2269232"/>
            <a:ext cx="9606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00CC"/>
                </a:solidFill>
                <a:latin typeface="Arial"/>
                <a:ea typeface="Arial"/>
                <a:cs typeface="Arial"/>
                <a:sym typeface="Arial"/>
              </a:rPr>
              <a:t>Infection</a:t>
            </a:r>
            <a:endParaRPr/>
          </a:p>
        </p:txBody>
      </p:sp>
      <p:cxnSp>
        <p:nvCxnSpPr>
          <p:cNvPr id="1455" name="Google Shape;1455;p65"/>
          <p:cNvCxnSpPr/>
          <p:nvPr/>
        </p:nvCxnSpPr>
        <p:spPr>
          <a:xfrm>
            <a:off x="3059832" y="3349352"/>
            <a:ext cx="0" cy="216000"/>
          </a:xfrm>
          <a:prstGeom prst="straightConnector1">
            <a:avLst/>
          </a:prstGeom>
          <a:noFill/>
          <a:ln cap="flat" cmpd="sng" w="19050">
            <a:solidFill>
              <a:srgbClr val="0000CC"/>
            </a:solidFill>
            <a:prstDash val="solid"/>
            <a:round/>
            <a:headEnd len="sm" w="sm" type="none"/>
            <a:tailEnd len="med" w="med" type="triangle"/>
          </a:ln>
        </p:spPr>
      </p:cxnSp>
      <p:sp>
        <p:nvSpPr>
          <p:cNvPr id="1456" name="Google Shape;1456;p65"/>
          <p:cNvSpPr txBox="1"/>
          <p:nvPr/>
        </p:nvSpPr>
        <p:spPr>
          <a:xfrm>
            <a:off x="2915816" y="3565376"/>
            <a:ext cx="3177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0000CC"/>
                </a:solidFill>
                <a:latin typeface="Arial"/>
                <a:ea typeface="Arial"/>
                <a:cs typeface="Arial"/>
                <a:sym typeface="Arial"/>
              </a:rPr>
              <a:t>t</a:t>
            </a:r>
            <a:r>
              <a:rPr baseline="-25000" i="1" lang="en-US" sz="1600">
                <a:solidFill>
                  <a:srgbClr val="0000CC"/>
                </a:solidFill>
              </a:rPr>
              <a:t>1</a:t>
            </a:r>
            <a:endParaRPr/>
          </a:p>
        </p:txBody>
      </p:sp>
      <p:sp>
        <p:nvSpPr>
          <p:cNvPr id="1457" name="Google Shape;1457;p65"/>
          <p:cNvSpPr txBox="1"/>
          <p:nvPr/>
        </p:nvSpPr>
        <p:spPr>
          <a:xfrm>
            <a:off x="4067944" y="2845296"/>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latin typeface="Arial"/>
                <a:ea typeface="Arial"/>
                <a:cs typeface="Arial"/>
                <a:sym typeface="Arial"/>
              </a:rPr>
              <a:t>d</a:t>
            </a:r>
            <a:r>
              <a:rPr baseline="-25000" i="1" lang="en-US" sz="1600">
                <a:solidFill>
                  <a:srgbClr val="C00000"/>
                </a:solidFill>
                <a:latin typeface="Arial"/>
                <a:ea typeface="Arial"/>
                <a:cs typeface="Arial"/>
                <a:sym typeface="Arial"/>
              </a:rPr>
              <a:t>1</a:t>
            </a:r>
            <a:endParaRPr/>
          </a:p>
        </p:txBody>
      </p:sp>
      <p:sp>
        <p:nvSpPr>
          <p:cNvPr id="1458" name="Google Shape;1458;p65"/>
          <p:cNvSpPr txBox="1"/>
          <p:nvPr/>
        </p:nvSpPr>
        <p:spPr>
          <a:xfrm>
            <a:off x="3707904" y="3637384"/>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rPr>
              <a:t>r</a:t>
            </a:r>
            <a:r>
              <a:rPr baseline="-25000" i="1" lang="en-US" sz="1600">
                <a:solidFill>
                  <a:srgbClr val="C00000"/>
                </a:solidFill>
              </a:rPr>
              <a:t>1</a:t>
            </a:r>
            <a:endParaRPr/>
          </a:p>
        </p:txBody>
      </p:sp>
      <p:sp>
        <p:nvSpPr>
          <p:cNvPr id="1459" name="Google Shape;1459;p65"/>
          <p:cNvSpPr txBox="1"/>
          <p:nvPr/>
        </p:nvSpPr>
        <p:spPr>
          <a:xfrm>
            <a:off x="2018400" y="1200950"/>
            <a:ext cx="5107200" cy="369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1" lang="en-US" sz="1800" u="sng">
                <a:solidFill>
                  <a:schemeClr val="dk1"/>
                </a:solidFill>
              </a:rPr>
              <a:t>CONTRIBUTION TO LIKELIHOOD FROM PAIR WHERE TRANSMISSION OCCURRED</a:t>
            </a:r>
            <a:endParaRPr/>
          </a:p>
        </p:txBody>
      </p:sp>
      <p:sp>
        <p:nvSpPr>
          <p:cNvPr id="1460" name="Google Shape;1460;p65"/>
          <p:cNvSpPr txBox="1"/>
          <p:nvPr/>
        </p:nvSpPr>
        <p:spPr>
          <a:xfrm>
            <a:off x="2011475" y="4553525"/>
            <a:ext cx="63750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C</a:t>
            </a:r>
            <a:r>
              <a:rPr baseline="-25000" lang="en-US"/>
              <a:t>1</a:t>
            </a:r>
            <a:r>
              <a:rPr lang="en-US"/>
              <a:t> </a:t>
            </a:r>
            <a:r>
              <a:rPr lang="en-US"/>
              <a:t>= probability of donor’s incubation period x</a:t>
            </a:r>
            <a:endParaRPr/>
          </a:p>
          <a:p>
            <a:pPr indent="0" lvl="0" marL="0" rtl="0" algn="l">
              <a:spcBef>
                <a:spcPts val="0"/>
              </a:spcBef>
              <a:spcAft>
                <a:spcPts val="0"/>
              </a:spcAft>
              <a:buNone/>
            </a:pPr>
            <a:r>
              <a:rPr lang="en-US"/>
              <a:t>        probability of recipient escaping infection up to t</a:t>
            </a:r>
            <a:r>
              <a:rPr baseline="-25000" lang="en-US"/>
              <a:t>1</a:t>
            </a:r>
            <a:r>
              <a:rPr lang="en-US"/>
              <a:t> x</a:t>
            </a:r>
            <a:endParaRPr/>
          </a:p>
          <a:p>
            <a:pPr indent="0" lvl="0" marL="0" rtl="0" algn="l">
              <a:spcBef>
                <a:spcPts val="0"/>
              </a:spcBef>
              <a:spcAft>
                <a:spcPts val="0"/>
              </a:spcAft>
              <a:buNone/>
            </a:pPr>
            <a:r>
              <a:rPr lang="en-US"/>
              <a:t>        probability recipient gets infected at t</a:t>
            </a:r>
            <a:r>
              <a:rPr baseline="-25000" lang="en-US"/>
              <a:t>1</a:t>
            </a:r>
            <a:r>
              <a:rPr lang="en-US"/>
              <a:t> x</a:t>
            </a:r>
            <a:endParaRPr/>
          </a:p>
          <a:p>
            <a:pPr indent="0" lvl="0" marL="0" rtl="0" algn="l">
              <a:spcBef>
                <a:spcPts val="0"/>
              </a:spcBef>
              <a:spcAft>
                <a:spcPts val="0"/>
              </a:spcAft>
              <a:buNone/>
            </a:pPr>
            <a:r>
              <a:rPr lang="en-US"/>
              <a:t>        probability of recipient’s incubation period</a:t>
            </a:r>
            <a:endParaRPr/>
          </a:p>
          <a:p>
            <a:pPr indent="0" lvl="0" marL="0" rtl="0" algn="l">
              <a:spcBef>
                <a:spcPts val="0"/>
              </a:spcBef>
              <a:spcAft>
                <a:spcPts val="0"/>
              </a:spcAft>
              <a:buNone/>
            </a:pPr>
            <a:r>
              <a:rPr lang="en-US"/>
              <a:t>     =</a:t>
            </a:r>
            <a:endParaRPr/>
          </a:p>
        </p:txBody>
      </p:sp>
      <p:pic>
        <p:nvPicPr>
          <p:cNvPr id="1461" name="Google Shape;1461;p65"/>
          <p:cNvPicPr preferRelativeResize="0"/>
          <p:nvPr/>
        </p:nvPicPr>
        <p:blipFill>
          <a:blip r:embed="rId3">
            <a:alphaModFix/>
          </a:blip>
          <a:stretch>
            <a:fillRect/>
          </a:stretch>
        </p:blipFill>
        <p:spPr>
          <a:xfrm>
            <a:off x="2580775" y="5535550"/>
            <a:ext cx="3429000" cy="180975"/>
          </a:xfrm>
          <a:prstGeom prst="rect">
            <a:avLst/>
          </a:prstGeom>
          <a:noFill/>
          <a:ln>
            <a:noFill/>
          </a:ln>
        </p:spPr>
      </p:pic>
      <p:pic>
        <p:nvPicPr>
          <p:cNvPr id="1462" name="Google Shape;1462;p65"/>
          <p:cNvPicPr preferRelativeResize="0"/>
          <p:nvPr/>
        </p:nvPicPr>
        <p:blipFill>
          <a:blip r:embed="rId4">
            <a:alphaModFix/>
          </a:blip>
          <a:stretch>
            <a:fillRect/>
          </a:stretch>
        </p:blipFill>
        <p:spPr>
          <a:xfrm>
            <a:off x="1815425" y="6073900"/>
            <a:ext cx="1552575" cy="190500"/>
          </a:xfrm>
          <a:prstGeom prst="rect">
            <a:avLst/>
          </a:prstGeom>
          <a:noFill/>
          <a:ln>
            <a:noFill/>
          </a:ln>
        </p:spPr>
      </p:pic>
      <p:sp>
        <p:nvSpPr>
          <p:cNvPr id="1463" name="Google Shape;1463;p65"/>
          <p:cNvSpPr txBox="1"/>
          <p:nvPr/>
        </p:nvSpPr>
        <p:spPr>
          <a:xfrm>
            <a:off x="3368000" y="5979250"/>
            <a:ext cx="45615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are the model parameters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68" name="Shape 1468"/>
        <p:cNvGrpSpPr/>
        <p:nvPr/>
      </p:nvGrpSpPr>
      <p:grpSpPr>
        <a:xfrm>
          <a:off x="0" y="0"/>
          <a:ext cx="0" cy="0"/>
          <a:chOff x="0" y="0"/>
          <a:chExt cx="0" cy="0"/>
        </a:xfrm>
      </p:grpSpPr>
      <p:sp>
        <p:nvSpPr>
          <p:cNvPr id="1469" name="Google Shape;1469;p66"/>
          <p:cNvSpPr txBox="1"/>
          <p:nvPr/>
        </p:nvSpPr>
        <p:spPr>
          <a:xfrm>
            <a:off x="1403648" y="116632"/>
            <a:ext cx="6264600" cy="95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rPr>
              <a:t>Part 4: modelling transmission</a:t>
            </a:r>
            <a:endParaRPr/>
          </a:p>
        </p:txBody>
      </p:sp>
      <p:sp>
        <p:nvSpPr>
          <p:cNvPr id="1470" name="Google Shape;1470;p66"/>
          <p:cNvSpPr txBox="1"/>
          <p:nvPr/>
        </p:nvSpPr>
        <p:spPr>
          <a:xfrm>
            <a:off x="1668600" y="1200950"/>
            <a:ext cx="5806800" cy="369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1" lang="en-US" sz="1800" u="sng">
                <a:solidFill>
                  <a:schemeClr val="dk1"/>
                </a:solidFill>
              </a:rPr>
              <a:t>CONTRIBUTION TO LIKELIHOOD FROM PAIR WHERE TRANSMISSION DID NOT OCCUR</a:t>
            </a:r>
            <a:endParaRPr/>
          </a:p>
        </p:txBody>
      </p:sp>
      <p:sp>
        <p:nvSpPr>
          <p:cNvPr id="1471" name="Google Shape;1471;p66"/>
          <p:cNvSpPr txBox="1"/>
          <p:nvPr/>
        </p:nvSpPr>
        <p:spPr>
          <a:xfrm>
            <a:off x="2011475" y="4553525"/>
            <a:ext cx="63750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C</a:t>
            </a:r>
            <a:r>
              <a:rPr baseline="-25000" lang="en-US"/>
              <a:t>2</a:t>
            </a:r>
            <a:r>
              <a:rPr lang="en-US"/>
              <a:t> = probability of donor’s incubation period x</a:t>
            </a:r>
            <a:endParaRPr/>
          </a:p>
          <a:p>
            <a:pPr indent="0" lvl="0" marL="0" rtl="0" algn="l">
              <a:spcBef>
                <a:spcPts val="0"/>
              </a:spcBef>
              <a:spcAft>
                <a:spcPts val="0"/>
              </a:spcAft>
              <a:buNone/>
            </a:pPr>
            <a:r>
              <a:rPr lang="en-US"/>
              <a:t>        probability of recipient escaping infection indefinitely</a:t>
            </a:r>
            <a:endParaRPr/>
          </a:p>
          <a:p>
            <a:pPr indent="0" lvl="0" marL="0" rtl="0" algn="l">
              <a:spcBef>
                <a:spcPts val="0"/>
              </a:spcBef>
              <a:spcAft>
                <a:spcPts val="0"/>
              </a:spcAft>
              <a:buNone/>
            </a:pPr>
            <a:r>
              <a:rPr lang="en-US"/>
              <a:t>     =</a:t>
            </a:r>
            <a:endParaRPr/>
          </a:p>
        </p:txBody>
      </p:sp>
      <p:sp>
        <p:nvSpPr>
          <p:cNvPr id="1472" name="Google Shape;1472;p66"/>
          <p:cNvSpPr txBox="1"/>
          <p:nvPr/>
        </p:nvSpPr>
        <p:spPr>
          <a:xfrm>
            <a:off x="2301200" y="5979250"/>
            <a:ext cx="45615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In practice, calculate               as e.g. </a:t>
            </a:r>
            <a:endParaRPr/>
          </a:p>
        </p:txBody>
      </p:sp>
      <p:sp>
        <p:nvSpPr>
          <p:cNvPr id="1473" name="Google Shape;1473;p66"/>
          <p:cNvSpPr txBox="1"/>
          <p:nvPr/>
        </p:nvSpPr>
        <p:spPr>
          <a:xfrm>
            <a:off x="251520" y="2092424"/>
            <a:ext cx="1370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Donor 2</a:t>
            </a:r>
            <a:endParaRPr/>
          </a:p>
        </p:txBody>
      </p:sp>
      <p:cxnSp>
        <p:nvCxnSpPr>
          <p:cNvPr id="1474" name="Google Shape;1474;p66"/>
          <p:cNvCxnSpPr/>
          <p:nvPr/>
        </p:nvCxnSpPr>
        <p:spPr>
          <a:xfrm>
            <a:off x="1676400" y="3341712"/>
            <a:ext cx="7239000" cy="0"/>
          </a:xfrm>
          <a:prstGeom prst="straightConnector1">
            <a:avLst/>
          </a:prstGeom>
          <a:noFill/>
          <a:ln cap="flat" cmpd="sng" w="9525">
            <a:solidFill>
              <a:schemeClr val="dk1"/>
            </a:solidFill>
            <a:prstDash val="solid"/>
            <a:round/>
            <a:headEnd len="sm" w="sm" type="none"/>
            <a:tailEnd len="med" w="med" type="triangle"/>
          </a:ln>
        </p:spPr>
      </p:cxnSp>
      <p:sp>
        <p:nvSpPr>
          <p:cNvPr id="1475" name="Google Shape;1475;p66"/>
          <p:cNvSpPr txBox="1"/>
          <p:nvPr/>
        </p:nvSpPr>
        <p:spPr>
          <a:xfrm>
            <a:off x="8001000" y="2884512"/>
            <a:ext cx="11430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Time</a:t>
            </a:r>
            <a:endParaRPr/>
          </a:p>
        </p:txBody>
      </p:sp>
      <p:sp>
        <p:nvSpPr>
          <p:cNvPr id="1476" name="Google Shape;1476;p66"/>
          <p:cNvSpPr txBox="1"/>
          <p:nvPr/>
        </p:nvSpPr>
        <p:spPr>
          <a:xfrm>
            <a:off x="251520" y="2740496"/>
            <a:ext cx="1370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Recipient 2</a:t>
            </a:r>
            <a:endParaRPr/>
          </a:p>
        </p:txBody>
      </p:sp>
      <p:cxnSp>
        <p:nvCxnSpPr>
          <p:cNvPr id="1477" name="Google Shape;1477;p66"/>
          <p:cNvCxnSpPr/>
          <p:nvPr/>
        </p:nvCxnSpPr>
        <p:spPr>
          <a:xfrm>
            <a:off x="1907704" y="3028528"/>
            <a:ext cx="7236300" cy="0"/>
          </a:xfrm>
          <a:prstGeom prst="straightConnector1">
            <a:avLst/>
          </a:prstGeom>
          <a:noFill/>
          <a:ln cap="rnd" cmpd="sng" w="9525">
            <a:solidFill>
              <a:schemeClr val="dk1"/>
            </a:solidFill>
            <a:prstDash val="dot"/>
            <a:round/>
            <a:headEnd len="sm" w="sm" type="none"/>
            <a:tailEnd len="sm" w="sm" type="none"/>
          </a:ln>
        </p:spPr>
      </p:cxnSp>
      <p:cxnSp>
        <p:nvCxnSpPr>
          <p:cNvPr id="1478" name="Google Shape;1478;p66"/>
          <p:cNvCxnSpPr/>
          <p:nvPr/>
        </p:nvCxnSpPr>
        <p:spPr>
          <a:xfrm>
            <a:off x="1905000" y="2388096"/>
            <a:ext cx="7162800" cy="0"/>
          </a:xfrm>
          <a:prstGeom prst="straightConnector1">
            <a:avLst/>
          </a:prstGeom>
          <a:noFill/>
          <a:ln cap="rnd" cmpd="sng" w="9525">
            <a:solidFill>
              <a:schemeClr val="dk1"/>
            </a:solidFill>
            <a:prstDash val="dot"/>
            <a:round/>
            <a:headEnd len="sm" w="sm" type="none"/>
            <a:tailEnd len="sm" w="sm" type="none"/>
          </a:ln>
        </p:spPr>
      </p:cxnSp>
      <p:cxnSp>
        <p:nvCxnSpPr>
          <p:cNvPr id="1479" name="Google Shape;1479;p66"/>
          <p:cNvCxnSpPr/>
          <p:nvPr/>
        </p:nvCxnSpPr>
        <p:spPr>
          <a:xfrm rot="5400000">
            <a:off x="3671150" y="2333271"/>
            <a:ext cx="214200" cy="0"/>
          </a:xfrm>
          <a:prstGeom prst="straightConnector1">
            <a:avLst/>
          </a:prstGeom>
          <a:noFill/>
          <a:ln cap="flat" cmpd="sng" w="50800">
            <a:solidFill>
              <a:srgbClr val="FF0000"/>
            </a:solidFill>
            <a:prstDash val="solid"/>
            <a:round/>
            <a:headEnd len="sm" w="sm" type="none"/>
            <a:tailEnd len="sm" w="sm" type="none"/>
          </a:ln>
        </p:spPr>
      </p:cxnSp>
      <p:cxnSp>
        <p:nvCxnSpPr>
          <p:cNvPr id="1480" name="Google Shape;1480;p66"/>
          <p:cNvCxnSpPr/>
          <p:nvPr/>
        </p:nvCxnSpPr>
        <p:spPr>
          <a:xfrm>
            <a:off x="2119536" y="2172072"/>
            <a:ext cx="0" cy="216000"/>
          </a:xfrm>
          <a:prstGeom prst="straightConnector1">
            <a:avLst/>
          </a:prstGeom>
          <a:noFill/>
          <a:ln cap="flat" cmpd="sng" w="19050">
            <a:solidFill>
              <a:srgbClr val="0000CC"/>
            </a:solidFill>
            <a:prstDash val="solid"/>
            <a:round/>
            <a:headEnd len="sm" w="sm" type="none"/>
            <a:tailEnd len="med" w="med" type="triangle"/>
          </a:ln>
        </p:spPr>
      </p:cxnSp>
      <p:sp>
        <p:nvSpPr>
          <p:cNvPr id="1481" name="Google Shape;1481;p66"/>
          <p:cNvSpPr txBox="1"/>
          <p:nvPr/>
        </p:nvSpPr>
        <p:spPr>
          <a:xfrm>
            <a:off x="3610744" y="2388096"/>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latin typeface="Arial"/>
                <a:ea typeface="Arial"/>
                <a:cs typeface="Arial"/>
                <a:sym typeface="Arial"/>
              </a:rPr>
              <a:t>d</a:t>
            </a:r>
            <a:r>
              <a:rPr baseline="-25000" i="1" lang="en-US" sz="1600">
                <a:solidFill>
                  <a:srgbClr val="C00000"/>
                </a:solidFill>
              </a:rPr>
              <a:t>2</a:t>
            </a:r>
            <a:endParaRPr/>
          </a:p>
        </p:txBody>
      </p:sp>
      <p:pic>
        <p:nvPicPr>
          <p:cNvPr id="1482" name="Google Shape;1482;p66"/>
          <p:cNvPicPr preferRelativeResize="0"/>
          <p:nvPr/>
        </p:nvPicPr>
        <p:blipFill>
          <a:blip r:embed="rId3">
            <a:alphaModFix/>
          </a:blip>
          <a:stretch>
            <a:fillRect/>
          </a:stretch>
        </p:blipFill>
        <p:spPr>
          <a:xfrm>
            <a:off x="2505769" y="5085725"/>
            <a:ext cx="1590675" cy="180975"/>
          </a:xfrm>
          <a:prstGeom prst="rect">
            <a:avLst/>
          </a:prstGeom>
          <a:noFill/>
          <a:ln>
            <a:noFill/>
          </a:ln>
        </p:spPr>
      </p:pic>
      <p:pic>
        <p:nvPicPr>
          <p:cNvPr id="1483" name="Google Shape;1483;p66"/>
          <p:cNvPicPr preferRelativeResize="0"/>
          <p:nvPr/>
        </p:nvPicPr>
        <p:blipFill>
          <a:blip r:embed="rId4">
            <a:alphaModFix/>
          </a:blip>
          <a:stretch>
            <a:fillRect/>
          </a:stretch>
        </p:blipFill>
        <p:spPr>
          <a:xfrm>
            <a:off x="4052119" y="6094025"/>
            <a:ext cx="666750" cy="180975"/>
          </a:xfrm>
          <a:prstGeom prst="rect">
            <a:avLst/>
          </a:prstGeom>
          <a:noFill/>
          <a:ln>
            <a:noFill/>
          </a:ln>
        </p:spPr>
      </p:pic>
      <p:pic>
        <p:nvPicPr>
          <p:cNvPr id="1484" name="Google Shape;1484;p66"/>
          <p:cNvPicPr preferRelativeResize="0"/>
          <p:nvPr/>
        </p:nvPicPr>
        <p:blipFill>
          <a:blip r:embed="rId5">
            <a:alphaModFix/>
          </a:blip>
          <a:stretch>
            <a:fillRect/>
          </a:stretch>
        </p:blipFill>
        <p:spPr>
          <a:xfrm>
            <a:off x="5366719" y="6094025"/>
            <a:ext cx="828675" cy="1809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89" name="Shape 1489"/>
        <p:cNvGrpSpPr/>
        <p:nvPr/>
      </p:nvGrpSpPr>
      <p:grpSpPr>
        <a:xfrm>
          <a:off x="0" y="0"/>
          <a:ext cx="0" cy="0"/>
          <a:chOff x="0" y="0"/>
          <a:chExt cx="0" cy="0"/>
        </a:xfrm>
      </p:grpSpPr>
      <p:sp>
        <p:nvSpPr>
          <p:cNvPr id="1490" name="Google Shape;1490;p67"/>
          <p:cNvSpPr txBox="1"/>
          <p:nvPr/>
        </p:nvSpPr>
        <p:spPr>
          <a:xfrm>
            <a:off x="1403648" y="116632"/>
            <a:ext cx="6264600" cy="95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rPr>
              <a:t>Part 4: modelling transmission</a:t>
            </a:r>
            <a:endParaRPr/>
          </a:p>
        </p:txBody>
      </p:sp>
      <p:sp>
        <p:nvSpPr>
          <p:cNvPr id="1491" name="Google Shape;1491;p67"/>
          <p:cNvSpPr txBox="1"/>
          <p:nvPr/>
        </p:nvSpPr>
        <p:spPr>
          <a:xfrm>
            <a:off x="1668600" y="3867950"/>
            <a:ext cx="5806800" cy="369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1" lang="en-US" sz="1800" u="sng">
                <a:solidFill>
                  <a:schemeClr val="dk1"/>
                </a:solidFill>
              </a:rPr>
              <a:t>CONTRIBUTION TO LIKELIHOOD FROM ALL TRANSMISSION PAIRS</a:t>
            </a:r>
            <a:endParaRPr/>
          </a:p>
        </p:txBody>
      </p:sp>
      <p:sp>
        <p:nvSpPr>
          <p:cNvPr id="1492" name="Google Shape;1492;p67"/>
          <p:cNvSpPr txBox="1"/>
          <p:nvPr/>
        </p:nvSpPr>
        <p:spPr>
          <a:xfrm>
            <a:off x="4240450" y="5287375"/>
            <a:ext cx="45615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product symbol: multiply over all   where   is the cluster index</a:t>
            </a:r>
            <a:endParaRPr/>
          </a:p>
        </p:txBody>
      </p:sp>
      <p:cxnSp>
        <p:nvCxnSpPr>
          <p:cNvPr id="1493" name="Google Shape;1493;p67"/>
          <p:cNvCxnSpPr/>
          <p:nvPr/>
        </p:nvCxnSpPr>
        <p:spPr>
          <a:xfrm flipH="1" rot="10800000">
            <a:off x="5095700" y="5188225"/>
            <a:ext cx="396000" cy="238800"/>
          </a:xfrm>
          <a:prstGeom prst="straightConnector1">
            <a:avLst/>
          </a:prstGeom>
          <a:noFill/>
          <a:ln cap="flat" cmpd="sng" w="9525">
            <a:solidFill>
              <a:schemeClr val="dk2"/>
            </a:solidFill>
            <a:prstDash val="solid"/>
            <a:round/>
            <a:headEnd len="med" w="med" type="none"/>
            <a:tailEnd len="med" w="med" type="triangle"/>
          </a:ln>
        </p:spPr>
      </p:cxnSp>
      <p:pic>
        <p:nvPicPr>
          <p:cNvPr id="1494" name="Google Shape;1494;p67"/>
          <p:cNvPicPr preferRelativeResize="0"/>
          <p:nvPr/>
        </p:nvPicPr>
        <p:blipFill>
          <a:blip r:embed="rId3">
            <a:alphaModFix/>
          </a:blip>
          <a:stretch>
            <a:fillRect/>
          </a:stretch>
        </p:blipFill>
        <p:spPr>
          <a:xfrm>
            <a:off x="6905625" y="5424488"/>
            <a:ext cx="57150" cy="123825"/>
          </a:xfrm>
          <a:prstGeom prst="rect">
            <a:avLst/>
          </a:prstGeom>
          <a:noFill/>
          <a:ln>
            <a:noFill/>
          </a:ln>
        </p:spPr>
      </p:pic>
      <p:pic>
        <p:nvPicPr>
          <p:cNvPr id="1495" name="Google Shape;1495;p67"/>
          <p:cNvPicPr preferRelativeResize="0"/>
          <p:nvPr/>
        </p:nvPicPr>
        <p:blipFill>
          <a:blip r:embed="rId3">
            <a:alphaModFix/>
          </a:blip>
          <a:stretch>
            <a:fillRect/>
          </a:stretch>
        </p:blipFill>
        <p:spPr>
          <a:xfrm>
            <a:off x="7515225" y="5424488"/>
            <a:ext cx="57150" cy="123825"/>
          </a:xfrm>
          <a:prstGeom prst="rect">
            <a:avLst/>
          </a:prstGeom>
          <a:noFill/>
          <a:ln>
            <a:noFill/>
          </a:ln>
        </p:spPr>
      </p:pic>
      <p:sp>
        <p:nvSpPr>
          <p:cNvPr id="1496" name="Google Shape;1496;p67"/>
          <p:cNvSpPr txBox="1"/>
          <p:nvPr/>
        </p:nvSpPr>
        <p:spPr>
          <a:xfrm>
            <a:off x="3287070" y="5871600"/>
            <a:ext cx="7239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1800" u="sng">
                <a:solidFill>
                  <a:schemeClr val="dk1"/>
                </a:solidFill>
              </a:rPr>
              <a:t>LOG LIKELIHOOD</a:t>
            </a:r>
            <a:endParaRPr/>
          </a:p>
        </p:txBody>
      </p:sp>
      <p:pic>
        <p:nvPicPr>
          <p:cNvPr id="1497" name="Google Shape;1497;p67"/>
          <p:cNvPicPr preferRelativeResize="0"/>
          <p:nvPr/>
        </p:nvPicPr>
        <p:blipFill>
          <a:blip r:embed="rId4">
            <a:alphaModFix/>
          </a:blip>
          <a:stretch>
            <a:fillRect/>
          </a:stretch>
        </p:blipFill>
        <p:spPr>
          <a:xfrm>
            <a:off x="3348038" y="4741075"/>
            <a:ext cx="2447925" cy="381000"/>
          </a:xfrm>
          <a:prstGeom prst="rect">
            <a:avLst/>
          </a:prstGeom>
          <a:noFill/>
          <a:ln>
            <a:noFill/>
          </a:ln>
        </p:spPr>
      </p:pic>
      <p:pic>
        <p:nvPicPr>
          <p:cNvPr id="1498" name="Google Shape;1498;p67"/>
          <p:cNvPicPr preferRelativeResize="0"/>
          <p:nvPr/>
        </p:nvPicPr>
        <p:blipFill>
          <a:blip r:embed="rId5">
            <a:alphaModFix/>
          </a:blip>
          <a:stretch>
            <a:fillRect/>
          </a:stretch>
        </p:blipFill>
        <p:spPr>
          <a:xfrm>
            <a:off x="3338513" y="6393300"/>
            <a:ext cx="2466975" cy="371475"/>
          </a:xfrm>
          <a:prstGeom prst="rect">
            <a:avLst/>
          </a:prstGeom>
          <a:noFill/>
          <a:ln>
            <a:noFill/>
          </a:ln>
        </p:spPr>
      </p:pic>
      <p:cxnSp>
        <p:nvCxnSpPr>
          <p:cNvPr id="1499" name="Google Shape;1499;p67"/>
          <p:cNvCxnSpPr/>
          <p:nvPr/>
        </p:nvCxnSpPr>
        <p:spPr>
          <a:xfrm>
            <a:off x="1981200" y="1702296"/>
            <a:ext cx="7162800" cy="0"/>
          </a:xfrm>
          <a:prstGeom prst="straightConnector1">
            <a:avLst/>
          </a:prstGeom>
          <a:noFill/>
          <a:ln cap="rnd" cmpd="sng" w="9525">
            <a:solidFill>
              <a:schemeClr val="dk1"/>
            </a:solidFill>
            <a:prstDash val="dot"/>
            <a:round/>
            <a:headEnd len="sm" w="sm" type="none"/>
            <a:tailEnd len="sm" w="sm" type="none"/>
          </a:ln>
        </p:spPr>
      </p:cxnSp>
      <p:cxnSp>
        <p:nvCxnSpPr>
          <p:cNvPr id="1500" name="Google Shape;1500;p67"/>
          <p:cNvCxnSpPr/>
          <p:nvPr/>
        </p:nvCxnSpPr>
        <p:spPr>
          <a:xfrm>
            <a:off x="1925637" y="2418258"/>
            <a:ext cx="7162800" cy="0"/>
          </a:xfrm>
          <a:prstGeom prst="straightConnector1">
            <a:avLst/>
          </a:prstGeom>
          <a:noFill/>
          <a:ln cap="rnd" cmpd="sng" w="9525">
            <a:solidFill>
              <a:schemeClr val="dk1"/>
            </a:solidFill>
            <a:prstDash val="dot"/>
            <a:round/>
            <a:headEnd len="sm" w="sm" type="none"/>
            <a:tailEnd len="sm" w="sm" type="none"/>
          </a:ln>
        </p:spPr>
      </p:cxnSp>
      <p:sp>
        <p:nvSpPr>
          <p:cNvPr id="1501" name="Google Shape;1501;p67"/>
          <p:cNvSpPr txBox="1"/>
          <p:nvPr/>
        </p:nvSpPr>
        <p:spPr>
          <a:xfrm>
            <a:off x="251520" y="2854424"/>
            <a:ext cx="1370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Donor 2</a:t>
            </a:r>
            <a:endParaRPr/>
          </a:p>
        </p:txBody>
      </p:sp>
      <p:sp>
        <p:nvSpPr>
          <p:cNvPr id="1502" name="Google Shape;1502;p67"/>
          <p:cNvSpPr txBox="1"/>
          <p:nvPr/>
        </p:nvSpPr>
        <p:spPr>
          <a:xfrm>
            <a:off x="251520" y="1486272"/>
            <a:ext cx="1370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Donor 1</a:t>
            </a:r>
            <a:endParaRPr/>
          </a:p>
        </p:txBody>
      </p:sp>
      <p:sp>
        <p:nvSpPr>
          <p:cNvPr id="1503" name="Google Shape;1503;p67"/>
          <p:cNvSpPr txBox="1"/>
          <p:nvPr/>
        </p:nvSpPr>
        <p:spPr>
          <a:xfrm>
            <a:off x="251520" y="2134344"/>
            <a:ext cx="1329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Recipient 1</a:t>
            </a:r>
            <a:endParaRPr/>
          </a:p>
        </p:txBody>
      </p:sp>
      <p:cxnSp>
        <p:nvCxnSpPr>
          <p:cNvPr id="1504" name="Google Shape;1504;p67"/>
          <p:cNvCxnSpPr/>
          <p:nvPr/>
        </p:nvCxnSpPr>
        <p:spPr>
          <a:xfrm rot="5400000">
            <a:off x="4128350" y="1647471"/>
            <a:ext cx="214200" cy="0"/>
          </a:xfrm>
          <a:prstGeom prst="straightConnector1">
            <a:avLst/>
          </a:prstGeom>
          <a:noFill/>
          <a:ln cap="flat" cmpd="sng" w="50800">
            <a:solidFill>
              <a:srgbClr val="FF0000"/>
            </a:solidFill>
            <a:prstDash val="solid"/>
            <a:round/>
            <a:headEnd len="sm" w="sm" type="none"/>
            <a:tailEnd len="sm" w="sm" type="none"/>
          </a:ln>
        </p:spPr>
      </p:cxnSp>
      <p:cxnSp>
        <p:nvCxnSpPr>
          <p:cNvPr id="1505" name="Google Shape;1505;p67"/>
          <p:cNvCxnSpPr/>
          <p:nvPr/>
        </p:nvCxnSpPr>
        <p:spPr>
          <a:xfrm rot="5400000">
            <a:off x="3744820" y="2385460"/>
            <a:ext cx="214200" cy="0"/>
          </a:xfrm>
          <a:prstGeom prst="straightConnector1">
            <a:avLst/>
          </a:prstGeom>
          <a:noFill/>
          <a:ln cap="flat" cmpd="sng" w="50800">
            <a:solidFill>
              <a:srgbClr val="FF0000"/>
            </a:solidFill>
            <a:prstDash val="solid"/>
            <a:round/>
            <a:headEnd len="sm" w="sm" type="none"/>
            <a:tailEnd len="sm" w="sm" type="none"/>
          </a:ln>
        </p:spPr>
      </p:cxnSp>
      <p:sp>
        <p:nvSpPr>
          <p:cNvPr id="1506" name="Google Shape;1506;p67"/>
          <p:cNvSpPr txBox="1"/>
          <p:nvPr/>
        </p:nvSpPr>
        <p:spPr>
          <a:xfrm>
            <a:off x="3419872" y="1126232"/>
            <a:ext cx="16113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FF0000"/>
                </a:solidFill>
                <a:latin typeface="Arial"/>
                <a:ea typeface="Arial"/>
                <a:cs typeface="Arial"/>
                <a:sym typeface="Arial"/>
              </a:rPr>
              <a:t>Symptom onset</a:t>
            </a:r>
            <a:endParaRPr/>
          </a:p>
        </p:txBody>
      </p:sp>
      <p:cxnSp>
        <p:nvCxnSpPr>
          <p:cNvPr id="1507" name="Google Shape;1507;p67"/>
          <p:cNvCxnSpPr/>
          <p:nvPr/>
        </p:nvCxnSpPr>
        <p:spPr>
          <a:xfrm>
            <a:off x="2195736" y="1486272"/>
            <a:ext cx="0" cy="216000"/>
          </a:xfrm>
          <a:prstGeom prst="straightConnector1">
            <a:avLst/>
          </a:prstGeom>
          <a:noFill/>
          <a:ln cap="flat" cmpd="sng" w="19050">
            <a:solidFill>
              <a:srgbClr val="0000CC"/>
            </a:solidFill>
            <a:prstDash val="solid"/>
            <a:round/>
            <a:headEnd len="sm" w="sm" type="none"/>
            <a:tailEnd len="med" w="med" type="triangle"/>
          </a:ln>
        </p:spPr>
      </p:cxnSp>
      <p:sp>
        <p:nvSpPr>
          <p:cNvPr id="1508" name="Google Shape;1508;p67"/>
          <p:cNvSpPr txBox="1"/>
          <p:nvPr/>
        </p:nvSpPr>
        <p:spPr>
          <a:xfrm>
            <a:off x="1691680" y="1126232"/>
            <a:ext cx="9606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00CC"/>
                </a:solidFill>
                <a:latin typeface="Arial"/>
                <a:ea typeface="Arial"/>
                <a:cs typeface="Arial"/>
                <a:sym typeface="Arial"/>
              </a:rPr>
              <a:t>Infection</a:t>
            </a:r>
            <a:endParaRPr/>
          </a:p>
        </p:txBody>
      </p:sp>
      <p:cxnSp>
        <p:nvCxnSpPr>
          <p:cNvPr id="1509" name="Google Shape;1509;p67"/>
          <p:cNvCxnSpPr/>
          <p:nvPr/>
        </p:nvCxnSpPr>
        <p:spPr>
          <a:xfrm>
            <a:off x="3059832" y="2206352"/>
            <a:ext cx="0" cy="216000"/>
          </a:xfrm>
          <a:prstGeom prst="straightConnector1">
            <a:avLst/>
          </a:prstGeom>
          <a:noFill/>
          <a:ln cap="flat" cmpd="sng" w="19050">
            <a:solidFill>
              <a:srgbClr val="0000CC"/>
            </a:solidFill>
            <a:prstDash val="solid"/>
            <a:round/>
            <a:headEnd len="sm" w="sm" type="none"/>
            <a:tailEnd len="med" w="med" type="triangle"/>
          </a:ln>
        </p:spPr>
      </p:cxnSp>
      <p:sp>
        <p:nvSpPr>
          <p:cNvPr id="1510" name="Google Shape;1510;p67"/>
          <p:cNvSpPr txBox="1"/>
          <p:nvPr/>
        </p:nvSpPr>
        <p:spPr>
          <a:xfrm>
            <a:off x="251520" y="3502496"/>
            <a:ext cx="1370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Recipient 2</a:t>
            </a:r>
            <a:endParaRPr/>
          </a:p>
        </p:txBody>
      </p:sp>
      <p:cxnSp>
        <p:nvCxnSpPr>
          <p:cNvPr id="1511" name="Google Shape;1511;p67"/>
          <p:cNvCxnSpPr/>
          <p:nvPr/>
        </p:nvCxnSpPr>
        <p:spPr>
          <a:xfrm>
            <a:off x="1907704" y="3790528"/>
            <a:ext cx="7236300" cy="0"/>
          </a:xfrm>
          <a:prstGeom prst="straightConnector1">
            <a:avLst/>
          </a:prstGeom>
          <a:noFill/>
          <a:ln cap="rnd" cmpd="sng" w="9525">
            <a:solidFill>
              <a:schemeClr val="dk1"/>
            </a:solidFill>
            <a:prstDash val="dot"/>
            <a:round/>
            <a:headEnd len="sm" w="sm" type="none"/>
            <a:tailEnd len="sm" w="sm" type="none"/>
          </a:ln>
        </p:spPr>
      </p:cxnSp>
      <p:sp>
        <p:nvSpPr>
          <p:cNvPr id="1512" name="Google Shape;1512;p67"/>
          <p:cNvSpPr txBox="1"/>
          <p:nvPr/>
        </p:nvSpPr>
        <p:spPr>
          <a:xfrm>
            <a:off x="2915816" y="2422376"/>
            <a:ext cx="3177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0000CC"/>
                </a:solidFill>
                <a:latin typeface="Arial"/>
                <a:ea typeface="Arial"/>
                <a:cs typeface="Arial"/>
                <a:sym typeface="Arial"/>
              </a:rPr>
              <a:t>t</a:t>
            </a:r>
            <a:r>
              <a:rPr baseline="-25000" i="1" lang="en-US" sz="1600">
                <a:solidFill>
                  <a:srgbClr val="0000CC"/>
                </a:solidFill>
              </a:rPr>
              <a:t>1</a:t>
            </a:r>
            <a:endParaRPr/>
          </a:p>
        </p:txBody>
      </p:sp>
      <p:sp>
        <p:nvSpPr>
          <p:cNvPr id="1513" name="Google Shape;1513;p67"/>
          <p:cNvSpPr txBox="1"/>
          <p:nvPr/>
        </p:nvSpPr>
        <p:spPr>
          <a:xfrm>
            <a:off x="4067944" y="1702296"/>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latin typeface="Arial"/>
                <a:ea typeface="Arial"/>
                <a:cs typeface="Arial"/>
                <a:sym typeface="Arial"/>
              </a:rPr>
              <a:t>d</a:t>
            </a:r>
            <a:r>
              <a:rPr baseline="-25000" i="1" lang="en-US" sz="1600">
                <a:solidFill>
                  <a:srgbClr val="C00000"/>
                </a:solidFill>
                <a:latin typeface="Arial"/>
                <a:ea typeface="Arial"/>
                <a:cs typeface="Arial"/>
                <a:sym typeface="Arial"/>
              </a:rPr>
              <a:t>1</a:t>
            </a:r>
            <a:endParaRPr/>
          </a:p>
        </p:txBody>
      </p:sp>
      <p:sp>
        <p:nvSpPr>
          <p:cNvPr id="1514" name="Google Shape;1514;p67"/>
          <p:cNvSpPr txBox="1"/>
          <p:nvPr/>
        </p:nvSpPr>
        <p:spPr>
          <a:xfrm>
            <a:off x="3707904" y="2494384"/>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rPr>
              <a:t>r</a:t>
            </a:r>
            <a:r>
              <a:rPr baseline="-25000" i="1" lang="en-US" sz="1600">
                <a:solidFill>
                  <a:srgbClr val="C00000"/>
                </a:solidFill>
              </a:rPr>
              <a:t>1</a:t>
            </a:r>
            <a:endParaRPr/>
          </a:p>
        </p:txBody>
      </p:sp>
      <p:cxnSp>
        <p:nvCxnSpPr>
          <p:cNvPr id="1515" name="Google Shape;1515;p67"/>
          <p:cNvCxnSpPr/>
          <p:nvPr/>
        </p:nvCxnSpPr>
        <p:spPr>
          <a:xfrm>
            <a:off x="1905000" y="3150096"/>
            <a:ext cx="7162800" cy="0"/>
          </a:xfrm>
          <a:prstGeom prst="straightConnector1">
            <a:avLst/>
          </a:prstGeom>
          <a:noFill/>
          <a:ln cap="rnd" cmpd="sng" w="9525">
            <a:solidFill>
              <a:schemeClr val="dk1"/>
            </a:solidFill>
            <a:prstDash val="dot"/>
            <a:round/>
            <a:headEnd len="sm" w="sm" type="none"/>
            <a:tailEnd len="sm" w="sm" type="none"/>
          </a:ln>
        </p:spPr>
      </p:cxnSp>
      <p:cxnSp>
        <p:nvCxnSpPr>
          <p:cNvPr id="1516" name="Google Shape;1516;p67"/>
          <p:cNvCxnSpPr/>
          <p:nvPr/>
        </p:nvCxnSpPr>
        <p:spPr>
          <a:xfrm rot="5400000">
            <a:off x="3671150" y="3095271"/>
            <a:ext cx="214200" cy="0"/>
          </a:xfrm>
          <a:prstGeom prst="straightConnector1">
            <a:avLst/>
          </a:prstGeom>
          <a:noFill/>
          <a:ln cap="flat" cmpd="sng" w="50800">
            <a:solidFill>
              <a:srgbClr val="FF0000"/>
            </a:solidFill>
            <a:prstDash val="solid"/>
            <a:round/>
            <a:headEnd len="sm" w="sm" type="none"/>
            <a:tailEnd len="sm" w="sm" type="none"/>
          </a:ln>
        </p:spPr>
      </p:cxnSp>
      <p:cxnSp>
        <p:nvCxnSpPr>
          <p:cNvPr id="1517" name="Google Shape;1517;p67"/>
          <p:cNvCxnSpPr/>
          <p:nvPr/>
        </p:nvCxnSpPr>
        <p:spPr>
          <a:xfrm>
            <a:off x="2119536" y="2934072"/>
            <a:ext cx="0" cy="216000"/>
          </a:xfrm>
          <a:prstGeom prst="straightConnector1">
            <a:avLst/>
          </a:prstGeom>
          <a:noFill/>
          <a:ln cap="flat" cmpd="sng" w="19050">
            <a:solidFill>
              <a:srgbClr val="0000CC"/>
            </a:solidFill>
            <a:prstDash val="solid"/>
            <a:round/>
            <a:headEnd len="sm" w="sm" type="none"/>
            <a:tailEnd len="med" w="med" type="triangle"/>
          </a:ln>
        </p:spPr>
      </p:cxnSp>
      <p:sp>
        <p:nvSpPr>
          <p:cNvPr id="1518" name="Google Shape;1518;p67"/>
          <p:cNvSpPr txBox="1"/>
          <p:nvPr/>
        </p:nvSpPr>
        <p:spPr>
          <a:xfrm>
            <a:off x="3610744" y="3150096"/>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latin typeface="Arial"/>
                <a:ea typeface="Arial"/>
                <a:cs typeface="Arial"/>
                <a:sym typeface="Arial"/>
              </a:rPr>
              <a:t>d</a:t>
            </a:r>
            <a:r>
              <a:rPr baseline="-25000" i="1" lang="en-US" sz="1600">
                <a:solidFill>
                  <a:srgbClr val="C00000"/>
                </a:solidFill>
              </a:rPr>
              <a:t>2</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23" name="Shape 1523"/>
        <p:cNvGrpSpPr/>
        <p:nvPr/>
      </p:nvGrpSpPr>
      <p:grpSpPr>
        <a:xfrm>
          <a:off x="0" y="0"/>
          <a:ext cx="0" cy="0"/>
          <a:chOff x="0" y="0"/>
          <a:chExt cx="0" cy="0"/>
        </a:xfrm>
      </p:grpSpPr>
      <p:sp>
        <p:nvSpPr>
          <p:cNvPr id="1524" name="Google Shape;1524;p68"/>
          <p:cNvSpPr txBox="1"/>
          <p:nvPr/>
        </p:nvSpPr>
        <p:spPr>
          <a:xfrm>
            <a:off x="1403648" y="116632"/>
            <a:ext cx="6264600" cy="95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rPr>
              <a:t>Part 4: modelling transmission</a:t>
            </a:r>
            <a:endParaRPr/>
          </a:p>
        </p:txBody>
      </p:sp>
      <p:sp>
        <p:nvSpPr>
          <p:cNvPr id="1525" name="Google Shape;1525;p68"/>
          <p:cNvSpPr txBox="1"/>
          <p:nvPr/>
        </p:nvSpPr>
        <p:spPr>
          <a:xfrm>
            <a:off x="3287070" y="3890400"/>
            <a:ext cx="7239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1800" u="sng">
                <a:solidFill>
                  <a:schemeClr val="dk1"/>
                </a:solidFill>
              </a:rPr>
              <a:t>LOG LIKELIHOOD</a:t>
            </a:r>
            <a:endParaRPr/>
          </a:p>
        </p:txBody>
      </p:sp>
      <p:pic>
        <p:nvPicPr>
          <p:cNvPr id="1526" name="Google Shape;1526;p68"/>
          <p:cNvPicPr preferRelativeResize="0"/>
          <p:nvPr/>
        </p:nvPicPr>
        <p:blipFill>
          <a:blip r:embed="rId3">
            <a:alphaModFix/>
          </a:blip>
          <a:stretch>
            <a:fillRect/>
          </a:stretch>
        </p:blipFill>
        <p:spPr>
          <a:xfrm>
            <a:off x="3338513" y="4412100"/>
            <a:ext cx="2466975" cy="371475"/>
          </a:xfrm>
          <a:prstGeom prst="rect">
            <a:avLst/>
          </a:prstGeom>
          <a:noFill/>
          <a:ln>
            <a:noFill/>
          </a:ln>
        </p:spPr>
      </p:pic>
      <p:cxnSp>
        <p:nvCxnSpPr>
          <p:cNvPr id="1527" name="Google Shape;1527;p68"/>
          <p:cNvCxnSpPr/>
          <p:nvPr/>
        </p:nvCxnSpPr>
        <p:spPr>
          <a:xfrm>
            <a:off x="1981200" y="1702296"/>
            <a:ext cx="7162800" cy="0"/>
          </a:xfrm>
          <a:prstGeom prst="straightConnector1">
            <a:avLst/>
          </a:prstGeom>
          <a:noFill/>
          <a:ln cap="rnd" cmpd="sng" w="9525">
            <a:solidFill>
              <a:schemeClr val="dk1"/>
            </a:solidFill>
            <a:prstDash val="dot"/>
            <a:round/>
            <a:headEnd len="sm" w="sm" type="none"/>
            <a:tailEnd len="sm" w="sm" type="none"/>
          </a:ln>
        </p:spPr>
      </p:cxnSp>
      <p:cxnSp>
        <p:nvCxnSpPr>
          <p:cNvPr id="1528" name="Google Shape;1528;p68"/>
          <p:cNvCxnSpPr/>
          <p:nvPr/>
        </p:nvCxnSpPr>
        <p:spPr>
          <a:xfrm>
            <a:off x="1925637" y="2418258"/>
            <a:ext cx="7162800" cy="0"/>
          </a:xfrm>
          <a:prstGeom prst="straightConnector1">
            <a:avLst/>
          </a:prstGeom>
          <a:noFill/>
          <a:ln cap="rnd" cmpd="sng" w="9525">
            <a:solidFill>
              <a:schemeClr val="dk1"/>
            </a:solidFill>
            <a:prstDash val="dot"/>
            <a:round/>
            <a:headEnd len="sm" w="sm" type="none"/>
            <a:tailEnd len="sm" w="sm" type="none"/>
          </a:ln>
        </p:spPr>
      </p:cxnSp>
      <p:sp>
        <p:nvSpPr>
          <p:cNvPr id="1529" name="Google Shape;1529;p68"/>
          <p:cNvSpPr txBox="1"/>
          <p:nvPr/>
        </p:nvSpPr>
        <p:spPr>
          <a:xfrm>
            <a:off x="251520" y="2854424"/>
            <a:ext cx="1370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Donor 2</a:t>
            </a:r>
            <a:endParaRPr/>
          </a:p>
        </p:txBody>
      </p:sp>
      <p:sp>
        <p:nvSpPr>
          <p:cNvPr id="1530" name="Google Shape;1530;p68"/>
          <p:cNvSpPr txBox="1"/>
          <p:nvPr/>
        </p:nvSpPr>
        <p:spPr>
          <a:xfrm>
            <a:off x="251520" y="1486272"/>
            <a:ext cx="1370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Donor 1</a:t>
            </a:r>
            <a:endParaRPr/>
          </a:p>
        </p:txBody>
      </p:sp>
      <p:sp>
        <p:nvSpPr>
          <p:cNvPr id="1531" name="Google Shape;1531;p68"/>
          <p:cNvSpPr txBox="1"/>
          <p:nvPr/>
        </p:nvSpPr>
        <p:spPr>
          <a:xfrm>
            <a:off x="251520" y="2134344"/>
            <a:ext cx="1329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Recipient 1</a:t>
            </a:r>
            <a:endParaRPr/>
          </a:p>
        </p:txBody>
      </p:sp>
      <p:cxnSp>
        <p:nvCxnSpPr>
          <p:cNvPr id="1532" name="Google Shape;1532;p68"/>
          <p:cNvCxnSpPr/>
          <p:nvPr/>
        </p:nvCxnSpPr>
        <p:spPr>
          <a:xfrm rot="5400000">
            <a:off x="4128350" y="1647471"/>
            <a:ext cx="214200" cy="0"/>
          </a:xfrm>
          <a:prstGeom prst="straightConnector1">
            <a:avLst/>
          </a:prstGeom>
          <a:noFill/>
          <a:ln cap="flat" cmpd="sng" w="50800">
            <a:solidFill>
              <a:srgbClr val="FF0000"/>
            </a:solidFill>
            <a:prstDash val="solid"/>
            <a:round/>
            <a:headEnd len="sm" w="sm" type="none"/>
            <a:tailEnd len="sm" w="sm" type="none"/>
          </a:ln>
        </p:spPr>
      </p:cxnSp>
      <p:cxnSp>
        <p:nvCxnSpPr>
          <p:cNvPr id="1533" name="Google Shape;1533;p68"/>
          <p:cNvCxnSpPr/>
          <p:nvPr/>
        </p:nvCxnSpPr>
        <p:spPr>
          <a:xfrm rot="5400000">
            <a:off x="3744820" y="2385460"/>
            <a:ext cx="214200" cy="0"/>
          </a:xfrm>
          <a:prstGeom prst="straightConnector1">
            <a:avLst/>
          </a:prstGeom>
          <a:noFill/>
          <a:ln cap="flat" cmpd="sng" w="50800">
            <a:solidFill>
              <a:srgbClr val="FF0000"/>
            </a:solidFill>
            <a:prstDash val="solid"/>
            <a:round/>
            <a:headEnd len="sm" w="sm" type="none"/>
            <a:tailEnd len="sm" w="sm" type="none"/>
          </a:ln>
        </p:spPr>
      </p:cxnSp>
      <p:sp>
        <p:nvSpPr>
          <p:cNvPr id="1534" name="Google Shape;1534;p68"/>
          <p:cNvSpPr txBox="1"/>
          <p:nvPr/>
        </p:nvSpPr>
        <p:spPr>
          <a:xfrm>
            <a:off x="3419872" y="1126232"/>
            <a:ext cx="16113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FF0000"/>
                </a:solidFill>
                <a:latin typeface="Arial"/>
                <a:ea typeface="Arial"/>
                <a:cs typeface="Arial"/>
                <a:sym typeface="Arial"/>
              </a:rPr>
              <a:t>Symptom onset</a:t>
            </a:r>
            <a:endParaRPr/>
          </a:p>
        </p:txBody>
      </p:sp>
      <p:cxnSp>
        <p:nvCxnSpPr>
          <p:cNvPr id="1535" name="Google Shape;1535;p68"/>
          <p:cNvCxnSpPr/>
          <p:nvPr/>
        </p:nvCxnSpPr>
        <p:spPr>
          <a:xfrm>
            <a:off x="2195736" y="1486272"/>
            <a:ext cx="0" cy="216000"/>
          </a:xfrm>
          <a:prstGeom prst="straightConnector1">
            <a:avLst/>
          </a:prstGeom>
          <a:noFill/>
          <a:ln cap="flat" cmpd="sng" w="19050">
            <a:solidFill>
              <a:srgbClr val="0000CC"/>
            </a:solidFill>
            <a:prstDash val="solid"/>
            <a:round/>
            <a:headEnd len="sm" w="sm" type="none"/>
            <a:tailEnd len="med" w="med" type="triangle"/>
          </a:ln>
        </p:spPr>
      </p:cxnSp>
      <p:sp>
        <p:nvSpPr>
          <p:cNvPr id="1536" name="Google Shape;1536;p68"/>
          <p:cNvSpPr txBox="1"/>
          <p:nvPr/>
        </p:nvSpPr>
        <p:spPr>
          <a:xfrm>
            <a:off x="1691680" y="1126232"/>
            <a:ext cx="9606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00CC"/>
                </a:solidFill>
                <a:latin typeface="Arial"/>
                <a:ea typeface="Arial"/>
                <a:cs typeface="Arial"/>
                <a:sym typeface="Arial"/>
              </a:rPr>
              <a:t>Infection</a:t>
            </a:r>
            <a:endParaRPr/>
          </a:p>
        </p:txBody>
      </p:sp>
      <p:cxnSp>
        <p:nvCxnSpPr>
          <p:cNvPr id="1537" name="Google Shape;1537;p68"/>
          <p:cNvCxnSpPr/>
          <p:nvPr/>
        </p:nvCxnSpPr>
        <p:spPr>
          <a:xfrm>
            <a:off x="3059832" y="2206352"/>
            <a:ext cx="0" cy="216000"/>
          </a:xfrm>
          <a:prstGeom prst="straightConnector1">
            <a:avLst/>
          </a:prstGeom>
          <a:noFill/>
          <a:ln cap="flat" cmpd="sng" w="19050">
            <a:solidFill>
              <a:srgbClr val="0000CC"/>
            </a:solidFill>
            <a:prstDash val="solid"/>
            <a:round/>
            <a:headEnd len="sm" w="sm" type="none"/>
            <a:tailEnd len="med" w="med" type="triangle"/>
          </a:ln>
        </p:spPr>
      </p:cxnSp>
      <p:sp>
        <p:nvSpPr>
          <p:cNvPr id="1538" name="Google Shape;1538;p68"/>
          <p:cNvSpPr txBox="1"/>
          <p:nvPr/>
        </p:nvSpPr>
        <p:spPr>
          <a:xfrm>
            <a:off x="251520" y="3502496"/>
            <a:ext cx="1370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Recipient 2</a:t>
            </a:r>
            <a:endParaRPr/>
          </a:p>
        </p:txBody>
      </p:sp>
      <p:cxnSp>
        <p:nvCxnSpPr>
          <p:cNvPr id="1539" name="Google Shape;1539;p68"/>
          <p:cNvCxnSpPr/>
          <p:nvPr/>
        </p:nvCxnSpPr>
        <p:spPr>
          <a:xfrm>
            <a:off x="1907704" y="3790528"/>
            <a:ext cx="7236300" cy="0"/>
          </a:xfrm>
          <a:prstGeom prst="straightConnector1">
            <a:avLst/>
          </a:prstGeom>
          <a:noFill/>
          <a:ln cap="rnd" cmpd="sng" w="9525">
            <a:solidFill>
              <a:schemeClr val="dk1"/>
            </a:solidFill>
            <a:prstDash val="dot"/>
            <a:round/>
            <a:headEnd len="sm" w="sm" type="none"/>
            <a:tailEnd len="sm" w="sm" type="none"/>
          </a:ln>
        </p:spPr>
      </p:cxnSp>
      <p:sp>
        <p:nvSpPr>
          <p:cNvPr id="1540" name="Google Shape;1540;p68"/>
          <p:cNvSpPr txBox="1"/>
          <p:nvPr/>
        </p:nvSpPr>
        <p:spPr>
          <a:xfrm>
            <a:off x="2915816" y="2422376"/>
            <a:ext cx="3177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0000CC"/>
                </a:solidFill>
                <a:latin typeface="Arial"/>
                <a:ea typeface="Arial"/>
                <a:cs typeface="Arial"/>
                <a:sym typeface="Arial"/>
              </a:rPr>
              <a:t>t</a:t>
            </a:r>
            <a:r>
              <a:rPr baseline="-25000" i="1" lang="en-US" sz="1600">
                <a:solidFill>
                  <a:srgbClr val="0000CC"/>
                </a:solidFill>
              </a:rPr>
              <a:t>1</a:t>
            </a:r>
            <a:endParaRPr/>
          </a:p>
        </p:txBody>
      </p:sp>
      <p:sp>
        <p:nvSpPr>
          <p:cNvPr id="1541" name="Google Shape;1541;p68"/>
          <p:cNvSpPr txBox="1"/>
          <p:nvPr/>
        </p:nvSpPr>
        <p:spPr>
          <a:xfrm>
            <a:off x="4067944" y="1702296"/>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latin typeface="Arial"/>
                <a:ea typeface="Arial"/>
                <a:cs typeface="Arial"/>
                <a:sym typeface="Arial"/>
              </a:rPr>
              <a:t>d</a:t>
            </a:r>
            <a:r>
              <a:rPr baseline="-25000" i="1" lang="en-US" sz="1600">
                <a:solidFill>
                  <a:srgbClr val="C00000"/>
                </a:solidFill>
                <a:latin typeface="Arial"/>
                <a:ea typeface="Arial"/>
                <a:cs typeface="Arial"/>
                <a:sym typeface="Arial"/>
              </a:rPr>
              <a:t>1</a:t>
            </a:r>
            <a:endParaRPr/>
          </a:p>
        </p:txBody>
      </p:sp>
      <p:sp>
        <p:nvSpPr>
          <p:cNvPr id="1542" name="Google Shape;1542;p68"/>
          <p:cNvSpPr txBox="1"/>
          <p:nvPr/>
        </p:nvSpPr>
        <p:spPr>
          <a:xfrm>
            <a:off x="3707904" y="2494384"/>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rPr>
              <a:t>r</a:t>
            </a:r>
            <a:r>
              <a:rPr baseline="-25000" i="1" lang="en-US" sz="1600">
                <a:solidFill>
                  <a:srgbClr val="C00000"/>
                </a:solidFill>
              </a:rPr>
              <a:t>1</a:t>
            </a:r>
            <a:endParaRPr/>
          </a:p>
        </p:txBody>
      </p:sp>
      <p:cxnSp>
        <p:nvCxnSpPr>
          <p:cNvPr id="1543" name="Google Shape;1543;p68"/>
          <p:cNvCxnSpPr/>
          <p:nvPr/>
        </p:nvCxnSpPr>
        <p:spPr>
          <a:xfrm>
            <a:off x="1905000" y="3150096"/>
            <a:ext cx="7162800" cy="0"/>
          </a:xfrm>
          <a:prstGeom prst="straightConnector1">
            <a:avLst/>
          </a:prstGeom>
          <a:noFill/>
          <a:ln cap="rnd" cmpd="sng" w="9525">
            <a:solidFill>
              <a:schemeClr val="dk1"/>
            </a:solidFill>
            <a:prstDash val="dot"/>
            <a:round/>
            <a:headEnd len="sm" w="sm" type="none"/>
            <a:tailEnd len="sm" w="sm" type="none"/>
          </a:ln>
        </p:spPr>
      </p:cxnSp>
      <p:cxnSp>
        <p:nvCxnSpPr>
          <p:cNvPr id="1544" name="Google Shape;1544;p68"/>
          <p:cNvCxnSpPr/>
          <p:nvPr/>
        </p:nvCxnSpPr>
        <p:spPr>
          <a:xfrm rot="5400000">
            <a:off x="3671150" y="3095271"/>
            <a:ext cx="214200" cy="0"/>
          </a:xfrm>
          <a:prstGeom prst="straightConnector1">
            <a:avLst/>
          </a:prstGeom>
          <a:noFill/>
          <a:ln cap="flat" cmpd="sng" w="50800">
            <a:solidFill>
              <a:srgbClr val="FF0000"/>
            </a:solidFill>
            <a:prstDash val="solid"/>
            <a:round/>
            <a:headEnd len="sm" w="sm" type="none"/>
            <a:tailEnd len="sm" w="sm" type="none"/>
          </a:ln>
        </p:spPr>
      </p:cxnSp>
      <p:cxnSp>
        <p:nvCxnSpPr>
          <p:cNvPr id="1545" name="Google Shape;1545;p68"/>
          <p:cNvCxnSpPr/>
          <p:nvPr/>
        </p:nvCxnSpPr>
        <p:spPr>
          <a:xfrm>
            <a:off x="2119536" y="2934072"/>
            <a:ext cx="0" cy="216000"/>
          </a:xfrm>
          <a:prstGeom prst="straightConnector1">
            <a:avLst/>
          </a:prstGeom>
          <a:noFill/>
          <a:ln cap="flat" cmpd="sng" w="19050">
            <a:solidFill>
              <a:srgbClr val="0000CC"/>
            </a:solidFill>
            <a:prstDash val="solid"/>
            <a:round/>
            <a:headEnd len="sm" w="sm" type="none"/>
            <a:tailEnd len="med" w="med" type="triangle"/>
          </a:ln>
        </p:spPr>
      </p:cxnSp>
      <p:sp>
        <p:nvSpPr>
          <p:cNvPr id="1546" name="Google Shape;1546;p68"/>
          <p:cNvSpPr txBox="1"/>
          <p:nvPr/>
        </p:nvSpPr>
        <p:spPr>
          <a:xfrm>
            <a:off x="3610744" y="3150096"/>
            <a:ext cx="373800" cy="33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600">
                <a:solidFill>
                  <a:srgbClr val="C00000"/>
                </a:solidFill>
                <a:latin typeface="Arial"/>
                <a:ea typeface="Arial"/>
                <a:cs typeface="Arial"/>
                <a:sym typeface="Arial"/>
              </a:rPr>
              <a:t>d</a:t>
            </a:r>
            <a:r>
              <a:rPr baseline="-25000" i="1" lang="en-US" sz="1600">
                <a:solidFill>
                  <a:srgbClr val="C00000"/>
                </a:solidFill>
              </a:rPr>
              <a:t>2</a:t>
            </a:r>
            <a:endParaRPr/>
          </a:p>
        </p:txBody>
      </p:sp>
      <p:sp>
        <p:nvSpPr>
          <p:cNvPr id="1547" name="Google Shape;1547;p68"/>
          <p:cNvSpPr txBox="1"/>
          <p:nvPr/>
        </p:nvSpPr>
        <p:spPr>
          <a:xfrm>
            <a:off x="2809950" y="5250400"/>
            <a:ext cx="35241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Problem: unobserved transmission times t</a:t>
            </a:r>
            <a:r>
              <a:rPr baseline="-25000" lang="en-US"/>
              <a:t>i</a:t>
            </a:r>
            <a:endParaRPr baseline="-250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52" name="Shape 1552"/>
        <p:cNvGrpSpPr/>
        <p:nvPr/>
      </p:nvGrpSpPr>
      <p:grpSpPr>
        <a:xfrm>
          <a:off x="0" y="0"/>
          <a:ext cx="0" cy="0"/>
          <a:chOff x="0" y="0"/>
          <a:chExt cx="0" cy="0"/>
        </a:xfrm>
      </p:grpSpPr>
      <p:sp>
        <p:nvSpPr>
          <p:cNvPr id="1553" name="Google Shape;1553;p69"/>
          <p:cNvSpPr txBox="1"/>
          <p:nvPr/>
        </p:nvSpPr>
        <p:spPr>
          <a:xfrm>
            <a:off x="1979713" y="188640"/>
            <a:ext cx="5328600" cy="95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rPr>
              <a:t>Part 5: Data augmentation</a:t>
            </a:r>
            <a:endParaRPr/>
          </a:p>
        </p:txBody>
      </p:sp>
      <p:sp>
        <p:nvSpPr>
          <p:cNvPr id="1554" name="Google Shape;1554;p69"/>
          <p:cNvSpPr txBox="1"/>
          <p:nvPr/>
        </p:nvSpPr>
        <p:spPr>
          <a:xfrm>
            <a:off x="5076056" y="6021288"/>
            <a:ext cx="3528300" cy="6462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‘augmented likelihood’: </a:t>
            </a:r>
            <a:r>
              <a:rPr lang="en-US" sz="1800">
                <a:solidFill>
                  <a:srgbClr val="FF0000"/>
                </a:solidFill>
                <a:latin typeface="Arial"/>
                <a:ea typeface="Arial"/>
                <a:cs typeface="Arial"/>
                <a:sym typeface="Arial"/>
              </a:rPr>
              <a:t>easy to evaluate</a:t>
            </a:r>
            <a:endParaRPr sz="1600">
              <a:solidFill>
                <a:srgbClr val="FF0000"/>
              </a:solidFill>
              <a:latin typeface="Arial"/>
              <a:ea typeface="Arial"/>
              <a:cs typeface="Arial"/>
              <a:sym typeface="Arial"/>
            </a:endParaRPr>
          </a:p>
        </p:txBody>
      </p:sp>
      <p:cxnSp>
        <p:nvCxnSpPr>
          <p:cNvPr id="1555" name="Google Shape;1555;p69"/>
          <p:cNvCxnSpPr/>
          <p:nvPr/>
        </p:nvCxnSpPr>
        <p:spPr>
          <a:xfrm rot="10800000">
            <a:off x="5292160" y="5085044"/>
            <a:ext cx="720000" cy="926100"/>
          </a:xfrm>
          <a:prstGeom prst="straightConnector1">
            <a:avLst/>
          </a:prstGeom>
          <a:noFill/>
          <a:ln cap="rnd" cmpd="sng" w="9525">
            <a:solidFill>
              <a:schemeClr val="dk1"/>
            </a:solidFill>
            <a:prstDash val="solid"/>
            <a:round/>
            <a:headEnd len="sm" w="sm" type="none"/>
            <a:tailEnd len="med" w="med" type="stealth"/>
          </a:ln>
        </p:spPr>
      </p:cxnSp>
      <p:sp>
        <p:nvSpPr>
          <p:cNvPr id="1556" name="Google Shape;1556;p69"/>
          <p:cNvSpPr txBox="1"/>
          <p:nvPr/>
        </p:nvSpPr>
        <p:spPr>
          <a:xfrm>
            <a:off x="1438350" y="1516600"/>
            <a:ext cx="6035700" cy="532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US"/>
              <a:t>Problem: unobserved transmission times t</a:t>
            </a:r>
            <a:r>
              <a:rPr baseline="-25000" lang="en-US"/>
              <a:t>i</a:t>
            </a:r>
            <a:endParaRPr baseline="-25000"/>
          </a:p>
          <a:p>
            <a:pPr indent="-317500" lvl="0" marL="457200" rtl="0" algn="l">
              <a:spcBef>
                <a:spcPts val="0"/>
              </a:spcBef>
              <a:spcAft>
                <a:spcPts val="0"/>
              </a:spcAft>
              <a:buClr>
                <a:schemeClr val="dk1"/>
              </a:buClr>
              <a:buSzPts val="1400"/>
              <a:buChar char="●"/>
            </a:pPr>
            <a:r>
              <a:rPr lang="en-US">
                <a:solidFill>
                  <a:schemeClr val="dk1"/>
                </a:solidFill>
              </a:rPr>
              <a:t>Solution: infer transmission times t</a:t>
            </a:r>
            <a:r>
              <a:rPr baseline="-25000" lang="en-US">
                <a:solidFill>
                  <a:schemeClr val="dk1"/>
                </a:solidFill>
              </a:rPr>
              <a:t>i</a:t>
            </a:r>
            <a:r>
              <a:rPr lang="en-US">
                <a:solidFill>
                  <a:schemeClr val="dk1"/>
                </a:solidFill>
              </a:rPr>
              <a:t> (as if they are extra parameters) by “augmenting” the data.</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General notation:    = augmented data. </a:t>
            </a:r>
            <a:endParaRPr>
              <a:solidFill>
                <a:schemeClr val="dk1"/>
              </a:solidFill>
            </a:endParaRPr>
          </a:p>
          <a:p>
            <a:pPr indent="0" lvl="0" marL="457200" rtl="0" algn="l">
              <a:spcBef>
                <a:spcPts val="0"/>
              </a:spcBef>
              <a:spcAft>
                <a:spcPts val="0"/>
              </a:spcAft>
              <a:buNone/>
            </a:pPr>
            <a:r>
              <a:t/>
            </a:r>
            <a:endParaRPr>
              <a:solidFill>
                <a:schemeClr val="dk1"/>
              </a:solidFill>
            </a:endParaRPr>
          </a:p>
        </p:txBody>
      </p:sp>
      <p:pic>
        <p:nvPicPr>
          <p:cNvPr id="1557" name="Google Shape;1557;p69"/>
          <p:cNvPicPr preferRelativeResize="0"/>
          <p:nvPr/>
        </p:nvPicPr>
        <p:blipFill>
          <a:blip r:embed="rId3">
            <a:alphaModFix/>
          </a:blip>
          <a:stretch>
            <a:fillRect/>
          </a:stretch>
        </p:blipFill>
        <p:spPr>
          <a:xfrm>
            <a:off x="3078450" y="3629151"/>
            <a:ext cx="4583712" cy="1363749"/>
          </a:xfrm>
          <a:prstGeom prst="rect">
            <a:avLst/>
          </a:prstGeom>
          <a:noFill/>
          <a:ln>
            <a:noFill/>
          </a:ln>
        </p:spPr>
      </p:pic>
      <p:pic>
        <p:nvPicPr>
          <p:cNvPr id="1558" name="Google Shape;1558;p69"/>
          <p:cNvPicPr preferRelativeResize="0"/>
          <p:nvPr/>
        </p:nvPicPr>
        <p:blipFill>
          <a:blip r:embed="rId4">
            <a:alphaModFix/>
          </a:blip>
          <a:stretch>
            <a:fillRect/>
          </a:stretch>
        </p:blipFill>
        <p:spPr>
          <a:xfrm>
            <a:off x="3429000" y="2277400"/>
            <a:ext cx="85725" cy="762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62" name="Shape 1562"/>
        <p:cNvGrpSpPr/>
        <p:nvPr/>
      </p:nvGrpSpPr>
      <p:grpSpPr>
        <a:xfrm>
          <a:off x="0" y="0"/>
          <a:ext cx="0" cy="0"/>
          <a:chOff x="0" y="0"/>
          <a:chExt cx="0" cy="0"/>
        </a:xfrm>
      </p:grpSpPr>
      <p:sp>
        <p:nvSpPr>
          <p:cNvPr id="1563" name="Google Shape;1563;p70"/>
          <p:cNvSpPr txBox="1"/>
          <p:nvPr/>
        </p:nvSpPr>
        <p:spPr>
          <a:xfrm>
            <a:off x="714375" y="361950"/>
            <a:ext cx="7215300" cy="523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rPr>
              <a:t>DA and MCMC</a:t>
            </a:r>
            <a:endParaRPr/>
          </a:p>
        </p:txBody>
      </p:sp>
      <p:sp>
        <p:nvSpPr>
          <p:cNvPr id="1564" name="Google Shape;1564;p70"/>
          <p:cNvSpPr txBox="1"/>
          <p:nvPr/>
        </p:nvSpPr>
        <p:spPr>
          <a:xfrm>
            <a:off x="395536" y="1163216"/>
            <a:ext cx="8748600" cy="4934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a:solidFill>
                  <a:schemeClr val="dk1"/>
                </a:solidFill>
              </a:rPr>
              <a:t>Choose a starting point in parameter space,    , and initialise the augmented data,    . </a:t>
            </a:r>
            <a:endParaRPr>
              <a:solidFill>
                <a:schemeClr val="dk1"/>
              </a:solidFill>
            </a:endParaRPr>
          </a:p>
          <a:p>
            <a:pPr indent="0" lvl="0" marL="0" marR="0" rtl="0" algn="l">
              <a:lnSpc>
                <a:spcPct val="100000"/>
              </a:lnSpc>
              <a:spcBef>
                <a:spcPts val="0"/>
              </a:spcBef>
              <a:spcAft>
                <a:spcPts val="0"/>
              </a:spcAft>
              <a:buNone/>
            </a:pPr>
            <a:r>
              <a:rPr lang="en-US">
                <a:solidFill>
                  <a:schemeClr val="dk1"/>
                </a:solidFill>
              </a:rPr>
              <a:t>Set the current parameter values,        , to    , and the current augmented data,       , to     .</a:t>
            </a:r>
            <a:endParaRPr>
              <a:solidFill>
                <a:schemeClr val="dk1"/>
              </a:solidFill>
            </a:endParaRPr>
          </a:p>
          <a:p>
            <a:pPr indent="0" lvl="0" marL="0" marR="0" rtl="0" algn="l">
              <a:lnSpc>
                <a:spcPct val="100000"/>
              </a:lnSpc>
              <a:spcBef>
                <a:spcPts val="0"/>
              </a:spcBef>
              <a:spcAft>
                <a:spcPts val="0"/>
              </a:spcAft>
              <a:buNone/>
            </a:pPr>
            <a:r>
              <a:rPr lang="en-US">
                <a:solidFill>
                  <a:schemeClr val="dk1"/>
                </a:solidFill>
              </a:rPr>
              <a:t>For each iteration  i = 2:N {</a:t>
            </a:r>
            <a:endParaRPr>
              <a:solidFill>
                <a:schemeClr val="dk1"/>
              </a:solidFill>
            </a:endParaRPr>
          </a:p>
          <a:p>
            <a:pPr indent="457200" lvl="0" marL="0" marR="0" rtl="0" algn="l">
              <a:lnSpc>
                <a:spcPct val="100000"/>
              </a:lnSpc>
              <a:spcBef>
                <a:spcPts val="0"/>
              </a:spcBef>
              <a:spcAft>
                <a:spcPts val="0"/>
              </a:spcAft>
              <a:buNone/>
            </a:pPr>
            <a:r>
              <a:rPr lang="en-US">
                <a:solidFill>
                  <a:schemeClr val="dk1"/>
                </a:solidFill>
              </a:rPr>
              <a:t>For each parameter k = 1:K {</a:t>
            </a:r>
            <a:endParaRPr>
              <a:solidFill>
                <a:schemeClr val="dk1"/>
              </a:solidFill>
            </a:endParaRPr>
          </a:p>
          <a:p>
            <a:pPr indent="-317500" lvl="0" marL="914400" marR="0" rtl="0" algn="l">
              <a:lnSpc>
                <a:spcPct val="100000"/>
              </a:lnSpc>
              <a:spcBef>
                <a:spcPts val="0"/>
              </a:spcBef>
              <a:spcAft>
                <a:spcPts val="0"/>
              </a:spcAft>
              <a:buClr>
                <a:schemeClr val="dk1"/>
              </a:buClr>
              <a:buSzPts val="1400"/>
              <a:buChar char="●"/>
            </a:pPr>
            <a:r>
              <a:rPr lang="en-US">
                <a:solidFill>
                  <a:schemeClr val="dk1"/>
                </a:solidFill>
              </a:rPr>
              <a:t>Set the proposed parameters     to        , then draw a new value for the kth component of     ,     , from a proposal distribution                   .  </a:t>
            </a:r>
            <a:endParaRPr>
              <a:solidFill>
                <a:schemeClr val="dk1"/>
              </a:solidFill>
            </a:endParaRPr>
          </a:p>
          <a:p>
            <a:pPr indent="-317500" lvl="0" marL="914400" marR="0" rtl="0" algn="l">
              <a:lnSpc>
                <a:spcPct val="100000"/>
              </a:lnSpc>
              <a:spcBef>
                <a:spcPts val="0"/>
              </a:spcBef>
              <a:spcAft>
                <a:spcPts val="0"/>
              </a:spcAft>
              <a:buClr>
                <a:schemeClr val="dk1"/>
              </a:buClr>
              <a:buSzPts val="1400"/>
              <a:buChar char="●"/>
            </a:pPr>
            <a:r>
              <a:rPr lang="en-US">
                <a:solidFill>
                  <a:schemeClr val="dk1"/>
                </a:solidFill>
              </a:rPr>
              <a:t>Calculate               </a:t>
            </a:r>
            <a:r>
              <a:rPr lang="en-US">
                <a:solidFill>
                  <a:srgbClr val="FFFFFF"/>
                </a:solidFill>
              </a:rPr>
              <a:t>a</a:t>
            </a:r>
            <a:r>
              <a:rPr lang="en-US">
                <a:solidFill>
                  <a:schemeClr val="dk1"/>
                </a:solidFill>
              </a:rPr>
              <a:t>                           and                                         .</a:t>
            </a:r>
            <a:endParaRPr>
              <a:solidFill>
                <a:schemeClr val="dk1"/>
              </a:solidFill>
            </a:endParaRPr>
          </a:p>
          <a:p>
            <a:pPr indent="-317500" lvl="0" marL="914400" marR="0" rtl="0" algn="l">
              <a:lnSpc>
                <a:spcPct val="100000"/>
              </a:lnSpc>
              <a:spcBef>
                <a:spcPts val="0"/>
              </a:spcBef>
              <a:spcAft>
                <a:spcPts val="0"/>
              </a:spcAft>
              <a:buClr>
                <a:schemeClr val="dk1"/>
              </a:buClr>
              <a:buSzPts val="1400"/>
              <a:buChar char="●"/>
            </a:pPr>
            <a:r>
              <a:rPr lang="en-US">
                <a:solidFill>
                  <a:schemeClr val="dk1"/>
                </a:solidFill>
              </a:rPr>
              <a:t>Accept the new value     if                                                                </a:t>
            </a:r>
            <a:r>
              <a:rPr lang="en-US">
                <a:solidFill>
                  <a:srgbClr val="FFFFFF"/>
                </a:solidFill>
              </a:rPr>
              <a:t>Otherwise accept</a:t>
            </a:r>
            <a:r>
              <a:rPr lang="en-US">
                <a:solidFill>
                  <a:schemeClr val="dk1"/>
                </a:solidFill>
              </a:rPr>
              <a:t> . Otherwise accept the new value with probability                                          .</a:t>
            </a:r>
            <a:endParaRPr>
              <a:solidFill>
                <a:schemeClr val="dk1"/>
              </a:solidFill>
            </a:endParaRPr>
          </a:p>
          <a:p>
            <a:pPr indent="-317500" lvl="0" marL="914400" marR="0" rtl="0" algn="l">
              <a:lnSpc>
                <a:spcPct val="100000"/>
              </a:lnSpc>
              <a:spcBef>
                <a:spcPts val="0"/>
              </a:spcBef>
              <a:spcAft>
                <a:spcPts val="0"/>
              </a:spcAft>
              <a:buClr>
                <a:schemeClr val="dk1"/>
              </a:buClr>
              <a:buSzPts val="1400"/>
              <a:buChar char="●"/>
            </a:pPr>
            <a:r>
              <a:t/>
            </a:r>
            <a:endParaRPr>
              <a:solidFill>
                <a:schemeClr val="dk1"/>
              </a:solidFill>
            </a:endParaRPr>
          </a:p>
          <a:p>
            <a:pPr indent="-317500" lvl="0" marL="914400" marR="0" rtl="0" algn="l">
              <a:lnSpc>
                <a:spcPct val="100000"/>
              </a:lnSpc>
              <a:spcBef>
                <a:spcPts val="0"/>
              </a:spcBef>
              <a:spcAft>
                <a:spcPts val="0"/>
              </a:spcAft>
              <a:buClr>
                <a:schemeClr val="dk1"/>
              </a:buClr>
              <a:buSzPts val="1400"/>
              <a:buChar char="●"/>
            </a:pPr>
            <a:r>
              <a:rPr lang="en-US">
                <a:solidFill>
                  <a:schemeClr val="dk1"/>
                </a:solidFill>
              </a:rPr>
              <a:t>If the new value was accepted, set               .  Otherwise        stays at its current value.</a:t>
            </a:r>
            <a:endParaRPr>
              <a:solidFill>
                <a:schemeClr val="dk1"/>
              </a:solidFill>
            </a:endParaRPr>
          </a:p>
          <a:p>
            <a:pPr indent="0" lvl="0" marL="457200" marR="0" rtl="0" algn="l">
              <a:lnSpc>
                <a:spcPct val="100000"/>
              </a:lnSpc>
              <a:spcBef>
                <a:spcPts val="0"/>
              </a:spcBef>
              <a:spcAft>
                <a:spcPts val="0"/>
              </a:spcAft>
              <a:buNone/>
            </a:pPr>
            <a:r>
              <a:rPr lang="en-US">
                <a:solidFill>
                  <a:schemeClr val="dk1"/>
                </a:solidFill>
              </a:rPr>
              <a:t>}</a:t>
            </a:r>
            <a:endParaRPr>
              <a:solidFill>
                <a:schemeClr val="dk1"/>
              </a:solidFill>
            </a:endParaRPr>
          </a:p>
          <a:p>
            <a:pPr indent="0" lvl="0" marL="457200" marR="0" rtl="0" algn="l">
              <a:lnSpc>
                <a:spcPct val="100000"/>
              </a:lnSpc>
              <a:spcBef>
                <a:spcPts val="0"/>
              </a:spcBef>
              <a:spcAft>
                <a:spcPts val="0"/>
              </a:spcAft>
              <a:buNone/>
            </a:pPr>
            <a:r>
              <a:rPr lang="en-US">
                <a:solidFill>
                  <a:schemeClr val="dk1"/>
                </a:solidFill>
              </a:rPr>
              <a:t>For each augmented value m = 1:M {</a:t>
            </a:r>
            <a:endParaRPr>
              <a:solidFill>
                <a:schemeClr val="dk1"/>
              </a:solidFill>
            </a:endParaRPr>
          </a:p>
          <a:p>
            <a:pPr indent="-317500" lvl="0" marL="914400" rtl="0" algn="l">
              <a:spcBef>
                <a:spcPts val="0"/>
              </a:spcBef>
              <a:spcAft>
                <a:spcPts val="0"/>
              </a:spcAft>
              <a:buClr>
                <a:schemeClr val="dk1"/>
              </a:buClr>
              <a:buSzPts val="1400"/>
              <a:buChar char="●"/>
            </a:pPr>
            <a:r>
              <a:rPr lang="en-US">
                <a:solidFill>
                  <a:schemeClr val="dk1"/>
                </a:solidFill>
              </a:rPr>
              <a:t>Set the proposed augmented values     to        , then draw a new value for the mth component of     ,     , from a proposal distribution                       .  </a:t>
            </a:r>
            <a:endParaRPr>
              <a:solidFill>
                <a:schemeClr val="dk1"/>
              </a:solidFill>
            </a:endParaRPr>
          </a:p>
          <a:p>
            <a:pPr indent="-317500" lvl="0" marL="914400" rtl="0" algn="l">
              <a:spcBef>
                <a:spcPts val="0"/>
              </a:spcBef>
              <a:spcAft>
                <a:spcPts val="0"/>
              </a:spcAft>
              <a:buClr>
                <a:schemeClr val="dk1"/>
              </a:buClr>
              <a:buSzPts val="1400"/>
              <a:buChar char="●"/>
            </a:pPr>
            <a:r>
              <a:rPr lang="en-US">
                <a:solidFill>
                  <a:schemeClr val="dk1"/>
                </a:solidFill>
              </a:rPr>
              <a:t>Calculate                        </a:t>
            </a:r>
            <a:r>
              <a:rPr lang="en-US">
                <a:solidFill>
                  <a:srgbClr val="FFFFFF"/>
                </a:solidFill>
              </a:rPr>
              <a:t>a</a:t>
            </a:r>
            <a:r>
              <a:rPr lang="en-US">
                <a:solidFill>
                  <a:schemeClr val="dk1"/>
                </a:solidFill>
              </a:rPr>
              <a:t>                     and                                                    .</a:t>
            </a:r>
            <a:endParaRPr>
              <a:solidFill>
                <a:schemeClr val="dk1"/>
              </a:solidFill>
            </a:endParaRPr>
          </a:p>
          <a:p>
            <a:pPr indent="-317500" lvl="0" marL="914400" rtl="0" algn="l">
              <a:spcBef>
                <a:spcPts val="0"/>
              </a:spcBef>
              <a:spcAft>
                <a:spcPts val="0"/>
              </a:spcAft>
              <a:buClr>
                <a:schemeClr val="dk1"/>
              </a:buClr>
              <a:buSzPts val="1400"/>
              <a:buChar char="●"/>
            </a:pPr>
            <a:r>
              <a:rPr lang="en-US">
                <a:solidFill>
                  <a:schemeClr val="dk1"/>
                </a:solidFill>
              </a:rPr>
              <a:t>Accept the new value     if                                                               . </a:t>
            </a:r>
            <a:r>
              <a:rPr lang="en-US">
                <a:solidFill>
                  <a:srgbClr val="FFFFFF"/>
                </a:solidFill>
              </a:rPr>
              <a:t>Otherwise accept</a:t>
            </a:r>
            <a:r>
              <a:rPr lang="en-US">
                <a:solidFill>
                  <a:schemeClr val="dk1"/>
                </a:solidFill>
              </a:rPr>
              <a:t> Otherwise accept the new value with probability                                                     .</a:t>
            </a:r>
            <a:endParaRPr>
              <a:solidFill>
                <a:schemeClr val="dk1"/>
              </a:solidFill>
            </a:endParaRPr>
          </a:p>
          <a:p>
            <a:pPr indent="-317500" lvl="0" marL="914400" rtl="0" algn="l">
              <a:spcBef>
                <a:spcPts val="0"/>
              </a:spcBef>
              <a:spcAft>
                <a:spcPts val="0"/>
              </a:spcAft>
              <a:buClr>
                <a:schemeClr val="dk1"/>
              </a:buClr>
              <a:buSzPts val="1400"/>
              <a:buChar char="●"/>
            </a:pPr>
            <a:r>
              <a:t/>
            </a:r>
            <a:endParaRPr>
              <a:solidFill>
                <a:schemeClr val="dk1"/>
              </a:solidFill>
            </a:endParaRPr>
          </a:p>
          <a:p>
            <a:pPr indent="-317500" lvl="0" marL="914400" rtl="0" algn="l">
              <a:spcBef>
                <a:spcPts val="0"/>
              </a:spcBef>
              <a:spcAft>
                <a:spcPts val="0"/>
              </a:spcAft>
              <a:buClr>
                <a:schemeClr val="dk1"/>
              </a:buClr>
              <a:buSzPts val="1400"/>
              <a:buChar char="●"/>
            </a:pPr>
            <a:r>
              <a:rPr lang="en-US">
                <a:solidFill>
                  <a:schemeClr val="dk1"/>
                </a:solidFill>
              </a:rPr>
              <a:t>If the new value was accepted, set               .  Otherwise        stays at its current value.</a:t>
            </a:r>
            <a:endParaRPr>
              <a:solidFill>
                <a:schemeClr val="dk1"/>
              </a:solidFill>
            </a:endParaRPr>
          </a:p>
          <a:p>
            <a:pPr indent="0" lvl="0" marL="457200" marR="0" rtl="0" algn="l">
              <a:lnSpc>
                <a:spcPct val="100000"/>
              </a:lnSpc>
              <a:spcBef>
                <a:spcPts val="0"/>
              </a:spcBef>
              <a:spcAft>
                <a:spcPts val="0"/>
              </a:spcAft>
              <a:buNone/>
            </a:pPr>
            <a:r>
              <a:rPr lang="en-US">
                <a:solidFill>
                  <a:schemeClr val="dk1"/>
                </a:solidFill>
              </a:rPr>
              <a:t>}</a:t>
            </a:r>
            <a:endParaRPr>
              <a:solidFill>
                <a:schemeClr val="dk1"/>
              </a:solidFill>
            </a:endParaRPr>
          </a:p>
          <a:p>
            <a:pPr indent="-317500" lvl="0" marL="914400" rtl="0" algn="l">
              <a:spcBef>
                <a:spcPts val="0"/>
              </a:spcBef>
              <a:spcAft>
                <a:spcPts val="0"/>
              </a:spcAft>
              <a:buClr>
                <a:schemeClr val="dk1"/>
              </a:buClr>
              <a:buSzPts val="1400"/>
              <a:buChar char="●"/>
            </a:pPr>
            <a:r>
              <a:rPr lang="en-US">
                <a:solidFill>
                  <a:schemeClr val="dk1"/>
                </a:solidFill>
              </a:rPr>
              <a:t>Record the current value of the chain,                .</a:t>
            </a:r>
            <a:endParaRPr>
              <a:solidFill>
                <a:schemeClr val="dk1"/>
              </a:solidFill>
            </a:endParaRPr>
          </a:p>
          <a:p>
            <a:pPr indent="0" lvl="0" marL="0" marR="0" rtl="0" algn="l">
              <a:lnSpc>
                <a:spcPct val="100000"/>
              </a:lnSpc>
              <a:spcBef>
                <a:spcPts val="0"/>
              </a:spcBef>
              <a:spcAft>
                <a:spcPts val="0"/>
              </a:spcAft>
              <a:buNone/>
            </a:pPr>
            <a:r>
              <a:rPr lang="en-US">
                <a:solidFill>
                  <a:schemeClr val="dk1"/>
                </a:solidFill>
              </a:rPr>
              <a:t>}</a:t>
            </a:r>
            <a:endParaRPr>
              <a:solidFill>
                <a:schemeClr val="dk1"/>
              </a:solidFill>
            </a:endParaRPr>
          </a:p>
        </p:txBody>
      </p:sp>
      <p:pic>
        <p:nvPicPr>
          <p:cNvPr id="1565" name="Google Shape;1565;p70"/>
          <p:cNvPicPr preferRelativeResize="0"/>
          <p:nvPr/>
        </p:nvPicPr>
        <p:blipFill>
          <a:blip r:embed="rId3">
            <a:alphaModFix/>
          </a:blip>
          <a:stretch>
            <a:fillRect/>
          </a:stretch>
        </p:blipFill>
        <p:spPr>
          <a:xfrm>
            <a:off x="3168725" y="1492725"/>
            <a:ext cx="342900" cy="123825"/>
          </a:xfrm>
          <a:prstGeom prst="rect">
            <a:avLst/>
          </a:prstGeom>
          <a:noFill/>
          <a:ln>
            <a:noFill/>
          </a:ln>
        </p:spPr>
      </p:pic>
      <p:pic>
        <p:nvPicPr>
          <p:cNvPr id="1566" name="Google Shape;1566;p70"/>
          <p:cNvPicPr preferRelativeResize="0"/>
          <p:nvPr/>
        </p:nvPicPr>
        <p:blipFill>
          <a:blip r:embed="rId4">
            <a:alphaModFix/>
          </a:blip>
          <a:stretch>
            <a:fillRect/>
          </a:stretch>
        </p:blipFill>
        <p:spPr>
          <a:xfrm>
            <a:off x="3731000" y="2124300"/>
            <a:ext cx="161925" cy="123825"/>
          </a:xfrm>
          <a:prstGeom prst="rect">
            <a:avLst/>
          </a:prstGeom>
          <a:noFill/>
          <a:ln>
            <a:noFill/>
          </a:ln>
        </p:spPr>
      </p:pic>
      <p:pic>
        <p:nvPicPr>
          <p:cNvPr id="1567" name="Google Shape;1567;p70"/>
          <p:cNvPicPr preferRelativeResize="0"/>
          <p:nvPr/>
        </p:nvPicPr>
        <p:blipFill>
          <a:blip r:embed="rId3">
            <a:alphaModFix/>
          </a:blip>
          <a:stretch>
            <a:fillRect/>
          </a:stretch>
        </p:blipFill>
        <p:spPr>
          <a:xfrm>
            <a:off x="4141175" y="2124300"/>
            <a:ext cx="342900" cy="123825"/>
          </a:xfrm>
          <a:prstGeom prst="rect">
            <a:avLst/>
          </a:prstGeom>
          <a:noFill/>
          <a:ln>
            <a:noFill/>
          </a:ln>
        </p:spPr>
      </p:pic>
      <p:pic>
        <p:nvPicPr>
          <p:cNvPr id="1568" name="Google Shape;1568;p70"/>
          <p:cNvPicPr preferRelativeResize="0"/>
          <p:nvPr/>
        </p:nvPicPr>
        <p:blipFill>
          <a:blip r:embed="rId4">
            <a:alphaModFix/>
          </a:blip>
          <a:stretch>
            <a:fillRect/>
          </a:stretch>
        </p:blipFill>
        <p:spPr>
          <a:xfrm>
            <a:off x="8357350" y="2124300"/>
            <a:ext cx="161925" cy="123825"/>
          </a:xfrm>
          <a:prstGeom prst="rect">
            <a:avLst/>
          </a:prstGeom>
          <a:noFill/>
          <a:ln>
            <a:noFill/>
          </a:ln>
        </p:spPr>
      </p:pic>
      <p:pic>
        <p:nvPicPr>
          <p:cNvPr id="1569" name="Google Shape;1569;p70"/>
          <p:cNvPicPr preferRelativeResize="0"/>
          <p:nvPr/>
        </p:nvPicPr>
        <p:blipFill>
          <a:blip r:embed="rId5">
            <a:alphaModFix/>
          </a:blip>
          <a:stretch>
            <a:fillRect/>
          </a:stretch>
        </p:blipFill>
        <p:spPr>
          <a:xfrm>
            <a:off x="8733375" y="2100475"/>
            <a:ext cx="142875" cy="171450"/>
          </a:xfrm>
          <a:prstGeom prst="rect">
            <a:avLst/>
          </a:prstGeom>
          <a:noFill/>
          <a:ln>
            <a:noFill/>
          </a:ln>
        </p:spPr>
      </p:pic>
      <p:pic>
        <p:nvPicPr>
          <p:cNvPr id="1570" name="Google Shape;1570;p70"/>
          <p:cNvPicPr preferRelativeResize="0"/>
          <p:nvPr/>
        </p:nvPicPr>
        <p:blipFill>
          <a:blip r:embed="rId6">
            <a:alphaModFix/>
          </a:blip>
          <a:stretch>
            <a:fillRect/>
          </a:stretch>
        </p:blipFill>
        <p:spPr>
          <a:xfrm>
            <a:off x="3586175" y="2226075"/>
            <a:ext cx="904875" cy="180975"/>
          </a:xfrm>
          <a:prstGeom prst="rect">
            <a:avLst/>
          </a:prstGeom>
          <a:noFill/>
          <a:ln>
            <a:noFill/>
          </a:ln>
        </p:spPr>
      </p:pic>
      <p:pic>
        <p:nvPicPr>
          <p:cNvPr id="1571" name="Google Shape;1571;p70"/>
          <p:cNvPicPr preferRelativeResize="0"/>
          <p:nvPr/>
        </p:nvPicPr>
        <p:blipFill>
          <a:blip r:embed="rId7">
            <a:alphaModFix/>
          </a:blip>
          <a:stretch>
            <a:fillRect/>
          </a:stretch>
        </p:blipFill>
        <p:spPr>
          <a:xfrm>
            <a:off x="4217375" y="3377650"/>
            <a:ext cx="742950" cy="123825"/>
          </a:xfrm>
          <a:prstGeom prst="rect">
            <a:avLst/>
          </a:prstGeom>
          <a:noFill/>
          <a:ln>
            <a:noFill/>
          </a:ln>
        </p:spPr>
      </p:pic>
      <p:pic>
        <p:nvPicPr>
          <p:cNvPr id="1572" name="Google Shape;1572;p70"/>
          <p:cNvPicPr preferRelativeResize="0"/>
          <p:nvPr/>
        </p:nvPicPr>
        <p:blipFill>
          <a:blip r:embed="rId8">
            <a:alphaModFix/>
          </a:blip>
          <a:stretch>
            <a:fillRect/>
          </a:stretch>
        </p:blipFill>
        <p:spPr>
          <a:xfrm>
            <a:off x="5899500" y="3377650"/>
            <a:ext cx="342900" cy="123825"/>
          </a:xfrm>
          <a:prstGeom prst="rect">
            <a:avLst/>
          </a:prstGeom>
          <a:noFill/>
          <a:ln>
            <a:noFill/>
          </a:ln>
        </p:spPr>
      </p:pic>
      <p:pic>
        <p:nvPicPr>
          <p:cNvPr id="1573" name="Google Shape;1573;p70"/>
          <p:cNvPicPr preferRelativeResize="0"/>
          <p:nvPr/>
        </p:nvPicPr>
        <p:blipFill>
          <a:blip r:embed="rId9">
            <a:alphaModFix/>
          </a:blip>
          <a:stretch>
            <a:fillRect/>
          </a:stretch>
        </p:blipFill>
        <p:spPr>
          <a:xfrm>
            <a:off x="3957638" y="1263050"/>
            <a:ext cx="161925" cy="152400"/>
          </a:xfrm>
          <a:prstGeom prst="rect">
            <a:avLst/>
          </a:prstGeom>
          <a:noFill/>
          <a:ln>
            <a:noFill/>
          </a:ln>
        </p:spPr>
      </p:pic>
      <p:pic>
        <p:nvPicPr>
          <p:cNvPr id="1574" name="Google Shape;1574;p70"/>
          <p:cNvPicPr preferRelativeResize="0"/>
          <p:nvPr/>
        </p:nvPicPr>
        <p:blipFill>
          <a:blip r:embed="rId9">
            <a:alphaModFix/>
          </a:blip>
          <a:stretch>
            <a:fillRect/>
          </a:stretch>
        </p:blipFill>
        <p:spPr>
          <a:xfrm>
            <a:off x="3805238" y="1491650"/>
            <a:ext cx="161925" cy="152400"/>
          </a:xfrm>
          <a:prstGeom prst="rect">
            <a:avLst/>
          </a:prstGeom>
          <a:noFill/>
          <a:ln>
            <a:noFill/>
          </a:ln>
        </p:spPr>
      </p:pic>
      <p:pic>
        <p:nvPicPr>
          <p:cNvPr id="1575" name="Google Shape;1575;p70"/>
          <p:cNvPicPr preferRelativeResize="0"/>
          <p:nvPr/>
        </p:nvPicPr>
        <p:blipFill>
          <a:blip r:embed="rId10">
            <a:alphaModFix/>
          </a:blip>
          <a:stretch>
            <a:fillRect/>
          </a:stretch>
        </p:blipFill>
        <p:spPr>
          <a:xfrm>
            <a:off x="4459550" y="5653975"/>
            <a:ext cx="723900" cy="152400"/>
          </a:xfrm>
          <a:prstGeom prst="rect">
            <a:avLst/>
          </a:prstGeom>
          <a:noFill/>
          <a:ln>
            <a:noFill/>
          </a:ln>
        </p:spPr>
      </p:pic>
      <p:pic>
        <p:nvPicPr>
          <p:cNvPr id="1576" name="Google Shape;1576;p70"/>
          <p:cNvPicPr preferRelativeResize="0"/>
          <p:nvPr/>
        </p:nvPicPr>
        <p:blipFill>
          <a:blip r:embed="rId4">
            <a:alphaModFix/>
          </a:blip>
          <a:stretch>
            <a:fillRect/>
          </a:stretch>
        </p:blipFill>
        <p:spPr>
          <a:xfrm>
            <a:off x="3159200" y="2777425"/>
            <a:ext cx="161925" cy="123825"/>
          </a:xfrm>
          <a:prstGeom prst="rect">
            <a:avLst/>
          </a:prstGeom>
          <a:noFill/>
          <a:ln>
            <a:noFill/>
          </a:ln>
        </p:spPr>
      </p:pic>
      <p:pic>
        <p:nvPicPr>
          <p:cNvPr id="1577" name="Google Shape;1577;p70"/>
          <p:cNvPicPr preferRelativeResize="0"/>
          <p:nvPr/>
        </p:nvPicPr>
        <p:blipFill>
          <a:blip r:embed="rId11">
            <a:alphaModFix/>
          </a:blip>
          <a:stretch>
            <a:fillRect/>
          </a:stretch>
        </p:blipFill>
        <p:spPr>
          <a:xfrm>
            <a:off x="6875075" y="1263050"/>
            <a:ext cx="142875" cy="152400"/>
          </a:xfrm>
          <a:prstGeom prst="rect">
            <a:avLst/>
          </a:prstGeom>
          <a:noFill/>
          <a:ln>
            <a:noFill/>
          </a:ln>
        </p:spPr>
      </p:pic>
      <p:pic>
        <p:nvPicPr>
          <p:cNvPr id="1578" name="Google Shape;1578;p70"/>
          <p:cNvPicPr preferRelativeResize="0"/>
          <p:nvPr/>
        </p:nvPicPr>
        <p:blipFill>
          <a:blip r:embed="rId12">
            <a:alphaModFix/>
          </a:blip>
          <a:stretch>
            <a:fillRect/>
          </a:stretch>
        </p:blipFill>
        <p:spPr>
          <a:xfrm>
            <a:off x="6681900" y="1505938"/>
            <a:ext cx="333375" cy="123825"/>
          </a:xfrm>
          <a:prstGeom prst="rect">
            <a:avLst/>
          </a:prstGeom>
          <a:noFill/>
          <a:ln>
            <a:noFill/>
          </a:ln>
        </p:spPr>
      </p:pic>
      <p:pic>
        <p:nvPicPr>
          <p:cNvPr id="1579" name="Google Shape;1579;p70"/>
          <p:cNvPicPr preferRelativeResize="0"/>
          <p:nvPr/>
        </p:nvPicPr>
        <p:blipFill>
          <a:blip r:embed="rId11">
            <a:alphaModFix/>
          </a:blip>
          <a:stretch>
            <a:fillRect/>
          </a:stretch>
        </p:blipFill>
        <p:spPr>
          <a:xfrm>
            <a:off x="7332275" y="1491650"/>
            <a:ext cx="142875" cy="152400"/>
          </a:xfrm>
          <a:prstGeom prst="rect">
            <a:avLst/>
          </a:prstGeom>
          <a:noFill/>
          <a:ln>
            <a:noFill/>
          </a:ln>
        </p:spPr>
      </p:pic>
      <p:pic>
        <p:nvPicPr>
          <p:cNvPr id="1580" name="Google Shape;1580;p70"/>
          <p:cNvPicPr preferRelativeResize="0"/>
          <p:nvPr/>
        </p:nvPicPr>
        <p:blipFill>
          <a:blip r:embed="rId13">
            <a:alphaModFix/>
          </a:blip>
          <a:stretch>
            <a:fillRect/>
          </a:stretch>
        </p:blipFill>
        <p:spPr>
          <a:xfrm>
            <a:off x="2176475" y="2498488"/>
            <a:ext cx="2009775" cy="180975"/>
          </a:xfrm>
          <a:prstGeom prst="rect">
            <a:avLst/>
          </a:prstGeom>
          <a:noFill/>
          <a:ln>
            <a:noFill/>
          </a:ln>
        </p:spPr>
      </p:pic>
      <p:pic>
        <p:nvPicPr>
          <p:cNvPr id="1581" name="Google Shape;1581;p70"/>
          <p:cNvPicPr preferRelativeResize="0"/>
          <p:nvPr/>
        </p:nvPicPr>
        <p:blipFill>
          <a:blip r:embed="rId14">
            <a:alphaModFix/>
          </a:blip>
          <a:stretch>
            <a:fillRect/>
          </a:stretch>
        </p:blipFill>
        <p:spPr>
          <a:xfrm>
            <a:off x="4688150" y="2498500"/>
            <a:ext cx="2190750" cy="180975"/>
          </a:xfrm>
          <a:prstGeom prst="rect">
            <a:avLst/>
          </a:prstGeom>
          <a:noFill/>
          <a:ln>
            <a:noFill/>
          </a:ln>
        </p:spPr>
      </p:pic>
      <p:pic>
        <p:nvPicPr>
          <p:cNvPr id="1582" name="Google Shape;1582;p70"/>
          <p:cNvPicPr preferRelativeResize="0"/>
          <p:nvPr/>
        </p:nvPicPr>
        <p:blipFill>
          <a:blip r:embed="rId15">
            <a:alphaModFix/>
          </a:blip>
          <a:stretch>
            <a:fillRect/>
          </a:stretch>
        </p:blipFill>
        <p:spPr>
          <a:xfrm>
            <a:off x="3476175" y="2684300"/>
            <a:ext cx="4438650" cy="180975"/>
          </a:xfrm>
          <a:prstGeom prst="rect">
            <a:avLst/>
          </a:prstGeom>
          <a:noFill/>
          <a:ln>
            <a:noFill/>
          </a:ln>
        </p:spPr>
      </p:pic>
      <p:pic>
        <p:nvPicPr>
          <p:cNvPr id="1583" name="Google Shape;1583;p70"/>
          <p:cNvPicPr preferRelativeResize="0"/>
          <p:nvPr/>
        </p:nvPicPr>
        <p:blipFill>
          <a:blip r:embed="rId16">
            <a:alphaModFix/>
          </a:blip>
          <a:stretch>
            <a:fillRect/>
          </a:stretch>
        </p:blipFill>
        <p:spPr>
          <a:xfrm>
            <a:off x="4281600" y="2873813"/>
            <a:ext cx="2200275" cy="419100"/>
          </a:xfrm>
          <a:prstGeom prst="rect">
            <a:avLst/>
          </a:prstGeom>
          <a:noFill/>
          <a:ln>
            <a:noFill/>
          </a:ln>
        </p:spPr>
      </p:pic>
      <p:pic>
        <p:nvPicPr>
          <p:cNvPr id="1584" name="Google Shape;1584;p70"/>
          <p:cNvPicPr preferRelativeResize="0"/>
          <p:nvPr/>
        </p:nvPicPr>
        <p:blipFill>
          <a:blip r:embed="rId17">
            <a:alphaModFix/>
          </a:blip>
          <a:stretch>
            <a:fillRect/>
          </a:stretch>
        </p:blipFill>
        <p:spPr>
          <a:xfrm>
            <a:off x="4267200" y="4009950"/>
            <a:ext cx="142875" cy="123825"/>
          </a:xfrm>
          <a:prstGeom prst="rect">
            <a:avLst/>
          </a:prstGeom>
          <a:noFill/>
          <a:ln>
            <a:noFill/>
          </a:ln>
        </p:spPr>
      </p:pic>
      <p:pic>
        <p:nvPicPr>
          <p:cNvPr id="1585" name="Google Shape;1585;p70"/>
          <p:cNvPicPr preferRelativeResize="0"/>
          <p:nvPr/>
        </p:nvPicPr>
        <p:blipFill>
          <a:blip r:embed="rId18">
            <a:alphaModFix/>
          </a:blip>
          <a:stretch>
            <a:fillRect/>
          </a:stretch>
        </p:blipFill>
        <p:spPr>
          <a:xfrm>
            <a:off x="4724400" y="4009950"/>
            <a:ext cx="333375" cy="123825"/>
          </a:xfrm>
          <a:prstGeom prst="rect">
            <a:avLst/>
          </a:prstGeom>
          <a:noFill/>
          <a:ln>
            <a:noFill/>
          </a:ln>
        </p:spPr>
      </p:pic>
      <p:pic>
        <p:nvPicPr>
          <p:cNvPr id="1586" name="Google Shape;1586;p70"/>
          <p:cNvPicPr preferRelativeResize="0"/>
          <p:nvPr/>
        </p:nvPicPr>
        <p:blipFill>
          <a:blip r:embed="rId17">
            <a:alphaModFix/>
          </a:blip>
          <a:stretch>
            <a:fillRect/>
          </a:stretch>
        </p:blipFill>
        <p:spPr>
          <a:xfrm>
            <a:off x="1295400" y="4238550"/>
            <a:ext cx="142875" cy="123825"/>
          </a:xfrm>
          <a:prstGeom prst="rect">
            <a:avLst/>
          </a:prstGeom>
          <a:noFill/>
          <a:ln>
            <a:noFill/>
          </a:ln>
        </p:spPr>
      </p:pic>
      <p:pic>
        <p:nvPicPr>
          <p:cNvPr id="1587" name="Google Shape;1587;p70"/>
          <p:cNvPicPr preferRelativeResize="0"/>
          <p:nvPr/>
        </p:nvPicPr>
        <p:blipFill>
          <a:blip r:embed="rId19">
            <a:alphaModFix/>
          </a:blip>
          <a:stretch>
            <a:fillRect/>
          </a:stretch>
        </p:blipFill>
        <p:spPr>
          <a:xfrm>
            <a:off x="1524000" y="4162350"/>
            <a:ext cx="190500" cy="171450"/>
          </a:xfrm>
          <a:prstGeom prst="rect">
            <a:avLst/>
          </a:prstGeom>
          <a:noFill/>
          <a:ln>
            <a:noFill/>
          </a:ln>
        </p:spPr>
      </p:pic>
      <p:pic>
        <p:nvPicPr>
          <p:cNvPr id="1588" name="Google Shape;1588;p70"/>
          <p:cNvPicPr preferRelativeResize="0"/>
          <p:nvPr/>
        </p:nvPicPr>
        <p:blipFill>
          <a:blip r:embed="rId20">
            <a:alphaModFix/>
          </a:blip>
          <a:stretch>
            <a:fillRect/>
          </a:stretch>
        </p:blipFill>
        <p:spPr>
          <a:xfrm>
            <a:off x="4029075" y="4169138"/>
            <a:ext cx="1085850" cy="180975"/>
          </a:xfrm>
          <a:prstGeom prst="rect">
            <a:avLst/>
          </a:prstGeom>
          <a:noFill/>
          <a:ln>
            <a:noFill/>
          </a:ln>
        </p:spPr>
      </p:pic>
      <p:pic>
        <p:nvPicPr>
          <p:cNvPr id="1589" name="Google Shape;1589;p70"/>
          <p:cNvPicPr preferRelativeResize="0"/>
          <p:nvPr/>
        </p:nvPicPr>
        <p:blipFill>
          <a:blip r:embed="rId21">
            <a:alphaModFix/>
          </a:blip>
          <a:stretch>
            <a:fillRect/>
          </a:stretch>
        </p:blipFill>
        <p:spPr>
          <a:xfrm>
            <a:off x="2244800" y="4385491"/>
            <a:ext cx="2190750" cy="180975"/>
          </a:xfrm>
          <a:prstGeom prst="rect">
            <a:avLst/>
          </a:prstGeom>
          <a:noFill/>
          <a:ln>
            <a:noFill/>
          </a:ln>
        </p:spPr>
      </p:pic>
      <p:pic>
        <p:nvPicPr>
          <p:cNvPr id="1590" name="Google Shape;1590;p70"/>
          <p:cNvPicPr preferRelativeResize="0"/>
          <p:nvPr/>
        </p:nvPicPr>
        <p:blipFill>
          <a:blip r:embed="rId22">
            <a:alphaModFix/>
          </a:blip>
          <a:stretch>
            <a:fillRect/>
          </a:stretch>
        </p:blipFill>
        <p:spPr>
          <a:xfrm>
            <a:off x="4960325" y="4382954"/>
            <a:ext cx="2371725" cy="180975"/>
          </a:xfrm>
          <a:prstGeom prst="rect">
            <a:avLst/>
          </a:prstGeom>
          <a:noFill/>
          <a:ln>
            <a:noFill/>
          </a:ln>
        </p:spPr>
      </p:pic>
      <p:pic>
        <p:nvPicPr>
          <p:cNvPr id="1591" name="Google Shape;1591;p70"/>
          <p:cNvPicPr preferRelativeResize="0"/>
          <p:nvPr/>
        </p:nvPicPr>
        <p:blipFill>
          <a:blip r:embed="rId17">
            <a:alphaModFix/>
          </a:blip>
          <a:stretch>
            <a:fillRect/>
          </a:stretch>
        </p:blipFill>
        <p:spPr>
          <a:xfrm>
            <a:off x="3124200" y="4619550"/>
            <a:ext cx="142875" cy="123825"/>
          </a:xfrm>
          <a:prstGeom prst="rect">
            <a:avLst/>
          </a:prstGeom>
          <a:noFill/>
          <a:ln>
            <a:noFill/>
          </a:ln>
        </p:spPr>
      </p:pic>
      <p:pic>
        <p:nvPicPr>
          <p:cNvPr id="1592" name="Google Shape;1592;p70"/>
          <p:cNvPicPr preferRelativeResize="0"/>
          <p:nvPr/>
        </p:nvPicPr>
        <p:blipFill>
          <a:blip r:embed="rId23">
            <a:alphaModFix/>
          </a:blip>
          <a:stretch>
            <a:fillRect/>
          </a:stretch>
        </p:blipFill>
        <p:spPr>
          <a:xfrm>
            <a:off x="4459550" y="4743366"/>
            <a:ext cx="2381250" cy="419100"/>
          </a:xfrm>
          <a:prstGeom prst="rect">
            <a:avLst/>
          </a:prstGeom>
          <a:noFill/>
          <a:ln>
            <a:noFill/>
          </a:ln>
        </p:spPr>
      </p:pic>
      <p:pic>
        <p:nvPicPr>
          <p:cNvPr id="1593" name="Google Shape;1593;p70"/>
          <p:cNvPicPr preferRelativeResize="0"/>
          <p:nvPr/>
        </p:nvPicPr>
        <p:blipFill>
          <a:blip r:embed="rId24">
            <a:alphaModFix/>
          </a:blip>
          <a:stretch>
            <a:fillRect/>
          </a:stretch>
        </p:blipFill>
        <p:spPr>
          <a:xfrm>
            <a:off x="3548063" y="4633913"/>
            <a:ext cx="4791075" cy="180975"/>
          </a:xfrm>
          <a:prstGeom prst="rect">
            <a:avLst/>
          </a:prstGeom>
          <a:noFill/>
          <a:ln>
            <a:noFill/>
          </a:ln>
        </p:spPr>
      </p:pic>
      <p:pic>
        <p:nvPicPr>
          <p:cNvPr id="1594" name="Google Shape;1594;p70"/>
          <p:cNvPicPr preferRelativeResize="0"/>
          <p:nvPr/>
        </p:nvPicPr>
        <p:blipFill>
          <a:blip r:embed="rId18">
            <a:alphaModFix/>
          </a:blip>
          <a:stretch>
            <a:fillRect/>
          </a:stretch>
        </p:blipFill>
        <p:spPr>
          <a:xfrm>
            <a:off x="5867400" y="5305350"/>
            <a:ext cx="333375" cy="123825"/>
          </a:xfrm>
          <a:prstGeom prst="rect">
            <a:avLst/>
          </a:prstGeom>
          <a:noFill/>
          <a:ln>
            <a:noFill/>
          </a:ln>
        </p:spPr>
      </p:pic>
      <p:pic>
        <p:nvPicPr>
          <p:cNvPr id="1595" name="Google Shape;1595;p70"/>
          <p:cNvPicPr preferRelativeResize="0"/>
          <p:nvPr/>
        </p:nvPicPr>
        <p:blipFill>
          <a:blip r:embed="rId25">
            <a:alphaModFix/>
          </a:blip>
          <a:stretch>
            <a:fillRect/>
          </a:stretch>
        </p:blipFill>
        <p:spPr>
          <a:xfrm>
            <a:off x="4138613" y="5272088"/>
            <a:ext cx="714375" cy="1238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99" name="Shape 1599"/>
        <p:cNvGrpSpPr/>
        <p:nvPr/>
      </p:nvGrpSpPr>
      <p:grpSpPr>
        <a:xfrm>
          <a:off x="0" y="0"/>
          <a:ext cx="0" cy="0"/>
          <a:chOff x="0" y="0"/>
          <a:chExt cx="0" cy="0"/>
        </a:xfrm>
      </p:grpSpPr>
      <p:sp>
        <p:nvSpPr>
          <p:cNvPr id="1600" name="Google Shape;1600;p71"/>
          <p:cNvSpPr txBox="1"/>
          <p:nvPr/>
        </p:nvSpPr>
        <p:spPr>
          <a:xfrm>
            <a:off x="714375" y="285750"/>
            <a:ext cx="7215300" cy="523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rPr>
              <a:t>Part 6: Further analysis of samples from the posterior distribution</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04" name="Shape 1604"/>
        <p:cNvGrpSpPr/>
        <p:nvPr/>
      </p:nvGrpSpPr>
      <p:grpSpPr>
        <a:xfrm>
          <a:off x="0" y="0"/>
          <a:ext cx="0" cy="0"/>
          <a:chOff x="0" y="0"/>
          <a:chExt cx="0" cy="0"/>
        </a:xfrm>
      </p:grpSpPr>
      <p:sp>
        <p:nvSpPr>
          <p:cNvPr id="1605" name="Google Shape;1605;p72"/>
          <p:cNvSpPr txBox="1"/>
          <p:nvPr/>
        </p:nvSpPr>
        <p:spPr>
          <a:xfrm>
            <a:off x="1979712" y="260648"/>
            <a:ext cx="5184600" cy="523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rgbClr val="0033CC"/>
                </a:solidFill>
                <a:latin typeface="Arial"/>
                <a:ea typeface="Arial"/>
                <a:cs typeface="Arial"/>
                <a:sym typeface="Arial"/>
              </a:rPr>
              <a:t>Discussion</a:t>
            </a:r>
            <a:endParaRPr/>
          </a:p>
        </p:txBody>
      </p:sp>
      <p:sp>
        <p:nvSpPr>
          <p:cNvPr id="1606" name="Google Shape;1606;p72"/>
          <p:cNvSpPr txBox="1"/>
          <p:nvPr/>
        </p:nvSpPr>
        <p:spPr>
          <a:xfrm>
            <a:off x="323528" y="1844824"/>
            <a:ext cx="8496900" cy="403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 Missing data in outbreaks make inference challenging.</a:t>
            </a:r>
            <a:endParaRPr/>
          </a:p>
          <a:p>
            <a:pPr indent="101600" lvl="0" marL="0" marR="0" rtl="0" algn="l">
              <a:spcBef>
                <a:spcPts val="0"/>
              </a:spcBef>
              <a:spcAft>
                <a:spcPts val="0"/>
              </a:spcAft>
              <a:buClr>
                <a:schemeClr val="dk1"/>
              </a:buClr>
              <a:buSzPts val="1600"/>
              <a:buFont typeface="Arial"/>
              <a:buNone/>
            </a:pPr>
            <a:r>
              <a:t/>
            </a:r>
            <a:endParaRPr sz="16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 Data augmentation and MCMC:</a:t>
            </a:r>
            <a:endParaRPr/>
          </a:p>
          <a:p>
            <a:pPr indent="0" lvl="1" marL="457200" marR="0" rtl="0" algn="l">
              <a:spcBef>
                <a:spcPts val="0"/>
              </a:spcBef>
              <a:spcAft>
                <a:spcPts val="0"/>
              </a:spcAft>
              <a:buClr>
                <a:srgbClr val="C00000"/>
              </a:buClr>
              <a:buSzPts val="1600"/>
              <a:buFont typeface="Noto Sans Symbols"/>
              <a:buChar char="➢"/>
            </a:pPr>
            <a:r>
              <a:rPr b="0" i="0" lang="en-US" sz="1600" u="none" cap="none" strike="noStrike">
                <a:solidFill>
                  <a:srgbClr val="C00000"/>
                </a:solidFill>
                <a:latin typeface="Arial"/>
                <a:ea typeface="Arial"/>
                <a:cs typeface="Arial"/>
                <a:sym typeface="Arial"/>
              </a:rPr>
              <a:t> Major development for analysis of infectious disease data of the last 15 years;</a:t>
            </a:r>
            <a:endParaRPr/>
          </a:p>
          <a:p>
            <a:pPr indent="0" lvl="1" marL="457200" marR="0" rtl="0" algn="l">
              <a:spcBef>
                <a:spcPts val="0"/>
              </a:spcBef>
              <a:spcAft>
                <a:spcPts val="0"/>
              </a:spcAft>
              <a:buClr>
                <a:srgbClr val="C00000"/>
              </a:buClr>
              <a:buSzPts val="1600"/>
              <a:buFont typeface="Noto Sans Symbols"/>
              <a:buChar char="➢"/>
            </a:pPr>
            <a:r>
              <a:rPr b="0" i="0" lang="en-US" sz="1600" u="none" cap="none" strike="noStrike">
                <a:solidFill>
                  <a:srgbClr val="C00000"/>
                </a:solidFill>
                <a:latin typeface="Arial"/>
                <a:ea typeface="Arial"/>
                <a:cs typeface="Arial"/>
                <a:sym typeface="Arial"/>
              </a:rPr>
              <a:t> Can tackle very complex problems.</a:t>
            </a:r>
            <a:endParaRPr/>
          </a:p>
          <a:p>
            <a:pPr indent="101600" lvl="0" marL="0" marR="0" rtl="0" algn="l">
              <a:spcBef>
                <a:spcPts val="0"/>
              </a:spcBef>
              <a:spcAft>
                <a:spcPts val="0"/>
              </a:spcAft>
              <a:buClr>
                <a:schemeClr val="dk1"/>
              </a:buClr>
              <a:buSzPts val="1600"/>
              <a:buFont typeface="Arial"/>
              <a:buNone/>
            </a:pPr>
            <a:r>
              <a:t/>
            </a:r>
            <a:endParaRPr sz="16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 Further reading:</a:t>
            </a:r>
            <a:endParaRPr/>
          </a:p>
          <a:p>
            <a:pPr indent="-285750" lvl="1" marL="742950" rtl="0" algn="l">
              <a:spcBef>
                <a:spcPts val="0"/>
              </a:spcBef>
              <a:spcAft>
                <a:spcPts val="0"/>
              </a:spcAft>
              <a:buClr>
                <a:schemeClr val="dk1"/>
              </a:buClr>
              <a:buSzPts val="1600"/>
              <a:buFont typeface="Noto Sans Symbols"/>
              <a:buChar char="✓"/>
            </a:pPr>
            <a:r>
              <a:rPr lang="en-US" sz="1600">
                <a:solidFill>
                  <a:schemeClr val="dk1"/>
                </a:solidFill>
              </a:rPr>
              <a:t>Ravenzwaaij et al. (2018) </a:t>
            </a:r>
            <a:r>
              <a:rPr i="1" lang="en-US" sz="1600">
                <a:solidFill>
                  <a:schemeClr val="dk1"/>
                </a:solidFill>
              </a:rPr>
              <a:t>A simple introduction to Markov Chain Monte–Carlo sampling, </a:t>
            </a:r>
            <a:r>
              <a:rPr lang="en-US" sz="1600">
                <a:solidFill>
                  <a:schemeClr val="dk1"/>
                </a:solidFill>
              </a:rPr>
              <a:t>Psychonomic Bulletin and Review</a:t>
            </a:r>
            <a:endParaRPr sz="1600">
              <a:solidFill>
                <a:schemeClr val="dk1"/>
              </a:solidFill>
            </a:endParaRPr>
          </a:p>
          <a:p>
            <a:pPr indent="-285750" lvl="1" marL="742950" marR="0" rtl="0" algn="l">
              <a:spcBef>
                <a:spcPts val="0"/>
              </a:spcBef>
              <a:spcAft>
                <a:spcPts val="0"/>
              </a:spcAft>
              <a:buClr>
                <a:schemeClr val="dk1"/>
              </a:buClr>
              <a:buSzPts val="1600"/>
              <a:buFont typeface="Noto Sans Symbols"/>
              <a:buChar char="✓"/>
            </a:pPr>
            <a:r>
              <a:rPr b="0" i="0" lang="en-US" sz="1600" u="none" cap="none" strike="noStrike">
                <a:solidFill>
                  <a:schemeClr val="dk1"/>
                </a:solidFill>
                <a:latin typeface="Arial"/>
                <a:ea typeface="Arial"/>
                <a:cs typeface="Arial"/>
                <a:sym typeface="Arial"/>
              </a:rPr>
              <a:t>Gilks, Richardson, Spiegelhalter (1996) </a:t>
            </a:r>
            <a:r>
              <a:rPr b="0" i="1" lang="en-US" sz="1600" u="none" cap="none" strike="noStrike">
                <a:solidFill>
                  <a:schemeClr val="dk1"/>
                </a:solidFill>
                <a:latin typeface="Arial"/>
                <a:ea typeface="Arial"/>
                <a:cs typeface="Arial"/>
                <a:sym typeface="Arial"/>
              </a:rPr>
              <a:t>Markov Chain Monte Carlo in practice</a:t>
            </a:r>
            <a:endParaRPr b="0" i="0" sz="1600" u="none" cap="none" strike="noStrike">
              <a:solidFill>
                <a:schemeClr val="dk1"/>
              </a:solidFill>
              <a:latin typeface="Arial"/>
              <a:ea typeface="Arial"/>
              <a:cs typeface="Arial"/>
              <a:sym typeface="Arial"/>
            </a:endParaRPr>
          </a:p>
          <a:p>
            <a:pPr indent="-285750" lvl="1" marL="742950" marR="0" rtl="0" algn="l">
              <a:spcBef>
                <a:spcPts val="0"/>
              </a:spcBef>
              <a:spcAft>
                <a:spcPts val="0"/>
              </a:spcAft>
              <a:buClr>
                <a:schemeClr val="dk1"/>
              </a:buClr>
              <a:buSzPts val="1600"/>
              <a:buFont typeface="Noto Sans Symbols"/>
              <a:buChar char="✓"/>
            </a:pPr>
            <a:r>
              <a:rPr b="0" i="0" lang="en-US" sz="1600" u="none" cap="none" strike="noStrike">
                <a:solidFill>
                  <a:schemeClr val="dk1"/>
                </a:solidFill>
                <a:latin typeface="Arial"/>
                <a:ea typeface="Arial"/>
                <a:cs typeface="Arial"/>
                <a:sym typeface="Arial"/>
              </a:rPr>
              <a:t>Cauchemez et al. (2011) </a:t>
            </a:r>
            <a:r>
              <a:rPr b="0" i="1" lang="en-US" sz="1600" u="none" cap="none" strike="noStrike">
                <a:solidFill>
                  <a:schemeClr val="dk1"/>
                </a:solidFill>
                <a:latin typeface="Arial"/>
                <a:ea typeface="Arial"/>
                <a:cs typeface="Arial"/>
                <a:sym typeface="Arial"/>
              </a:rPr>
              <a:t>Role of social networks in shaping disease transmission during a community outbreak of 2009 H1N1 pandemic influenza</a:t>
            </a:r>
            <a:r>
              <a:rPr b="0" i="0" lang="en-US" sz="1600" u="none" cap="none" strike="noStrike">
                <a:solidFill>
                  <a:schemeClr val="dk1"/>
                </a:solidFill>
                <a:latin typeface="Arial"/>
                <a:ea typeface="Arial"/>
                <a:cs typeface="Arial"/>
                <a:sym typeface="Arial"/>
              </a:rPr>
              <a:t>, PNAS</a:t>
            </a:r>
            <a:endParaRPr/>
          </a:p>
          <a:p>
            <a:pPr indent="-285750" lvl="1" marL="742950" marR="0" rtl="0" algn="l">
              <a:spcBef>
                <a:spcPts val="0"/>
              </a:spcBef>
              <a:spcAft>
                <a:spcPts val="0"/>
              </a:spcAft>
              <a:buClr>
                <a:schemeClr val="dk1"/>
              </a:buClr>
              <a:buSzPts val="1600"/>
              <a:buFont typeface="Noto Sans Symbols"/>
              <a:buChar char="✓"/>
            </a:pPr>
            <a:r>
              <a:rPr b="0" i="0" lang="en-US" sz="1600" u="none" cap="none" strike="noStrike">
                <a:solidFill>
                  <a:schemeClr val="dk1"/>
                </a:solidFill>
                <a:latin typeface="Arial"/>
                <a:ea typeface="Arial"/>
                <a:cs typeface="Arial"/>
                <a:sym typeface="Arial"/>
              </a:rPr>
              <a:t>Cauchemez et al. (2004) </a:t>
            </a:r>
            <a:r>
              <a:rPr b="0" i="1" lang="en-US" sz="1600" u="none" cap="none" strike="noStrike">
                <a:solidFill>
                  <a:schemeClr val="dk1"/>
                </a:solidFill>
                <a:latin typeface="Arial"/>
                <a:ea typeface="Arial"/>
                <a:cs typeface="Arial"/>
                <a:sym typeface="Arial"/>
              </a:rPr>
              <a:t>A Bayesian MCMC approach to study transmission of influenza: application to household longitudinal data</a:t>
            </a:r>
            <a:r>
              <a:rPr b="0" i="0" lang="en-US" sz="1600" u="none" cap="none" strike="noStrike">
                <a:solidFill>
                  <a:schemeClr val="dk1"/>
                </a:solidFill>
                <a:latin typeface="Arial"/>
                <a:ea typeface="Arial"/>
                <a:cs typeface="Arial"/>
                <a:sym typeface="Arial"/>
              </a:rPr>
              <a:t>, Stat Med</a:t>
            </a:r>
            <a:endParaRPr/>
          </a:p>
          <a:p>
            <a:pPr indent="-285750" lvl="1" marL="742950" marR="0" rtl="0" algn="l">
              <a:spcBef>
                <a:spcPts val="0"/>
              </a:spcBef>
              <a:spcAft>
                <a:spcPts val="0"/>
              </a:spcAft>
              <a:buClr>
                <a:schemeClr val="dk1"/>
              </a:buClr>
              <a:buSzPts val="1600"/>
              <a:buFont typeface="Noto Sans Symbols"/>
              <a:buChar char="✓"/>
            </a:pPr>
            <a:r>
              <a:rPr b="0" i="0" lang="en-US" sz="1600" u="none" cap="none" strike="noStrike">
                <a:solidFill>
                  <a:schemeClr val="dk1"/>
                </a:solidFill>
                <a:latin typeface="Arial"/>
                <a:ea typeface="Arial"/>
                <a:cs typeface="Arial"/>
                <a:sym typeface="Arial"/>
              </a:rPr>
              <a:t>Ypma et al. (2012) </a:t>
            </a:r>
            <a:r>
              <a:rPr b="0" i="1" lang="en-US" sz="1600" u="none" cap="none" strike="noStrike">
                <a:solidFill>
                  <a:schemeClr val="dk1"/>
                </a:solidFill>
                <a:latin typeface="Arial"/>
                <a:ea typeface="Arial"/>
                <a:cs typeface="Arial"/>
                <a:sym typeface="Arial"/>
              </a:rPr>
              <a:t>Unravelling transmission trees of infectious diseases by combining genetic and epidemiological data</a:t>
            </a:r>
            <a:r>
              <a:rPr b="0" i="0" lang="en-US" sz="1600" u="none" cap="none" strike="noStrike">
                <a:solidFill>
                  <a:schemeClr val="dk1"/>
                </a:solidFill>
                <a:latin typeface="Arial"/>
                <a:ea typeface="Arial"/>
                <a:cs typeface="Arial"/>
                <a:sym typeface="Arial"/>
              </a:rPr>
              <a:t>, Proc Roy Soc B</a:t>
            </a:r>
            <a:endParaRPr sz="16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