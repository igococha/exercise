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78" name="Google Shape;478;p15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15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8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62" name="Google Shape;562;p18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3" name="Google Shape;563;p18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39" name="Google Shape;639;p1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p19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46" name="Google Shape;646;p20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20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1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54" name="Google Shape;654;p21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p21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61" name="Google Shape;661;p22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22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74" name="Google Shape;674;p2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23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4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81" name="Google Shape;681;p2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2" name="Google Shape;682;p24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4e7f866edc_0_13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4e7f866edc_0_13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4e7f866edc_0_13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6300" lIns="92625" spcFirstLastPara="1" rIns="92625" wrap="square" tIns="46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5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5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6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6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4e7f866edc_0_0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4e7f866edc_0_0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4e7f866edc_0_5:notes"/>
          <p:cNvSpPr txBox="1"/>
          <p:nvPr>
            <p:ph idx="1" type="body"/>
          </p:nvPr>
        </p:nvSpPr>
        <p:spPr>
          <a:xfrm>
            <a:off x="709613" y="4860925"/>
            <a:ext cx="5680200" cy="4605300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4e7f866edc_0_5:notes"/>
          <p:cNvSpPr/>
          <p:nvPr>
            <p:ph idx="2" type="sldImg"/>
          </p:nvPr>
        </p:nvSpPr>
        <p:spPr>
          <a:xfrm>
            <a:off x="990600" y="768350"/>
            <a:ext cx="5118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:notes"/>
          <p:cNvSpPr txBox="1"/>
          <p:nvPr>
            <p:ph idx="1" type="body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anchorCtr="0" anchor="t" bIns="46300" lIns="92625" spcFirstLastPara="1" rIns="92625" wrap="square" tIns="46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:notes"/>
          <p:cNvSpPr/>
          <p:nvPr>
            <p:ph idx="2" type="sldImg"/>
          </p:nvPr>
        </p:nvSpPr>
        <p:spPr>
          <a:xfrm>
            <a:off x="990600" y="768350"/>
            <a:ext cx="51181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685800" y="981075"/>
            <a:ext cx="7772400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85800" y="981075"/>
            <a:ext cx="3810000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4648200" y="981075"/>
            <a:ext cx="3810000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 rot="5400000">
            <a:off x="2014537" y="-347663"/>
            <a:ext cx="5114925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 rot="5400000">
            <a:off x="4533107" y="2170906"/>
            <a:ext cx="5907087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 rot="5400000">
            <a:off x="570707" y="304006"/>
            <a:ext cx="5907087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685800" y="188913"/>
            <a:ext cx="7772400" cy="590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325438" y="1141413"/>
            <a:ext cx="8364537" cy="0"/>
          </a:xfrm>
          <a:prstGeom prst="straightConnector1">
            <a:avLst/>
          </a:prstGeom>
          <a:noFill/>
          <a:ln cap="flat" cmpd="thinThick" w="57150">
            <a:solidFill>
              <a:srgbClr val="0033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775" y="95250"/>
            <a:ext cx="1692275" cy="419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85800" y="981075"/>
            <a:ext cx="7772400" cy="511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inyurl.com/ycd58gbx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http://science.sciencemag.org/content/294/5543/813" TargetMode="External"/><Relationship Id="rId6" Type="http://schemas.openxmlformats.org/officeDocument/2006/relationships/hyperlink" Target="http://science.sciencemag.org/content/298/5597/1428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hyperlink" Target="https://www.nature.com/articles/nature04795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hyperlink" Target="https://www.pnas.org/content/103/33/12637.lon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990600" y="2840038"/>
            <a:ext cx="6953250" cy="2569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Steven Riley</a:t>
            </a:r>
            <a:endParaRPr b="0" i="0" sz="2400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00"/>
                </a:solidFill>
              </a:rPr>
              <a:t>(Some material by Neil Ferguson)</a:t>
            </a:r>
            <a:endParaRPr sz="2400">
              <a:solidFill>
                <a:srgbClr val="990000"/>
              </a:solidFill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Dept. of Infectious Disease Epidemiology</a:t>
            </a:r>
            <a:b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Faculty of Medicine</a:t>
            </a:r>
            <a:b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Imperial College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</a:rPr>
              <a:t>These slides: </a:t>
            </a:r>
            <a:r>
              <a:rPr lang="en-GB" sz="20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https://tinyurl.com/ycd58gbx</a:t>
            </a: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/>
          </a:p>
        </p:txBody>
      </p:sp>
      <p:sp>
        <p:nvSpPr>
          <p:cNvPr id="134" name="Google Shape;134;p26"/>
          <p:cNvSpPr txBox="1"/>
          <p:nvPr/>
        </p:nvSpPr>
        <p:spPr>
          <a:xfrm>
            <a:off x="512763" y="138113"/>
            <a:ext cx="780732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Spatial models</a:t>
            </a:r>
            <a:b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of infectious disease spread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>
            <a:off x="457200" y="427038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/>
          </a:p>
        </p:txBody>
      </p:sp>
      <p:sp>
        <p:nvSpPr>
          <p:cNvPr id="140" name="Google Shape;140;p27"/>
          <p:cNvSpPr/>
          <p:nvPr/>
        </p:nvSpPr>
        <p:spPr>
          <a:xfrm>
            <a:off x="598488" y="1452563"/>
            <a:ext cx="7783512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importance of </a:t>
            </a:r>
            <a:r>
              <a:rPr b="0" i="1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locality</a:t>
            </a: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disease transmission dynamics.</a:t>
            </a:r>
            <a:endParaRPr/>
          </a:p>
          <a:p>
            <a:pPr indent="-180975" lvl="0" marL="180975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different approaches to spatial modelling (with examples):</a:t>
            </a:r>
            <a:endParaRPr/>
          </a:p>
          <a:p>
            <a:pPr indent="-457200" lvl="1" marL="914400" marR="0" rtl="0" algn="l"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➢"/>
            </a:pPr>
            <a:r>
              <a:rPr b="0" i="0" lang="en-GB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Direct simulation</a:t>
            </a:r>
            <a:endParaRPr/>
          </a:p>
          <a:p>
            <a:pPr indent="-457200" lvl="1" marL="914400" marR="0" rtl="0" algn="l"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➢"/>
            </a:pPr>
            <a:r>
              <a:rPr b="0" i="0" lang="en-GB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Patch models</a:t>
            </a:r>
            <a:endParaRPr/>
          </a:p>
          <a:p>
            <a:pPr indent="-180975" lvl="0" marL="180975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utility of spatial models in examining targeted control policies.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350" y="3041651"/>
            <a:ext cx="30607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350" y="3041651"/>
            <a:ext cx="30607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4350" y="3059114"/>
            <a:ext cx="3060700" cy="306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4350" y="3041651"/>
            <a:ext cx="30607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54350" y="3041651"/>
            <a:ext cx="306070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/>
        </p:nvSpPr>
        <p:spPr>
          <a:xfrm>
            <a:off x="1166813" y="569913"/>
            <a:ext cx="678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Socio-spatial transmission dynamics</a:t>
            </a:r>
            <a:endParaRPr b="0" i="0" sz="2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762000" y="1385888"/>
            <a:ext cx="7391400" cy="1250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Disease transmission occurs within social &amp; geographic space.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Locality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transmission generates spatial 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Affects epidemic and endemic dynamics - and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54350" y="3041651"/>
            <a:ext cx="30607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54350" y="3061294"/>
            <a:ext cx="3060700" cy="304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/>
        </p:nvSpPr>
        <p:spPr>
          <a:xfrm>
            <a:off x="1603375" y="168275"/>
            <a:ext cx="6208713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The importance of locality for disease transmission</a:t>
            </a:r>
            <a:endParaRPr/>
          </a:p>
        </p:txBody>
      </p:sp>
      <p:sp>
        <p:nvSpPr>
          <p:cNvPr id="159" name="Google Shape;159;p29"/>
          <p:cNvSpPr txBox="1"/>
          <p:nvPr/>
        </p:nvSpPr>
        <p:spPr>
          <a:xfrm>
            <a:off x="500063" y="1349375"/>
            <a:ext cx="8242300" cy="424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Homogenous mixing has got to be wrong.</a:t>
            </a:r>
            <a:endParaRPr/>
          </a:p>
          <a:p>
            <a:pPr indent="-266700" lvl="0" marL="2667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aspects of dynamics &amp; persistence can not be explained without accounting for locality of contacts:</a:t>
            </a:r>
            <a:endParaRPr/>
          </a:p>
          <a:p>
            <a:pPr indent="-274638" lvl="1" marL="719138" marR="0" rtl="0" algn="l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Noto Sans Symbols"/>
              <a:buChar char="➢"/>
            </a:pPr>
            <a:r>
              <a:rPr b="0" i="0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For childhood diseases, non-spatial models fail to reproduce observed critical community size &amp; intermittency.</a:t>
            </a:r>
            <a:endParaRPr/>
          </a:p>
          <a:p>
            <a:pPr indent="-274638" lvl="1" marL="719138" marR="0" rtl="0" algn="l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Noto Sans Symbols"/>
              <a:buChar char="➢"/>
            </a:pPr>
            <a:r>
              <a:rPr b="0" i="0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For ST</a:t>
            </a:r>
            <a:r>
              <a:rPr lang="en-GB" sz="2000">
                <a:solidFill>
                  <a:srgbClr val="990000"/>
                </a:solidFill>
              </a:rPr>
              <a:t>I</a:t>
            </a:r>
            <a:r>
              <a:rPr b="0" i="0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s, the effect of concurrency and partnership duration not captured by simpler models.</a:t>
            </a:r>
            <a:endParaRPr/>
          </a:p>
          <a:p>
            <a:pPr indent="-274638" lvl="1" marL="719138" marR="0" rtl="0" algn="l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Noto Sans Symbols"/>
              <a:buChar char="➢"/>
            </a:pPr>
            <a:r>
              <a:rPr b="0" i="0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For animals diseases like Foot and Mouth Disease, spread is highly spatially localised.</a:t>
            </a:r>
            <a:endParaRPr/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importantly, many reactive control policies (</a:t>
            </a: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ring vaccination/culling, area-based controls) are intrinsically local.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/>
        </p:nvSpPr>
        <p:spPr>
          <a:xfrm>
            <a:off x="644525" y="1187450"/>
            <a:ext cx="8083550" cy="4703381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space in this context?</a:t>
            </a:r>
            <a:endParaRPr/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geographic &amp; social elements</a:t>
            </a:r>
            <a:endParaRPr/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scales   </a:t>
            </a: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- individual</a:t>
            </a:r>
            <a:b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                         - household</a:t>
            </a:r>
            <a:b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                         - school/college/workplace</a:t>
            </a:r>
            <a:b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                         - community (borough/village)</a:t>
            </a:r>
            <a:b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                         - town/city</a:t>
            </a:r>
            <a:b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                         - </a:t>
            </a:r>
            <a:r>
              <a:rPr i="1" lang="en-GB" sz="2000">
                <a:solidFill>
                  <a:srgbClr val="990000"/>
                </a:solidFill>
              </a:rPr>
              <a:t>herd/farm/county</a:t>
            </a:r>
            <a:b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GB" sz="20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                         - </a:t>
            </a:r>
            <a:r>
              <a:rPr i="1" lang="en-GB" sz="2000">
                <a:solidFill>
                  <a:srgbClr val="990000"/>
                </a:solidFill>
              </a:rPr>
              <a:t>country</a:t>
            </a:r>
            <a:endParaRPr b="0" i="0" sz="20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Scales have varying importance for different diseases.</a:t>
            </a:r>
            <a:endParaRPr/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1" lang="en-GB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New paradigm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transmission occurs on a contact </a:t>
            </a:r>
            <a:r>
              <a:rPr b="0" i="1" lang="en-GB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to disentangle network structure (persistent contacts) from spatial structure.</a:t>
            </a:r>
            <a:endParaRPr/>
          </a:p>
        </p:txBody>
      </p:sp>
      <p:sp>
        <p:nvSpPr>
          <p:cNvPr id="165" name="Google Shape;165;p30"/>
          <p:cNvSpPr txBox="1"/>
          <p:nvPr/>
        </p:nvSpPr>
        <p:spPr>
          <a:xfrm>
            <a:off x="927100" y="60642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Space &amp; contact networks</a:t>
            </a:r>
            <a:endParaRPr/>
          </a:p>
        </p:txBody>
      </p:sp>
      <p:pic>
        <p:nvPicPr>
          <p:cNvPr descr="http://www-personal.umich.edu/~mejn/networks/addhealth.gif" id="166" name="Google Shape;1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250" y="1406525"/>
            <a:ext cx="2771775" cy="27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3" y="1479550"/>
            <a:ext cx="3668712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285751" y="1317625"/>
            <a:ext cx="5519738" cy="485727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distance has a  geographic element.</a:t>
            </a:r>
            <a:endParaRPr/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Travel in space (or electronic communication) mediates all pairwise social interactions.</a:t>
            </a:r>
            <a:endParaRPr/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Locality in one space predictive of locality in the other.</a:t>
            </a:r>
            <a:endParaRPr/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for spread – social connectedness determines attack rate, and relationship with geographic space determines rate of spatial spread.</a:t>
            </a:r>
            <a:endParaRPr/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 consequences of the overlap between social and geographic space complex.</a:t>
            </a:r>
            <a:endParaRPr b="0" i="1" sz="1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364225" y="558800"/>
            <a:ext cx="85881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Integrating</a:t>
            </a:r>
            <a:r>
              <a:rPr b="1" lang="en-GB" sz="2800">
                <a:solidFill>
                  <a:schemeClr val="accent2"/>
                </a:solidFill>
              </a:rPr>
              <a:t> </a:t>
            </a:r>
            <a:r>
              <a:rPr b="1" i="0" lang="en-GB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social and geographic space</a:t>
            </a:r>
            <a:endParaRPr/>
          </a:p>
        </p:txBody>
      </p:sp>
      <p:pic>
        <p:nvPicPr>
          <p:cNvPr descr="http://www.eriding.net/media/photos/geography/040430_amoore_mp_geo_corn_mevagissey1.jpg" id="174" name="Google Shape;1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3759200"/>
            <a:ext cx="3102750" cy="23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/>
        </p:nvSpPr>
        <p:spPr>
          <a:xfrm>
            <a:off x="708025" y="59372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</a:rPr>
              <a:t>Example:</a:t>
            </a: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workplace movements</a:t>
            </a:r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4370388" y="6113463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79388" y="1341438"/>
            <a:ext cx="3492500" cy="4422775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of our most important social networks are home and work.</a:t>
            </a:r>
            <a:endParaRPr/>
          </a:p>
          <a:p>
            <a:pPr indent="-179388" lvl="0" marL="179388" marR="0" rtl="0" algn="l"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indicates most people work close to home.</a:t>
            </a:r>
            <a:endParaRPr/>
          </a:p>
          <a:p>
            <a:pPr indent="-179388" lvl="0" marL="179388" marR="0" rtl="0" algn="l"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distribution is ‘fat-tailed’ – a few people people travel far.</a:t>
            </a:r>
            <a:endParaRPr/>
          </a:p>
          <a:p>
            <a:pPr indent="-179388" lvl="0" marL="179388" marR="0" rtl="0" algn="l"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the locality of most movements and the few ‘long jumps’ will be important for disease transmission.</a:t>
            </a:r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3938" y="1268413"/>
            <a:ext cx="421005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6988" y="3917950"/>
            <a:ext cx="4048125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 txBox="1"/>
          <p:nvPr/>
        </p:nvSpPr>
        <p:spPr>
          <a:xfrm>
            <a:off x="7524750" y="1700213"/>
            <a:ext cx="1336675" cy="650875"/>
          </a:xfrm>
          <a:prstGeom prst="rect">
            <a:avLst/>
          </a:prstGeom>
          <a:noFill/>
          <a:ln cap="flat" cmpd="sng" w="952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‘Scale-free’</a:t>
            </a:r>
            <a:br>
              <a:rPr b="0" i="0" lang="en-GB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behaviour?</a:t>
            </a:r>
            <a:endParaRPr/>
          </a:p>
        </p:txBody>
      </p:sp>
      <p:cxnSp>
        <p:nvCxnSpPr>
          <p:cNvPr id="185" name="Google Shape;185;p32"/>
          <p:cNvCxnSpPr/>
          <p:nvPr/>
        </p:nvCxnSpPr>
        <p:spPr>
          <a:xfrm flipH="1">
            <a:off x="6588125" y="2205038"/>
            <a:ext cx="936625" cy="360362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/>
        </p:nvSpPr>
        <p:spPr>
          <a:xfrm>
            <a:off x="631825" y="57467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Models with spatial kernels</a:t>
            </a:r>
            <a:endParaRPr/>
          </a:p>
        </p:txBody>
      </p:sp>
      <p:sp>
        <p:nvSpPr>
          <p:cNvPr id="191" name="Google Shape;191;p33"/>
          <p:cNvSpPr txBox="1"/>
          <p:nvPr/>
        </p:nvSpPr>
        <p:spPr>
          <a:xfrm>
            <a:off x="179388" y="1204913"/>
            <a:ext cx="8645525" cy="493395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‘Kernel’ = function which determines contact rate as a function of distance =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9388" lvl="0" marL="179388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 individuals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 </a:t>
            </a: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locations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baseline="-2500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9388" lvl="0" marL="179388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simple ‘action at a distance’ model, force of infection on individual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given by:</a:t>
            </a:r>
            <a:endParaRPr/>
          </a:p>
          <a:p>
            <a:pPr indent="-52387" lvl="0" marL="179388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8" lvl="0" marL="179388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8" lvl="0" marL="179388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|</a:t>
            </a: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b="0" baseline="-2500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= distance between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GB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9388" lvl="0" marL="179388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model gives higher infection risk in high population density areas.</a:t>
            </a:r>
            <a:endParaRPr/>
          </a:p>
          <a:p>
            <a:pPr indent="-179388" lvl="0" marL="179388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really need to be stochastic </a:t>
            </a:r>
            <a:r>
              <a:rPr b="0" i="1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i.e</a:t>
            </a: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simulations.</a:t>
            </a:r>
            <a:endParaRPr/>
          </a:p>
        </p:txBody>
      </p:sp>
      <p:grpSp>
        <p:nvGrpSpPr>
          <p:cNvPr id="192" name="Google Shape;192;p33"/>
          <p:cNvGrpSpPr/>
          <p:nvPr/>
        </p:nvGrpSpPr>
        <p:grpSpPr>
          <a:xfrm>
            <a:off x="1147763" y="3163888"/>
            <a:ext cx="2808287" cy="1311275"/>
            <a:chOff x="613" y="2279"/>
            <a:chExt cx="1769" cy="827"/>
          </a:xfrm>
        </p:grpSpPr>
        <p:sp>
          <p:nvSpPr>
            <p:cNvPr id="193" name="Google Shape;193;p33"/>
            <p:cNvSpPr/>
            <p:nvPr/>
          </p:nvSpPr>
          <p:spPr>
            <a:xfrm>
              <a:off x="613" y="2279"/>
              <a:ext cx="1717" cy="8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" name="Google Shape;194;p33"/>
            <p:cNvCxnSpPr/>
            <p:nvPr/>
          </p:nvCxnSpPr>
          <p:spPr>
            <a:xfrm>
              <a:off x="1960" y="2557"/>
              <a:ext cx="1" cy="229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33"/>
            <p:cNvCxnSpPr/>
            <p:nvPr/>
          </p:nvCxnSpPr>
          <p:spPr>
            <a:xfrm>
              <a:off x="2259" y="2557"/>
              <a:ext cx="1" cy="229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" name="Google Shape;196;p33"/>
            <p:cNvSpPr/>
            <p:nvPr/>
          </p:nvSpPr>
          <p:spPr>
            <a:xfrm>
              <a:off x="2277" y="2578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⎟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3"/>
            <p:cNvSpPr/>
            <p:nvPr/>
          </p:nvSpPr>
          <p:spPr>
            <a:xfrm>
              <a:off x="2277" y="2661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⎠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3"/>
            <p:cNvSpPr/>
            <p:nvPr/>
          </p:nvSpPr>
          <p:spPr>
            <a:xfrm>
              <a:off x="2277" y="2530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⎞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1905" y="2578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⎜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1905" y="2661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⎝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3"/>
            <p:cNvSpPr/>
            <p:nvPr/>
          </p:nvSpPr>
          <p:spPr>
            <a:xfrm>
              <a:off x="1905" y="2530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⎛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3"/>
            <p:cNvSpPr/>
            <p:nvPr/>
          </p:nvSpPr>
          <p:spPr>
            <a:xfrm>
              <a:off x="2063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3"/>
            <p:cNvSpPr/>
            <p:nvPr/>
          </p:nvSpPr>
          <p:spPr>
            <a:xfrm>
              <a:off x="1082" y="2843"/>
              <a:ext cx="104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∈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3"/>
            <p:cNvSpPr/>
            <p:nvPr/>
          </p:nvSpPr>
          <p:spPr>
            <a:xfrm>
              <a:off x="777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=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1275" y="2321"/>
              <a:ext cx="494" cy="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Σ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2220" y="2685"/>
              <a:ext cx="42" cy="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2015" y="2685"/>
              <a:ext cx="42" cy="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2162" y="2529"/>
              <a:ext cx="124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1970" y="2529"/>
              <a:ext cx="124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1737" y="2529"/>
              <a:ext cx="238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1029" y="2865"/>
              <a:ext cx="4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700" y="2626"/>
              <a:ext cx="107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3"/>
            <p:cNvSpPr/>
            <p:nvPr/>
          </p:nvSpPr>
          <p:spPr>
            <a:xfrm>
              <a:off x="1727" y="2864"/>
              <a:ext cx="7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1243" y="2864"/>
              <a:ext cx="796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infected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1183" y="2864"/>
              <a:ext cx="7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885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β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626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33"/>
          <p:cNvGrpSpPr/>
          <p:nvPr/>
        </p:nvGrpSpPr>
        <p:grpSpPr>
          <a:xfrm>
            <a:off x="6105459" y="3105027"/>
            <a:ext cx="2396573" cy="2070466"/>
            <a:chOff x="6242050" y="3416300"/>
            <a:chExt cx="1643064" cy="1498600"/>
          </a:xfrm>
        </p:grpSpPr>
        <p:cxnSp>
          <p:nvCxnSpPr>
            <p:cNvPr id="219" name="Google Shape;219;p33"/>
            <p:cNvCxnSpPr/>
            <p:nvPr/>
          </p:nvCxnSpPr>
          <p:spPr>
            <a:xfrm rot="10800000">
              <a:off x="6548438" y="3416300"/>
              <a:ext cx="0" cy="120332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cxnSp>
          <p:nvCxnSpPr>
            <p:cNvPr id="220" name="Google Shape;220;p33"/>
            <p:cNvCxnSpPr/>
            <p:nvPr/>
          </p:nvCxnSpPr>
          <p:spPr>
            <a:xfrm rot="10800000">
              <a:off x="7216776" y="3951287"/>
              <a:ext cx="0" cy="13366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sp>
          <p:nvSpPr>
            <p:cNvPr id="221" name="Google Shape;221;p33"/>
            <p:cNvSpPr/>
            <p:nvPr/>
          </p:nvSpPr>
          <p:spPr>
            <a:xfrm>
              <a:off x="6646863" y="3617913"/>
              <a:ext cx="1090612" cy="963612"/>
            </a:xfrm>
            <a:custGeom>
              <a:rect b="b" l="l" r="r" t="t"/>
              <a:pathLst>
                <a:path extrusionOk="0" h="873" w="999">
                  <a:moveTo>
                    <a:pt x="0" y="0"/>
                  </a:moveTo>
                  <a:cubicBezTo>
                    <a:pt x="4" y="166"/>
                    <a:pt x="8" y="332"/>
                    <a:pt x="46" y="453"/>
                  </a:cubicBezTo>
                  <a:cubicBezTo>
                    <a:pt x="84" y="574"/>
                    <a:pt x="151" y="659"/>
                    <a:pt x="227" y="725"/>
                  </a:cubicBezTo>
                  <a:cubicBezTo>
                    <a:pt x="303" y="791"/>
                    <a:pt x="396" y="824"/>
                    <a:pt x="502" y="847"/>
                  </a:cubicBezTo>
                  <a:cubicBezTo>
                    <a:pt x="608" y="870"/>
                    <a:pt x="779" y="858"/>
                    <a:pt x="862" y="862"/>
                  </a:cubicBezTo>
                  <a:cubicBezTo>
                    <a:pt x="945" y="866"/>
                    <a:pt x="971" y="871"/>
                    <a:pt x="999" y="87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3"/>
            <p:cNvSpPr txBox="1"/>
            <p:nvPr/>
          </p:nvSpPr>
          <p:spPr>
            <a:xfrm>
              <a:off x="6845300" y="4640263"/>
              <a:ext cx="774700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Distance</a:t>
              </a:r>
              <a:endParaRPr b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3"/>
            <p:cNvSpPr txBox="1"/>
            <p:nvPr/>
          </p:nvSpPr>
          <p:spPr>
            <a:xfrm rot="-5400000">
              <a:off x="5933281" y="3912394"/>
              <a:ext cx="892175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Probability</a:t>
              </a:r>
              <a:endParaRPr b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/>
        </p:nvSpPr>
        <p:spPr>
          <a:xfrm>
            <a:off x="708025" y="59372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Density dependence</a:t>
            </a:r>
            <a:endParaRPr/>
          </a:p>
        </p:txBody>
      </p:sp>
      <p:grpSp>
        <p:nvGrpSpPr>
          <p:cNvPr id="229" name="Google Shape;229;p34"/>
          <p:cNvGrpSpPr/>
          <p:nvPr/>
        </p:nvGrpSpPr>
        <p:grpSpPr>
          <a:xfrm>
            <a:off x="906462" y="1176338"/>
            <a:ext cx="2787650" cy="1428749"/>
            <a:chOff x="626" y="2321"/>
            <a:chExt cx="1756" cy="900"/>
          </a:xfrm>
        </p:grpSpPr>
        <p:cxnSp>
          <p:nvCxnSpPr>
            <p:cNvPr id="230" name="Google Shape;230;p34"/>
            <p:cNvCxnSpPr/>
            <p:nvPr/>
          </p:nvCxnSpPr>
          <p:spPr>
            <a:xfrm>
              <a:off x="1960" y="2557"/>
              <a:ext cx="1" cy="229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34"/>
            <p:cNvCxnSpPr/>
            <p:nvPr/>
          </p:nvCxnSpPr>
          <p:spPr>
            <a:xfrm>
              <a:off x="2259" y="2557"/>
              <a:ext cx="1" cy="229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34"/>
            <p:cNvSpPr/>
            <p:nvPr/>
          </p:nvSpPr>
          <p:spPr>
            <a:xfrm>
              <a:off x="2277" y="2578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⎟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4"/>
            <p:cNvSpPr/>
            <p:nvPr/>
          </p:nvSpPr>
          <p:spPr>
            <a:xfrm>
              <a:off x="2277" y="2661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⎠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4"/>
            <p:cNvSpPr/>
            <p:nvPr/>
          </p:nvSpPr>
          <p:spPr>
            <a:xfrm>
              <a:off x="2277" y="2530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⎞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4"/>
            <p:cNvSpPr/>
            <p:nvPr/>
          </p:nvSpPr>
          <p:spPr>
            <a:xfrm>
              <a:off x="1905" y="2578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⎜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4"/>
            <p:cNvSpPr/>
            <p:nvPr/>
          </p:nvSpPr>
          <p:spPr>
            <a:xfrm>
              <a:off x="1905" y="2661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⎝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4"/>
            <p:cNvSpPr/>
            <p:nvPr/>
          </p:nvSpPr>
          <p:spPr>
            <a:xfrm>
              <a:off x="1905" y="2530"/>
              <a:ext cx="105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⎛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063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1082" y="2843"/>
              <a:ext cx="104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∈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777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=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1227" y="2321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Σ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220" y="2685"/>
              <a:ext cx="42" cy="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015" y="2685"/>
              <a:ext cx="42" cy="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162" y="2529"/>
              <a:ext cx="124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1970" y="2529"/>
              <a:ext cx="124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4"/>
            <p:cNvSpPr/>
            <p:nvPr/>
          </p:nvSpPr>
          <p:spPr>
            <a:xfrm>
              <a:off x="1737" y="2529"/>
              <a:ext cx="238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4"/>
            <p:cNvSpPr/>
            <p:nvPr/>
          </p:nvSpPr>
          <p:spPr>
            <a:xfrm>
              <a:off x="1029" y="2865"/>
              <a:ext cx="4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4"/>
            <p:cNvSpPr/>
            <p:nvPr/>
          </p:nvSpPr>
          <p:spPr>
            <a:xfrm>
              <a:off x="700" y="2626"/>
              <a:ext cx="107" cy="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4"/>
            <p:cNvSpPr/>
            <p:nvPr/>
          </p:nvSpPr>
          <p:spPr>
            <a:xfrm>
              <a:off x="1727" y="2864"/>
              <a:ext cx="7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1243" y="2864"/>
              <a:ext cx="796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infected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4"/>
            <p:cNvSpPr/>
            <p:nvPr/>
          </p:nvSpPr>
          <p:spPr>
            <a:xfrm>
              <a:off x="1183" y="2864"/>
              <a:ext cx="7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4"/>
            <p:cNvSpPr/>
            <p:nvPr/>
          </p:nvSpPr>
          <p:spPr>
            <a:xfrm>
              <a:off x="885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β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4"/>
            <p:cNvSpPr/>
            <p:nvPr/>
          </p:nvSpPr>
          <p:spPr>
            <a:xfrm>
              <a:off x="626" y="2507"/>
              <a:ext cx="180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rgbClr val="0000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34"/>
          <p:cNvGrpSpPr/>
          <p:nvPr/>
        </p:nvGrpSpPr>
        <p:grpSpPr>
          <a:xfrm>
            <a:off x="5530850" y="1274763"/>
            <a:ext cx="2881313" cy="2433637"/>
            <a:chOff x="5430733" y="1757779"/>
            <a:chExt cx="2881172" cy="2434807"/>
          </a:xfrm>
        </p:grpSpPr>
        <p:sp>
          <p:nvSpPr>
            <p:cNvPr id="255" name="Google Shape;255;p34"/>
            <p:cNvSpPr/>
            <p:nvPr/>
          </p:nvSpPr>
          <p:spPr>
            <a:xfrm>
              <a:off x="6294291" y="2237434"/>
              <a:ext cx="176204" cy="17470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4"/>
            <p:cNvSpPr/>
            <p:nvPr/>
          </p:nvSpPr>
          <p:spPr>
            <a:xfrm>
              <a:off x="6667335" y="1988077"/>
              <a:ext cx="174616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4"/>
            <p:cNvSpPr/>
            <p:nvPr/>
          </p:nvSpPr>
          <p:spPr>
            <a:xfrm>
              <a:off x="6002205" y="2767914"/>
              <a:ext cx="176204" cy="1762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4"/>
            <p:cNvSpPr/>
            <p:nvPr/>
          </p:nvSpPr>
          <p:spPr>
            <a:xfrm>
              <a:off x="6359376" y="1757779"/>
              <a:ext cx="174616" cy="1762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4"/>
            <p:cNvSpPr/>
            <p:nvPr/>
          </p:nvSpPr>
          <p:spPr>
            <a:xfrm>
              <a:off x="7184835" y="1791132"/>
              <a:ext cx="176203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4"/>
            <p:cNvSpPr/>
            <p:nvPr/>
          </p:nvSpPr>
          <p:spPr>
            <a:xfrm>
              <a:off x="7448347" y="2061137"/>
              <a:ext cx="176203" cy="17470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4"/>
            <p:cNvSpPr/>
            <p:nvPr/>
          </p:nvSpPr>
          <p:spPr>
            <a:xfrm>
              <a:off x="6797504" y="2388319"/>
              <a:ext cx="176203" cy="17470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4"/>
            <p:cNvSpPr/>
            <p:nvPr/>
          </p:nvSpPr>
          <p:spPr>
            <a:xfrm>
              <a:off x="6491131" y="3330160"/>
              <a:ext cx="176204" cy="1762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4"/>
            <p:cNvSpPr/>
            <p:nvPr/>
          </p:nvSpPr>
          <p:spPr>
            <a:xfrm>
              <a:off x="7189601" y="2378789"/>
              <a:ext cx="176100" cy="176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4"/>
            <p:cNvSpPr/>
            <p:nvPr/>
          </p:nvSpPr>
          <p:spPr>
            <a:xfrm>
              <a:off x="6594314" y="2734560"/>
              <a:ext cx="176203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4"/>
            <p:cNvSpPr/>
            <p:nvPr/>
          </p:nvSpPr>
          <p:spPr>
            <a:xfrm>
              <a:off x="7361039" y="2804444"/>
              <a:ext cx="176204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4"/>
            <p:cNvSpPr/>
            <p:nvPr/>
          </p:nvSpPr>
          <p:spPr>
            <a:xfrm>
              <a:off x="7292780" y="3417514"/>
              <a:ext cx="174616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4"/>
            <p:cNvSpPr/>
            <p:nvPr/>
          </p:nvSpPr>
          <p:spPr>
            <a:xfrm>
              <a:off x="7872189" y="2558264"/>
              <a:ext cx="176204" cy="1762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4"/>
            <p:cNvSpPr/>
            <p:nvPr/>
          </p:nvSpPr>
          <p:spPr>
            <a:xfrm>
              <a:off x="7961084" y="1867369"/>
              <a:ext cx="174616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" name="Google Shape;269;p34"/>
            <p:cNvCxnSpPr>
              <a:stCxn id="261" idx="6"/>
              <a:endCxn id="263" idx="2"/>
            </p:cNvCxnSpPr>
            <p:nvPr/>
          </p:nvCxnSpPr>
          <p:spPr>
            <a:xfrm flipH="1" rot="10800000">
              <a:off x="6973707" y="2466973"/>
              <a:ext cx="216000" cy="87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0" name="Google Shape;270;p34"/>
            <p:cNvCxnSpPr>
              <a:stCxn id="261" idx="1"/>
              <a:endCxn id="256" idx="4"/>
            </p:cNvCxnSpPr>
            <p:nvPr/>
          </p:nvCxnSpPr>
          <p:spPr>
            <a:xfrm rot="10800000">
              <a:off x="6754608" y="2164604"/>
              <a:ext cx="68700" cy="2493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1" name="Google Shape;271;p34"/>
            <p:cNvCxnSpPr>
              <a:stCxn id="261" idx="2"/>
              <a:endCxn id="255" idx="5"/>
            </p:cNvCxnSpPr>
            <p:nvPr/>
          </p:nvCxnSpPr>
          <p:spPr>
            <a:xfrm rot="10800000">
              <a:off x="6444704" y="2386573"/>
              <a:ext cx="352800" cy="891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2" name="Google Shape;272;p34"/>
            <p:cNvCxnSpPr>
              <a:stCxn id="261" idx="1"/>
              <a:endCxn id="258" idx="4"/>
            </p:cNvCxnSpPr>
            <p:nvPr/>
          </p:nvCxnSpPr>
          <p:spPr>
            <a:xfrm rot="10800000">
              <a:off x="6446808" y="1933904"/>
              <a:ext cx="376500" cy="48000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3" name="Google Shape;273;p34"/>
            <p:cNvCxnSpPr>
              <a:stCxn id="261" idx="0"/>
              <a:endCxn id="259" idx="3"/>
            </p:cNvCxnSpPr>
            <p:nvPr/>
          </p:nvCxnSpPr>
          <p:spPr>
            <a:xfrm flipH="1" rot="10800000">
              <a:off x="6885605" y="1941619"/>
              <a:ext cx="325200" cy="44670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4" name="Google Shape;274;p34"/>
            <p:cNvCxnSpPr>
              <a:stCxn id="261" idx="3"/>
              <a:endCxn id="264" idx="0"/>
            </p:cNvCxnSpPr>
            <p:nvPr/>
          </p:nvCxnSpPr>
          <p:spPr>
            <a:xfrm flipH="1">
              <a:off x="6682308" y="2537442"/>
              <a:ext cx="141000" cy="1971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5" name="Google Shape;275;p34"/>
            <p:cNvCxnSpPr>
              <a:stCxn id="261" idx="5"/>
              <a:endCxn id="265" idx="1"/>
            </p:cNvCxnSpPr>
            <p:nvPr/>
          </p:nvCxnSpPr>
          <p:spPr>
            <a:xfrm>
              <a:off x="6947903" y="2537442"/>
              <a:ext cx="438900" cy="29280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76" name="Google Shape;276;p34"/>
            <p:cNvCxnSpPr>
              <a:stCxn id="261" idx="2"/>
              <a:endCxn id="257" idx="7"/>
            </p:cNvCxnSpPr>
            <p:nvPr/>
          </p:nvCxnSpPr>
          <p:spPr>
            <a:xfrm flipH="1">
              <a:off x="6152504" y="2475673"/>
              <a:ext cx="645000" cy="3183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77" name="Google Shape;277;p34"/>
            <p:cNvSpPr/>
            <p:nvPr/>
          </p:nvSpPr>
          <p:spPr>
            <a:xfrm>
              <a:off x="5625986" y="3908287"/>
              <a:ext cx="174616" cy="1762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6710195" y="4016289"/>
              <a:ext cx="176204" cy="17629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8135701" y="3487397"/>
              <a:ext cx="176204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" name="Google Shape;280;p34"/>
            <p:cNvCxnSpPr>
              <a:stCxn id="262" idx="0"/>
              <a:endCxn id="264" idx="4"/>
            </p:cNvCxnSpPr>
            <p:nvPr/>
          </p:nvCxnSpPr>
          <p:spPr>
            <a:xfrm flipH="1" rot="10800000">
              <a:off x="6579233" y="2910760"/>
              <a:ext cx="103200" cy="41940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81" name="Google Shape;281;p34"/>
            <p:cNvSpPr/>
            <p:nvPr/>
          </p:nvSpPr>
          <p:spPr>
            <a:xfrm>
              <a:off x="5430733" y="3153862"/>
              <a:ext cx="176204" cy="1762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p34"/>
            <p:cNvCxnSpPr>
              <a:stCxn id="262" idx="6"/>
              <a:endCxn id="266" idx="2"/>
            </p:cNvCxnSpPr>
            <p:nvPr/>
          </p:nvCxnSpPr>
          <p:spPr>
            <a:xfrm>
              <a:off x="6667335" y="3418309"/>
              <a:ext cx="625500" cy="87300"/>
            </a:xfrm>
            <a:prstGeom prst="straightConnector1">
              <a:avLst/>
            </a:prstGeom>
            <a:noFill/>
            <a:ln cap="flat" cmpd="sng" w="952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3" name="Google Shape;283;p34"/>
            <p:cNvCxnSpPr>
              <a:stCxn id="262" idx="4"/>
              <a:endCxn id="278" idx="0"/>
            </p:cNvCxnSpPr>
            <p:nvPr/>
          </p:nvCxnSpPr>
          <p:spPr>
            <a:xfrm>
              <a:off x="6579233" y="3506457"/>
              <a:ext cx="219000" cy="510000"/>
            </a:xfrm>
            <a:prstGeom prst="straightConnector1">
              <a:avLst/>
            </a:prstGeom>
            <a:noFill/>
            <a:ln cap="flat" cmpd="sng" w="952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4" name="Google Shape;284;p34"/>
            <p:cNvCxnSpPr>
              <a:stCxn id="262" idx="2"/>
              <a:endCxn id="277" idx="7"/>
            </p:cNvCxnSpPr>
            <p:nvPr/>
          </p:nvCxnSpPr>
          <p:spPr>
            <a:xfrm flipH="1">
              <a:off x="5775031" y="3418309"/>
              <a:ext cx="716100" cy="515700"/>
            </a:xfrm>
            <a:prstGeom prst="straightConnector1">
              <a:avLst/>
            </a:prstGeom>
            <a:noFill/>
            <a:ln cap="flat" cmpd="sng" w="952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5" name="Google Shape;285;p34"/>
            <p:cNvCxnSpPr>
              <a:stCxn id="262" idx="1"/>
              <a:endCxn id="257" idx="5"/>
            </p:cNvCxnSpPr>
            <p:nvPr/>
          </p:nvCxnSpPr>
          <p:spPr>
            <a:xfrm rot="10800000">
              <a:off x="6152735" y="2918278"/>
              <a:ext cx="364200" cy="437700"/>
            </a:xfrm>
            <a:prstGeom prst="straightConnector1">
              <a:avLst/>
            </a:prstGeom>
            <a:noFill/>
            <a:ln cap="flat" cmpd="sng" w="1270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6" name="Google Shape;286;p34"/>
            <p:cNvCxnSpPr>
              <a:stCxn id="261" idx="4"/>
              <a:endCxn id="266" idx="1"/>
            </p:cNvCxnSpPr>
            <p:nvPr/>
          </p:nvCxnSpPr>
          <p:spPr>
            <a:xfrm>
              <a:off x="6885605" y="2563028"/>
              <a:ext cx="432900" cy="88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87" name="Google Shape;287;p34"/>
            <p:cNvCxnSpPr>
              <a:stCxn id="261" idx="7"/>
              <a:endCxn id="260" idx="2"/>
            </p:cNvCxnSpPr>
            <p:nvPr/>
          </p:nvCxnSpPr>
          <p:spPr>
            <a:xfrm flipH="1" rot="10800000">
              <a:off x="6947903" y="2148704"/>
              <a:ext cx="500400" cy="26520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288" name="Google Shape;288;p34"/>
          <p:cNvSpPr/>
          <p:nvPr/>
        </p:nvSpPr>
        <p:spPr>
          <a:xfrm>
            <a:off x="431800" y="2414601"/>
            <a:ext cx="4835400" cy="4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387" lvl="0" marL="17938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Above model is </a:t>
            </a:r>
            <a:r>
              <a:rPr i="1" lang="en-GB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density-dependent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contacts (and hence risk of infection) is higher if there are lots of other individuals in the immediate vicinity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for animal diseases.</a:t>
            </a:r>
            <a:endParaRPr/>
          </a:p>
          <a:p>
            <a:pPr indent="-179388" lvl="0" marL="179388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human diseases, more realistic to distribute a fixed number of contacts using the kernel –</a:t>
            </a:r>
            <a:r>
              <a:rPr lang="en-GB" sz="2000">
                <a:solidFill>
                  <a:schemeClr val="dk1"/>
                </a:solidFill>
              </a:rPr>
              <a:t> </a:t>
            </a:r>
            <a:r>
              <a:rPr i="1" lang="en-GB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density-independent</a:t>
            </a: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9388" lvl="0" marL="179388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Assumptions about density dependence often not stated in papers.</a:t>
            </a:r>
            <a:endParaRPr/>
          </a:p>
        </p:txBody>
      </p:sp>
      <p:grpSp>
        <p:nvGrpSpPr>
          <p:cNvPr id="289" name="Google Shape;289;p34"/>
          <p:cNvGrpSpPr/>
          <p:nvPr/>
        </p:nvGrpSpPr>
        <p:grpSpPr>
          <a:xfrm>
            <a:off x="5683250" y="4298950"/>
            <a:ext cx="2881313" cy="2435225"/>
            <a:chOff x="5430733" y="1757779"/>
            <a:chExt cx="2881172" cy="2434807"/>
          </a:xfrm>
        </p:grpSpPr>
        <p:sp>
          <p:nvSpPr>
            <p:cNvPr id="290" name="Google Shape;290;p34"/>
            <p:cNvSpPr/>
            <p:nvPr/>
          </p:nvSpPr>
          <p:spPr>
            <a:xfrm>
              <a:off x="6294291" y="2237122"/>
              <a:ext cx="176204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6667335" y="1989514"/>
              <a:ext cx="174616" cy="17459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6002205" y="2767256"/>
              <a:ext cx="176204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6359376" y="1757779"/>
              <a:ext cx="174616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7184835" y="1791111"/>
              <a:ext cx="176203" cy="17618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7448347" y="2060940"/>
              <a:ext cx="176203" cy="17459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6797504" y="2387909"/>
              <a:ext cx="176203" cy="17618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6491131" y="3330722"/>
              <a:ext cx="176204" cy="17618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7113401" y="2378385"/>
              <a:ext cx="176204" cy="17618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6594314" y="2735511"/>
              <a:ext cx="176203" cy="17459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7361039" y="2805349"/>
              <a:ext cx="176204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7292780" y="3418019"/>
              <a:ext cx="174616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7872189" y="2559329"/>
              <a:ext cx="176204" cy="17618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7961084" y="1867298"/>
              <a:ext cx="174616" cy="17618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4" name="Google Shape;304;p34"/>
            <p:cNvCxnSpPr>
              <a:stCxn id="296" idx="6"/>
              <a:endCxn id="298" idx="2"/>
            </p:cNvCxnSpPr>
            <p:nvPr/>
          </p:nvCxnSpPr>
          <p:spPr>
            <a:xfrm flipH="1" rot="10800000">
              <a:off x="6973707" y="2466400"/>
              <a:ext cx="139800" cy="9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05" name="Google Shape;305;p34"/>
            <p:cNvCxnSpPr>
              <a:stCxn id="296" idx="1"/>
              <a:endCxn id="291" idx="4"/>
            </p:cNvCxnSpPr>
            <p:nvPr/>
          </p:nvCxnSpPr>
          <p:spPr>
            <a:xfrm rot="10800000">
              <a:off x="6754608" y="2164110"/>
              <a:ext cx="68700" cy="249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06" name="Google Shape;306;p34"/>
            <p:cNvCxnSpPr>
              <a:stCxn id="296" idx="2"/>
              <a:endCxn id="290" idx="5"/>
            </p:cNvCxnSpPr>
            <p:nvPr/>
          </p:nvCxnSpPr>
          <p:spPr>
            <a:xfrm rot="10800000">
              <a:off x="6444704" y="2387500"/>
              <a:ext cx="352800" cy="88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07" name="Google Shape;307;p34"/>
            <p:cNvCxnSpPr>
              <a:stCxn id="296" idx="3"/>
              <a:endCxn id="299" idx="0"/>
            </p:cNvCxnSpPr>
            <p:nvPr/>
          </p:nvCxnSpPr>
          <p:spPr>
            <a:xfrm flipH="1">
              <a:off x="6682308" y="2538290"/>
              <a:ext cx="141000" cy="19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08" name="Google Shape;308;p34"/>
            <p:cNvSpPr/>
            <p:nvPr/>
          </p:nvSpPr>
          <p:spPr>
            <a:xfrm>
              <a:off x="5625986" y="3908473"/>
              <a:ext cx="174616" cy="17618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6710195" y="4016404"/>
              <a:ext cx="176204" cy="17618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8135701" y="3487857"/>
              <a:ext cx="176204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34"/>
            <p:cNvCxnSpPr>
              <a:stCxn id="297" idx="0"/>
              <a:endCxn id="299" idx="4"/>
            </p:cNvCxnSpPr>
            <p:nvPr/>
          </p:nvCxnSpPr>
          <p:spPr>
            <a:xfrm flipH="1" rot="10800000">
              <a:off x="6579233" y="2910122"/>
              <a:ext cx="103200" cy="42060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12" name="Google Shape;312;p34"/>
            <p:cNvSpPr/>
            <p:nvPr/>
          </p:nvSpPr>
          <p:spPr>
            <a:xfrm>
              <a:off x="5430733" y="3154539"/>
              <a:ext cx="176204" cy="17618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34"/>
            <p:cNvCxnSpPr>
              <a:stCxn id="297" idx="6"/>
              <a:endCxn id="301" idx="2"/>
            </p:cNvCxnSpPr>
            <p:nvPr/>
          </p:nvCxnSpPr>
          <p:spPr>
            <a:xfrm>
              <a:off x="6667335" y="3418813"/>
              <a:ext cx="625500" cy="8730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14" name="Google Shape;314;p34"/>
            <p:cNvCxnSpPr>
              <a:stCxn id="297" idx="4"/>
              <a:endCxn id="309" idx="0"/>
            </p:cNvCxnSpPr>
            <p:nvPr/>
          </p:nvCxnSpPr>
          <p:spPr>
            <a:xfrm>
              <a:off x="6579233" y="3506904"/>
              <a:ext cx="219000" cy="50970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15" name="Google Shape;315;p34"/>
            <p:cNvCxnSpPr>
              <a:stCxn id="297" idx="2"/>
              <a:endCxn id="308" idx="7"/>
            </p:cNvCxnSpPr>
            <p:nvPr/>
          </p:nvCxnSpPr>
          <p:spPr>
            <a:xfrm flipH="1">
              <a:off x="5775031" y="3418813"/>
              <a:ext cx="716100" cy="51540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16" name="Google Shape;316;p34"/>
            <p:cNvCxnSpPr>
              <a:stCxn id="297" idx="1"/>
              <a:endCxn id="292" idx="5"/>
            </p:cNvCxnSpPr>
            <p:nvPr/>
          </p:nvCxnSpPr>
          <p:spPr>
            <a:xfrm rot="10800000">
              <a:off x="6152735" y="2917623"/>
              <a:ext cx="364200" cy="43890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17" name="Google Shape;317;p34"/>
            <p:cNvCxnSpPr>
              <a:stCxn id="296" idx="7"/>
              <a:endCxn id="295" idx="2"/>
            </p:cNvCxnSpPr>
            <p:nvPr/>
          </p:nvCxnSpPr>
          <p:spPr>
            <a:xfrm flipH="1" rot="10800000">
              <a:off x="6947903" y="2148210"/>
              <a:ext cx="500400" cy="265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/>
        </p:nvSpPr>
        <p:spPr>
          <a:xfrm>
            <a:off x="708025" y="59372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Diffusion models</a:t>
            </a:r>
            <a:endParaRPr/>
          </a:p>
        </p:txBody>
      </p:sp>
      <p:sp>
        <p:nvSpPr>
          <p:cNvPr id="323" name="Google Shape;323;p35"/>
          <p:cNvSpPr/>
          <p:nvPr/>
        </p:nvSpPr>
        <p:spPr>
          <a:xfrm>
            <a:off x="431800" y="1357313"/>
            <a:ext cx="819785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case of kernel models – assuming local diffusion process (infinitesimal kernel).</a:t>
            </a:r>
            <a:endParaRPr/>
          </a:p>
          <a:p>
            <a:pPr indent="-179388" lvl="0" marL="179388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be a dominant model choice in ecology and animal/plant disease modelling (e.g. rabies).</a:t>
            </a:r>
            <a:endParaRPr/>
          </a:p>
          <a:p>
            <a:pPr indent="-179388" lvl="0" marL="179388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Advantage: analytical simplicity (PDE model structure).</a:t>
            </a:r>
            <a:endParaRPr/>
          </a:p>
          <a:p>
            <a:pPr indent="-179388" lvl="0" marL="179388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rarely used today – assumption of very local spread is very poor for most real-world diseases.</a:t>
            </a:r>
            <a:endParaRPr/>
          </a:p>
          <a:p>
            <a:pPr indent="-179388" lvl="0" marL="179388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Also, modelling disease spread using deterministic diffusion models led to the ‘femto-fox’ problem – disease being spread by a spatial wave of unrealistically low infection prevalence.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/>
          <p:nvPr/>
        </p:nvSpPr>
        <p:spPr>
          <a:xfrm>
            <a:off x="249238" y="595313"/>
            <a:ext cx="785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</a:rPr>
              <a:t>Example:</a:t>
            </a: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FMD in GB</a:t>
            </a:r>
            <a:endParaRPr/>
          </a:p>
        </p:txBody>
      </p:sp>
      <p:pic>
        <p:nvPicPr>
          <p:cNvPr descr="map2" id="329" name="Google Shape;3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0788" y="1293813"/>
            <a:ext cx="3824287" cy="541178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6"/>
          <p:cNvSpPr txBox="1"/>
          <p:nvPr/>
        </p:nvSpPr>
        <p:spPr>
          <a:xfrm>
            <a:off x="473075" y="1205025"/>
            <a:ext cx="44688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initial spread via animal movement, transmission generally local.</a:t>
            </a:r>
            <a:endParaRPr/>
          </a:p>
        </p:txBody>
      </p:sp>
      <p:grpSp>
        <p:nvGrpSpPr>
          <p:cNvPr id="331" name="Google Shape;331;p36"/>
          <p:cNvGrpSpPr/>
          <p:nvPr/>
        </p:nvGrpSpPr>
        <p:grpSpPr>
          <a:xfrm>
            <a:off x="384969" y="2857500"/>
            <a:ext cx="4404519" cy="3833813"/>
            <a:chOff x="628" y="1452"/>
            <a:chExt cx="2775" cy="2415"/>
          </a:xfrm>
        </p:grpSpPr>
        <p:sp>
          <p:nvSpPr>
            <p:cNvPr id="332" name="Google Shape;332;p36"/>
            <p:cNvSpPr/>
            <p:nvPr/>
          </p:nvSpPr>
          <p:spPr>
            <a:xfrm>
              <a:off x="1059" y="1506"/>
              <a:ext cx="2322" cy="1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1059" y="1506"/>
              <a:ext cx="2322" cy="1752"/>
            </a:xfrm>
            <a:prstGeom prst="rect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1081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1191" y="3156"/>
              <a:ext cx="33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1303" y="2958"/>
              <a:ext cx="34" cy="3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1413" y="3060"/>
              <a:ext cx="34" cy="19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1526" y="2958"/>
              <a:ext cx="33" cy="3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1635" y="2958"/>
              <a:ext cx="34" cy="3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1744" y="3060"/>
              <a:ext cx="34" cy="19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1857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1966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2075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2297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2410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2519" y="3156"/>
              <a:ext cx="34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2628" y="3060"/>
              <a:ext cx="34" cy="19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3182" y="3156"/>
              <a:ext cx="33" cy="10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3294" y="1758"/>
              <a:ext cx="34" cy="1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1115" y="3096"/>
              <a:ext cx="30" cy="16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1224" y="3024"/>
              <a:ext cx="34" cy="234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1337" y="2958"/>
              <a:ext cx="30" cy="300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1447" y="2820"/>
              <a:ext cx="33" cy="438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1559" y="2610"/>
              <a:ext cx="31" cy="648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1669" y="2796"/>
              <a:ext cx="30" cy="46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1778" y="2856"/>
              <a:ext cx="34" cy="40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1891" y="2970"/>
              <a:ext cx="30" cy="288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2000" y="3084"/>
              <a:ext cx="30" cy="174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2109" y="3216"/>
              <a:ext cx="34" cy="4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2222" y="3204"/>
              <a:ext cx="30" cy="54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2331" y="3228"/>
              <a:ext cx="34" cy="30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2444" y="3240"/>
              <a:ext cx="30" cy="18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2553" y="3216"/>
              <a:ext cx="30" cy="4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2662" y="3216"/>
              <a:ext cx="34" cy="4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2775" y="3246"/>
              <a:ext cx="30" cy="1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2884" y="3246"/>
              <a:ext cx="30" cy="1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2993" y="3228"/>
              <a:ext cx="34" cy="30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3106" y="3228"/>
              <a:ext cx="30" cy="30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3215" y="3228"/>
              <a:ext cx="34" cy="30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3328" y="3246"/>
              <a:ext cx="30" cy="12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1" name="Google Shape;371;p36"/>
            <p:cNvCxnSpPr/>
            <p:nvPr/>
          </p:nvCxnSpPr>
          <p:spPr>
            <a:xfrm>
              <a:off x="1059" y="1506"/>
              <a:ext cx="0" cy="175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6"/>
            <p:cNvCxnSpPr/>
            <p:nvPr/>
          </p:nvCxnSpPr>
          <p:spPr>
            <a:xfrm>
              <a:off x="1040" y="3258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36"/>
            <p:cNvCxnSpPr/>
            <p:nvPr/>
          </p:nvCxnSpPr>
          <p:spPr>
            <a:xfrm>
              <a:off x="1040" y="3066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6"/>
            <p:cNvCxnSpPr/>
            <p:nvPr/>
          </p:nvCxnSpPr>
          <p:spPr>
            <a:xfrm>
              <a:off x="1040" y="2868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36"/>
            <p:cNvCxnSpPr/>
            <p:nvPr/>
          </p:nvCxnSpPr>
          <p:spPr>
            <a:xfrm>
              <a:off x="1040" y="2676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36"/>
            <p:cNvCxnSpPr/>
            <p:nvPr/>
          </p:nvCxnSpPr>
          <p:spPr>
            <a:xfrm>
              <a:off x="1040" y="2478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36"/>
            <p:cNvCxnSpPr/>
            <p:nvPr/>
          </p:nvCxnSpPr>
          <p:spPr>
            <a:xfrm>
              <a:off x="1040" y="2286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36"/>
            <p:cNvCxnSpPr/>
            <p:nvPr/>
          </p:nvCxnSpPr>
          <p:spPr>
            <a:xfrm>
              <a:off x="1040" y="2088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36"/>
            <p:cNvCxnSpPr/>
            <p:nvPr/>
          </p:nvCxnSpPr>
          <p:spPr>
            <a:xfrm>
              <a:off x="1040" y="1896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36"/>
            <p:cNvCxnSpPr/>
            <p:nvPr/>
          </p:nvCxnSpPr>
          <p:spPr>
            <a:xfrm>
              <a:off x="1040" y="1698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36"/>
            <p:cNvCxnSpPr/>
            <p:nvPr/>
          </p:nvCxnSpPr>
          <p:spPr>
            <a:xfrm>
              <a:off x="1040" y="1506"/>
              <a:ext cx="38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36"/>
            <p:cNvCxnSpPr/>
            <p:nvPr/>
          </p:nvCxnSpPr>
          <p:spPr>
            <a:xfrm>
              <a:off x="1059" y="3258"/>
              <a:ext cx="232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36"/>
            <p:cNvCxnSpPr/>
            <p:nvPr/>
          </p:nvCxnSpPr>
          <p:spPr>
            <a:xfrm rot="10800000">
              <a:off x="1059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6"/>
            <p:cNvCxnSpPr/>
            <p:nvPr/>
          </p:nvCxnSpPr>
          <p:spPr>
            <a:xfrm flipH="1" rot="10800000">
              <a:off x="1168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6"/>
            <p:cNvCxnSpPr/>
            <p:nvPr/>
          </p:nvCxnSpPr>
          <p:spPr>
            <a:xfrm flipH="1" rot="10800000">
              <a:off x="1281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36"/>
            <p:cNvCxnSpPr/>
            <p:nvPr/>
          </p:nvCxnSpPr>
          <p:spPr>
            <a:xfrm flipH="1" rot="10800000">
              <a:off x="1390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36"/>
            <p:cNvCxnSpPr/>
            <p:nvPr/>
          </p:nvCxnSpPr>
          <p:spPr>
            <a:xfrm flipH="1" rot="10800000">
              <a:off x="1503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36"/>
            <p:cNvCxnSpPr/>
            <p:nvPr/>
          </p:nvCxnSpPr>
          <p:spPr>
            <a:xfrm flipH="1" rot="10800000">
              <a:off x="1612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36"/>
            <p:cNvCxnSpPr/>
            <p:nvPr/>
          </p:nvCxnSpPr>
          <p:spPr>
            <a:xfrm flipH="1" rot="10800000">
              <a:off x="1721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36"/>
            <p:cNvCxnSpPr/>
            <p:nvPr/>
          </p:nvCxnSpPr>
          <p:spPr>
            <a:xfrm flipH="1" rot="10800000">
              <a:off x="1834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36"/>
            <p:cNvCxnSpPr/>
            <p:nvPr/>
          </p:nvCxnSpPr>
          <p:spPr>
            <a:xfrm flipH="1" rot="10800000">
              <a:off x="1943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36"/>
            <p:cNvCxnSpPr/>
            <p:nvPr/>
          </p:nvCxnSpPr>
          <p:spPr>
            <a:xfrm flipH="1" rot="10800000">
              <a:off x="2052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36"/>
            <p:cNvCxnSpPr/>
            <p:nvPr/>
          </p:nvCxnSpPr>
          <p:spPr>
            <a:xfrm flipH="1" rot="10800000">
              <a:off x="2165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36"/>
            <p:cNvCxnSpPr/>
            <p:nvPr/>
          </p:nvCxnSpPr>
          <p:spPr>
            <a:xfrm rot="10800000">
              <a:off x="2275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36"/>
            <p:cNvCxnSpPr/>
            <p:nvPr/>
          </p:nvCxnSpPr>
          <p:spPr>
            <a:xfrm flipH="1" rot="10800000">
              <a:off x="2387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36"/>
            <p:cNvCxnSpPr/>
            <p:nvPr/>
          </p:nvCxnSpPr>
          <p:spPr>
            <a:xfrm rot="10800000">
              <a:off x="2497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36"/>
            <p:cNvCxnSpPr/>
            <p:nvPr/>
          </p:nvCxnSpPr>
          <p:spPr>
            <a:xfrm rot="10800000">
              <a:off x="2606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36"/>
            <p:cNvCxnSpPr/>
            <p:nvPr/>
          </p:nvCxnSpPr>
          <p:spPr>
            <a:xfrm rot="10800000">
              <a:off x="2719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36"/>
            <p:cNvCxnSpPr/>
            <p:nvPr/>
          </p:nvCxnSpPr>
          <p:spPr>
            <a:xfrm rot="10800000">
              <a:off x="2828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36"/>
            <p:cNvCxnSpPr/>
            <p:nvPr/>
          </p:nvCxnSpPr>
          <p:spPr>
            <a:xfrm flipH="1" rot="10800000">
              <a:off x="2937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36"/>
            <p:cNvCxnSpPr/>
            <p:nvPr/>
          </p:nvCxnSpPr>
          <p:spPr>
            <a:xfrm rot="10800000">
              <a:off x="3050" y="3228"/>
              <a:ext cx="0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36"/>
            <p:cNvCxnSpPr/>
            <p:nvPr/>
          </p:nvCxnSpPr>
          <p:spPr>
            <a:xfrm flipH="1" rot="10800000">
              <a:off x="3159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36"/>
            <p:cNvCxnSpPr/>
            <p:nvPr/>
          </p:nvCxnSpPr>
          <p:spPr>
            <a:xfrm flipH="1" rot="10800000">
              <a:off x="3272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36"/>
            <p:cNvCxnSpPr/>
            <p:nvPr/>
          </p:nvCxnSpPr>
          <p:spPr>
            <a:xfrm flipH="1" rot="10800000">
              <a:off x="3381" y="3228"/>
              <a:ext cx="1" cy="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5" name="Google Shape;405;p36"/>
            <p:cNvSpPr/>
            <p:nvPr/>
          </p:nvSpPr>
          <p:spPr>
            <a:xfrm>
              <a:off x="888" y="3204"/>
              <a:ext cx="5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805" y="3012"/>
              <a:ext cx="18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0.05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839" y="2814"/>
              <a:ext cx="13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0.1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805" y="2622"/>
              <a:ext cx="18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0.15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839" y="2424"/>
              <a:ext cx="13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805" y="2232"/>
              <a:ext cx="18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0.25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839" y="2034"/>
              <a:ext cx="13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0.3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805" y="1842"/>
              <a:ext cx="18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0.35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839" y="1644"/>
              <a:ext cx="133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805" y="1452"/>
              <a:ext cx="18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0.45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 rot="-5400000">
              <a:off x="999" y="3412"/>
              <a:ext cx="271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0-0.25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p36"/>
            <p:cNvSpPr/>
            <p:nvPr/>
          </p:nvSpPr>
          <p:spPr>
            <a:xfrm rot="-5400000">
              <a:off x="1069" y="3450"/>
              <a:ext cx="351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0.25-0.5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p36"/>
            <p:cNvSpPr/>
            <p:nvPr/>
          </p:nvSpPr>
          <p:spPr>
            <a:xfrm rot="-5400000">
              <a:off x="1179" y="3450"/>
              <a:ext cx="351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0.5-0.75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p36"/>
            <p:cNvSpPr/>
            <p:nvPr/>
          </p:nvSpPr>
          <p:spPr>
            <a:xfrm rot="-5400000">
              <a:off x="1332" y="3412"/>
              <a:ext cx="271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0.75-1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p36"/>
            <p:cNvSpPr/>
            <p:nvPr/>
          </p:nvSpPr>
          <p:spPr>
            <a:xfrm rot="-5400000">
              <a:off x="1468" y="3384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1-1.5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p36"/>
            <p:cNvSpPr/>
            <p:nvPr/>
          </p:nvSpPr>
          <p:spPr>
            <a:xfrm rot="-5400000">
              <a:off x="1581" y="3384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1.5-2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1" name="Google Shape;421;p36"/>
            <p:cNvSpPr/>
            <p:nvPr/>
          </p:nvSpPr>
          <p:spPr>
            <a:xfrm rot="-5400000">
              <a:off x="1690" y="3383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2-2.5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2" name="Google Shape;422;p36"/>
            <p:cNvSpPr/>
            <p:nvPr/>
          </p:nvSpPr>
          <p:spPr>
            <a:xfrm rot="-5400000">
              <a:off x="1799" y="3383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2.5-3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p36"/>
            <p:cNvSpPr/>
            <p:nvPr/>
          </p:nvSpPr>
          <p:spPr>
            <a:xfrm rot="-5400000">
              <a:off x="1912" y="3383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3-3.5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4" name="Google Shape;424;p36"/>
            <p:cNvSpPr/>
            <p:nvPr/>
          </p:nvSpPr>
          <p:spPr>
            <a:xfrm rot="-5400000">
              <a:off x="2021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3.5-4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5" name="Google Shape;425;p36"/>
            <p:cNvSpPr/>
            <p:nvPr/>
          </p:nvSpPr>
          <p:spPr>
            <a:xfrm rot="-5400000">
              <a:off x="2133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4-4.5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p36"/>
            <p:cNvSpPr/>
            <p:nvPr/>
          </p:nvSpPr>
          <p:spPr>
            <a:xfrm rot="-5400000">
              <a:off x="2242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4.5-5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7" name="Google Shape;427;p36"/>
            <p:cNvSpPr/>
            <p:nvPr/>
          </p:nvSpPr>
          <p:spPr>
            <a:xfrm rot="-5400000">
              <a:off x="2352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5-5.5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8" name="Google Shape;428;p36"/>
            <p:cNvSpPr/>
            <p:nvPr/>
          </p:nvSpPr>
          <p:spPr>
            <a:xfrm rot="-5400000">
              <a:off x="2464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5.5-6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p36"/>
            <p:cNvSpPr/>
            <p:nvPr/>
          </p:nvSpPr>
          <p:spPr>
            <a:xfrm rot="-5400000">
              <a:off x="2572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6-6.5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0" name="Google Shape;430;p36"/>
            <p:cNvSpPr/>
            <p:nvPr/>
          </p:nvSpPr>
          <p:spPr>
            <a:xfrm rot="-5400000">
              <a:off x="2681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6.5-7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1" name="Google Shape;431;p36"/>
            <p:cNvSpPr/>
            <p:nvPr/>
          </p:nvSpPr>
          <p:spPr>
            <a:xfrm rot="-5400000">
              <a:off x="2797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7-7.5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2" name="Google Shape;432;p36"/>
            <p:cNvSpPr/>
            <p:nvPr/>
          </p:nvSpPr>
          <p:spPr>
            <a:xfrm rot="-5400000">
              <a:off x="2906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7.5-8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3" name="Google Shape;433;p36"/>
            <p:cNvSpPr/>
            <p:nvPr/>
          </p:nvSpPr>
          <p:spPr>
            <a:xfrm rot="-5400000">
              <a:off x="3019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8-8.5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4" name="Google Shape;434;p36"/>
            <p:cNvSpPr/>
            <p:nvPr/>
          </p:nvSpPr>
          <p:spPr>
            <a:xfrm rot="-5400000">
              <a:off x="3128" y="3382"/>
              <a:ext cx="218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8.5-9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5" name="Google Shape;435;p36"/>
            <p:cNvSpPr/>
            <p:nvPr/>
          </p:nvSpPr>
          <p:spPr>
            <a:xfrm rot="-5400000">
              <a:off x="3291" y="3330"/>
              <a:ext cx="10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&gt;9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1576" y="3752"/>
              <a:ext cx="1375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distance from index case (km)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p36"/>
            <p:cNvSpPr/>
            <p:nvPr/>
          </p:nvSpPr>
          <p:spPr>
            <a:xfrm rot="-5400000">
              <a:off x="440" y="2369"/>
              <a:ext cx="492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probability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566" y="1956"/>
              <a:ext cx="38" cy="6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1566" y="2196"/>
              <a:ext cx="38" cy="60"/>
            </a:xfrm>
            <a:prstGeom prst="rect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619" y="2166"/>
              <a:ext cx="1167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After movement restrictions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41" name="Google Shape;441;p36"/>
          <p:cNvSpPr/>
          <p:nvPr/>
        </p:nvSpPr>
        <p:spPr>
          <a:xfrm>
            <a:off x="2004363" y="3625775"/>
            <a:ext cx="18525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Before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movement restrictions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7"/>
          <p:cNvSpPr txBox="1"/>
          <p:nvPr/>
        </p:nvSpPr>
        <p:spPr>
          <a:xfrm>
            <a:off x="319225" y="1179425"/>
            <a:ext cx="8709600" cy="55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i="1" lang="en-GB" sz="1900">
                <a:solidFill>
                  <a:srgbClr val="0000FF"/>
                </a:solidFill>
              </a:rPr>
              <a:t>Individual-based s</a:t>
            </a:r>
            <a:r>
              <a:rPr i="1" lang="en-GB" sz="1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patial simulations</a:t>
            </a: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capture </a:t>
            </a:r>
            <a:r>
              <a:rPr i="1"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locality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arbitrarily complex, but computationally intensive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can be difficult to interpret.</a:t>
            </a:r>
            <a:endParaRPr/>
          </a:p>
          <a:p>
            <a:pPr indent="-279400" lvl="0" marL="457200" marR="0" rtl="0" algn="l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i="1" lang="en-GB" sz="1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Patch models</a:t>
            </a: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(= meta-population) - capture macroscopic patchiness (e.g. at the school/borough/city scale), but ignore micro-scale structure (at individual,neighbourhood level).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computationally intensive</a:t>
            </a:r>
            <a:endParaRPr/>
          </a:p>
          <a:p>
            <a:pPr indent="-279400" lvl="0" marL="457200" marR="0" rtl="0" algn="l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i="1" lang="en-GB" sz="1900">
                <a:solidFill>
                  <a:srgbClr val="0000FF"/>
                </a:solidFill>
              </a:rPr>
              <a:t>Individual-based n</a:t>
            </a:r>
            <a:r>
              <a:rPr i="1" lang="en-GB" sz="1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etwork simulations</a:t>
            </a:r>
            <a:r>
              <a:rPr i="1"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just another form of individually-based simulation, but explicitly modelling contact networks between individuals.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difficult to parameterise.</a:t>
            </a:r>
            <a:endParaRPr/>
          </a:p>
          <a:p>
            <a:pPr indent="-279400" lvl="0" marL="457200" marR="0" rtl="0" algn="l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i="1" lang="en-GB" sz="1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Approximate approaches</a:t>
            </a: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moment-closure/pair models 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marR="0" rtl="0" algn="l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○"/>
            </a:pPr>
            <a:r>
              <a:rPr lang="en-GB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attempt to incorporate dynamically important aspects of space/networks into simple deterministic models.</a:t>
            </a:r>
            <a:endParaRPr i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727750" y="57957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Model types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2543175"/>
            <a:ext cx="311467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8"/>
          <p:cNvSpPr txBox="1"/>
          <p:nvPr/>
        </p:nvSpPr>
        <p:spPr>
          <a:xfrm>
            <a:off x="329425" y="1131900"/>
            <a:ext cx="84024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detailed stochastic model of demographics and epidemiological processes affecting population of individuals:</a:t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622300" y="301625"/>
            <a:ext cx="7164388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Microsimulations</a:t>
            </a:r>
            <a:endParaRPr/>
          </a:p>
        </p:txBody>
      </p:sp>
      <p:grpSp>
        <p:nvGrpSpPr>
          <p:cNvPr id="455" name="Google Shape;455;p38"/>
          <p:cNvGrpSpPr/>
          <p:nvPr/>
        </p:nvGrpSpPr>
        <p:grpSpPr>
          <a:xfrm>
            <a:off x="1343025" y="2290763"/>
            <a:ext cx="2751138" cy="4191000"/>
            <a:chOff x="2892" y="1257"/>
            <a:chExt cx="1931" cy="2826"/>
          </a:xfrm>
        </p:grpSpPr>
        <p:pic>
          <p:nvPicPr>
            <p:cNvPr id="456" name="Google Shape;45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92" y="1257"/>
              <a:ext cx="1931" cy="2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38"/>
            <p:cNvSpPr/>
            <p:nvPr/>
          </p:nvSpPr>
          <p:spPr>
            <a:xfrm>
              <a:off x="2898" y="1290"/>
              <a:ext cx="246" cy="23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38"/>
          <p:cNvSpPr/>
          <p:nvPr/>
        </p:nvSpPr>
        <p:spPr>
          <a:xfrm>
            <a:off x="177800" y="2533650"/>
            <a:ext cx="1827213" cy="2563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Simulation of 2001 FMD epidemic (</a:t>
            </a:r>
            <a:r>
              <a:rPr i="1" lang="en-GB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Keeling et al, Science, 2001</a:t>
            </a: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Average of 100 simulations shown.</a:t>
            </a:r>
            <a:endParaRPr/>
          </a:p>
        </p:txBody>
      </p:sp>
      <p:sp>
        <p:nvSpPr>
          <p:cNvPr id="459" name="Google Shape;459;p38"/>
          <p:cNvSpPr/>
          <p:nvPr/>
        </p:nvSpPr>
        <p:spPr>
          <a:xfrm>
            <a:off x="4165600" y="2511425"/>
            <a:ext cx="1874838" cy="366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 Simulation of smallpox in small community (</a:t>
            </a:r>
            <a:r>
              <a:rPr i="1" lang="en-GB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Halloran et al, Science, 2002</a:t>
            </a: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Results with</a:t>
            </a:r>
            <a:b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and without interventions shown, for first 120 days of outbreak.</a:t>
            </a:r>
            <a:endParaRPr/>
          </a:p>
        </p:txBody>
      </p:sp>
      <p:cxnSp>
        <p:nvCxnSpPr>
          <p:cNvPr id="460" name="Google Shape;460;p38"/>
          <p:cNvCxnSpPr/>
          <p:nvPr/>
        </p:nvCxnSpPr>
        <p:spPr>
          <a:xfrm>
            <a:off x="4019550" y="2057400"/>
            <a:ext cx="0" cy="480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463" y="3275013"/>
            <a:ext cx="6837362" cy="363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9"/>
          <p:cNvSpPr txBox="1"/>
          <p:nvPr/>
        </p:nvSpPr>
        <p:spPr>
          <a:xfrm>
            <a:off x="363538" y="1149350"/>
            <a:ext cx="8537575" cy="2379663"/>
          </a:xfrm>
          <a:prstGeom prst="rect">
            <a:avLst/>
          </a:prstGeom>
          <a:solidFill>
            <a:schemeClr val="lt1">
              <a:alpha val="74509"/>
            </a:schemeClr>
          </a:solidFill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number of examples of very large scale simulations (60+ million individuals) now developed – mostly to model pandemic flu (but also smallpox).</a:t>
            </a:r>
            <a:endParaRPr/>
          </a:p>
          <a:p>
            <a:pPr indent="-179388" lvl="0" marL="179388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tend to model social structures (e.g. households, schools, workplaces, hospitals, etc.) explicitly, rather than using more abstract network representations.</a:t>
            </a:r>
            <a:endParaRPr/>
          </a:p>
          <a:p>
            <a:pPr indent="-179388" lvl="0" marL="179388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incorporate geographic space explicitly</a:t>
            </a:r>
            <a:r>
              <a:rPr b="1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 distributing the population and in capturing movement patterns.</a:t>
            </a:r>
            <a:endParaRPr/>
          </a:p>
        </p:txBody>
      </p:sp>
      <p:sp>
        <p:nvSpPr>
          <p:cNvPr id="467" name="Google Shape;467;p39"/>
          <p:cNvSpPr txBox="1"/>
          <p:nvPr/>
        </p:nvSpPr>
        <p:spPr>
          <a:xfrm>
            <a:off x="900113" y="565150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Large scale simulation models</a:t>
            </a:r>
            <a:endParaRPr/>
          </a:p>
        </p:txBody>
      </p:sp>
      <p:sp>
        <p:nvSpPr>
          <p:cNvPr id="468" name="Google Shape;468;p39"/>
          <p:cNvSpPr txBox="1"/>
          <p:nvPr/>
        </p:nvSpPr>
        <p:spPr>
          <a:xfrm>
            <a:off x="0" y="6488668"/>
            <a:ext cx="3672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Ferguson, N.M. et al, Nature 2006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28332"/>
            <a:ext cx="9144000" cy="4172948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0"/>
          <p:cNvSpPr txBox="1"/>
          <p:nvPr/>
        </p:nvSpPr>
        <p:spPr>
          <a:xfrm>
            <a:off x="645288" y="562000"/>
            <a:ext cx="785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2"/>
                </a:solidFill>
              </a:rPr>
              <a:t>A model of smallpox in the UK</a:t>
            </a:r>
            <a:endParaRPr/>
          </a:p>
        </p:txBody>
      </p:sp>
      <p:sp>
        <p:nvSpPr>
          <p:cNvPr id="475" name="Google Shape;475;p40"/>
          <p:cNvSpPr txBox="1"/>
          <p:nvPr/>
        </p:nvSpPr>
        <p:spPr>
          <a:xfrm>
            <a:off x="58000" y="6280025"/>
            <a:ext cx="41982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https://www.pnas.org/content/103/33/12637.long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"/>
          <p:cNvSpPr/>
          <p:nvPr/>
        </p:nvSpPr>
        <p:spPr>
          <a:xfrm>
            <a:off x="900113" y="1738313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41"/>
          <p:cNvSpPr/>
          <p:nvPr/>
        </p:nvSpPr>
        <p:spPr>
          <a:xfrm>
            <a:off x="1116013" y="1954213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41"/>
          <p:cNvSpPr/>
          <p:nvPr/>
        </p:nvSpPr>
        <p:spPr>
          <a:xfrm>
            <a:off x="1404938" y="18097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1260475" y="1593850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971550" y="2601913"/>
            <a:ext cx="144463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1187450" y="2817813"/>
            <a:ext cx="144463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41"/>
          <p:cNvSpPr/>
          <p:nvPr/>
        </p:nvSpPr>
        <p:spPr>
          <a:xfrm>
            <a:off x="1331913" y="24574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2197100" y="2098675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41"/>
          <p:cNvSpPr/>
          <p:nvPr/>
        </p:nvSpPr>
        <p:spPr>
          <a:xfrm>
            <a:off x="2413000" y="2314575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41"/>
          <p:cNvSpPr/>
          <p:nvPr/>
        </p:nvSpPr>
        <p:spPr>
          <a:xfrm>
            <a:off x="1763713" y="303530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1979613" y="325120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2268538" y="3106738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2124075" y="2890838"/>
            <a:ext cx="144463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684213" y="1449388"/>
            <a:ext cx="1152525" cy="792162"/>
          </a:xfrm>
          <a:prstGeom prst="ellipse">
            <a:avLst/>
          </a:prstGeom>
          <a:noFill/>
          <a:ln cap="flat" cmpd="sng" w="254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827088" y="2386013"/>
            <a:ext cx="936625" cy="647700"/>
          </a:xfrm>
          <a:prstGeom prst="ellipse">
            <a:avLst/>
          </a:prstGeom>
          <a:noFill/>
          <a:ln cap="flat" cmpd="sng" w="254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1620838" y="2817813"/>
            <a:ext cx="935037" cy="649287"/>
          </a:xfrm>
          <a:prstGeom prst="ellipse">
            <a:avLst/>
          </a:prstGeom>
          <a:noFill/>
          <a:ln cap="flat" cmpd="sng" w="254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2052638" y="1954213"/>
            <a:ext cx="647700" cy="647700"/>
          </a:xfrm>
          <a:prstGeom prst="ellipse">
            <a:avLst/>
          </a:prstGeom>
          <a:noFill/>
          <a:ln cap="flat" cmpd="sng" w="25400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663575" y="3630613"/>
            <a:ext cx="1365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Household</a:t>
            </a:r>
            <a:endParaRPr b="1"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1"/>
          <p:cNvSpPr/>
          <p:nvPr/>
        </p:nvSpPr>
        <p:spPr>
          <a:xfrm>
            <a:off x="4354513" y="14922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41"/>
          <p:cNvSpPr/>
          <p:nvPr/>
        </p:nvSpPr>
        <p:spPr>
          <a:xfrm>
            <a:off x="4570413" y="17081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41"/>
          <p:cNvSpPr/>
          <p:nvPr/>
        </p:nvSpPr>
        <p:spPr>
          <a:xfrm>
            <a:off x="4859338" y="1563688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4714875" y="1347788"/>
            <a:ext cx="144463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41"/>
          <p:cNvSpPr/>
          <p:nvPr/>
        </p:nvSpPr>
        <p:spPr>
          <a:xfrm>
            <a:off x="4572000" y="2212975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41"/>
          <p:cNvSpPr/>
          <p:nvPr/>
        </p:nvSpPr>
        <p:spPr>
          <a:xfrm>
            <a:off x="4787900" y="2428875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41"/>
          <p:cNvSpPr/>
          <p:nvPr/>
        </p:nvSpPr>
        <p:spPr>
          <a:xfrm>
            <a:off x="5219700" y="2860675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4859338" y="1995488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5148263" y="19240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5292725" y="2355850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4284663" y="19240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41"/>
          <p:cNvSpPr/>
          <p:nvPr/>
        </p:nvSpPr>
        <p:spPr>
          <a:xfrm>
            <a:off x="4211638" y="23558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4427538" y="2716213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41"/>
          <p:cNvSpPr/>
          <p:nvPr/>
        </p:nvSpPr>
        <p:spPr>
          <a:xfrm>
            <a:off x="4643438" y="3148013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4932363" y="30035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4787900" y="2787650"/>
            <a:ext cx="144463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41"/>
          <p:cNvSpPr/>
          <p:nvPr/>
        </p:nvSpPr>
        <p:spPr>
          <a:xfrm>
            <a:off x="3779838" y="2284413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41"/>
          <p:cNvSpPr/>
          <p:nvPr/>
        </p:nvSpPr>
        <p:spPr>
          <a:xfrm>
            <a:off x="4067175" y="3148013"/>
            <a:ext cx="144463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41"/>
          <p:cNvSpPr/>
          <p:nvPr/>
        </p:nvSpPr>
        <p:spPr>
          <a:xfrm>
            <a:off x="4211638" y="2860675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41"/>
          <p:cNvSpPr/>
          <p:nvPr/>
        </p:nvSpPr>
        <p:spPr>
          <a:xfrm>
            <a:off x="3995738" y="25717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41"/>
          <p:cNvSpPr/>
          <p:nvPr/>
        </p:nvSpPr>
        <p:spPr>
          <a:xfrm>
            <a:off x="3995738" y="2068513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41"/>
          <p:cNvSpPr/>
          <p:nvPr/>
        </p:nvSpPr>
        <p:spPr>
          <a:xfrm>
            <a:off x="3779838" y="17081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4068763" y="1563688"/>
            <a:ext cx="144462" cy="1444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41"/>
          <p:cNvSpPr/>
          <p:nvPr/>
        </p:nvSpPr>
        <p:spPr>
          <a:xfrm>
            <a:off x="4284663" y="1276350"/>
            <a:ext cx="144462" cy="1444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3" name="Google Shape;523;p41"/>
          <p:cNvCxnSpPr/>
          <p:nvPr/>
        </p:nvCxnSpPr>
        <p:spPr>
          <a:xfrm>
            <a:off x="4140200" y="3219450"/>
            <a:ext cx="576263" cy="0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1"/>
          <p:cNvCxnSpPr/>
          <p:nvPr/>
        </p:nvCxnSpPr>
        <p:spPr>
          <a:xfrm flipH="1" rot="10800000">
            <a:off x="4140200" y="2932113"/>
            <a:ext cx="142875" cy="287337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41"/>
          <p:cNvCxnSpPr/>
          <p:nvPr/>
        </p:nvCxnSpPr>
        <p:spPr>
          <a:xfrm flipH="1" rot="10800000">
            <a:off x="4500563" y="2500313"/>
            <a:ext cx="358775" cy="287337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41"/>
          <p:cNvCxnSpPr/>
          <p:nvPr/>
        </p:nvCxnSpPr>
        <p:spPr>
          <a:xfrm>
            <a:off x="4284663" y="2427288"/>
            <a:ext cx="215900" cy="360362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1"/>
          <p:cNvCxnSpPr/>
          <p:nvPr/>
        </p:nvCxnSpPr>
        <p:spPr>
          <a:xfrm flipH="1" rot="10800000">
            <a:off x="4716463" y="2860675"/>
            <a:ext cx="142875" cy="35877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1"/>
          <p:cNvCxnSpPr/>
          <p:nvPr/>
        </p:nvCxnSpPr>
        <p:spPr>
          <a:xfrm>
            <a:off x="4067175" y="2643188"/>
            <a:ext cx="433388" cy="144462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41"/>
          <p:cNvCxnSpPr/>
          <p:nvPr/>
        </p:nvCxnSpPr>
        <p:spPr>
          <a:xfrm>
            <a:off x="4859338" y="2860675"/>
            <a:ext cx="433387" cy="71438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41"/>
          <p:cNvCxnSpPr/>
          <p:nvPr/>
        </p:nvCxnSpPr>
        <p:spPr>
          <a:xfrm flipH="1" rot="10800000">
            <a:off x="4716463" y="3076575"/>
            <a:ext cx="287337" cy="14287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41"/>
          <p:cNvCxnSpPr/>
          <p:nvPr/>
        </p:nvCxnSpPr>
        <p:spPr>
          <a:xfrm flipH="1" rot="10800000">
            <a:off x="4859338" y="2427288"/>
            <a:ext cx="504825" cy="433387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41"/>
          <p:cNvCxnSpPr/>
          <p:nvPr/>
        </p:nvCxnSpPr>
        <p:spPr>
          <a:xfrm flipH="1" rot="10800000">
            <a:off x="4859338" y="2427288"/>
            <a:ext cx="504825" cy="7302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41"/>
          <p:cNvCxnSpPr/>
          <p:nvPr/>
        </p:nvCxnSpPr>
        <p:spPr>
          <a:xfrm>
            <a:off x="4859338" y="2500313"/>
            <a:ext cx="0" cy="360362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1"/>
          <p:cNvCxnSpPr/>
          <p:nvPr/>
        </p:nvCxnSpPr>
        <p:spPr>
          <a:xfrm flipH="1" rot="10800000">
            <a:off x="4643438" y="2068513"/>
            <a:ext cx="288925" cy="215900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1"/>
          <p:cNvCxnSpPr/>
          <p:nvPr/>
        </p:nvCxnSpPr>
        <p:spPr>
          <a:xfrm>
            <a:off x="4356100" y="1995488"/>
            <a:ext cx="287338" cy="28892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1"/>
          <p:cNvCxnSpPr/>
          <p:nvPr/>
        </p:nvCxnSpPr>
        <p:spPr>
          <a:xfrm flipH="1" rot="10800000">
            <a:off x="4067175" y="1995488"/>
            <a:ext cx="288925" cy="144462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41"/>
          <p:cNvCxnSpPr/>
          <p:nvPr/>
        </p:nvCxnSpPr>
        <p:spPr>
          <a:xfrm>
            <a:off x="3851275" y="2355850"/>
            <a:ext cx="433388" cy="71438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41"/>
          <p:cNvCxnSpPr/>
          <p:nvPr/>
        </p:nvCxnSpPr>
        <p:spPr>
          <a:xfrm>
            <a:off x="4932363" y="2068513"/>
            <a:ext cx="431800" cy="35877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41"/>
          <p:cNvCxnSpPr/>
          <p:nvPr/>
        </p:nvCxnSpPr>
        <p:spPr>
          <a:xfrm>
            <a:off x="4643438" y="1779588"/>
            <a:ext cx="288925" cy="28892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41"/>
          <p:cNvCxnSpPr/>
          <p:nvPr/>
        </p:nvCxnSpPr>
        <p:spPr>
          <a:xfrm>
            <a:off x="4140200" y="1635125"/>
            <a:ext cx="215900" cy="360363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41"/>
          <p:cNvCxnSpPr/>
          <p:nvPr/>
        </p:nvCxnSpPr>
        <p:spPr>
          <a:xfrm flipH="1" rot="10800000">
            <a:off x="3851275" y="1635125"/>
            <a:ext cx="288925" cy="144463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41"/>
          <p:cNvCxnSpPr/>
          <p:nvPr/>
        </p:nvCxnSpPr>
        <p:spPr>
          <a:xfrm flipH="1" rot="10800000">
            <a:off x="4140200" y="1563688"/>
            <a:ext cx="287338" cy="71437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41"/>
          <p:cNvCxnSpPr/>
          <p:nvPr/>
        </p:nvCxnSpPr>
        <p:spPr>
          <a:xfrm flipH="1" rot="10800000">
            <a:off x="4140200" y="1347788"/>
            <a:ext cx="215900" cy="287337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1"/>
          <p:cNvCxnSpPr/>
          <p:nvPr/>
        </p:nvCxnSpPr>
        <p:spPr>
          <a:xfrm>
            <a:off x="4140200" y="1635125"/>
            <a:ext cx="503238" cy="144463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1"/>
          <p:cNvCxnSpPr/>
          <p:nvPr/>
        </p:nvCxnSpPr>
        <p:spPr>
          <a:xfrm>
            <a:off x="4427538" y="1563688"/>
            <a:ext cx="504825" cy="71437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1"/>
          <p:cNvCxnSpPr/>
          <p:nvPr/>
        </p:nvCxnSpPr>
        <p:spPr>
          <a:xfrm flipH="1" rot="10800000">
            <a:off x="4427538" y="1419225"/>
            <a:ext cx="360362" cy="144463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1"/>
          <p:cNvCxnSpPr/>
          <p:nvPr/>
        </p:nvCxnSpPr>
        <p:spPr>
          <a:xfrm>
            <a:off x="4427538" y="1563688"/>
            <a:ext cx="215900" cy="215900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1"/>
          <p:cNvCxnSpPr/>
          <p:nvPr/>
        </p:nvCxnSpPr>
        <p:spPr>
          <a:xfrm flipH="1" rot="10800000">
            <a:off x="4643438" y="1635125"/>
            <a:ext cx="288925" cy="144463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1"/>
          <p:cNvCxnSpPr/>
          <p:nvPr/>
        </p:nvCxnSpPr>
        <p:spPr>
          <a:xfrm>
            <a:off x="4787900" y="1419225"/>
            <a:ext cx="144463" cy="215900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1"/>
          <p:cNvCxnSpPr/>
          <p:nvPr/>
        </p:nvCxnSpPr>
        <p:spPr>
          <a:xfrm flipH="1" rot="10800000">
            <a:off x="4932363" y="1995488"/>
            <a:ext cx="287337" cy="73025"/>
          </a:xfrm>
          <a:prstGeom prst="straightConnector1">
            <a:avLst/>
          </a:prstGeom>
          <a:noFill/>
          <a:ln cap="flat" cmpd="sng" w="25400">
            <a:solidFill>
              <a:srgbClr val="800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1"/>
          <p:cNvSpPr txBox="1"/>
          <p:nvPr/>
        </p:nvSpPr>
        <p:spPr>
          <a:xfrm>
            <a:off x="3924300" y="3638550"/>
            <a:ext cx="10858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41"/>
          <p:cNvCxnSpPr/>
          <p:nvPr/>
        </p:nvCxnSpPr>
        <p:spPr>
          <a:xfrm rot="10800000">
            <a:off x="6854274" y="1738214"/>
            <a:ext cx="0" cy="1361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553" name="Google Shape;553;p41"/>
          <p:cNvCxnSpPr/>
          <p:nvPr/>
        </p:nvCxnSpPr>
        <p:spPr>
          <a:xfrm rot="10800000">
            <a:off x="7749925" y="2203664"/>
            <a:ext cx="0" cy="1791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554" name="Google Shape;554;p41"/>
          <p:cNvSpPr/>
          <p:nvPr/>
        </p:nvSpPr>
        <p:spPr>
          <a:xfrm>
            <a:off x="6986176" y="1966356"/>
            <a:ext cx="1461552" cy="1089868"/>
          </a:xfrm>
          <a:custGeom>
            <a:rect b="b" l="l" r="r" t="t"/>
            <a:pathLst>
              <a:path extrusionOk="0" h="873" w="999">
                <a:moveTo>
                  <a:pt x="0" y="0"/>
                </a:moveTo>
                <a:cubicBezTo>
                  <a:pt x="4" y="166"/>
                  <a:pt x="8" y="332"/>
                  <a:pt x="46" y="453"/>
                </a:cubicBezTo>
                <a:cubicBezTo>
                  <a:pt x="84" y="574"/>
                  <a:pt x="151" y="659"/>
                  <a:pt x="227" y="725"/>
                </a:cubicBezTo>
                <a:cubicBezTo>
                  <a:pt x="303" y="791"/>
                  <a:pt x="396" y="824"/>
                  <a:pt x="502" y="847"/>
                </a:cubicBezTo>
                <a:cubicBezTo>
                  <a:pt x="608" y="870"/>
                  <a:pt x="779" y="858"/>
                  <a:pt x="862" y="862"/>
                </a:cubicBezTo>
                <a:cubicBezTo>
                  <a:pt x="945" y="866"/>
                  <a:pt x="971" y="871"/>
                  <a:pt x="999" y="873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>
            <a:off x="7252106" y="3122656"/>
            <a:ext cx="1038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1"/>
          <p:cNvSpPr txBox="1"/>
          <p:nvPr/>
        </p:nvSpPr>
        <p:spPr>
          <a:xfrm rot="-5400000">
            <a:off x="6123129" y="2270615"/>
            <a:ext cx="1009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1"/>
          <p:cNvSpPr txBox="1"/>
          <p:nvPr/>
        </p:nvSpPr>
        <p:spPr>
          <a:xfrm>
            <a:off x="7145743" y="3606516"/>
            <a:ext cx="12510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Spatial</a:t>
            </a:r>
            <a:endParaRPr b="1"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1"/>
          <p:cNvSpPr/>
          <p:nvPr/>
        </p:nvSpPr>
        <p:spPr>
          <a:xfrm>
            <a:off x="685800" y="188913"/>
            <a:ext cx="7772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 BETWEEN INDIVIDUALS CAN </a:t>
            </a:r>
            <a:b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 IN ONE OF THREE WAYS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41"/>
          <p:cNvSpPr txBox="1"/>
          <p:nvPr/>
        </p:nvSpPr>
        <p:spPr>
          <a:xfrm>
            <a:off x="663575" y="4759325"/>
            <a:ext cx="78861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Is this complexity justified?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GB" sz="1800">
                <a:solidFill>
                  <a:srgbClr val="000000"/>
                </a:solidFill>
              </a:rPr>
              <a:t>Household (historical observation and interventions)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GB" sz="1800">
                <a:solidFill>
                  <a:srgbClr val="000000"/>
                </a:solidFill>
              </a:rPr>
              <a:t>Network (spatial spread along “traceable links”)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GB" sz="1800">
                <a:solidFill>
                  <a:srgbClr val="000000"/>
                </a:solidFill>
              </a:rPr>
              <a:t>Spatial (non-saturating, “non-traceable” infections)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"/>
          <p:cNvSpPr txBox="1"/>
          <p:nvPr>
            <p:ph type="title"/>
          </p:nvPr>
        </p:nvSpPr>
        <p:spPr>
          <a:xfrm>
            <a:off x="361950" y="188913"/>
            <a:ext cx="845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MCMC UPDATES TEST MANY DIFFERENT WORKER-WORKPLACE ASSIGNMENTS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p42"/>
          <p:cNvGrpSpPr/>
          <p:nvPr/>
        </p:nvGrpSpPr>
        <p:grpSpPr>
          <a:xfrm>
            <a:off x="2555875" y="4003675"/>
            <a:ext cx="501650" cy="647700"/>
            <a:chOff x="703" y="1389"/>
            <a:chExt cx="1406" cy="1814"/>
          </a:xfrm>
        </p:grpSpPr>
        <p:sp>
          <p:nvSpPr>
            <p:cNvPr id="567" name="Google Shape;567;p42"/>
            <p:cNvSpPr/>
            <p:nvPr/>
          </p:nvSpPr>
          <p:spPr>
            <a:xfrm>
              <a:off x="703" y="1389"/>
              <a:ext cx="1406" cy="1814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68" name="Google Shape;568;p42"/>
            <p:cNvCxnSpPr/>
            <p:nvPr/>
          </p:nvCxnSpPr>
          <p:spPr>
            <a:xfrm rot="10800000">
              <a:off x="1292" y="1616"/>
              <a:ext cx="409" cy="3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42"/>
            <p:cNvCxnSpPr/>
            <p:nvPr/>
          </p:nvCxnSpPr>
          <p:spPr>
            <a:xfrm flipH="1">
              <a:off x="1020" y="1933"/>
              <a:ext cx="726" cy="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42"/>
            <p:cNvCxnSpPr/>
            <p:nvPr/>
          </p:nvCxnSpPr>
          <p:spPr>
            <a:xfrm>
              <a:off x="1746" y="1979"/>
              <a:ext cx="45" cy="8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42"/>
            <p:cNvCxnSpPr/>
            <p:nvPr/>
          </p:nvCxnSpPr>
          <p:spPr>
            <a:xfrm rot="10800000">
              <a:off x="1066" y="2795"/>
              <a:ext cx="680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42"/>
            <p:cNvCxnSpPr/>
            <p:nvPr/>
          </p:nvCxnSpPr>
          <p:spPr>
            <a:xfrm rot="10800000">
              <a:off x="1292" y="1661"/>
              <a:ext cx="499" cy="117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42"/>
            <p:cNvCxnSpPr/>
            <p:nvPr/>
          </p:nvCxnSpPr>
          <p:spPr>
            <a:xfrm flipH="1">
              <a:off x="1020" y="1616"/>
              <a:ext cx="227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4" name="Google Shape;574;p42"/>
            <p:cNvSpPr/>
            <p:nvPr/>
          </p:nvSpPr>
          <p:spPr>
            <a:xfrm>
              <a:off x="1746" y="2795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5" name="Google Shape;575;p42"/>
            <p:cNvSpPr/>
            <p:nvPr/>
          </p:nvSpPr>
          <p:spPr>
            <a:xfrm>
              <a:off x="1247" y="1570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6" name="Google Shape;576;p42"/>
            <p:cNvSpPr/>
            <p:nvPr/>
          </p:nvSpPr>
          <p:spPr>
            <a:xfrm>
              <a:off x="975" y="2750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7" name="Google Shape;577;p42"/>
            <p:cNvSpPr/>
            <p:nvPr/>
          </p:nvSpPr>
          <p:spPr>
            <a:xfrm>
              <a:off x="1701" y="1888"/>
              <a:ext cx="91" cy="91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78" name="Google Shape;578;p42"/>
          <p:cNvSpPr/>
          <p:nvPr/>
        </p:nvSpPr>
        <p:spPr>
          <a:xfrm>
            <a:off x="395288" y="4003675"/>
            <a:ext cx="1655762" cy="64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971550" y="4435475"/>
            <a:ext cx="144463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42"/>
          <p:cNvSpPr/>
          <p:nvPr/>
        </p:nvSpPr>
        <p:spPr>
          <a:xfrm>
            <a:off x="1619250" y="4435475"/>
            <a:ext cx="144463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42"/>
          <p:cNvSpPr/>
          <p:nvPr/>
        </p:nvSpPr>
        <p:spPr>
          <a:xfrm>
            <a:off x="1619250" y="4075113"/>
            <a:ext cx="144463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42"/>
          <p:cNvSpPr/>
          <p:nvPr/>
        </p:nvSpPr>
        <p:spPr>
          <a:xfrm>
            <a:off x="539750" y="4075113"/>
            <a:ext cx="144463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42"/>
          <p:cNvSpPr/>
          <p:nvPr/>
        </p:nvSpPr>
        <p:spPr>
          <a:xfrm>
            <a:off x="971550" y="4075113"/>
            <a:ext cx="144463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4" name="Google Shape;584;p42"/>
          <p:cNvCxnSpPr/>
          <p:nvPr/>
        </p:nvCxnSpPr>
        <p:spPr>
          <a:xfrm rot="10800000">
            <a:off x="1763713" y="4148138"/>
            <a:ext cx="935037" cy="360362"/>
          </a:xfrm>
          <a:prstGeom prst="straightConnector1">
            <a:avLst/>
          </a:prstGeom>
          <a:noFill/>
          <a:ln cap="flat" cmpd="sng" w="25400">
            <a:solidFill>
              <a:srgbClr val="00FF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85" name="Google Shape;585;p42"/>
          <p:cNvSpPr/>
          <p:nvPr/>
        </p:nvSpPr>
        <p:spPr>
          <a:xfrm>
            <a:off x="827088" y="2852738"/>
            <a:ext cx="1655762" cy="64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42"/>
          <p:cNvSpPr/>
          <p:nvPr/>
        </p:nvSpPr>
        <p:spPr>
          <a:xfrm>
            <a:off x="2051050" y="3284538"/>
            <a:ext cx="144463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42"/>
          <p:cNvSpPr/>
          <p:nvPr/>
        </p:nvSpPr>
        <p:spPr>
          <a:xfrm>
            <a:off x="2051050" y="2924175"/>
            <a:ext cx="144463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8" name="Google Shape;588;p42"/>
          <p:cNvCxnSpPr/>
          <p:nvPr/>
        </p:nvCxnSpPr>
        <p:spPr>
          <a:xfrm rot="10800000">
            <a:off x="2195513" y="3429000"/>
            <a:ext cx="503237" cy="10795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589" name="Google Shape;589;p42"/>
          <p:cNvGrpSpPr/>
          <p:nvPr/>
        </p:nvGrpSpPr>
        <p:grpSpPr>
          <a:xfrm>
            <a:off x="7310438" y="2563813"/>
            <a:ext cx="501650" cy="647700"/>
            <a:chOff x="703" y="1389"/>
            <a:chExt cx="1406" cy="1814"/>
          </a:xfrm>
        </p:grpSpPr>
        <p:sp>
          <p:nvSpPr>
            <p:cNvPr id="590" name="Google Shape;590;p42"/>
            <p:cNvSpPr/>
            <p:nvPr/>
          </p:nvSpPr>
          <p:spPr>
            <a:xfrm>
              <a:off x="703" y="1389"/>
              <a:ext cx="1406" cy="1814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91" name="Google Shape;591;p42"/>
            <p:cNvCxnSpPr/>
            <p:nvPr/>
          </p:nvCxnSpPr>
          <p:spPr>
            <a:xfrm rot="10800000">
              <a:off x="1292" y="1616"/>
              <a:ext cx="409" cy="3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42"/>
            <p:cNvCxnSpPr/>
            <p:nvPr/>
          </p:nvCxnSpPr>
          <p:spPr>
            <a:xfrm flipH="1">
              <a:off x="1020" y="1933"/>
              <a:ext cx="726" cy="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42"/>
            <p:cNvCxnSpPr/>
            <p:nvPr/>
          </p:nvCxnSpPr>
          <p:spPr>
            <a:xfrm>
              <a:off x="1746" y="1979"/>
              <a:ext cx="45" cy="8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42"/>
            <p:cNvCxnSpPr/>
            <p:nvPr/>
          </p:nvCxnSpPr>
          <p:spPr>
            <a:xfrm rot="10800000">
              <a:off x="1066" y="2795"/>
              <a:ext cx="680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42"/>
            <p:cNvCxnSpPr/>
            <p:nvPr/>
          </p:nvCxnSpPr>
          <p:spPr>
            <a:xfrm rot="10800000">
              <a:off x="1292" y="1661"/>
              <a:ext cx="499" cy="117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42"/>
            <p:cNvCxnSpPr/>
            <p:nvPr/>
          </p:nvCxnSpPr>
          <p:spPr>
            <a:xfrm flipH="1">
              <a:off x="1020" y="1616"/>
              <a:ext cx="227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7" name="Google Shape;597;p42"/>
            <p:cNvSpPr/>
            <p:nvPr/>
          </p:nvSpPr>
          <p:spPr>
            <a:xfrm>
              <a:off x="1746" y="2795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1247" y="1570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9" name="Google Shape;599;p42"/>
            <p:cNvSpPr/>
            <p:nvPr/>
          </p:nvSpPr>
          <p:spPr>
            <a:xfrm>
              <a:off x="975" y="2750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0" name="Google Shape;600;p42"/>
            <p:cNvSpPr/>
            <p:nvPr/>
          </p:nvSpPr>
          <p:spPr>
            <a:xfrm>
              <a:off x="1701" y="1888"/>
              <a:ext cx="91" cy="91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01" name="Google Shape;601;p42"/>
          <p:cNvSpPr/>
          <p:nvPr/>
        </p:nvSpPr>
        <p:spPr>
          <a:xfrm>
            <a:off x="5149850" y="2563813"/>
            <a:ext cx="1655763" cy="64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42"/>
          <p:cNvSpPr/>
          <p:nvPr/>
        </p:nvSpPr>
        <p:spPr>
          <a:xfrm>
            <a:off x="5726113" y="2995613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42"/>
          <p:cNvSpPr/>
          <p:nvPr/>
        </p:nvSpPr>
        <p:spPr>
          <a:xfrm>
            <a:off x="6373813" y="2995613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42"/>
          <p:cNvSpPr/>
          <p:nvPr/>
        </p:nvSpPr>
        <p:spPr>
          <a:xfrm>
            <a:off x="6373813" y="2635250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42"/>
          <p:cNvSpPr/>
          <p:nvPr/>
        </p:nvSpPr>
        <p:spPr>
          <a:xfrm>
            <a:off x="5294313" y="2635250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5726113" y="2635250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42"/>
          <p:cNvSpPr/>
          <p:nvPr/>
        </p:nvSpPr>
        <p:spPr>
          <a:xfrm>
            <a:off x="5581650" y="1412875"/>
            <a:ext cx="1655763" cy="64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6805613" y="1844675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42"/>
          <p:cNvSpPr/>
          <p:nvPr/>
        </p:nvSpPr>
        <p:spPr>
          <a:xfrm>
            <a:off x="6805613" y="1484313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0" name="Google Shape;610;p42"/>
          <p:cNvCxnSpPr/>
          <p:nvPr/>
        </p:nvCxnSpPr>
        <p:spPr>
          <a:xfrm rot="10800000">
            <a:off x="6950075" y="1989138"/>
            <a:ext cx="503238" cy="1079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611" name="Google Shape;611;p42"/>
          <p:cNvGrpSpPr/>
          <p:nvPr/>
        </p:nvGrpSpPr>
        <p:grpSpPr>
          <a:xfrm>
            <a:off x="7380288" y="5588000"/>
            <a:ext cx="501650" cy="647700"/>
            <a:chOff x="703" y="1389"/>
            <a:chExt cx="1406" cy="1814"/>
          </a:xfrm>
        </p:grpSpPr>
        <p:sp>
          <p:nvSpPr>
            <p:cNvPr id="612" name="Google Shape;612;p42"/>
            <p:cNvSpPr/>
            <p:nvPr/>
          </p:nvSpPr>
          <p:spPr>
            <a:xfrm>
              <a:off x="703" y="1389"/>
              <a:ext cx="1406" cy="1814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13" name="Google Shape;613;p42"/>
            <p:cNvCxnSpPr/>
            <p:nvPr/>
          </p:nvCxnSpPr>
          <p:spPr>
            <a:xfrm rot="10800000">
              <a:off x="1292" y="1616"/>
              <a:ext cx="409" cy="31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p42"/>
            <p:cNvCxnSpPr/>
            <p:nvPr/>
          </p:nvCxnSpPr>
          <p:spPr>
            <a:xfrm flipH="1">
              <a:off x="1020" y="1933"/>
              <a:ext cx="726" cy="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42"/>
            <p:cNvCxnSpPr/>
            <p:nvPr/>
          </p:nvCxnSpPr>
          <p:spPr>
            <a:xfrm>
              <a:off x="1746" y="1979"/>
              <a:ext cx="45" cy="8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42"/>
            <p:cNvCxnSpPr/>
            <p:nvPr/>
          </p:nvCxnSpPr>
          <p:spPr>
            <a:xfrm rot="10800000">
              <a:off x="1066" y="2795"/>
              <a:ext cx="680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42"/>
            <p:cNvCxnSpPr/>
            <p:nvPr/>
          </p:nvCxnSpPr>
          <p:spPr>
            <a:xfrm rot="10800000">
              <a:off x="1292" y="1661"/>
              <a:ext cx="499" cy="117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42"/>
            <p:cNvCxnSpPr/>
            <p:nvPr/>
          </p:nvCxnSpPr>
          <p:spPr>
            <a:xfrm flipH="1">
              <a:off x="1020" y="1616"/>
              <a:ext cx="227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9" name="Google Shape;619;p42"/>
            <p:cNvSpPr/>
            <p:nvPr/>
          </p:nvSpPr>
          <p:spPr>
            <a:xfrm>
              <a:off x="1746" y="2795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0" name="Google Shape;620;p42"/>
            <p:cNvSpPr/>
            <p:nvPr/>
          </p:nvSpPr>
          <p:spPr>
            <a:xfrm>
              <a:off x="1247" y="1570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1" name="Google Shape;621;p42"/>
            <p:cNvSpPr/>
            <p:nvPr/>
          </p:nvSpPr>
          <p:spPr>
            <a:xfrm>
              <a:off x="975" y="2750"/>
              <a:ext cx="91" cy="91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2" name="Google Shape;622;p42"/>
            <p:cNvSpPr/>
            <p:nvPr/>
          </p:nvSpPr>
          <p:spPr>
            <a:xfrm>
              <a:off x="1701" y="1888"/>
              <a:ext cx="91" cy="91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23" name="Google Shape;623;p42"/>
          <p:cNvSpPr/>
          <p:nvPr/>
        </p:nvSpPr>
        <p:spPr>
          <a:xfrm>
            <a:off x="5219700" y="5588000"/>
            <a:ext cx="1655763" cy="64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42"/>
          <p:cNvSpPr/>
          <p:nvPr/>
        </p:nvSpPr>
        <p:spPr>
          <a:xfrm>
            <a:off x="5795963" y="6019800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42"/>
          <p:cNvSpPr/>
          <p:nvPr/>
        </p:nvSpPr>
        <p:spPr>
          <a:xfrm>
            <a:off x="6443663" y="6019800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6443663" y="5659438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42"/>
          <p:cNvSpPr/>
          <p:nvPr/>
        </p:nvSpPr>
        <p:spPr>
          <a:xfrm>
            <a:off x="5364163" y="5659438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p42"/>
          <p:cNvSpPr/>
          <p:nvPr/>
        </p:nvSpPr>
        <p:spPr>
          <a:xfrm>
            <a:off x="5795963" y="5659438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9" name="Google Shape;629;p42"/>
          <p:cNvCxnSpPr/>
          <p:nvPr/>
        </p:nvCxnSpPr>
        <p:spPr>
          <a:xfrm rot="10800000">
            <a:off x="6588125" y="5732463"/>
            <a:ext cx="935038" cy="3603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0" name="Google Shape;630;p42"/>
          <p:cNvSpPr/>
          <p:nvPr/>
        </p:nvSpPr>
        <p:spPr>
          <a:xfrm>
            <a:off x="5651500" y="4437063"/>
            <a:ext cx="1655763" cy="64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6875463" y="4868863"/>
            <a:ext cx="144462" cy="1444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42"/>
          <p:cNvSpPr/>
          <p:nvPr/>
        </p:nvSpPr>
        <p:spPr>
          <a:xfrm>
            <a:off x="6875463" y="4508500"/>
            <a:ext cx="144462" cy="144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3" name="Google Shape;633;p42"/>
          <p:cNvCxnSpPr/>
          <p:nvPr/>
        </p:nvCxnSpPr>
        <p:spPr>
          <a:xfrm flipH="1" rot="10800000">
            <a:off x="3348038" y="2879725"/>
            <a:ext cx="1511300" cy="4048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42"/>
          <p:cNvCxnSpPr/>
          <p:nvPr/>
        </p:nvCxnSpPr>
        <p:spPr>
          <a:xfrm>
            <a:off x="3348038" y="4365625"/>
            <a:ext cx="1439862" cy="831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42"/>
          <p:cNvSpPr txBox="1"/>
          <p:nvPr/>
        </p:nvSpPr>
        <p:spPr>
          <a:xfrm rot="-806291">
            <a:off x="3524250" y="2636838"/>
            <a:ext cx="831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</a:t>
            </a:r>
            <a:endParaRPr/>
          </a:p>
        </p:txBody>
      </p:sp>
      <p:sp>
        <p:nvSpPr>
          <p:cNvPr id="636" name="Google Shape;636;p42"/>
          <p:cNvSpPr txBox="1"/>
          <p:nvPr/>
        </p:nvSpPr>
        <p:spPr>
          <a:xfrm rot="1792015">
            <a:off x="3779838" y="4365625"/>
            <a:ext cx="7683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3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MANY ITERATIONS OF THE MCMC ALGORITHM GIVES A “GOOD” FIT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0125"/>
            <a:ext cx="8813000" cy="50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4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FIRSTLY, WE CONDUCTED A BROAD SWEEP OF PARAMETER SPACE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0" name="Google Shape;650;p44"/>
          <p:cNvPicPr preferRelativeResize="0"/>
          <p:nvPr/>
        </p:nvPicPr>
        <p:blipFill rotWithShape="1">
          <a:blip r:embed="rId3">
            <a:alphaModFix/>
          </a:blip>
          <a:srcRect b="0" l="0" r="12166" t="0"/>
          <a:stretch/>
        </p:blipFill>
        <p:spPr>
          <a:xfrm>
            <a:off x="468313" y="1268413"/>
            <a:ext cx="8424862" cy="312896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4"/>
          <p:cNvSpPr txBox="1"/>
          <p:nvPr/>
        </p:nvSpPr>
        <p:spPr>
          <a:xfrm>
            <a:off x="1187450" y="4797425"/>
            <a:ext cx="6572250" cy="91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1: network setup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2: parameters which define individual level infectiousness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5"/>
          <p:cNvSpPr txBox="1"/>
          <p:nvPr>
            <p:ph type="title"/>
          </p:nvPr>
        </p:nvSpPr>
        <p:spPr>
          <a:xfrm>
            <a:off x="685800" y="333375"/>
            <a:ext cx="7772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HIGHER VALUES OF R</a:t>
            </a:r>
            <a:r>
              <a:rPr baseline="-25000" lang="en-GB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* WERE OBTAINED WITH LARGER AVERAGE NETWORK NEIGHBOURHOOD SIZES…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988" y="1628775"/>
            <a:ext cx="6769100" cy="429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6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WE SELECTED THREE REPRESENTATIVE SCENARIOS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46"/>
          <p:cNvPicPr preferRelativeResize="0"/>
          <p:nvPr/>
        </p:nvPicPr>
        <p:blipFill rotWithShape="1">
          <a:blip r:embed="rId3">
            <a:alphaModFix/>
          </a:blip>
          <a:srcRect b="0" l="0" r="3581" t="0"/>
          <a:stretch/>
        </p:blipFill>
        <p:spPr>
          <a:xfrm>
            <a:off x="395288" y="1412875"/>
            <a:ext cx="8569325" cy="3159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6"/>
          <p:cNvSpPr/>
          <p:nvPr/>
        </p:nvSpPr>
        <p:spPr>
          <a:xfrm>
            <a:off x="1800225" y="5805488"/>
            <a:ext cx="5221288" cy="863600"/>
          </a:xfrm>
          <a:prstGeom prst="rect">
            <a:avLst/>
          </a:prstGeom>
          <a:solidFill>
            <a:srgbClr val="96969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46"/>
          <p:cNvSpPr/>
          <p:nvPr/>
        </p:nvSpPr>
        <p:spPr>
          <a:xfrm>
            <a:off x="1692275" y="5661025"/>
            <a:ext cx="5221288" cy="86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Spatio-temporal dynamics of these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scenarios differ considerably</a:t>
            </a:r>
            <a:endParaRPr/>
          </a:p>
        </p:txBody>
      </p:sp>
      <p:sp>
        <p:nvSpPr>
          <p:cNvPr id="668" name="Google Shape;668;p46"/>
          <p:cNvSpPr txBox="1"/>
          <p:nvPr/>
        </p:nvSpPr>
        <p:spPr>
          <a:xfrm>
            <a:off x="468313" y="4646613"/>
            <a:ext cx="5270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180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9" name="Google Shape;669;p46"/>
          <p:cNvSpPr txBox="1"/>
          <p:nvPr/>
        </p:nvSpPr>
        <p:spPr>
          <a:xfrm>
            <a:off x="6423025" y="4581525"/>
            <a:ext cx="6699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1.5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8.7%     </a:t>
            </a:r>
            <a:endParaRPr sz="180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0" name="Google Shape;670;p46"/>
          <p:cNvSpPr txBox="1"/>
          <p:nvPr/>
        </p:nvSpPr>
        <p:spPr>
          <a:xfrm>
            <a:off x="7235825" y="4581525"/>
            <a:ext cx="6699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2.6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7.0%     </a:t>
            </a:r>
            <a:endParaRPr sz="180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8078788" y="4581525"/>
            <a:ext cx="6699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5.3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20%     </a:t>
            </a:r>
            <a:endParaRPr sz="180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7"/>
          <p:cNvSpPr txBox="1"/>
          <p:nvPr>
            <p:ph type="title"/>
          </p:nvPr>
        </p:nvSpPr>
        <p:spPr>
          <a:xfrm>
            <a:off x="685800" y="188913"/>
            <a:ext cx="7772400" cy="6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SCENARIOS PRODUCE VERY DIFFERENT PREDICTED PATTERNS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8" name="Google Shape;67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925"/>
            <a:ext cx="8853374" cy="48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8"/>
          <p:cNvSpPr txBox="1"/>
          <p:nvPr>
            <p:ph type="title"/>
          </p:nvPr>
        </p:nvSpPr>
        <p:spPr>
          <a:xfrm>
            <a:off x="685800" y="333375"/>
            <a:ext cx="7772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SPATIAL CASE INCIDENCE DATA WOULD ALLOW ACTUAL OUTBREAK TO BE CHARACTERISED QUICKLY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0124" y="1943342"/>
            <a:ext cx="5440357" cy="308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8"/>
          <p:cNvPicPr preferRelativeResize="0"/>
          <p:nvPr/>
        </p:nvPicPr>
        <p:blipFill rotWithShape="1">
          <a:blip r:embed="rId4">
            <a:alphaModFix/>
          </a:blip>
          <a:srcRect b="0" l="0" r="0" t="3534"/>
          <a:stretch/>
        </p:blipFill>
        <p:spPr>
          <a:xfrm>
            <a:off x="0" y="2211344"/>
            <a:ext cx="9144000" cy="439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9"/>
          <p:cNvSpPr txBox="1"/>
          <p:nvPr>
            <p:ph type="title"/>
          </p:nvPr>
        </p:nvSpPr>
        <p:spPr>
          <a:xfrm rot="-5400000">
            <a:off x="-2228775" y="2913575"/>
            <a:ext cx="5734200" cy="65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ASSESSING INTERVENTIONS</a:t>
            </a:r>
            <a:endParaRPr/>
          </a:p>
        </p:txBody>
      </p:sp>
      <p:pic>
        <p:nvPicPr>
          <p:cNvPr id="693" name="Google Shape;69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725" y="152400"/>
            <a:ext cx="7099864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0"/>
          <p:cNvSpPr txBox="1"/>
          <p:nvPr/>
        </p:nvSpPr>
        <p:spPr>
          <a:xfrm>
            <a:off x="222250" y="1206500"/>
            <a:ext cx="5983288" cy="536575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Minimal feasible complexity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 because detail can be included doesn’t mean it should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unless parameters are well-estimated.</a:t>
            </a:r>
            <a:endParaRPr/>
          </a:p>
          <a:p>
            <a:pPr indent="-266700" lvl="0" marL="2667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Mathematically well-defined, rather than ‘ad hoc’ rules.</a:t>
            </a:r>
            <a:endParaRPr/>
          </a:p>
          <a:p>
            <a:pPr indent="-266700" lvl="0" marL="2667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 parameters need to be robustly estimated from epidemiological data.</a:t>
            </a:r>
            <a:endParaRPr/>
          </a:p>
          <a:p>
            <a:pPr indent="-266700" lvl="0" marL="2667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data is unavailable, detailed sensitivity analysis needed.</a:t>
            </a:r>
            <a:endParaRPr/>
          </a:p>
          <a:p>
            <a:pPr indent="-266700" lvl="0" marL="2667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if models are only being used to explore dynamics, sensitivity analysis is important to understand mechanisms.</a:t>
            </a:r>
            <a:endParaRPr/>
          </a:p>
          <a:p>
            <a:pPr indent="-266700" lvl="0" marL="2667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small minority of published models meet the above criteria - most of the rest are ‘black boxes’ – often of limited use in either understanding disease dynamics or informing control planning.</a:t>
            </a:r>
            <a:endParaRPr/>
          </a:p>
        </p:txBody>
      </p:sp>
      <p:sp>
        <p:nvSpPr>
          <p:cNvPr id="699" name="Google Shape;699;p50"/>
          <p:cNvSpPr txBox="1"/>
          <p:nvPr/>
        </p:nvSpPr>
        <p:spPr>
          <a:xfrm>
            <a:off x="622300" y="606425"/>
            <a:ext cx="7164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‘Good’ simulations</a:t>
            </a:r>
            <a:endParaRPr/>
          </a:p>
        </p:txBody>
      </p:sp>
      <p:pic>
        <p:nvPicPr>
          <p:cNvPr descr="NCSA's SGI Altix" id="700" name="Google Shape;70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75" y="1500188"/>
            <a:ext cx="20859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1"/>
          <p:cNvSpPr txBox="1"/>
          <p:nvPr/>
        </p:nvSpPr>
        <p:spPr>
          <a:xfrm>
            <a:off x="1011713" y="572925"/>
            <a:ext cx="68502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2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1"/>
          <p:cNvSpPr/>
          <p:nvPr/>
        </p:nvSpPr>
        <p:spPr>
          <a:xfrm>
            <a:off x="463550" y="1284288"/>
            <a:ext cx="8370888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Accounting for spatially localised spread and social structure essential for detailed prediction of disease spread and effect of controls – particularly </a:t>
            </a:r>
            <a:r>
              <a:rPr i="1"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targeted</a:t>
            </a: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 of an </a:t>
            </a:r>
            <a:r>
              <a:rPr i="1"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outbreak.</a:t>
            </a:r>
            <a:endParaRPr/>
          </a:p>
          <a:p>
            <a:pPr indent="-177800" lvl="0" marL="1778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fundamentally affects the persistence of infectious diseases.</a:t>
            </a:r>
            <a:endParaRPr/>
          </a:p>
          <a:p>
            <a:pPr indent="-177800" lvl="0" marL="1778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Simulation models increasingly used, but complexity needs to be limited.</a:t>
            </a:r>
            <a:endParaRPr/>
          </a:p>
          <a:p>
            <a:pPr indent="-177800" lvl="0" marL="1778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 (meta-population) models still represent a powerful tool for describing large-scale spread between population centres.</a:t>
            </a:r>
            <a:endParaRPr/>
          </a:p>
          <a:p>
            <a:pPr indent="-177800" lvl="0" marL="1778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models much more data-hungry - including demographics/travel patterns.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2"/>
          <p:cNvSpPr/>
          <p:nvPr/>
        </p:nvSpPr>
        <p:spPr>
          <a:xfrm>
            <a:off x="457200" y="427038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/>
          </a:p>
        </p:txBody>
      </p:sp>
      <p:sp>
        <p:nvSpPr>
          <p:cNvPr id="712" name="Google Shape;712;p52"/>
          <p:cNvSpPr/>
          <p:nvPr/>
        </p:nvSpPr>
        <p:spPr>
          <a:xfrm>
            <a:off x="598488" y="1452563"/>
            <a:ext cx="7783500" cy="4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importance of </a:t>
            </a:r>
            <a:r>
              <a:rPr b="0" i="1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locality</a:t>
            </a: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disease transmission dynamics.</a:t>
            </a:r>
            <a:endParaRPr/>
          </a:p>
          <a:p>
            <a:pPr indent="-180975" lvl="0" marL="180975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different approaches to spatial modelling (with examples):</a:t>
            </a:r>
            <a:endParaRPr/>
          </a:p>
          <a:p>
            <a:pPr indent="-457200" lvl="1" marL="914400" marR="0" rtl="0" algn="l"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➢"/>
            </a:pPr>
            <a:r>
              <a:rPr b="0" i="0" lang="en-GB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Direct simulation</a:t>
            </a:r>
            <a:endParaRPr/>
          </a:p>
          <a:p>
            <a:pPr indent="-457200" lvl="1" marL="914400" marR="0" rtl="0" algn="l"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➢"/>
            </a:pPr>
            <a:r>
              <a:rPr b="0" i="0" lang="en-GB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Patch models</a:t>
            </a:r>
            <a:endParaRPr/>
          </a:p>
          <a:p>
            <a:pPr indent="-180975" lvl="0" marL="180975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utility of spatial models in examining targeted control policies.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3"/>
          <p:cNvSpPr/>
          <p:nvPr/>
        </p:nvSpPr>
        <p:spPr>
          <a:xfrm>
            <a:off x="457200" y="427038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33CC"/>
                </a:solidFill>
              </a:rPr>
              <a:t>Unused slides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4"/>
          <p:cNvSpPr txBox="1"/>
          <p:nvPr/>
        </p:nvSpPr>
        <p:spPr>
          <a:xfrm>
            <a:off x="233375" y="1020775"/>
            <a:ext cx="5105400" cy="26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125" lIns="238000" spcFirstLastPara="1" rIns="238000" wrap="square" tIns="119125">
            <a:no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data on local network structure and dynamics</a:t>
            </a:r>
            <a:r>
              <a:rPr lang="en-GB" sz="1800">
                <a:solidFill>
                  <a:schemeClr val="dk1"/>
                </a:solidFill>
              </a:rPr>
              <a:t>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on global network structure, relation to geographic space.</a:t>
            </a:r>
            <a:endParaRPr sz="1800">
              <a:solidFill>
                <a:schemeClr val="dk1"/>
              </a:solidFill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</a:rPr>
              <a:t> Travel/interaction data key to building this new generation of realistic socio-spatial models.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23" name="Google Shape;723;p54"/>
          <p:cNvSpPr txBox="1"/>
          <p:nvPr/>
        </p:nvSpPr>
        <p:spPr>
          <a:xfrm>
            <a:off x="495300" y="561975"/>
            <a:ext cx="7853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 is key</a:t>
            </a:r>
            <a:endParaRPr/>
          </a:p>
        </p:txBody>
      </p:sp>
      <p:grpSp>
        <p:nvGrpSpPr>
          <p:cNvPr id="724" name="Google Shape;724;p54"/>
          <p:cNvGrpSpPr/>
          <p:nvPr/>
        </p:nvGrpSpPr>
        <p:grpSpPr>
          <a:xfrm>
            <a:off x="281925" y="2683274"/>
            <a:ext cx="5095931" cy="4122348"/>
            <a:chOff x="2970" y="938"/>
            <a:chExt cx="2669" cy="2032"/>
          </a:xfrm>
        </p:grpSpPr>
        <p:grpSp>
          <p:nvGrpSpPr>
            <p:cNvPr id="725" name="Google Shape;725;p54"/>
            <p:cNvGrpSpPr/>
            <p:nvPr/>
          </p:nvGrpSpPr>
          <p:grpSpPr>
            <a:xfrm>
              <a:off x="3364" y="1158"/>
              <a:ext cx="2154" cy="1422"/>
              <a:chOff x="3082" y="1190"/>
              <a:chExt cx="2431" cy="1614"/>
            </a:xfrm>
          </p:grpSpPr>
          <p:sp>
            <p:nvSpPr>
              <p:cNvPr id="726" name="Google Shape;726;p54"/>
              <p:cNvSpPr/>
              <p:nvPr/>
            </p:nvSpPr>
            <p:spPr>
              <a:xfrm>
                <a:off x="3106" y="1190"/>
                <a:ext cx="2406" cy="1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54"/>
              <p:cNvSpPr/>
              <p:nvPr/>
            </p:nvSpPr>
            <p:spPr>
              <a:xfrm>
                <a:off x="3106" y="1201"/>
                <a:ext cx="2400" cy="1500"/>
              </a:xfrm>
              <a:prstGeom prst="rect">
                <a:avLst/>
              </a:prstGeom>
              <a:noFill/>
              <a:ln cap="flat" cmpd="sng" w="9525">
                <a:solidFill>
                  <a:srgbClr val="80808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28" name="Google Shape;728;p54"/>
              <p:cNvCxnSpPr/>
              <p:nvPr/>
            </p:nvCxnSpPr>
            <p:spPr>
              <a:xfrm>
                <a:off x="3106" y="1190"/>
                <a:ext cx="1" cy="158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54"/>
              <p:cNvCxnSpPr/>
              <p:nvPr/>
            </p:nvCxnSpPr>
            <p:spPr>
              <a:xfrm>
                <a:off x="3082" y="2774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54"/>
              <p:cNvCxnSpPr/>
              <p:nvPr/>
            </p:nvCxnSpPr>
            <p:spPr>
              <a:xfrm>
                <a:off x="3082" y="2546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54"/>
              <p:cNvCxnSpPr/>
              <p:nvPr/>
            </p:nvCxnSpPr>
            <p:spPr>
              <a:xfrm>
                <a:off x="3082" y="2324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54"/>
              <p:cNvCxnSpPr/>
              <p:nvPr/>
            </p:nvCxnSpPr>
            <p:spPr>
              <a:xfrm>
                <a:off x="3082" y="2096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54"/>
              <p:cNvCxnSpPr/>
              <p:nvPr/>
            </p:nvCxnSpPr>
            <p:spPr>
              <a:xfrm>
                <a:off x="3082" y="1868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Google Shape;734;p54"/>
              <p:cNvCxnSpPr/>
              <p:nvPr/>
            </p:nvCxnSpPr>
            <p:spPr>
              <a:xfrm>
                <a:off x="3082" y="1640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Google Shape;735;p54"/>
              <p:cNvCxnSpPr/>
              <p:nvPr/>
            </p:nvCxnSpPr>
            <p:spPr>
              <a:xfrm>
                <a:off x="3082" y="1418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54"/>
              <p:cNvCxnSpPr/>
              <p:nvPr/>
            </p:nvCxnSpPr>
            <p:spPr>
              <a:xfrm>
                <a:off x="3082" y="1190"/>
                <a:ext cx="2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54"/>
              <p:cNvCxnSpPr/>
              <p:nvPr/>
            </p:nvCxnSpPr>
            <p:spPr>
              <a:xfrm>
                <a:off x="3106" y="2774"/>
                <a:ext cx="2406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54"/>
              <p:cNvCxnSpPr/>
              <p:nvPr/>
            </p:nvCxnSpPr>
            <p:spPr>
              <a:xfrm flipH="1" rot="10800000">
                <a:off x="3106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54"/>
              <p:cNvCxnSpPr/>
              <p:nvPr/>
            </p:nvCxnSpPr>
            <p:spPr>
              <a:xfrm flipH="1" rot="10800000">
                <a:off x="3280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" name="Google Shape;740;p54"/>
              <p:cNvCxnSpPr/>
              <p:nvPr/>
            </p:nvCxnSpPr>
            <p:spPr>
              <a:xfrm flipH="1" rot="10800000">
                <a:off x="3448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54"/>
              <p:cNvCxnSpPr/>
              <p:nvPr/>
            </p:nvCxnSpPr>
            <p:spPr>
              <a:xfrm flipH="1" rot="10800000">
                <a:off x="3622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54"/>
              <p:cNvCxnSpPr/>
              <p:nvPr/>
            </p:nvCxnSpPr>
            <p:spPr>
              <a:xfrm flipH="1" rot="10800000">
                <a:off x="3796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" name="Google Shape;743;p54"/>
              <p:cNvCxnSpPr/>
              <p:nvPr/>
            </p:nvCxnSpPr>
            <p:spPr>
              <a:xfrm flipH="1" rot="10800000">
                <a:off x="3964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" name="Google Shape;744;p54"/>
              <p:cNvCxnSpPr/>
              <p:nvPr/>
            </p:nvCxnSpPr>
            <p:spPr>
              <a:xfrm flipH="1" rot="10800000">
                <a:off x="4138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" name="Google Shape;745;p54"/>
              <p:cNvCxnSpPr/>
              <p:nvPr/>
            </p:nvCxnSpPr>
            <p:spPr>
              <a:xfrm flipH="1" rot="10800000">
                <a:off x="4312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" name="Google Shape;746;p54"/>
              <p:cNvCxnSpPr/>
              <p:nvPr/>
            </p:nvCxnSpPr>
            <p:spPr>
              <a:xfrm flipH="1" rot="10800000">
                <a:off x="4480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" name="Google Shape;747;p54"/>
              <p:cNvCxnSpPr/>
              <p:nvPr/>
            </p:nvCxnSpPr>
            <p:spPr>
              <a:xfrm flipH="1" rot="10800000">
                <a:off x="4654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" name="Google Shape;748;p54"/>
              <p:cNvCxnSpPr/>
              <p:nvPr/>
            </p:nvCxnSpPr>
            <p:spPr>
              <a:xfrm flipH="1" rot="10800000">
                <a:off x="4822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54"/>
              <p:cNvCxnSpPr/>
              <p:nvPr/>
            </p:nvCxnSpPr>
            <p:spPr>
              <a:xfrm flipH="1" rot="10800000">
                <a:off x="4996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54"/>
              <p:cNvCxnSpPr/>
              <p:nvPr/>
            </p:nvCxnSpPr>
            <p:spPr>
              <a:xfrm flipH="1" rot="10800000">
                <a:off x="5170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54"/>
              <p:cNvCxnSpPr/>
              <p:nvPr/>
            </p:nvCxnSpPr>
            <p:spPr>
              <a:xfrm flipH="1" rot="10800000">
                <a:off x="5338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54"/>
              <p:cNvCxnSpPr/>
              <p:nvPr/>
            </p:nvCxnSpPr>
            <p:spPr>
              <a:xfrm flipH="1" rot="10800000">
                <a:off x="5512" y="2774"/>
                <a:ext cx="1" cy="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54"/>
              <p:cNvCxnSpPr/>
              <p:nvPr/>
            </p:nvCxnSpPr>
            <p:spPr>
              <a:xfrm>
                <a:off x="3190" y="1712"/>
                <a:ext cx="174" cy="1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54"/>
              <p:cNvCxnSpPr/>
              <p:nvPr/>
            </p:nvCxnSpPr>
            <p:spPr>
              <a:xfrm>
                <a:off x="3364" y="1730"/>
                <a:ext cx="174" cy="52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54"/>
              <p:cNvCxnSpPr/>
              <p:nvPr/>
            </p:nvCxnSpPr>
            <p:spPr>
              <a:xfrm flipH="1" rot="10800000">
                <a:off x="3538" y="2030"/>
                <a:ext cx="168" cy="22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54"/>
              <p:cNvCxnSpPr/>
              <p:nvPr/>
            </p:nvCxnSpPr>
            <p:spPr>
              <a:xfrm flipH="1" rot="10800000">
                <a:off x="3706" y="1994"/>
                <a:ext cx="174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54"/>
              <p:cNvCxnSpPr/>
              <p:nvPr/>
            </p:nvCxnSpPr>
            <p:spPr>
              <a:xfrm>
                <a:off x="3880" y="1994"/>
                <a:ext cx="174" cy="22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54"/>
              <p:cNvCxnSpPr/>
              <p:nvPr/>
            </p:nvCxnSpPr>
            <p:spPr>
              <a:xfrm>
                <a:off x="4054" y="2216"/>
                <a:ext cx="168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54"/>
              <p:cNvCxnSpPr/>
              <p:nvPr/>
            </p:nvCxnSpPr>
            <p:spPr>
              <a:xfrm>
                <a:off x="4222" y="2288"/>
                <a:ext cx="174" cy="18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54"/>
              <p:cNvCxnSpPr/>
              <p:nvPr/>
            </p:nvCxnSpPr>
            <p:spPr>
              <a:xfrm flipH="1" rot="10800000">
                <a:off x="4396" y="2192"/>
                <a:ext cx="168" cy="28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54"/>
              <p:cNvCxnSpPr/>
              <p:nvPr/>
            </p:nvCxnSpPr>
            <p:spPr>
              <a:xfrm flipH="1" rot="10800000">
                <a:off x="4564" y="2180"/>
                <a:ext cx="174" cy="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54"/>
              <p:cNvCxnSpPr/>
              <p:nvPr/>
            </p:nvCxnSpPr>
            <p:spPr>
              <a:xfrm flipH="1" rot="10800000">
                <a:off x="4738" y="2090"/>
                <a:ext cx="174" cy="9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54"/>
              <p:cNvCxnSpPr/>
              <p:nvPr/>
            </p:nvCxnSpPr>
            <p:spPr>
              <a:xfrm>
                <a:off x="4912" y="2090"/>
                <a:ext cx="168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54"/>
              <p:cNvCxnSpPr/>
              <p:nvPr/>
            </p:nvCxnSpPr>
            <p:spPr>
              <a:xfrm flipH="1" rot="10800000">
                <a:off x="5080" y="2084"/>
                <a:ext cx="174" cy="7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" name="Google Shape;765;p54"/>
              <p:cNvCxnSpPr/>
              <p:nvPr/>
            </p:nvCxnSpPr>
            <p:spPr>
              <a:xfrm flipH="1" rot="10800000">
                <a:off x="5254" y="1868"/>
                <a:ext cx="174" cy="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54"/>
              <p:cNvCxnSpPr/>
              <p:nvPr/>
            </p:nvCxnSpPr>
            <p:spPr>
              <a:xfrm>
                <a:off x="3190" y="1868"/>
                <a:ext cx="174" cy="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54"/>
              <p:cNvCxnSpPr/>
              <p:nvPr/>
            </p:nvCxnSpPr>
            <p:spPr>
              <a:xfrm>
                <a:off x="3364" y="2324"/>
                <a:ext cx="174" cy="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54"/>
              <p:cNvCxnSpPr/>
              <p:nvPr/>
            </p:nvCxnSpPr>
            <p:spPr>
              <a:xfrm>
                <a:off x="3538" y="2774"/>
                <a:ext cx="168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54"/>
              <p:cNvCxnSpPr/>
              <p:nvPr/>
            </p:nvCxnSpPr>
            <p:spPr>
              <a:xfrm>
                <a:off x="3706" y="2774"/>
                <a:ext cx="17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" name="Google Shape;770;p54"/>
              <p:cNvCxnSpPr/>
              <p:nvPr/>
            </p:nvCxnSpPr>
            <p:spPr>
              <a:xfrm>
                <a:off x="3880" y="2774"/>
                <a:ext cx="17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" name="Google Shape;771;p54"/>
              <p:cNvCxnSpPr/>
              <p:nvPr/>
            </p:nvCxnSpPr>
            <p:spPr>
              <a:xfrm>
                <a:off x="4054" y="2774"/>
                <a:ext cx="168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" name="Google Shape;772;p54"/>
              <p:cNvCxnSpPr/>
              <p:nvPr/>
            </p:nvCxnSpPr>
            <p:spPr>
              <a:xfrm>
                <a:off x="4222" y="2774"/>
                <a:ext cx="17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54"/>
              <p:cNvCxnSpPr/>
              <p:nvPr/>
            </p:nvCxnSpPr>
            <p:spPr>
              <a:xfrm>
                <a:off x="4396" y="2774"/>
                <a:ext cx="168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4" name="Google Shape;774;p54"/>
              <p:cNvCxnSpPr/>
              <p:nvPr/>
            </p:nvCxnSpPr>
            <p:spPr>
              <a:xfrm>
                <a:off x="4564" y="2774"/>
                <a:ext cx="17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" name="Google Shape;775;p54"/>
              <p:cNvCxnSpPr/>
              <p:nvPr/>
            </p:nvCxnSpPr>
            <p:spPr>
              <a:xfrm>
                <a:off x="4738" y="2774"/>
                <a:ext cx="17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" name="Google Shape;776;p54"/>
              <p:cNvCxnSpPr/>
              <p:nvPr/>
            </p:nvCxnSpPr>
            <p:spPr>
              <a:xfrm>
                <a:off x="4912" y="2774"/>
                <a:ext cx="168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" name="Google Shape;777;p54"/>
              <p:cNvCxnSpPr/>
              <p:nvPr/>
            </p:nvCxnSpPr>
            <p:spPr>
              <a:xfrm>
                <a:off x="5080" y="2774"/>
                <a:ext cx="174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" name="Google Shape;778;p54"/>
              <p:cNvCxnSpPr/>
              <p:nvPr/>
            </p:nvCxnSpPr>
            <p:spPr>
              <a:xfrm flipH="1" rot="10800000">
                <a:off x="5254" y="2324"/>
                <a:ext cx="174" cy="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9" name="Google Shape;779;p54"/>
              <p:cNvSpPr/>
              <p:nvPr/>
            </p:nvSpPr>
            <p:spPr>
              <a:xfrm>
                <a:off x="3190" y="140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54"/>
              <p:cNvSpPr/>
              <p:nvPr/>
            </p:nvSpPr>
            <p:spPr>
              <a:xfrm>
                <a:off x="3202" y="144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54"/>
              <p:cNvSpPr/>
              <p:nvPr/>
            </p:nvSpPr>
            <p:spPr>
              <a:xfrm>
                <a:off x="3214" y="147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54"/>
              <p:cNvSpPr/>
              <p:nvPr/>
            </p:nvSpPr>
            <p:spPr>
              <a:xfrm>
                <a:off x="3226" y="150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54"/>
              <p:cNvSpPr/>
              <p:nvPr/>
            </p:nvSpPr>
            <p:spPr>
              <a:xfrm>
                <a:off x="3232" y="154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54"/>
              <p:cNvSpPr/>
              <p:nvPr/>
            </p:nvSpPr>
            <p:spPr>
              <a:xfrm>
                <a:off x="3256" y="158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54"/>
              <p:cNvSpPr/>
              <p:nvPr/>
            </p:nvSpPr>
            <p:spPr>
              <a:xfrm>
                <a:off x="3268" y="161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54"/>
              <p:cNvSpPr/>
              <p:nvPr/>
            </p:nvSpPr>
            <p:spPr>
              <a:xfrm>
                <a:off x="3280" y="164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54"/>
              <p:cNvSpPr/>
              <p:nvPr/>
            </p:nvSpPr>
            <p:spPr>
              <a:xfrm>
                <a:off x="3292" y="167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54"/>
              <p:cNvSpPr/>
              <p:nvPr/>
            </p:nvSpPr>
            <p:spPr>
              <a:xfrm>
                <a:off x="3304" y="171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54"/>
              <p:cNvSpPr/>
              <p:nvPr/>
            </p:nvSpPr>
            <p:spPr>
              <a:xfrm>
                <a:off x="3316" y="174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54"/>
              <p:cNvSpPr/>
              <p:nvPr/>
            </p:nvSpPr>
            <p:spPr>
              <a:xfrm>
                <a:off x="3328" y="177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54"/>
              <p:cNvSpPr/>
              <p:nvPr/>
            </p:nvSpPr>
            <p:spPr>
              <a:xfrm>
                <a:off x="3334" y="181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54"/>
              <p:cNvSpPr/>
              <p:nvPr/>
            </p:nvSpPr>
            <p:spPr>
              <a:xfrm>
                <a:off x="3358" y="185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54"/>
              <p:cNvSpPr/>
              <p:nvPr/>
            </p:nvSpPr>
            <p:spPr>
              <a:xfrm>
                <a:off x="3364" y="185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54"/>
              <p:cNvSpPr/>
              <p:nvPr/>
            </p:nvSpPr>
            <p:spPr>
              <a:xfrm>
                <a:off x="3376" y="189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54"/>
              <p:cNvSpPr/>
              <p:nvPr/>
            </p:nvSpPr>
            <p:spPr>
              <a:xfrm>
                <a:off x="3388" y="192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54"/>
              <p:cNvSpPr/>
              <p:nvPr/>
            </p:nvSpPr>
            <p:spPr>
              <a:xfrm>
                <a:off x="3400" y="195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54"/>
              <p:cNvSpPr/>
              <p:nvPr/>
            </p:nvSpPr>
            <p:spPr>
              <a:xfrm>
                <a:off x="3406" y="199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54"/>
              <p:cNvSpPr/>
              <p:nvPr/>
            </p:nvSpPr>
            <p:spPr>
              <a:xfrm>
                <a:off x="3424" y="202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54"/>
              <p:cNvSpPr/>
              <p:nvPr/>
            </p:nvSpPr>
            <p:spPr>
              <a:xfrm>
                <a:off x="3442" y="206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54"/>
              <p:cNvSpPr/>
              <p:nvPr/>
            </p:nvSpPr>
            <p:spPr>
              <a:xfrm>
                <a:off x="3454" y="209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54"/>
              <p:cNvSpPr/>
              <p:nvPr/>
            </p:nvSpPr>
            <p:spPr>
              <a:xfrm>
                <a:off x="3466" y="2132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54"/>
              <p:cNvSpPr/>
              <p:nvPr/>
            </p:nvSpPr>
            <p:spPr>
              <a:xfrm>
                <a:off x="3478" y="216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54"/>
              <p:cNvSpPr/>
              <p:nvPr/>
            </p:nvSpPr>
            <p:spPr>
              <a:xfrm>
                <a:off x="3490" y="219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54"/>
              <p:cNvSpPr/>
              <p:nvPr/>
            </p:nvSpPr>
            <p:spPr>
              <a:xfrm>
                <a:off x="3502" y="222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54"/>
              <p:cNvSpPr/>
              <p:nvPr/>
            </p:nvSpPr>
            <p:spPr>
              <a:xfrm>
                <a:off x="3514" y="226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54"/>
              <p:cNvSpPr/>
              <p:nvPr/>
            </p:nvSpPr>
            <p:spPr>
              <a:xfrm>
                <a:off x="3526" y="229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54"/>
              <p:cNvSpPr/>
              <p:nvPr/>
            </p:nvSpPr>
            <p:spPr>
              <a:xfrm>
                <a:off x="3538" y="231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54"/>
              <p:cNvSpPr/>
              <p:nvPr/>
            </p:nvSpPr>
            <p:spPr>
              <a:xfrm>
                <a:off x="3550" y="227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54"/>
              <p:cNvSpPr/>
              <p:nvPr/>
            </p:nvSpPr>
            <p:spPr>
              <a:xfrm>
                <a:off x="3562" y="224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54"/>
              <p:cNvSpPr/>
              <p:nvPr/>
            </p:nvSpPr>
            <p:spPr>
              <a:xfrm>
                <a:off x="3574" y="221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54"/>
              <p:cNvSpPr/>
              <p:nvPr/>
            </p:nvSpPr>
            <p:spPr>
              <a:xfrm>
                <a:off x="3586" y="217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54"/>
              <p:cNvSpPr/>
              <p:nvPr/>
            </p:nvSpPr>
            <p:spPr>
              <a:xfrm>
                <a:off x="3592" y="214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6" y="0"/>
                    </a:lnTo>
                    <a:lnTo>
                      <a:pt x="18" y="6"/>
                    </a:lnTo>
                    <a:lnTo>
                      <a:pt x="1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54"/>
              <p:cNvSpPr/>
              <p:nvPr/>
            </p:nvSpPr>
            <p:spPr>
              <a:xfrm>
                <a:off x="3610" y="210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54"/>
              <p:cNvSpPr/>
              <p:nvPr/>
            </p:nvSpPr>
            <p:spPr>
              <a:xfrm>
                <a:off x="3622" y="207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54"/>
              <p:cNvSpPr/>
              <p:nvPr/>
            </p:nvSpPr>
            <p:spPr>
              <a:xfrm>
                <a:off x="3634" y="203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54"/>
              <p:cNvSpPr/>
              <p:nvPr/>
            </p:nvSpPr>
            <p:spPr>
              <a:xfrm>
                <a:off x="3646" y="200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54"/>
              <p:cNvSpPr/>
              <p:nvPr/>
            </p:nvSpPr>
            <p:spPr>
              <a:xfrm>
                <a:off x="3658" y="197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54"/>
              <p:cNvSpPr/>
              <p:nvPr/>
            </p:nvSpPr>
            <p:spPr>
              <a:xfrm>
                <a:off x="3676" y="194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54"/>
              <p:cNvSpPr/>
              <p:nvPr/>
            </p:nvSpPr>
            <p:spPr>
              <a:xfrm>
                <a:off x="3688" y="191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54"/>
              <p:cNvSpPr/>
              <p:nvPr/>
            </p:nvSpPr>
            <p:spPr>
              <a:xfrm>
                <a:off x="3700" y="1874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54"/>
              <p:cNvSpPr/>
              <p:nvPr/>
            </p:nvSpPr>
            <p:spPr>
              <a:xfrm>
                <a:off x="3706" y="185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54"/>
              <p:cNvSpPr/>
              <p:nvPr/>
            </p:nvSpPr>
            <p:spPr>
              <a:xfrm>
                <a:off x="3724" y="188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54"/>
              <p:cNvSpPr/>
              <p:nvPr/>
            </p:nvSpPr>
            <p:spPr>
              <a:xfrm>
                <a:off x="3736" y="192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54"/>
              <p:cNvSpPr/>
              <p:nvPr/>
            </p:nvSpPr>
            <p:spPr>
              <a:xfrm>
                <a:off x="3754" y="195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54"/>
              <p:cNvSpPr/>
              <p:nvPr/>
            </p:nvSpPr>
            <p:spPr>
              <a:xfrm>
                <a:off x="3772" y="198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54"/>
              <p:cNvSpPr/>
              <p:nvPr/>
            </p:nvSpPr>
            <p:spPr>
              <a:xfrm>
                <a:off x="3784" y="201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54"/>
              <p:cNvSpPr/>
              <p:nvPr/>
            </p:nvSpPr>
            <p:spPr>
              <a:xfrm>
                <a:off x="3796" y="205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54"/>
              <p:cNvSpPr/>
              <p:nvPr/>
            </p:nvSpPr>
            <p:spPr>
              <a:xfrm>
                <a:off x="3820" y="208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54"/>
              <p:cNvSpPr/>
              <p:nvPr/>
            </p:nvSpPr>
            <p:spPr>
              <a:xfrm>
                <a:off x="3826" y="2120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54"/>
              <p:cNvSpPr/>
              <p:nvPr/>
            </p:nvSpPr>
            <p:spPr>
              <a:xfrm>
                <a:off x="3850" y="215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54"/>
              <p:cNvSpPr/>
              <p:nvPr/>
            </p:nvSpPr>
            <p:spPr>
              <a:xfrm>
                <a:off x="3868" y="218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54"/>
              <p:cNvSpPr/>
              <p:nvPr/>
            </p:nvSpPr>
            <p:spPr>
              <a:xfrm>
                <a:off x="3868" y="2210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12" y="12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54"/>
              <p:cNvSpPr/>
              <p:nvPr/>
            </p:nvSpPr>
            <p:spPr>
              <a:xfrm>
                <a:off x="3898" y="2228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12" y="12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54"/>
              <p:cNvSpPr/>
              <p:nvPr/>
            </p:nvSpPr>
            <p:spPr>
              <a:xfrm>
                <a:off x="3928" y="2246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12" y="12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54"/>
              <p:cNvSpPr/>
              <p:nvPr/>
            </p:nvSpPr>
            <p:spPr>
              <a:xfrm>
                <a:off x="3964" y="226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54"/>
              <p:cNvSpPr/>
              <p:nvPr/>
            </p:nvSpPr>
            <p:spPr>
              <a:xfrm>
                <a:off x="3994" y="2282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54"/>
              <p:cNvSpPr/>
              <p:nvPr/>
            </p:nvSpPr>
            <p:spPr>
              <a:xfrm>
                <a:off x="4024" y="2306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12" y="12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54"/>
              <p:cNvSpPr/>
              <p:nvPr/>
            </p:nvSpPr>
            <p:spPr>
              <a:xfrm>
                <a:off x="4054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54"/>
              <p:cNvSpPr/>
              <p:nvPr/>
            </p:nvSpPr>
            <p:spPr>
              <a:xfrm>
                <a:off x="4090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54"/>
              <p:cNvSpPr/>
              <p:nvPr/>
            </p:nvSpPr>
            <p:spPr>
              <a:xfrm>
                <a:off x="4126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54"/>
              <p:cNvSpPr/>
              <p:nvPr/>
            </p:nvSpPr>
            <p:spPr>
              <a:xfrm>
                <a:off x="4162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54"/>
              <p:cNvSpPr/>
              <p:nvPr/>
            </p:nvSpPr>
            <p:spPr>
              <a:xfrm>
                <a:off x="4198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54"/>
              <p:cNvSpPr/>
              <p:nvPr/>
            </p:nvSpPr>
            <p:spPr>
              <a:xfrm>
                <a:off x="4222" y="231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54"/>
              <p:cNvSpPr/>
              <p:nvPr/>
            </p:nvSpPr>
            <p:spPr>
              <a:xfrm>
                <a:off x="4240" y="234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54"/>
              <p:cNvSpPr/>
              <p:nvPr/>
            </p:nvSpPr>
            <p:spPr>
              <a:xfrm>
                <a:off x="4252" y="237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4"/>
              <p:cNvSpPr/>
              <p:nvPr/>
            </p:nvSpPr>
            <p:spPr>
              <a:xfrm>
                <a:off x="4270" y="240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54"/>
              <p:cNvSpPr/>
              <p:nvPr/>
            </p:nvSpPr>
            <p:spPr>
              <a:xfrm>
                <a:off x="4288" y="244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54"/>
              <p:cNvSpPr/>
              <p:nvPr/>
            </p:nvSpPr>
            <p:spPr>
              <a:xfrm>
                <a:off x="4306" y="247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54"/>
              <p:cNvSpPr/>
              <p:nvPr/>
            </p:nvSpPr>
            <p:spPr>
              <a:xfrm>
                <a:off x="4312" y="2510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54"/>
              <p:cNvSpPr/>
              <p:nvPr/>
            </p:nvSpPr>
            <p:spPr>
              <a:xfrm>
                <a:off x="4336" y="254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54"/>
              <p:cNvSpPr/>
              <p:nvPr/>
            </p:nvSpPr>
            <p:spPr>
              <a:xfrm>
                <a:off x="4348" y="2576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54"/>
              <p:cNvSpPr/>
              <p:nvPr/>
            </p:nvSpPr>
            <p:spPr>
              <a:xfrm>
                <a:off x="4366" y="260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54"/>
              <p:cNvSpPr/>
              <p:nvPr/>
            </p:nvSpPr>
            <p:spPr>
              <a:xfrm>
                <a:off x="4384" y="263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54"/>
              <p:cNvSpPr/>
              <p:nvPr/>
            </p:nvSpPr>
            <p:spPr>
              <a:xfrm>
                <a:off x="4396" y="2654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54"/>
              <p:cNvSpPr/>
              <p:nvPr/>
            </p:nvSpPr>
            <p:spPr>
              <a:xfrm>
                <a:off x="4402" y="261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54"/>
              <p:cNvSpPr/>
              <p:nvPr/>
            </p:nvSpPr>
            <p:spPr>
              <a:xfrm>
                <a:off x="4414" y="2582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54"/>
              <p:cNvSpPr/>
              <p:nvPr/>
            </p:nvSpPr>
            <p:spPr>
              <a:xfrm>
                <a:off x="4414" y="2546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6" y="0"/>
                    </a:lnTo>
                    <a:lnTo>
                      <a:pt x="18" y="6"/>
                    </a:lnTo>
                    <a:lnTo>
                      <a:pt x="1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54"/>
              <p:cNvSpPr/>
              <p:nvPr/>
            </p:nvSpPr>
            <p:spPr>
              <a:xfrm>
                <a:off x="4432" y="251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54"/>
              <p:cNvSpPr/>
              <p:nvPr/>
            </p:nvSpPr>
            <p:spPr>
              <a:xfrm>
                <a:off x="4438" y="247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54"/>
              <p:cNvSpPr/>
              <p:nvPr/>
            </p:nvSpPr>
            <p:spPr>
              <a:xfrm>
                <a:off x="4450" y="2444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54"/>
              <p:cNvSpPr/>
              <p:nvPr/>
            </p:nvSpPr>
            <p:spPr>
              <a:xfrm>
                <a:off x="4456" y="2408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54"/>
              <p:cNvSpPr/>
              <p:nvPr/>
            </p:nvSpPr>
            <p:spPr>
              <a:xfrm>
                <a:off x="4462" y="236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54"/>
              <p:cNvSpPr/>
              <p:nvPr/>
            </p:nvSpPr>
            <p:spPr>
              <a:xfrm>
                <a:off x="4474" y="233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54"/>
              <p:cNvSpPr/>
              <p:nvPr/>
            </p:nvSpPr>
            <p:spPr>
              <a:xfrm>
                <a:off x="4480" y="230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54"/>
              <p:cNvSpPr/>
              <p:nvPr/>
            </p:nvSpPr>
            <p:spPr>
              <a:xfrm>
                <a:off x="4492" y="227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54"/>
              <p:cNvSpPr/>
              <p:nvPr/>
            </p:nvSpPr>
            <p:spPr>
              <a:xfrm>
                <a:off x="4498" y="222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54"/>
              <p:cNvSpPr/>
              <p:nvPr/>
            </p:nvSpPr>
            <p:spPr>
              <a:xfrm>
                <a:off x="4510" y="2198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54"/>
              <p:cNvSpPr/>
              <p:nvPr/>
            </p:nvSpPr>
            <p:spPr>
              <a:xfrm>
                <a:off x="4516" y="2162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54"/>
              <p:cNvSpPr/>
              <p:nvPr/>
            </p:nvSpPr>
            <p:spPr>
              <a:xfrm>
                <a:off x="4522" y="212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54"/>
              <p:cNvSpPr/>
              <p:nvPr/>
            </p:nvSpPr>
            <p:spPr>
              <a:xfrm>
                <a:off x="4534" y="209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54"/>
              <p:cNvSpPr/>
              <p:nvPr/>
            </p:nvSpPr>
            <p:spPr>
              <a:xfrm>
                <a:off x="4540" y="205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54"/>
              <p:cNvSpPr/>
              <p:nvPr/>
            </p:nvSpPr>
            <p:spPr>
              <a:xfrm>
                <a:off x="4552" y="2024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54"/>
              <p:cNvSpPr/>
              <p:nvPr/>
            </p:nvSpPr>
            <p:spPr>
              <a:xfrm>
                <a:off x="4558" y="198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54"/>
              <p:cNvSpPr/>
              <p:nvPr/>
            </p:nvSpPr>
            <p:spPr>
              <a:xfrm>
                <a:off x="4564" y="197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54"/>
              <p:cNvSpPr/>
              <p:nvPr/>
            </p:nvSpPr>
            <p:spPr>
              <a:xfrm>
                <a:off x="4582" y="200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54"/>
              <p:cNvSpPr/>
              <p:nvPr/>
            </p:nvSpPr>
            <p:spPr>
              <a:xfrm>
                <a:off x="4594" y="203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54"/>
              <p:cNvSpPr/>
              <p:nvPr/>
            </p:nvSpPr>
            <p:spPr>
              <a:xfrm>
                <a:off x="4612" y="206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54"/>
              <p:cNvSpPr/>
              <p:nvPr/>
            </p:nvSpPr>
            <p:spPr>
              <a:xfrm>
                <a:off x="4630" y="210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54"/>
              <p:cNvSpPr/>
              <p:nvPr/>
            </p:nvSpPr>
            <p:spPr>
              <a:xfrm>
                <a:off x="4642" y="213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54"/>
              <p:cNvSpPr/>
              <p:nvPr/>
            </p:nvSpPr>
            <p:spPr>
              <a:xfrm>
                <a:off x="4654" y="2168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54"/>
              <p:cNvSpPr/>
              <p:nvPr/>
            </p:nvSpPr>
            <p:spPr>
              <a:xfrm>
                <a:off x="4678" y="219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54"/>
              <p:cNvSpPr/>
              <p:nvPr/>
            </p:nvSpPr>
            <p:spPr>
              <a:xfrm>
                <a:off x="4684" y="223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54"/>
              <p:cNvSpPr/>
              <p:nvPr/>
            </p:nvSpPr>
            <p:spPr>
              <a:xfrm>
                <a:off x="4708" y="226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54"/>
              <p:cNvSpPr/>
              <p:nvPr/>
            </p:nvSpPr>
            <p:spPr>
              <a:xfrm>
                <a:off x="4726" y="229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54"/>
              <p:cNvSpPr/>
              <p:nvPr/>
            </p:nvSpPr>
            <p:spPr>
              <a:xfrm>
                <a:off x="4738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54"/>
              <p:cNvSpPr/>
              <p:nvPr/>
            </p:nvSpPr>
            <p:spPr>
              <a:xfrm>
                <a:off x="4774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54"/>
              <p:cNvSpPr/>
              <p:nvPr/>
            </p:nvSpPr>
            <p:spPr>
              <a:xfrm>
                <a:off x="4810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54"/>
              <p:cNvSpPr/>
              <p:nvPr/>
            </p:nvSpPr>
            <p:spPr>
              <a:xfrm>
                <a:off x="4846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54"/>
              <p:cNvSpPr/>
              <p:nvPr/>
            </p:nvSpPr>
            <p:spPr>
              <a:xfrm>
                <a:off x="4882" y="2324"/>
                <a:ext cx="12" cy="6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54"/>
              <p:cNvSpPr/>
              <p:nvPr/>
            </p:nvSpPr>
            <p:spPr>
              <a:xfrm>
                <a:off x="4912" y="231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54"/>
              <p:cNvSpPr/>
              <p:nvPr/>
            </p:nvSpPr>
            <p:spPr>
              <a:xfrm>
                <a:off x="4924" y="227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54"/>
              <p:cNvSpPr/>
              <p:nvPr/>
            </p:nvSpPr>
            <p:spPr>
              <a:xfrm>
                <a:off x="4936" y="224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54"/>
              <p:cNvSpPr/>
              <p:nvPr/>
            </p:nvSpPr>
            <p:spPr>
              <a:xfrm>
                <a:off x="4948" y="221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54"/>
              <p:cNvSpPr/>
              <p:nvPr/>
            </p:nvSpPr>
            <p:spPr>
              <a:xfrm>
                <a:off x="4960" y="217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54"/>
              <p:cNvSpPr/>
              <p:nvPr/>
            </p:nvSpPr>
            <p:spPr>
              <a:xfrm>
                <a:off x="4966" y="214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6" y="0"/>
                    </a:lnTo>
                    <a:lnTo>
                      <a:pt x="18" y="6"/>
                    </a:lnTo>
                    <a:lnTo>
                      <a:pt x="1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54"/>
              <p:cNvSpPr/>
              <p:nvPr/>
            </p:nvSpPr>
            <p:spPr>
              <a:xfrm>
                <a:off x="4984" y="210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4996" y="207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5008" y="203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5020" y="200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54"/>
              <p:cNvSpPr/>
              <p:nvPr/>
            </p:nvSpPr>
            <p:spPr>
              <a:xfrm>
                <a:off x="5032" y="197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54"/>
              <p:cNvSpPr/>
              <p:nvPr/>
            </p:nvSpPr>
            <p:spPr>
              <a:xfrm>
                <a:off x="5050" y="194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54"/>
              <p:cNvSpPr/>
              <p:nvPr/>
            </p:nvSpPr>
            <p:spPr>
              <a:xfrm>
                <a:off x="5062" y="1910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54"/>
              <p:cNvSpPr/>
              <p:nvPr/>
            </p:nvSpPr>
            <p:spPr>
              <a:xfrm>
                <a:off x="5074" y="1874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54"/>
              <p:cNvSpPr/>
              <p:nvPr/>
            </p:nvSpPr>
            <p:spPr>
              <a:xfrm>
                <a:off x="5080" y="185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54"/>
              <p:cNvSpPr/>
              <p:nvPr/>
            </p:nvSpPr>
            <p:spPr>
              <a:xfrm>
                <a:off x="5092" y="189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54"/>
              <p:cNvSpPr/>
              <p:nvPr/>
            </p:nvSpPr>
            <p:spPr>
              <a:xfrm>
                <a:off x="5104" y="192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54"/>
              <p:cNvSpPr/>
              <p:nvPr/>
            </p:nvSpPr>
            <p:spPr>
              <a:xfrm>
                <a:off x="5116" y="195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54"/>
              <p:cNvSpPr/>
              <p:nvPr/>
            </p:nvSpPr>
            <p:spPr>
              <a:xfrm>
                <a:off x="5122" y="1994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0"/>
                    </a:moveTo>
                    <a:lnTo>
                      <a:pt x="6" y="6"/>
                    </a:lnTo>
                    <a:lnTo>
                      <a:pt x="18" y="12"/>
                    </a:lnTo>
                    <a:lnTo>
                      <a:pt x="12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54"/>
              <p:cNvSpPr/>
              <p:nvPr/>
            </p:nvSpPr>
            <p:spPr>
              <a:xfrm>
                <a:off x="5140" y="202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54"/>
              <p:cNvSpPr/>
              <p:nvPr/>
            </p:nvSpPr>
            <p:spPr>
              <a:xfrm>
                <a:off x="5158" y="206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54"/>
              <p:cNvSpPr/>
              <p:nvPr/>
            </p:nvSpPr>
            <p:spPr>
              <a:xfrm>
                <a:off x="5170" y="2096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54"/>
              <p:cNvSpPr/>
              <p:nvPr/>
            </p:nvSpPr>
            <p:spPr>
              <a:xfrm>
                <a:off x="5182" y="2132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54"/>
              <p:cNvSpPr/>
              <p:nvPr/>
            </p:nvSpPr>
            <p:spPr>
              <a:xfrm>
                <a:off x="5194" y="216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54"/>
              <p:cNvSpPr/>
              <p:nvPr/>
            </p:nvSpPr>
            <p:spPr>
              <a:xfrm>
                <a:off x="5206" y="219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54"/>
              <p:cNvSpPr/>
              <p:nvPr/>
            </p:nvSpPr>
            <p:spPr>
              <a:xfrm>
                <a:off x="5218" y="2228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54"/>
              <p:cNvSpPr/>
              <p:nvPr/>
            </p:nvSpPr>
            <p:spPr>
              <a:xfrm>
                <a:off x="5230" y="226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54"/>
              <p:cNvSpPr/>
              <p:nvPr/>
            </p:nvSpPr>
            <p:spPr>
              <a:xfrm>
                <a:off x="5242" y="229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0"/>
                    </a:moveTo>
                    <a:lnTo>
                      <a:pt x="6" y="12"/>
                    </a:lnTo>
                    <a:lnTo>
                      <a:pt x="12" y="18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5254" y="2312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5266" y="227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5278" y="2246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5290" y="2210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54"/>
              <p:cNvSpPr/>
              <p:nvPr/>
            </p:nvSpPr>
            <p:spPr>
              <a:xfrm>
                <a:off x="5296" y="2180"/>
                <a:ext cx="18" cy="12"/>
              </a:xfrm>
              <a:custGeom>
                <a:rect b="b" l="l" r="r" t="t"/>
                <a:pathLst>
                  <a:path extrusionOk="0" h="12" w="18">
                    <a:moveTo>
                      <a:pt x="0" y="6"/>
                    </a:moveTo>
                    <a:lnTo>
                      <a:pt x="6" y="0"/>
                    </a:lnTo>
                    <a:lnTo>
                      <a:pt x="18" y="6"/>
                    </a:lnTo>
                    <a:lnTo>
                      <a:pt x="1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54"/>
              <p:cNvSpPr/>
              <p:nvPr/>
            </p:nvSpPr>
            <p:spPr>
              <a:xfrm>
                <a:off x="5314" y="2144"/>
                <a:ext cx="12" cy="18"/>
              </a:xfrm>
              <a:custGeom>
                <a:rect b="b" l="l" r="r" t="t"/>
                <a:pathLst>
                  <a:path extrusionOk="0" h="18" w="12">
                    <a:moveTo>
                      <a:pt x="0" y="12"/>
                    </a:moveTo>
                    <a:lnTo>
                      <a:pt x="6" y="0"/>
                    </a:lnTo>
                    <a:lnTo>
                      <a:pt x="12" y="6"/>
                    </a:lnTo>
                    <a:lnTo>
                      <a:pt x="6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54"/>
              <p:cNvSpPr/>
              <p:nvPr/>
            </p:nvSpPr>
            <p:spPr>
              <a:xfrm>
                <a:off x="5332" y="2114"/>
                <a:ext cx="6" cy="12"/>
              </a:xfrm>
              <a:prstGeom prst="rect">
                <a:avLst/>
              </a:prstGeom>
              <a:solidFill>
                <a:srgbClr val="000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" name="Google Shape;925;p54"/>
            <p:cNvSpPr/>
            <p:nvPr/>
          </p:nvSpPr>
          <p:spPr>
            <a:xfrm>
              <a:off x="5368" y="1946"/>
              <a:ext cx="6" cy="10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4"/>
            <p:cNvSpPr/>
            <p:nvPr/>
          </p:nvSpPr>
          <p:spPr>
            <a:xfrm>
              <a:off x="5379" y="1914"/>
              <a:ext cx="5" cy="10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4"/>
            <p:cNvSpPr/>
            <p:nvPr/>
          </p:nvSpPr>
          <p:spPr>
            <a:xfrm>
              <a:off x="5390" y="1877"/>
              <a:ext cx="10" cy="16"/>
            </a:xfrm>
            <a:custGeom>
              <a:rect b="b" l="l" r="r" t="t"/>
              <a:pathLst>
                <a:path extrusionOk="0" h="18" w="12">
                  <a:moveTo>
                    <a:pt x="0" y="12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4"/>
            <p:cNvSpPr/>
            <p:nvPr/>
          </p:nvSpPr>
          <p:spPr>
            <a:xfrm>
              <a:off x="5400" y="1850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12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4"/>
            <p:cNvSpPr/>
            <p:nvPr/>
          </p:nvSpPr>
          <p:spPr>
            <a:xfrm>
              <a:off x="5411" y="1819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12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4"/>
            <p:cNvSpPr/>
            <p:nvPr/>
          </p:nvSpPr>
          <p:spPr>
            <a:xfrm>
              <a:off x="5422" y="1787"/>
              <a:ext cx="10" cy="16"/>
            </a:xfrm>
            <a:custGeom>
              <a:rect b="b" l="l" r="r" t="t"/>
              <a:pathLst>
                <a:path extrusionOk="0" h="18" w="12">
                  <a:moveTo>
                    <a:pt x="0" y="12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5432" y="1760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12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6" y="1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3460" y="2146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4"/>
            <p:cNvSpPr/>
            <p:nvPr/>
          </p:nvSpPr>
          <p:spPr>
            <a:xfrm>
              <a:off x="3471" y="2178"/>
              <a:ext cx="10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4"/>
            <p:cNvSpPr/>
            <p:nvPr/>
          </p:nvSpPr>
          <p:spPr>
            <a:xfrm>
              <a:off x="3481" y="2205"/>
              <a:ext cx="11" cy="15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4"/>
            <p:cNvSpPr/>
            <p:nvPr/>
          </p:nvSpPr>
          <p:spPr>
            <a:xfrm>
              <a:off x="3492" y="2236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3497" y="2268"/>
              <a:ext cx="16" cy="11"/>
            </a:xfrm>
            <a:custGeom>
              <a:rect b="b" l="l" r="r" t="t"/>
              <a:pathLst>
                <a:path extrusionOk="0" h="12" w="18">
                  <a:moveTo>
                    <a:pt x="0" y="0"/>
                  </a:moveTo>
                  <a:lnTo>
                    <a:pt x="6" y="6"/>
                  </a:lnTo>
                  <a:lnTo>
                    <a:pt x="18" y="12"/>
                  </a:lnTo>
                  <a:lnTo>
                    <a:pt x="1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3519" y="2300"/>
              <a:ext cx="5" cy="10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4"/>
            <p:cNvSpPr/>
            <p:nvPr/>
          </p:nvSpPr>
          <p:spPr>
            <a:xfrm>
              <a:off x="3529" y="2331"/>
              <a:ext cx="5" cy="11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4"/>
            <p:cNvSpPr/>
            <p:nvPr/>
          </p:nvSpPr>
          <p:spPr>
            <a:xfrm>
              <a:off x="3540" y="2353"/>
              <a:ext cx="10" cy="15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4"/>
            <p:cNvSpPr/>
            <p:nvPr/>
          </p:nvSpPr>
          <p:spPr>
            <a:xfrm>
              <a:off x="3550" y="2384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4"/>
            <p:cNvSpPr/>
            <p:nvPr/>
          </p:nvSpPr>
          <p:spPr>
            <a:xfrm>
              <a:off x="3561" y="2416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3572" y="2442"/>
              <a:ext cx="10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3582" y="2474"/>
              <a:ext cx="11" cy="16"/>
            </a:xfrm>
            <a:custGeom>
              <a:rect b="b" l="l" r="r" t="t"/>
              <a:pathLst>
                <a:path extrusionOk="0" h="18" w="12">
                  <a:moveTo>
                    <a:pt x="0" y="0"/>
                  </a:moveTo>
                  <a:lnTo>
                    <a:pt x="6" y="12"/>
                  </a:lnTo>
                  <a:lnTo>
                    <a:pt x="12" y="18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4"/>
            <p:cNvSpPr/>
            <p:nvPr/>
          </p:nvSpPr>
          <p:spPr>
            <a:xfrm>
              <a:off x="3588" y="2506"/>
              <a:ext cx="16" cy="10"/>
            </a:xfrm>
            <a:custGeom>
              <a:rect b="b" l="l" r="r" t="t"/>
              <a:pathLst>
                <a:path extrusionOk="0" h="12" w="18">
                  <a:moveTo>
                    <a:pt x="0" y="0"/>
                  </a:moveTo>
                  <a:lnTo>
                    <a:pt x="6" y="6"/>
                  </a:lnTo>
                  <a:lnTo>
                    <a:pt x="18" y="12"/>
                  </a:lnTo>
                  <a:lnTo>
                    <a:pt x="1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4"/>
            <p:cNvSpPr/>
            <p:nvPr/>
          </p:nvSpPr>
          <p:spPr>
            <a:xfrm>
              <a:off x="3609" y="2538"/>
              <a:ext cx="5" cy="10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4"/>
            <p:cNvSpPr/>
            <p:nvPr/>
          </p:nvSpPr>
          <p:spPr>
            <a:xfrm>
              <a:off x="3614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4"/>
            <p:cNvSpPr/>
            <p:nvPr/>
          </p:nvSpPr>
          <p:spPr>
            <a:xfrm>
              <a:off x="3646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4"/>
            <p:cNvSpPr/>
            <p:nvPr/>
          </p:nvSpPr>
          <p:spPr>
            <a:xfrm>
              <a:off x="3678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4"/>
            <p:cNvSpPr/>
            <p:nvPr/>
          </p:nvSpPr>
          <p:spPr>
            <a:xfrm>
              <a:off x="3710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4"/>
            <p:cNvSpPr/>
            <p:nvPr/>
          </p:nvSpPr>
          <p:spPr>
            <a:xfrm>
              <a:off x="3742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4"/>
            <p:cNvSpPr/>
            <p:nvPr/>
          </p:nvSpPr>
          <p:spPr>
            <a:xfrm>
              <a:off x="3768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4"/>
            <p:cNvSpPr/>
            <p:nvPr/>
          </p:nvSpPr>
          <p:spPr>
            <a:xfrm>
              <a:off x="3800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4"/>
            <p:cNvSpPr/>
            <p:nvPr/>
          </p:nvSpPr>
          <p:spPr>
            <a:xfrm>
              <a:off x="3832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4"/>
            <p:cNvSpPr/>
            <p:nvPr/>
          </p:nvSpPr>
          <p:spPr>
            <a:xfrm>
              <a:off x="3864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4"/>
            <p:cNvSpPr/>
            <p:nvPr/>
          </p:nvSpPr>
          <p:spPr>
            <a:xfrm>
              <a:off x="3896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4"/>
            <p:cNvSpPr/>
            <p:nvPr/>
          </p:nvSpPr>
          <p:spPr>
            <a:xfrm>
              <a:off x="3917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4"/>
            <p:cNvSpPr/>
            <p:nvPr/>
          </p:nvSpPr>
          <p:spPr>
            <a:xfrm>
              <a:off x="3949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4"/>
            <p:cNvSpPr/>
            <p:nvPr/>
          </p:nvSpPr>
          <p:spPr>
            <a:xfrm>
              <a:off x="3981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4"/>
            <p:cNvSpPr/>
            <p:nvPr/>
          </p:nvSpPr>
          <p:spPr>
            <a:xfrm>
              <a:off x="4013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4"/>
            <p:cNvSpPr/>
            <p:nvPr/>
          </p:nvSpPr>
          <p:spPr>
            <a:xfrm>
              <a:off x="4045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4"/>
            <p:cNvSpPr/>
            <p:nvPr/>
          </p:nvSpPr>
          <p:spPr>
            <a:xfrm>
              <a:off x="4071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4"/>
            <p:cNvSpPr/>
            <p:nvPr/>
          </p:nvSpPr>
          <p:spPr>
            <a:xfrm>
              <a:off x="4103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4"/>
            <p:cNvSpPr/>
            <p:nvPr/>
          </p:nvSpPr>
          <p:spPr>
            <a:xfrm>
              <a:off x="4135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4"/>
            <p:cNvSpPr/>
            <p:nvPr/>
          </p:nvSpPr>
          <p:spPr>
            <a:xfrm>
              <a:off x="4167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4"/>
            <p:cNvSpPr/>
            <p:nvPr/>
          </p:nvSpPr>
          <p:spPr>
            <a:xfrm>
              <a:off x="4199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4"/>
            <p:cNvSpPr/>
            <p:nvPr/>
          </p:nvSpPr>
          <p:spPr>
            <a:xfrm>
              <a:off x="4225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4"/>
            <p:cNvSpPr/>
            <p:nvPr/>
          </p:nvSpPr>
          <p:spPr>
            <a:xfrm>
              <a:off x="4257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4"/>
            <p:cNvSpPr/>
            <p:nvPr/>
          </p:nvSpPr>
          <p:spPr>
            <a:xfrm>
              <a:off x="4289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4"/>
            <p:cNvSpPr/>
            <p:nvPr/>
          </p:nvSpPr>
          <p:spPr>
            <a:xfrm>
              <a:off x="4321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4"/>
            <p:cNvSpPr/>
            <p:nvPr/>
          </p:nvSpPr>
          <p:spPr>
            <a:xfrm>
              <a:off x="4353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4"/>
            <p:cNvSpPr/>
            <p:nvPr/>
          </p:nvSpPr>
          <p:spPr>
            <a:xfrm>
              <a:off x="4374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4"/>
            <p:cNvSpPr/>
            <p:nvPr/>
          </p:nvSpPr>
          <p:spPr>
            <a:xfrm>
              <a:off x="4406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4"/>
            <p:cNvSpPr/>
            <p:nvPr/>
          </p:nvSpPr>
          <p:spPr>
            <a:xfrm>
              <a:off x="4438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4"/>
            <p:cNvSpPr/>
            <p:nvPr/>
          </p:nvSpPr>
          <p:spPr>
            <a:xfrm>
              <a:off x="4470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4"/>
            <p:cNvSpPr/>
            <p:nvPr/>
          </p:nvSpPr>
          <p:spPr>
            <a:xfrm>
              <a:off x="4502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4"/>
            <p:cNvSpPr/>
            <p:nvPr/>
          </p:nvSpPr>
          <p:spPr>
            <a:xfrm>
              <a:off x="4528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4"/>
            <p:cNvSpPr/>
            <p:nvPr/>
          </p:nvSpPr>
          <p:spPr>
            <a:xfrm>
              <a:off x="4560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4"/>
            <p:cNvSpPr/>
            <p:nvPr/>
          </p:nvSpPr>
          <p:spPr>
            <a:xfrm>
              <a:off x="4592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4"/>
            <p:cNvSpPr/>
            <p:nvPr/>
          </p:nvSpPr>
          <p:spPr>
            <a:xfrm>
              <a:off x="4624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4"/>
            <p:cNvSpPr/>
            <p:nvPr/>
          </p:nvSpPr>
          <p:spPr>
            <a:xfrm>
              <a:off x="4656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4"/>
            <p:cNvSpPr/>
            <p:nvPr/>
          </p:nvSpPr>
          <p:spPr>
            <a:xfrm>
              <a:off x="4677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4"/>
            <p:cNvSpPr/>
            <p:nvPr/>
          </p:nvSpPr>
          <p:spPr>
            <a:xfrm>
              <a:off x="4709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4"/>
            <p:cNvSpPr/>
            <p:nvPr/>
          </p:nvSpPr>
          <p:spPr>
            <a:xfrm>
              <a:off x="4741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4"/>
            <p:cNvSpPr/>
            <p:nvPr/>
          </p:nvSpPr>
          <p:spPr>
            <a:xfrm>
              <a:off x="4773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4"/>
            <p:cNvSpPr/>
            <p:nvPr/>
          </p:nvSpPr>
          <p:spPr>
            <a:xfrm>
              <a:off x="4805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4"/>
            <p:cNvSpPr/>
            <p:nvPr/>
          </p:nvSpPr>
          <p:spPr>
            <a:xfrm>
              <a:off x="4831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4"/>
            <p:cNvSpPr/>
            <p:nvPr/>
          </p:nvSpPr>
          <p:spPr>
            <a:xfrm>
              <a:off x="4863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4"/>
            <p:cNvSpPr/>
            <p:nvPr/>
          </p:nvSpPr>
          <p:spPr>
            <a:xfrm>
              <a:off x="4895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4"/>
            <p:cNvSpPr/>
            <p:nvPr/>
          </p:nvSpPr>
          <p:spPr>
            <a:xfrm>
              <a:off x="4927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4"/>
            <p:cNvSpPr/>
            <p:nvPr/>
          </p:nvSpPr>
          <p:spPr>
            <a:xfrm>
              <a:off x="4959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4"/>
            <p:cNvSpPr/>
            <p:nvPr/>
          </p:nvSpPr>
          <p:spPr>
            <a:xfrm>
              <a:off x="4986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4"/>
            <p:cNvSpPr/>
            <p:nvPr/>
          </p:nvSpPr>
          <p:spPr>
            <a:xfrm>
              <a:off x="5018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4"/>
            <p:cNvSpPr/>
            <p:nvPr/>
          </p:nvSpPr>
          <p:spPr>
            <a:xfrm>
              <a:off x="5049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4"/>
            <p:cNvSpPr/>
            <p:nvPr/>
          </p:nvSpPr>
          <p:spPr>
            <a:xfrm>
              <a:off x="5081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4"/>
            <p:cNvSpPr/>
            <p:nvPr/>
          </p:nvSpPr>
          <p:spPr>
            <a:xfrm>
              <a:off x="5113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4"/>
            <p:cNvSpPr/>
            <p:nvPr/>
          </p:nvSpPr>
          <p:spPr>
            <a:xfrm>
              <a:off x="5134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4"/>
            <p:cNvSpPr/>
            <p:nvPr/>
          </p:nvSpPr>
          <p:spPr>
            <a:xfrm>
              <a:off x="5166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4"/>
            <p:cNvSpPr/>
            <p:nvPr/>
          </p:nvSpPr>
          <p:spPr>
            <a:xfrm>
              <a:off x="5198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4"/>
            <p:cNvSpPr/>
            <p:nvPr/>
          </p:nvSpPr>
          <p:spPr>
            <a:xfrm>
              <a:off x="5230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4"/>
            <p:cNvSpPr/>
            <p:nvPr/>
          </p:nvSpPr>
          <p:spPr>
            <a:xfrm>
              <a:off x="5262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4"/>
            <p:cNvSpPr/>
            <p:nvPr/>
          </p:nvSpPr>
          <p:spPr>
            <a:xfrm>
              <a:off x="5289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4"/>
            <p:cNvSpPr/>
            <p:nvPr/>
          </p:nvSpPr>
          <p:spPr>
            <a:xfrm>
              <a:off x="5321" y="2553"/>
              <a:ext cx="10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4"/>
            <p:cNvSpPr/>
            <p:nvPr/>
          </p:nvSpPr>
          <p:spPr>
            <a:xfrm>
              <a:off x="5352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4"/>
            <p:cNvSpPr/>
            <p:nvPr/>
          </p:nvSpPr>
          <p:spPr>
            <a:xfrm>
              <a:off x="5384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4"/>
            <p:cNvSpPr/>
            <p:nvPr/>
          </p:nvSpPr>
          <p:spPr>
            <a:xfrm>
              <a:off x="5416" y="2553"/>
              <a:ext cx="11" cy="6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4"/>
            <p:cNvSpPr/>
            <p:nvPr/>
          </p:nvSpPr>
          <p:spPr>
            <a:xfrm>
              <a:off x="3444" y="1602"/>
              <a:ext cx="27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4"/>
            <p:cNvSpPr/>
            <p:nvPr/>
          </p:nvSpPr>
          <p:spPr>
            <a:xfrm>
              <a:off x="3598" y="1618"/>
              <a:ext cx="27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4"/>
            <p:cNvSpPr/>
            <p:nvPr/>
          </p:nvSpPr>
          <p:spPr>
            <a:xfrm>
              <a:off x="3752" y="2078"/>
              <a:ext cx="27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4"/>
            <p:cNvSpPr/>
            <p:nvPr/>
          </p:nvSpPr>
          <p:spPr>
            <a:xfrm>
              <a:off x="3901" y="1882"/>
              <a:ext cx="27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4"/>
            <p:cNvSpPr/>
            <p:nvPr/>
          </p:nvSpPr>
          <p:spPr>
            <a:xfrm>
              <a:off x="4055" y="1850"/>
              <a:ext cx="27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4"/>
            <p:cNvSpPr/>
            <p:nvPr/>
          </p:nvSpPr>
          <p:spPr>
            <a:xfrm>
              <a:off x="4210" y="2046"/>
              <a:ext cx="26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4"/>
            <p:cNvSpPr/>
            <p:nvPr/>
          </p:nvSpPr>
          <p:spPr>
            <a:xfrm>
              <a:off x="4358" y="2109"/>
              <a:ext cx="27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4"/>
            <p:cNvSpPr/>
            <p:nvPr/>
          </p:nvSpPr>
          <p:spPr>
            <a:xfrm>
              <a:off x="4513" y="2273"/>
              <a:ext cx="26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4"/>
            <p:cNvSpPr/>
            <p:nvPr/>
          </p:nvSpPr>
          <p:spPr>
            <a:xfrm>
              <a:off x="4661" y="2025"/>
              <a:ext cx="27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4"/>
            <p:cNvSpPr/>
            <p:nvPr/>
          </p:nvSpPr>
          <p:spPr>
            <a:xfrm>
              <a:off x="4816" y="2014"/>
              <a:ext cx="26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4"/>
            <p:cNvSpPr/>
            <p:nvPr/>
          </p:nvSpPr>
          <p:spPr>
            <a:xfrm>
              <a:off x="4970" y="1935"/>
              <a:ext cx="26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4"/>
            <p:cNvSpPr/>
            <p:nvPr/>
          </p:nvSpPr>
          <p:spPr>
            <a:xfrm>
              <a:off x="5119" y="1998"/>
              <a:ext cx="26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4"/>
            <p:cNvSpPr/>
            <p:nvPr/>
          </p:nvSpPr>
          <p:spPr>
            <a:xfrm>
              <a:off x="5273" y="1930"/>
              <a:ext cx="26" cy="26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4"/>
            <p:cNvSpPr/>
            <p:nvPr/>
          </p:nvSpPr>
          <p:spPr>
            <a:xfrm>
              <a:off x="5427" y="1739"/>
              <a:ext cx="26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4"/>
            <p:cNvSpPr/>
            <p:nvPr/>
          </p:nvSpPr>
          <p:spPr>
            <a:xfrm>
              <a:off x="3444" y="1739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4"/>
            <p:cNvSpPr/>
            <p:nvPr/>
          </p:nvSpPr>
          <p:spPr>
            <a:xfrm>
              <a:off x="3598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4"/>
            <p:cNvSpPr/>
            <p:nvPr/>
          </p:nvSpPr>
          <p:spPr>
            <a:xfrm>
              <a:off x="3752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4"/>
            <p:cNvSpPr/>
            <p:nvPr/>
          </p:nvSpPr>
          <p:spPr>
            <a:xfrm>
              <a:off x="3901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4"/>
            <p:cNvSpPr/>
            <p:nvPr/>
          </p:nvSpPr>
          <p:spPr>
            <a:xfrm>
              <a:off x="4055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4"/>
            <p:cNvSpPr/>
            <p:nvPr/>
          </p:nvSpPr>
          <p:spPr>
            <a:xfrm>
              <a:off x="4210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4"/>
            <p:cNvSpPr/>
            <p:nvPr/>
          </p:nvSpPr>
          <p:spPr>
            <a:xfrm>
              <a:off x="4358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4"/>
            <p:cNvSpPr/>
            <p:nvPr/>
          </p:nvSpPr>
          <p:spPr>
            <a:xfrm>
              <a:off x="4513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4"/>
            <p:cNvSpPr/>
            <p:nvPr/>
          </p:nvSpPr>
          <p:spPr>
            <a:xfrm>
              <a:off x="4661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4"/>
            <p:cNvSpPr/>
            <p:nvPr/>
          </p:nvSpPr>
          <p:spPr>
            <a:xfrm>
              <a:off x="4816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4"/>
            <p:cNvSpPr/>
            <p:nvPr/>
          </p:nvSpPr>
          <p:spPr>
            <a:xfrm>
              <a:off x="4970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4"/>
            <p:cNvSpPr/>
            <p:nvPr/>
          </p:nvSpPr>
          <p:spPr>
            <a:xfrm>
              <a:off x="5119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4"/>
            <p:cNvSpPr/>
            <p:nvPr/>
          </p:nvSpPr>
          <p:spPr>
            <a:xfrm>
              <a:off x="5273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4"/>
            <p:cNvSpPr/>
            <p:nvPr/>
          </p:nvSpPr>
          <p:spPr>
            <a:xfrm>
              <a:off x="5427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4"/>
            <p:cNvSpPr/>
            <p:nvPr/>
          </p:nvSpPr>
          <p:spPr>
            <a:xfrm>
              <a:off x="3444" y="1343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4"/>
            <p:cNvSpPr/>
            <p:nvPr/>
          </p:nvSpPr>
          <p:spPr>
            <a:xfrm>
              <a:off x="3598" y="1739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4"/>
            <p:cNvSpPr/>
            <p:nvPr/>
          </p:nvSpPr>
          <p:spPr>
            <a:xfrm>
              <a:off x="3752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4"/>
            <p:cNvSpPr/>
            <p:nvPr/>
          </p:nvSpPr>
          <p:spPr>
            <a:xfrm>
              <a:off x="3901" y="1739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4"/>
            <p:cNvSpPr/>
            <p:nvPr/>
          </p:nvSpPr>
          <p:spPr>
            <a:xfrm>
              <a:off x="4055" y="2041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4"/>
            <p:cNvSpPr/>
            <p:nvPr/>
          </p:nvSpPr>
          <p:spPr>
            <a:xfrm>
              <a:off x="4210" y="2141"/>
              <a:ext cx="31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4"/>
            <p:cNvSpPr/>
            <p:nvPr/>
          </p:nvSpPr>
          <p:spPr>
            <a:xfrm>
              <a:off x="4358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4"/>
            <p:cNvSpPr/>
            <p:nvPr/>
          </p:nvSpPr>
          <p:spPr>
            <a:xfrm>
              <a:off x="4513" y="2437"/>
              <a:ext cx="31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4661" y="1840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4816" y="2141"/>
              <a:ext cx="31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4970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4"/>
            <p:cNvSpPr/>
            <p:nvPr/>
          </p:nvSpPr>
          <p:spPr>
            <a:xfrm>
              <a:off x="5119" y="1739"/>
              <a:ext cx="31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4"/>
            <p:cNvSpPr/>
            <p:nvPr/>
          </p:nvSpPr>
          <p:spPr>
            <a:xfrm>
              <a:off x="5273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4"/>
            <p:cNvSpPr/>
            <p:nvPr/>
          </p:nvSpPr>
          <p:spPr>
            <a:xfrm>
              <a:off x="5427" y="1739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4"/>
            <p:cNvSpPr/>
            <p:nvPr/>
          </p:nvSpPr>
          <p:spPr>
            <a:xfrm>
              <a:off x="3444" y="2141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4"/>
            <p:cNvSpPr/>
            <p:nvPr/>
          </p:nvSpPr>
          <p:spPr>
            <a:xfrm>
              <a:off x="3598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3752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3901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4"/>
            <p:cNvSpPr/>
            <p:nvPr/>
          </p:nvSpPr>
          <p:spPr>
            <a:xfrm>
              <a:off x="4055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4"/>
            <p:cNvSpPr/>
            <p:nvPr/>
          </p:nvSpPr>
          <p:spPr>
            <a:xfrm>
              <a:off x="4210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4"/>
            <p:cNvSpPr/>
            <p:nvPr/>
          </p:nvSpPr>
          <p:spPr>
            <a:xfrm>
              <a:off x="4358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4"/>
            <p:cNvSpPr/>
            <p:nvPr/>
          </p:nvSpPr>
          <p:spPr>
            <a:xfrm>
              <a:off x="4513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4"/>
            <p:cNvSpPr/>
            <p:nvPr/>
          </p:nvSpPr>
          <p:spPr>
            <a:xfrm>
              <a:off x="4661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4"/>
            <p:cNvSpPr/>
            <p:nvPr/>
          </p:nvSpPr>
          <p:spPr>
            <a:xfrm>
              <a:off x="4816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4"/>
            <p:cNvSpPr/>
            <p:nvPr/>
          </p:nvSpPr>
          <p:spPr>
            <a:xfrm>
              <a:off x="4970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4"/>
            <p:cNvSpPr/>
            <p:nvPr/>
          </p:nvSpPr>
          <p:spPr>
            <a:xfrm>
              <a:off x="5119" y="2538"/>
              <a:ext cx="31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4"/>
            <p:cNvSpPr/>
            <p:nvPr/>
          </p:nvSpPr>
          <p:spPr>
            <a:xfrm>
              <a:off x="5273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4"/>
            <p:cNvSpPr/>
            <p:nvPr/>
          </p:nvSpPr>
          <p:spPr>
            <a:xfrm>
              <a:off x="5427" y="2538"/>
              <a:ext cx="32" cy="31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4"/>
            <p:cNvSpPr/>
            <p:nvPr/>
          </p:nvSpPr>
          <p:spPr>
            <a:xfrm>
              <a:off x="3678" y="983"/>
              <a:ext cx="196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New contacts made, Level 2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4"/>
            <p:cNvSpPr/>
            <p:nvPr/>
          </p:nvSpPr>
          <p:spPr>
            <a:xfrm>
              <a:off x="3158" y="2511"/>
              <a:ext cx="19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0.0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4"/>
            <p:cNvSpPr/>
            <p:nvPr/>
          </p:nvSpPr>
          <p:spPr>
            <a:xfrm>
              <a:off x="3158" y="2310"/>
              <a:ext cx="192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0.5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4"/>
            <p:cNvSpPr/>
            <p:nvPr/>
          </p:nvSpPr>
          <p:spPr>
            <a:xfrm>
              <a:off x="3158" y="2115"/>
              <a:ext cx="192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1.0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4"/>
            <p:cNvSpPr/>
            <p:nvPr/>
          </p:nvSpPr>
          <p:spPr>
            <a:xfrm>
              <a:off x="3158" y="1914"/>
              <a:ext cx="19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1.5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4"/>
            <p:cNvSpPr/>
            <p:nvPr/>
          </p:nvSpPr>
          <p:spPr>
            <a:xfrm>
              <a:off x="3158" y="1712"/>
              <a:ext cx="192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2.0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4"/>
            <p:cNvSpPr/>
            <p:nvPr/>
          </p:nvSpPr>
          <p:spPr>
            <a:xfrm>
              <a:off x="3158" y="1512"/>
              <a:ext cx="192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2.5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4"/>
            <p:cNvSpPr/>
            <p:nvPr/>
          </p:nvSpPr>
          <p:spPr>
            <a:xfrm>
              <a:off x="3158" y="1316"/>
              <a:ext cx="19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3.0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4"/>
            <p:cNvSpPr/>
            <p:nvPr/>
          </p:nvSpPr>
          <p:spPr>
            <a:xfrm>
              <a:off x="3158" y="1116"/>
              <a:ext cx="19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3.5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4"/>
            <p:cNvSpPr/>
            <p:nvPr/>
          </p:nvSpPr>
          <p:spPr>
            <a:xfrm>
              <a:off x="3439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4"/>
            <p:cNvSpPr/>
            <p:nvPr/>
          </p:nvSpPr>
          <p:spPr>
            <a:xfrm>
              <a:off x="3593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4"/>
            <p:cNvSpPr/>
            <p:nvPr/>
          </p:nvSpPr>
          <p:spPr>
            <a:xfrm>
              <a:off x="3747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4"/>
            <p:cNvSpPr/>
            <p:nvPr/>
          </p:nvSpPr>
          <p:spPr>
            <a:xfrm>
              <a:off x="3896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4"/>
            <p:cNvSpPr/>
            <p:nvPr/>
          </p:nvSpPr>
          <p:spPr>
            <a:xfrm>
              <a:off x="4050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4"/>
            <p:cNvSpPr/>
            <p:nvPr/>
          </p:nvSpPr>
          <p:spPr>
            <a:xfrm>
              <a:off x="4204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4"/>
            <p:cNvSpPr/>
            <p:nvPr/>
          </p:nvSpPr>
          <p:spPr>
            <a:xfrm>
              <a:off x="4353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4"/>
            <p:cNvSpPr/>
            <p:nvPr/>
          </p:nvSpPr>
          <p:spPr>
            <a:xfrm>
              <a:off x="4507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4"/>
            <p:cNvSpPr/>
            <p:nvPr/>
          </p:nvSpPr>
          <p:spPr>
            <a:xfrm>
              <a:off x="4656" y="2627"/>
              <a:ext cx="82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4"/>
            <p:cNvSpPr/>
            <p:nvPr/>
          </p:nvSpPr>
          <p:spPr>
            <a:xfrm>
              <a:off x="4784" y="2627"/>
              <a:ext cx="164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4"/>
            <p:cNvSpPr/>
            <p:nvPr/>
          </p:nvSpPr>
          <p:spPr>
            <a:xfrm>
              <a:off x="4939" y="2627"/>
              <a:ext cx="163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4"/>
            <p:cNvSpPr/>
            <p:nvPr/>
          </p:nvSpPr>
          <p:spPr>
            <a:xfrm>
              <a:off x="5087" y="2627"/>
              <a:ext cx="164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4"/>
            <p:cNvSpPr/>
            <p:nvPr/>
          </p:nvSpPr>
          <p:spPr>
            <a:xfrm>
              <a:off x="5241" y="2627"/>
              <a:ext cx="163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4"/>
            <p:cNvSpPr/>
            <p:nvPr/>
          </p:nvSpPr>
          <p:spPr>
            <a:xfrm>
              <a:off x="5395" y="2627"/>
              <a:ext cx="164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4"/>
            <p:cNvSpPr/>
            <p:nvPr/>
          </p:nvSpPr>
          <p:spPr>
            <a:xfrm>
              <a:off x="3922" y="2796"/>
              <a:ext cx="1411" cy="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sampling occasions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4"/>
            <p:cNvSpPr/>
            <p:nvPr/>
          </p:nvSpPr>
          <p:spPr>
            <a:xfrm rot="-5400000">
              <a:off x="2222" y="1687"/>
              <a:ext cx="1675" cy="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number of new contacts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7" name="Google Shape;1087;p54"/>
            <p:cNvCxnSpPr/>
            <p:nvPr/>
          </p:nvCxnSpPr>
          <p:spPr>
            <a:xfrm>
              <a:off x="4059" y="1311"/>
              <a:ext cx="212" cy="1"/>
            </a:xfrm>
            <a:prstGeom prst="straightConnector1">
              <a:avLst/>
            </a:prstGeom>
            <a:noFill/>
            <a:ln cap="flat" cmpd="sng" w="9525">
              <a:solidFill>
                <a:srgbClr val="000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8" name="Google Shape;1088;p54"/>
            <p:cNvSpPr/>
            <p:nvPr/>
          </p:nvSpPr>
          <p:spPr>
            <a:xfrm>
              <a:off x="4149" y="1295"/>
              <a:ext cx="27" cy="27"/>
            </a:xfrm>
            <a:prstGeom prst="rect">
              <a:avLst/>
            </a:prstGeom>
            <a:solidFill>
              <a:srgbClr val="000080"/>
            </a:solidFill>
            <a:ln cap="flat" cmpd="sng" w="9525">
              <a:solidFill>
                <a:srgbClr val="0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4"/>
            <p:cNvSpPr/>
            <p:nvPr/>
          </p:nvSpPr>
          <p:spPr>
            <a:xfrm>
              <a:off x="4287" y="1264"/>
              <a:ext cx="322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0" name="Google Shape;1090;p54"/>
            <p:cNvCxnSpPr/>
            <p:nvPr/>
          </p:nvCxnSpPr>
          <p:spPr>
            <a:xfrm>
              <a:off x="4059" y="1422"/>
              <a:ext cx="212" cy="1"/>
            </a:xfrm>
            <a:prstGeom prst="straightConnector1">
              <a:avLst/>
            </a:prstGeom>
            <a:noFill/>
            <a:ln cap="flat" cmpd="sng" w="9525">
              <a:solidFill>
                <a:srgbClr val="33CCC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1" name="Google Shape;1091;p54"/>
            <p:cNvSpPr/>
            <p:nvPr/>
          </p:nvSpPr>
          <p:spPr>
            <a:xfrm>
              <a:off x="4149" y="1406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33CCCC"/>
            </a:solidFill>
            <a:ln cap="flat" cmpd="sng" w="9525">
              <a:solidFill>
                <a:srgbClr val="33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4"/>
            <p:cNvSpPr/>
            <p:nvPr/>
          </p:nvSpPr>
          <p:spPr>
            <a:xfrm>
              <a:off x="4287" y="1375"/>
              <a:ext cx="422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median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4"/>
            <p:cNvSpPr/>
            <p:nvPr/>
          </p:nvSpPr>
          <p:spPr>
            <a:xfrm>
              <a:off x="4059" y="1533"/>
              <a:ext cx="10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4"/>
            <p:cNvSpPr/>
            <p:nvPr/>
          </p:nvSpPr>
          <p:spPr>
            <a:xfrm>
              <a:off x="4091" y="1533"/>
              <a:ext cx="10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4"/>
            <p:cNvSpPr/>
            <p:nvPr/>
          </p:nvSpPr>
          <p:spPr>
            <a:xfrm>
              <a:off x="4122" y="1533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4"/>
            <p:cNvSpPr/>
            <p:nvPr/>
          </p:nvSpPr>
          <p:spPr>
            <a:xfrm>
              <a:off x="4154" y="1533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4"/>
            <p:cNvSpPr/>
            <p:nvPr/>
          </p:nvSpPr>
          <p:spPr>
            <a:xfrm>
              <a:off x="4186" y="1533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4"/>
            <p:cNvSpPr/>
            <p:nvPr/>
          </p:nvSpPr>
          <p:spPr>
            <a:xfrm>
              <a:off x="4218" y="1533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4"/>
            <p:cNvSpPr/>
            <p:nvPr/>
          </p:nvSpPr>
          <p:spPr>
            <a:xfrm>
              <a:off x="4250" y="1533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4"/>
            <p:cNvSpPr/>
            <p:nvPr/>
          </p:nvSpPr>
          <p:spPr>
            <a:xfrm>
              <a:off x="4149" y="1517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18"/>
                  </a:lnTo>
                  <a:lnTo>
                    <a:pt x="18" y="36"/>
                  </a:lnTo>
                  <a:lnTo>
                    <a:pt x="0" y="18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4"/>
            <p:cNvSpPr/>
            <p:nvPr/>
          </p:nvSpPr>
          <p:spPr>
            <a:xfrm>
              <a:off x="4287" y="1486"/>
              <a:ext cx="844" cy="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75th percentile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4"/>
            <p:cNvSpPr/>
            <p:nvPr/>
          </p:nvSpPr>
          <p:spPr>
            <a:xfrm>
              <a:off x="4059" y="1644"/>
              <a:ext cx="10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4"/>
            <p:cNvSpPr/>
            <p:nvPr/>
          </p:nvSpPr>
          <p:spPr>
            <a:xfrm>
              <a:off x="4091" y="1644"/>
              <a:ext cx="10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4"/>
            <p:cNvSpPr/>
            <p:nvPr/>
          </p:nvSpPr>
          <p:spPr>
            <a:xfrm>
              <a:off x="4122" y="1644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4"/>
            <p:cNvSpPr/>
            <p:nvPr/>
          </p:nvSpPr>
          <p:spPr>
            <a:xfrm>
              <a:off x="4154" y="1644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4"/>
            <p:cNvSpPr/>
            <p:nvPr/>
          </p:nvSpPr>
          <p:spPr>
            <a:xfrm>
              <a:off x="4186" y="1644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4"/>
            <p:cNvSpPr/>
            <p:nvPr/>
          </p:nvSpPr>
          <p:spPr>
            <a:xfrm>
              <a:off x="4218" y="1644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4"/>
            <p:cNvSpPr/>
            <p:nvPr/>
          </p:nvSpPr>
          <p:spPr>
            <a:xfrm>
              <a:off x="4250" y="1644"/>
              <a:ext cx="11" cy="5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4"/>
            <p:cNvSpPr/>
            <p:nvPr/>
          </p:nvSpPr>
          <p:spPr>
            <a:xfrm>
              <a:off x="4149" y="1628"/>
              <a:ext cx="32" cy="32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lnTo>
                    <a:pt x="36" y="36"/>
                  </a:lnTo>
                  <a:lnTo>
                    <a:pt x="0" y="36"/>
                  </a:lnTo>
                  <a:lnTo>
                    <a:pt x="1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4"/>
            <p:cNvSpPr/>
            <p:nvPr/>
          </p:nvSpPr>
          <p:spPr>
            <a:xfrm>
              <a:off x="4287" y="1596"/>
              <a:ext cx="844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25th percentile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1" name="Google Shape;111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900" y="1652588"/>
            <a:ext cx="3014664" cy="515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0638" y="1260475"/>
            <a:ext cx="267652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54"/>
          <p:cNvSpPr txBox="1"/>
          <p:nvPr/>
        </p:nvSpPr>
        <p:spPr>
          <a:xfrm>
            <a:off x="7537450" y="3963988"/>
            <a:ext cx="9080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br>
              <a:rPr b="1" lang="en-GB" sz="1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1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br>
              <a:rPr b="1" lang="en-GB" sz="1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18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cTemplate1">
  <a:themeElements>
    <a:clrScheme name="IcTemplate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