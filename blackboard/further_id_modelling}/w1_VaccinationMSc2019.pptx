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7" r:id="rId2"/>
    <p:sldId id="266" r:id="rId3"/>
    <p:sldId id="264" r:id="rId4"/>
    <p:sldId id="267" r:id="rId5"/>
    <p:sldId id="270" r:id="rId6"/>
    <p:sldId id="282" r:id="rId7"/>
    <p:sldId id="302" r:id="rId8"/>
    <p:sldId id="268" r:id="rId9"/>
    <p:sldId id="285" r:id="rId10"/>
    <p:sldId id="269" r:id="rId11"/>
    <p:sldId id="294" r:id="rId12"/>
    <p:sldId id="296" r:id="rId13"/>
    <p:sldId id="297" r:id="rId14"/>
    <p:sldId id="271" r:id="rId15"/>
    <p:sldId id="292" r:id="rId16"/>
    <p:sldId id="305" r:id="rId17"/>
    <p:sldId id="306" r:id="rId18"/>
    <p:sldId id="274" r:id="rId19"/>
    <p:sldId id="275" r:id="rId20"/>
    <p:sldId id="279" r:id="rId21"/>
    <p:sldId id="280" r:id="rId22"/>
    <p:sldId id="258" r:id="rId23"/>
    <p:sldId id="259" r:id="rId24"/>
    <p:sldId id="283" r:id="rId25"/>
    <p:sldId id="260" r:id="rId26"/>
    <p:sldId id="261" r:id="rId27"/>
    <p:sldId id="262" r:id="rId28"/>
    <p:sldId id="263" r:id="rId29"/>
    <p:sldId id="288" r:id="rId30"/>
    <p:sldId id="303" r:id="rId31"/>
    <p:sldId id="304" r:id="rId32"/>
    <p:sldId id="289" r:id="rId33"/>
    <p:sldId id="290" r:id="rId34"/>
    <p:sldId id="291" r:id="rId35"/>
    <p:sldId id="293" r:id="rId36"/>
    <p:sldId id="284" r:id="rId37"/>
    <p:sldId id="281" r:id="rId38"/>
    <p:sldId id="277" r:id="rId39"/>
    <p:sldId id="278" r:id="rId40"/>
    <p:sldId id="286" r:id="rId41"/>
    <p:sldId id="287" r:id="rId42"/>
    <p:sldId id="298" r:id="rId43"/>
    <p:sldId id="299" r:id="rId44"/>
    <p:sldId id="300" r:id="rId45"/>
    <p:sldId id="301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86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D8A8A7-F325-4BD1-80BA-0D8222F9DE69}" type="datetimeFigureOut">
              <a:rPr lang="en-GB" smtClean="0"/>
              <a:pPr/>
              <a:t>16/01/2020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3BBBF3-AE47-413B-B671-5A80311495A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37345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44ED0-E019-45AB-B369-8410A9D5E46D}" type="datetimeFigureOut">
              <a:rPr lang="en-GB" smtClean="0"/>
              <a:pPr/>
              <a:t>16/01/2020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D3CAA-8102-45DE-898B-EA5B891C136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787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ABA345-8A14-4E6F-BD87-E82ACAA05E90}" type="slidenum">
              <a:rPr lang="en-GB"/>
              <a:pPr/>
              <a:t>3</a:t>
            </a:fld>
            <a:endParaRPr lang="en-GB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0245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CACD1E-3038-4D9A-B891-356BC412C9E4}" type="slidenum">
              <a:rPr lang="en-GB"/>
              <a:pPr/>
              <a:t>4</a:t>
            </a:fld>
            <a:endParaRPr lang="en-GB"/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5282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F9B2D8-14CF-4155-8489-A4916F8AEF46}" type="slidenum">
              <a:rPr lang="en-GB"/>
              <a:pPr/>
              <a:t>5</a:t>
            </a:fld>
            <a:endParaRPr lang="en-GB"/>
          </a:p>
        </p:txBody>
      </p:sp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7893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9EBB3E-EA7F-40FD-A8AD-0A5A48E1DFC6}" type="slidenum">
              <a:rPr lang="en-GB"/>
              <a:pPr/>
              <a:t>6</a:t>
            </a:fld>
            <a:endParaRPr lang="en-GB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9012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9EBB3E-EA7F-40FD-A8AD-0A5A48E1DFC6}" type="slidenum">
              <a:rPr lang="en-GB"/>
              <a:pPr/>
              <a:t>7</a:t>
            </a:fld>
            <a:endParaRPr lang="en-GB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3035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F19ABA-7E25-4ED1-AA3D-6FFE3F6C54B1}" type="slidenum">
              <a:rPr lang="en-GB"/>
              <a:pPr/>
              <a:t>8</a:t>
            </a:fld>
            <a:endParaRPr lang="en-GB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672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AB9D16-33D4-4557-9242-6A0247C4BD81}" type="slidenum">
              <a:rPr lang="en-GB"/>
              <a:pPr/>
              <a:t>9</a:t>
            </a:fld>
            <a:endParaRPr lang="en-GB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4023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F19ABA-7E25-4ED1-AA3D-6FFE3F6C54B1}" type="slidenum">
              <a:rPr lang="en-GB"/>
              <a:pPr/>
              <a:t>10</a:t>
            </a:fld>
            <a:endParaRPr lang="en-GB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3893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E14EDE-98AF-429E-B6FE-4B7F2D4FDC25}" type="slidenum">
              <a:rPr lang="en-GB"/>
              <a:pPr/>
              <a:t>15</a:t>
            </a:fld>
            <a:endParaRPr lang="en-GB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7987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C72992-A766-4888-8109-F4985548DE3A}" type="slidenum">
              <a:rPr lang="en-GB"/>
              <a:pPr/>
              <a:t>18</a:t>
            </a:fld>
            <a:endParaRPr lang="en-GB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0365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8ED00C-AD99-4372-AD2D-CEFB94363352}" type="slidenum">
              <a:rPr lang="en-GB"/>
              <a:pPr/>
              <a:t>19</a:t>
            </a:fld>
            <a:endParaRPr lang="en-GB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37675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BF63AA-8E87-4C7F-AB1E-F612DC17B732}" type="slidenum">
              <a:rPr lang="en-GB"/>
              <a:pPr/>
              <a:t>29</a:t>
            </a:fld>
            <a:endParaRPr lang="en-GB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08517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D7760E-35B1-4785-B956-986CFDB1595E}" type="slidenum">
              <a:rPr lang="en-GB"/>
              <a:pPr/>
              <a:t>32</a:t>
            </a:fld>
            <a:endParaRPr lang="en-GB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71975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8C4688-1F85-4717-8FCC-13B0807ECD42}" type="slidenum">
              <a:rPr lang="en-GB"/>
              <a:pPr/>
              <a:t>33</a:t>
            </a:fld>
            <a:endParaRPr lang="en-GB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18398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6BB686-B3D5-4989-BAC8-7C95C2027522}" type="slidenum">
              <a:rPr lang="en-GB"/>
              <a:pPr/>
              <a:t>34</a:t>
            </a:fld>
            <a:endParaRPr lang="en-GB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96959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1DC1DF-C297-49B7-A60E-A1D1A8D1CA08}" type="slidenum">
              <a:rPr lang="en-GB"/>
              <a:pPr/>
              <a:t>39</a:t>
            </a:fld>
            <a:endParaRPr lang="en-GB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94743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F52A4C-EFA4-469A-9C08-08A6185715E6}" type="slidenum">
              <a:rPr lang="en-GB"/>
              <a:pPr/>
              <a:t>40</a:t>
            </a:fld>
            <a:endParaRPr lang="en-GB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03065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D7760E-35B1-4785-B956-986CFDB1595E}" type="slidenum">
              <a:rPr lang="en-GB"/>
              <a:pPr/>
              <a:t>43</a:t>
            </a:fld>
            <a:endParaRPr lang="en-GB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92974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90B2-23F4-483D-ABAA-E2379231D70B}" type="datetimeFigureOut">
              <a:rPr lang="en-GB" smtClean="0"/>
              <a:pPr/>
              <a:t>16/01/2020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4402-BE9E-4127-9A7B-36F822318F4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90B2-23F4-483D-ABAA-E2379231D70B}" type="datetimeFigureOut">
              <a:rPr lang="en-GB" smtClean="0"/>
              <a:pPr/>
              <a:t>16/01/2020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4402-BE9E-4127-9A7B-36F822318F4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90B2-23F4-483D-ABAA-E2379231D70B}" type="datetimeFigureOut">
              <a:rPr lang="en-GB" smtClean="0"/>
              <a:pPr/>
              <a:t>16/01/2020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4402-BE9E-4127-9A7B-36F822318F4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90B2-23F4-483D-ABAA-E2379231D70B}" type="datetimeFigureOut">
              <a:rPr lang="en-GB" smtClean="0"/>
              <a:pPr/>
              <a:t>16/01/2020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4402-BE9E-4127-9A7B-36F822318F4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90B2-23F4-483D-ABAA-E2379231D70B}" type="datetimeFigureOut">
              <a:rPr lang="en-GB" smtClean="0"/>
              <a:pPr/>
              <a:t>16/01/2020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4402-BE9E-4127-9A7B-36F822318F4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90B2-23F4-483D-ABAA-E2379231D70B}" type="datetimeFigureOut">
              <a:rPr lang="en-GB" smtClean="0"/>
              <a:pPr/>
              <a:t>16/01/2020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4402-BE9E-4127-9A7B-36F822318F4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90B2-23F4-483D-ABAA-E2379231D70B}" type="datetimeFigureOut">
              <a:rPr lang="en-GB" smtClean="0"/>
              <a:pPr/>
              <a:t>16/01/2020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4402-BE9E-4127-9A7B-36F822318F4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90B2-23F4-483D-ABAA-E2379231D70B}" type="datetimeFigureOut">
              <a:rPr lang="en-GB" smtClean="0"/>
              <a:pPr/>
              <a:t>16/01/2020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4402-BE9E-4127-9A7B-36F822318F4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90B2-23F4-483D-ABAA-E2379231D70B}" type="datetimeFigureOut">
              <a:rPr lang="en-GB" smtClean="0"/>
              <a:pPr/>
              <a:t>16/01/2020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4402-BE9E-4127-9A7B-36F822318F4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90B2-23F4-483D-ABAA-E2379231D70B}" type="datetimeFigureOut">
              <a:rPr lang="en-GB" smtClean="0"/>
              <a:pPr/>
              <a:t>16/01/2020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4402-BE9E-4127-9A7B-36F822318F4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90B2-23F4-483D-ABAA-E2379231D70B}" type="datetimeFigureOut">
              <a:rPr lang="en-GB" smtClean="0"/>
              <a:pPr/>
              <a:t>16/01/2020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4402-BE9E-4127-9A7B-36F822318F4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65B6B65-C4A7-4F64-A337-97EF2C385BB0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A4F7C18-EF87-4C9F-8DC3-848B10734CC7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590B2-23F4-483D-ABAA-E2379231D70B}" type="datetimeFigureOut">
              <a:rPr lang="en-GB" smtClean="0"/>
              <a:pPr/>
              <a:t>16/01/2020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44402-BE9E-4127-9A7B-36F822318F48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6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4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17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47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46.wmf"/><Relationship Id="rId10" Type="http://schemas.openxmlformats.org/officeDocument/2006/relationships/image" Target="../media/image48.wmf"/><Relationship Id="rId4" Type="http://schemas.openxmlformats.org/officeDocument/2006/relationships/oleObject" Target="../embeddings/oleObject19.bin"/><Relationship Id="rId9" Type="http://schemas.openxmlformats.org/officeDocument/2006/relationships/oleObject" Target="../embeddings/oleObject21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0.e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51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52.e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54.png"/><Relationship Id="rId4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3296298" y="3569735"/>
            <a:ext cx="25514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8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James Truscott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0585" y="2060848"/>
            <a:ext cx="378283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Theory and Practice</a:t>
            </a:r>
          </a:p>
          <a:p>
            <a:pPr algn="ctr"/>
            <a:r>
              <a:rPr lang="en-GB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of Vaccination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503503" y="413957"/>
            <a:ext cx="213699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Lecture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6393" y="1344762"/>
            <a:ext cx="798205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sz="2400" dirty="0"/>
              <a:t>Review the basic theory of vaccination. </a:t>
            </a:r>
          </a:p>
          <a:p>
            <a:pPr>
              <a:buFont typeface="Arial" pitchFamily="34" charset="0"/>
              <a:buChar char="•"/>
            </a:pPr>
            <a:endParaRPr lang="en-GB" sz="2400" dirty="0"/>
          </a:p>
          <a:p>
            <a:pPr>
              <a:buFont typeface="Arial" pitchFamily="34" charset="0"/>
              <a:buChar char="•"/>
            </a:pPr>
            <a:r>
              <a:rPr lang="en-GB" sz="2400" dirty="0"/>
              <a:t>The effect of vaccination on endemic disease in a population. </a:t>
            </a:r>
          </a:p>
          <a:p>
            <a:pPr>
              <a:buFont typeface="Arial" pitchFamily="34" charset="0"/>
              <a:buChar char="•"/>
            </a:pPr>
            <a:endParaRPr lang="en-GB" sz="2400" dirty="0"/>
          </a:p>
          <a:p>
            <a:pPr>
              <a:buFont typeface="Arial" pitchFamily="34" charset="0"/>
              <a:buChar char="•"/>
            </a:pPr>
            <a:r>
              <a:rPr lang="en-GB" sz="2400" dirty="0"/>
              <a:t>The effect of vaccination on the disease dynamics.</a:t>
            </a:r>
          </a:p>
          <a:p>
            <a:pPr>
              <a:buFont typeface="Arial" pitchFamily="34" charset="0"/>
              <a:buChar char="•"/>
            </a:pPr>
            <a:endParaRPr lang="en-GB" sz="2400" dirty="0"/>
          </a:p>
          <a:p>
            <a:pPr>
              <a:buFont typeface="Arial" pitchFamily="34" charset="0"/>
              <a:buChar char="•"/>
            </a:pPr>
            <a:r>
              <a:rPr lang="en-GB" sz="2400" dirty="0"/>
              <a:t>Rubella vaccination: perverse outcomes. </a:t>
            </a:r>
          </a:p>
          <a:p>
            <a:pPr>
              <a:buFont typeface="Arial" pitchFamily="34" charset="0"/>
              <a:buChar char="•"/>
            </a:pPr>
            <a:endParaRPr lang="en-GB" sz="2400" dirty="0"/>
          </a:p>
          <a:p>
            <a:pPr>
              <a:buFont typeface="Arial" pitchFamily="34" charset="0"/>
              <a:buChar char="•"/>
            </a:pPr>
            <a:r>
              <a:rPr lang="en-GB" sz="2400" dirty="0"/>
              <a:t>Vaccination in practice: an example of a successful and an </a:t>
            </a:r>
          </a:p>
          <a:p>
            <a:r>
              <a:rPr lang="en-GB" sz="2400" dirty="0"/>
              <a:t>  unsuccessful vaccination implementation. </a:t>
            </a:r>
          </a:p>
          <a:p>
            <a:endParaRPr lang="en-GB" sz="2400" dirty="0"/>
          </a:p>
          <a:p>
            <a:pPr>
              <a:buFont typeface="Arial" pitchFamily="34" charset="0"/>
              <a:buChar char="•"/>
            </a:pPr>
            <a:r>
              <a:rPr lang="en-GB" sz="2400" dirty="0" err="1"/>
              <a:t>Pertussis</a:t>
            </a:r>
            <a:r>
              <a:rPr lang="en-GB" sz="2400" dirty="0"/>
              <a:t> vaccination.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251520" y="5229200"/>
            <a:ext cx="7772400" cy="66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GB" dirty="0">
                <a:ea typeface="Tahoma" pitchFamily="34" charset="0"/>
                <a:cs typeface="Tahoma" pitchFamily="34" charset="0"/>
              </a:rPr>
              <a:t>The minimum vaccination coverage for eradication is</a:t>
            </a:r>
            <a:endParaRPr lang="en-GB" i="1" baseline="-25000" dirty="0"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3131840" y="4581128"/>
          <a:ext cx="254000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Equation" r:id="rId4" imgW="825480" imgH="228600" progId="Equation.DSMT4">
                  <p:embed/>
                </p:oleObj>
              </mc:Choice>
              <mc:Fallback>
                <p:oleObj name="Equation" r:id="rId4" imgW="825480" imgH="2286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4581128"/>
                        <a:ext cx="2540000" cy="703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9"/>
          <p:cNvGraphicFramePr>
            <a:graphicFrameLocks noChangeAspect="1"/>
          </p:cNvGraphicFramePr>
          <p:nvPr/>
        </p:nvGraphicFramePr>
        <p:xfrm>
          <a:off x="2267744" y="5949280"/>
          <a:ext cx="4252913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Equation" r:id="rId6" imgW="1333440" imgH="228600" progId="Equation.DSMT4">
                  <p:embed/>
                </p:oleObj>
              </mc:Choice>
              <mc:Fallback>
                <p:oleObj name="Equation" r:id="rId6" imgW="1333440" imgH="228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5949280"/>
                        <a:ext cx="4252913" cy="728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3528" y="3068960"/>
            <a:ext cx="80227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ea typeface="Tahoma" pitchFamily="34" charset="0"/>
                <a:cs typeface="Tahoma" pitchFamily="34" charset="0"/>
              </a:rPr>
              <a:t>R</a:t>
            </a:r>
            <a:r>
              <a:rPr lang="en-GB" baseline="-25000" dirty="0">
                <a:ea typeface="Tahoma" pitchFamily="34" charset="0"/>
                <a:cs typeface="Tahoma" pitchFamily="34" charset="0"/>
              </a:rPr>
              <a:t>0</a:t>
            </a:r>
            <a:r>
              <a:rPr lang="en-GB" dirty="0">
                <a:ea typeface="Tahoma" pitchFamily="34" charset="0"/>
                <a:cs typeface="Tahoma" pitchFamily="34" charset="0"/>
              </a:rPr>
              <a:t> is mean number of infections generated by an infectious individual </a:t>
            </a:r>
          </a:p>
          <a:p>
            <a:r>
              <a:rPr lang="en-GB" dirty="0">
                <a:ea typeface="Tahoma" pitchFamily="34" charset="0"/>
                <a:cs typeface="Tahoma" pitchFamily="34" charset="0"/>
              </a:rPr>
              <a:t>in a </a:t>
            </a:r>
            <a:r>
              <a:rPr lang="en-GB" i="1" u="sng" dirty="0">
                <a:ea typeface="Tahoma" pitchFamily="34" charset="0"/>
                <a:cs typeface="Tahoma" pitchFamily="34" charset="0"/>
              </a:rPr>
              <a:t>susceptible</a:t>
            </a:r>
            <a:r>
              <a:rPr lang="en-GB" dirty="0">
                <a:ea typeface="Tahoma" pitchFamily="34" charset="0"/>
                <a:cs typeface="Tahoma" pitchFamily="34" charset="0"/>
              </a:rPr>
              <a:t>  population.</a:t>
            </a:r>
          </a:p>
          <a:p>
            <a:endParaRPr lang="en-GB" dirty="0">
              <a:ea typeface="Tahoma" pitchFamily="34" charset="0"/>
              <a:cs typeface="Tahoma" pitchFamily="34" charset="0"/>
            </a:endParaRPr>
          </a:p>
          <a:p>
            <a:r>
              <a:rPr lang="en-GB" dirty="0">
                <a:ea typeface="Tahoma" pitchFamily="34" charset="0"/>
                <a:cs typeface="Tahoma" pitchFamily="34" charset="0"/>
              </a:rPr>
              <a:t>For vaccination coverage </a:t>
            </a:r>
            <a:r>
              <a:rPr lang="en-GB" i="1" dirty="0">
                <a:ea typeface="Tahoma" pitchFamily="34" charset="0"/>
                <a:cs typeface="Tahoma" pitchFamily="34" charset="0"/>
              </a:rPr>
              <a:t>p</a:t>
            </a:r>
            <a:r>
              <a:rPr lang="en-GB" dirty="0">
                <a:ea typeface="Tahoma" pitchFamily="34" charset="0"/>
                <a:cs typeface="Tahoma" pitchFamily="34" charset="0"/>
              </a:rPr>
              <a:t> of the whole population, effective reproductive number: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86403" y="413957"/>
            <a:ext cx="577119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Review of the theory of vaccination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520" y="1052736"/>
            <a:ext cx="847251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Vaccination is the generation of immunity to a pathogen in an individual through </a:t>
            </a:r>
          </a:p>
          <a:p>
            <a:r>
              <a:rPr lang="en-GB" dirty="0"/>
              <a:t>administering an appropriate immunogen. </a:t>
            </a:r>
          </a:p>
          <a:p>
            <a:endParaRPr lang="en-GB" dirty="0"/>
          </a:p>
          <a:p>
            <a:r>
              <a:rPr lang="en-GB" dirty="0"/>
              <a:t>To prevent the spread of disease within a population, it’s necessary to vaccinate enough </a:t>
            </a:r>
          </a:p>
          <a:p>
            <a:r>
              <a:rPr lang="en-GB" dirty="0"/>
              <a:t>individuals to achieve </a:t>
            </a:r>
            <a:r>
              <a:rPr lang="en-GB" b="1" dirty="0"/>
              <a:t>herd immunity</a:t>
            </a:r>
            <a:r>
              <a:rPr lang="en-GB" dirty="0"/>
              <a:t>. </a:t>
            </a:r>
          </a:p>
          <a:p>
            <a:r>
              <a:rPr lang="en-GB" dirty="0"/>
              <a:t>With herd immunity, each infectious individual infects only 1 other, on average.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333375"/>
            <a:ext cx="7772400" cy="719138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Review of the theory of vaccination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611188" y="3716338"/>
            <a:ext cx="7772400" cy="237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3200" i="1" baseline="-25000">
              <a:solidFill>
                <a:schemeClr val="tx2"/>
              </a:solidFill>
              <a:cs typeface="Times New Roman" pitchFamily="18" charset="0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835150" y="1773238"/>
            <a:ext cx="5329238" cy="35274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GB" sz="2400" i="1" dirty="0">
                <a:latin typeface="Times New Roman" pitchFamily="18" charset="0"/>
              </a:rPr>
              <a:t>persistence</a:t>
            </a:r>
            <a:endParaRPr lang="en-US" sz="2400" i="1" dirty="0">
              <a:latin typeface="Times New Roman" pitchFamily="18" charset="0"/>
            </a:endParaRPr>
          </a:p>
        </p:txBody>
      </p:sp>
      <p:sp>
        <p:nvSpPr>
          <p:cNvPr id="8197" name="Freeform 5"/>
          <p:cNvSpPr>
            <a:spLocks/>
          </p:cNvSpPr>
          <p:nvPr/>
        </p:nvSpPr>
        <p:spPr bwMode="auto">
          <a:xfrm>
            <a:off x="2051050" y="1916113"/>
            <a:ext cx="5113338" cy="3384550"/>
          </a:xfrm>
          <a:custGeom>
            <a:avLst/>
            <a:gdLst/>
            <a:ahLst/>
            <a:cxnLst>
              <a:cxn ang="0">
                <a:pos x="0" y="2132"/>
              </a:cxn>
              <a:cxn ang="0">
                <a:pos x="58" y="1283"/>
              </a:cxn>
              <a:cxn ang="0">
                <a:pos x="166" y="761"/>
              </a:cxn>
              <a:cxn ang="0">
                <a:pos x="388" y="365"/>
              </a:cxn>
              <a:cxn ang="0">
                <a:pos x="814" y="155"/>
              </a:cxn>
              <a:cxn ang="0">
                <a:pos x="1606" y="47"/>
              </a:cxn>
              <a:cxn ang="0">
                <a:pos x="3221" y="0"/>
              </a:cxn>
            </a:cxnLst>
            <a:rect l="0" t="0" r="r" b="b"/>
            <a:pathLst>
              <a:path w="3221" h="2132">
                <a:moveTo>
                  <a:pt x="0" y="2132"/>
                </a:moveTo>
                <a:cubicBezTo>
                  <a:pt x="10" y="1991"/>
                  <a:pt x="30" y="1511"/>
                  <a:pt x="58" y="1283"/>
                </a:cubicBezTo>
                <a:cubicBezTo>
                  <a:pt x="86" y="1055"/>
                  <a:pt x="111" y="914"/>
                  <a:pt x="166" y="761"/>
                </a:cubicBezTo>
                <a:cubicBezTo>
                  <a:pt x="221" y="608"/>
                  <a:pt x="280" y="466"/>
                  <a:pt x="388" y="365"/>
                </a:cubicBezTo>
                <a:cubicBezTo>
                  <a:pt x="496" y="264"/>
                  <a:pt x="611" y="208"/>
                  <a:pt x="814" y="155"/>
                </a:cubicBezTo>
                <a:cubicBezTo>
                  <a:pt x="1017" y="102"/>
                  <a:pt x="1205" y="73"/>
                  <a:pt x="1606" y="47"/>
                </a:cubicBezTo>
                <a:cubicBezTo>
                  <a:pt x="2007" y="21"/>
                  <a:pt x="2885" y="10"/>
                  <a:pt x="3221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1403350" y="1557338"/>
            <a:ext cx="3365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1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1476375" y="5300663"/>
            <a:ext cx="3365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0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2700338" y="5300663"/>
            <a:ext cx="3365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5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1598613" y="2584450"/>
            <a:ext cx="1841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endParaRPr lang="en-US" sz="2400" i="1">
              <a:latin typeface="Times New Roman" pitchFamily="18" charset="0"/>
            </a:endParaRP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3775075" y="5300663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10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4927600" y="5300663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15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6080125" y="5300663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20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919163" y="3068638"/>
            <a:ext cx="468312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GB" sz="2800" i="1">
                <a:latin typeface="Times New Roman" pitchFamily="18" charset="0"/>
              </a:rPr>
              <a:t>p</a:t>
            </a:r>
            <a:r>
              <a:rPr lang="en-GB" sz="2800" i="1" baseline="-25000">
                <a:latin typeface="Times New Roman" pitchFamily="18" charset="0"/>
              </a:rPr>
              <a:t>c</a:t>
            </a:r>
            <a:endParaRPr lang="en-US" sz="2800" i="1" baseline="-25000">
              <a:latin typeface="Times New Roman" pitchFamily="18" charset="0"/>
            </a:endParaRPr>
          </a:p>
        </p:txBody>
      </p:sp>
      <p:sp>
        <p:nvSpPr>
          <p:cNvPr id="8206" name="Text Box 14"/>
          <p:cNvSpPr txBox="1">
            <a:spLocks noChangeArrowheads="1"/>
          </p:cNvSpPr>
          <p:nvPr/>
        </p:nvSpPr>
        <p:spPr bwMode="auto">
          <a:xfrm rot="10842624" flipV="1">
            <a:off x="4140200" y="5805488"/>
            <a:ext cx="78740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GB" sz="2800" i="1">
                <a:latin typeface="Times New Roman" pitchFamily="18" charset="0"/>
              </a:rPr>
              <a:t>R</a:t>
            </a:r>
            <a:r>
              <a:rPr lang="en-GB" sz="2800" i="1" baseline="-25000">
                <a:latin typeface="Times New Roman" pitchFamily="18" charset="0"/>
              </a:rPr>
              <a:t>0</a:t>
            </a:r>
            <a:endParaRPr lang="en-US" sz="2800" i="1" baseline="-25000">
              <a:latin typeface="Times New Roman" pitchFamily="18" charset="0"/>
            </a:endParaRPr>
          </a:p>
        </p:txBody>
      </p:sp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1835150" y="1773238"/>
            <a:ext cx="15875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GB" sz="2400" i="1">
                <a:latin typeface="Times New Roman" pitchFamily="18" charset="0"/>
              </a:rPr>
              <a:t>eradication</a:t>
            </a:r>
            <a:endParaRPr lang="en-US" sz="2400" i="1">
              <a:latin typeface="Times New Roman" pitchFamily="18" charset="0"/>
            </a:endParaRPr>
          </a:p>
        </p:txBody>
      </p:sp>
      <p:sp>
        <p:nvSpPr>
          <p:cNvPr id="8208" name="Rectangle 16"/>
          <p:cNvSpPr>
            <a:spLocks noChangeArrowheads="1"/>
          </p:cNvSpPr>
          <p:nvPr/>
        </p:nvSpPr>
        <p:spPr bwMode="auto">
          <a:xfrm>
            <a:off x="3833813" y="2082800"/>
            <a:ext cx="1814512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GB" sz="2800" i="1" dirty="0">
                <a:solidFill>
                  <a:srgbClr val="000066"/>
                </a:solidFill>
                <a:latin typeface="Times New Roman" pitchFamily="18" charset="0"/>
              </a:rPr>
              <a:t>p</a:t>
            </a:r>
            <a:r>
              <a:rPr lang="en-GB" sz="2800" i="1" baseline="-25000" dirty="0">
                <a:solidFill>
                  <a:srgbClr val="000066"/>
                </a:solidFill>
                <a:latin typeface="Times New Roman" pitchFamily="18" charset="0"/>
              </a:rPr>
              <a:t>c</a:t>
            </a:r>
            <a:r>
              <a:rPr lang="en-GB" sz="2800" dirty="0">
                <a:solidFill>
                  <a:srgbClr val="000066"/>
                </a:solidFill>
                <a:latin typeface="Times New Roman" pitchFamily="18" charset="0"/>
              </a:rPr>
              <a:t> = 1-1/</a:t>
            </a:r>
            <a:r>
              <a:rPr lang="en-GB" sz="2800" i="1" dirty="0">
                <a:solidFill>
                  <a:srgbClr val="000066"/>
                </a:solidFill>
                <a:latin typeface="Times New Roman" pitchFamily="18" charset="0"/>
              </a:rPr>
              <a:t>R</a:t>
            </a:r>
            <a:r>
              <a:rPr lang="en-GB" sz="2800" i="1" baseline="-25000" dirty="0">
                <a:solidFill>
                  <a:srgbClr val="000066"/>
                </a:solidFill>
                <a:latin typeface="Times New Roman" pitchFamily="18" charset="0"/>
              </a:rPr>
              <a:t>0</a:t>
            </a:r>
            <a:endParaRPr lang="en-US" sz="2800" i="1" baseline="-25000" dirty="0">
              <a:solidFill>
                <a:srgbClr val="000066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7772400" cy="1143000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Pre-vaccination </a:t>
            </a:r>
            <a:r>
              <a:rPr lang="en-GB" sz="2800" i="1" dirty="0">
                <a:latin typeface="Tahoma" pitchFamily="34" charset="0"/>
                <a:ea typeface="Tahoma" pitchFamily="34" charset="0"/>
                <a:cs typeface="Tahoma" pitchFamily="34" charset="0"/>
              </a:rPr>
              <a:t>R</a:t>
            </a:r>
            <a:r>
              <a:rPr lang="en-GB" sz="2800" baseline="-25000" dirty="0">
                <a:latin typeface="Tahoma" pitchFamily="34" charset="0"/>
                <a:ea typeface="Tahoma" pitchFamily="34" charset="0"/>
                <a:cs typeface="Tahoma" pitchFamily="34" charset="0"/>
              </a:rPr>
              <a:t>0</a:t>
            </a:r>
            <a:r>
              <a:rPr lang="en-GB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estimates</a:t>
            </a:r>
            <a:br>
              <a:rPr lang="en-GB" sz="2800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GB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for England and Wales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611560" y="1484784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GB" sz="2800" dirty="0">
                <a:solidFill>
                  <a:srgbClr val="00006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Infection                </a:t>
            </a:r>
            <a:r>
              <a:rPr lang="en-GB" sz="2800" i="1" dirty="0">
                <a:solidFill>
                  <a:srgbClr val="00006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R</a:t>
            </a:r>
            <a:r>
              <a:rPr lang="en-GB" sz="2800" baseline="-25000" dirty="0">
                <a:solidFill>
                  <a:srgbClr val="00006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0                             </a:t>
            </a:r>
            <a:r>
              <a:rPr lang="en-GB" sz="2800" i="1" dirty="0">
                <a:solidFill>
                  <a:srgbClr val="00006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</a:t>
            </a:r>
            <a:r>
              <a:rPr lang="en-GB" sz="2800" baseline="-25000" dirty="0">
                <a:solidFill>
                  <a:srgbClr val="00006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</a:t>
            </a: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1549461" y="2171925"/>
            <a:ext cx="692276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GB" sz="2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Measles                       16-18</a:t>
            </a:r>
            <a:r>
              <a:rPr lang="en-GB" sz="2000" baseline="-25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                            </a:t>
            </a:r>
            <a:r>
              <a:rPr lang="en-GB" sz="2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94-96%</a:t>
            </a:r>
            <a:r>
              <a:rPr lang="en-GB" sz="2000" baseline="-25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               </a:t>
            </a: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1551084" y="2964088"/>
            <a:ext cx="667855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GB" sz="2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Mumps                        11-14</a:t>
            </a:r>
            <a:r>
              <a:rPr lang="en-GB" sz="2000" baseline="-25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                            </a:t>
            </a:r>
            <a:r>
              <a:rPr lang="en-GB" sz="2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91-93%  </a:t>
            </a:r>
            <a:endParaRPr lang="en-GB" sz="2000" baseline="-25000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546250" y="3684813"/>
            <a:ext cx="64874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GB" sz="2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Rubella                          6-7</a:t>
            </a:r>
            <a:r>
              <a:rPr lang="en-GB" sz="2000" baseline="-25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                              </a:t>
            </a:r>
            <a:r>
              <a:rPr lang="en-GB" sz="2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83-87%</a:t>
            </a:r>
            <a:endParaRPr lang="en-GB" sz="2000" baseline="-25000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1518257" y="4403950"/>
            <a:ext cx="655275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GB" sz="2000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Pertussis</a:t>
            </a:r>
            <a:r>
              <a:rPr lang="en-GB" sz="2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                   16-18</a:t>
            </a:r>
            <a:r>
              <a:rPr lang="en-GB" sz="2000" baseline="-25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                            </a:t>
            </a:r>
            <a:r>
              <a:rPr lang="en-GB" sz="2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94-96%</a:t>
            </a:r>
            <a:endParaRPr lang="en-GB" sz="2000" baseline="-25000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 descr="jabs1"/>
          <p:cNvPicPr>
            <a:picLocks noGrp="1" noChangeAspect="1" noChangeArrowheads="1"/>
          </p:cNvPicPr>
          <p:nvPr>
            <p:ph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68313" y="1557338"/>
            <a:ext cx="8229600" cy="4276725"/>
          </a:xfrm>
          <a:noFill/>
          <a:ln/>
        </p:spPr>
      </p:pic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746045" y="476250"/>
            <a:ext cx="714022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Vaccine coverage in Wales, 1990-2004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746045" y="476250"/>
            <a:ext cx="714022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Vaccine coverage in Wales, 1997-2014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0" y="1633049"/>
            <a:ext cx="6286500" cy="44672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51228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3096874" y="1690988"/>
            <a:ext cx="0" cy="21828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2941698" y="4052570"/>
            <a:ext cx="123161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ja-JP" sz="1600" dirty="0">
                <a:solidFill>
                  <a:srgbClr val="00006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Mean</a:t>
            </a:r>
          </a:p>
          <a:p>
            <a:pPr eaLnBrk="0" hangingPunct="0"/>
            <a:r>
              <a:rPr lang="en-US" altLang="ja-JP" sz="1600" dirty="0">
                <a:solidFill>
                  <a:srgbClr val="00006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 age at</a:t>
            </a:r>
          </a:p>
          <a:p>
            <a:pPr eaLnBrk="0" hangingPunct="0"/>
            <a:r>
              <a:rPr lang="en-US" altLang="ja-JP" sz="1600" dirty="0">
                <a:solidFill>
                  <a:srgbClr val="00006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Infection, </a:t>
            </a:r>
            <a:r>
              <a:rPr lang="en-US" altLang="ja-JP" sz="1600" i="1" dirty="0">
                <a:solidFill>
                  <a:srgbClr val="00006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endParaRPr lang="en-US" sz="2400" i="1" dirty="0">
              <a:solidFill>
                <a:srgbClr val="000066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5647025" y="3962157"/>
            <a:ext cx="12486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ja-JP" sz="1600" dirty="0">
                <a:solidFill>
                  <a:srgbClr val="00006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Life</a:t>
            </a:r>
          </a:p>
          <a:p>
            <a:pPr algn="ctr" eaLnBrk="0" hangingPunct="0"/>
            <a:r>
              <a:rPr lang="en-US" altLang="ja-JP" sz="1600" dirty="0">
                <a:solidFill>
                  <a:srgbClr val="00006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Expectancy,</a:t>
            </a:r>
          </a:p>
          <a:p>
            <a:pPr algn="ctr" eaLnBrk="0" hangingPunct="0"/>
            <a:r>
              <a:rPr lang="en-US" altLang="ja-JP" sz="1600" i="1" dirty="0">
                <a:solidFill>
                  <a:srgbClr val="00006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</a:t>
            </a:r>
            <a:endParaRPr lang="en-US" sz="2400" i="1" dirty="0">
              <a:solidFill>
                <a:srgbClr val="000066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2" name="Group 32"/>
          <p:cNvGrpSpPr/>
          <p:nvPr/>
        </p:nvGrpSpPr>
        <p:grpSpPr>
          <a:xfrm>
            <a:off x="3096874" y="1979020"/>
            <a:ext cx="3683000" cy="1944216"/>
            <a:chOff x="2741613" y="1556792"/>
            <a:chExt cx="3683000" cy="1944216"/>
          </a:xfrm>
        </p:grpSpPr>
        <p:sp>
          <p:nvSpPr>
            <p:cNvPr id="20484" name="Rectangle 4"/>
            <p:cNvSpPr>
              <a:spLocks noChangeArrowheads="1"/>
            </p:cNvSpPr>
            <p:nvPr/>
          </p:nvSpPr>
          <p:spPr bwMode="auto">
            <a:xfrm>
              <a:off x="2741613" y="1556792"/>
              <a:ext cx="3176588" cy="1920875"/>
            </a:xfrm>
            <a:prstGeom prst="rect">
              <a:avLst/>
            </a:prstGeom>
            <a:solidFill>
              <a:srgbClr val="C0C0C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86" name="Line 6"/>
            <p:cNvSpPr>
              <a:spLocks noChangeShapeType="1"/>
            </p:cNvSpPr>
            <p:nvPr/>
          </p:nvSpPr>
          <p:spPr bwMode="auto">
            <a:xfrm>
              <a:off x="2741613" y="3501008"/>
              <a:ext cx="36830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87" name="Rectangle 7"/>
            <p:cNvSpPr>
              <a:spLocks noChangeArrowheads="1"/>
            </p:cNvSpPr>
            <p:nvPr/>
          </p:nvSpPr>
          <p:spPr bwMode="auto">
            <a:xfrm>
              <a:off x="2741613" y="1556792"/>
              <a:ext cx="939800" cy="19208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92" name="Text Box 12"/>
            <p:cNvSpPr txBox="1">
              <a:spLocks noChangeArrowheads="1"/>
            </p:cNvSpPr>
            <p:nvPr/>
          </p:nvSpPr>
          <p:spPr bwMode="auto">
            <a:xfrm>
              <a:off x="2760663" y="2282826"/>
              <a:ext cx="947738" cy="317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ja-JP" sz="1000" b="1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Susceptible</a:t>
              </a:r>
              <a:endParaRPr lang="en-US" sz="1000" b="1" i="1" dirty="0"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20493" name="Text Box 13"/>
            <p:cNvSpPr txBox="1">
              <a:spLocks noChangeArrowheads="1"/>
            </p:cNvSpPr>
            <p:nvPr/>
          </p:nvSpPr>
          <p:spPr bwMode="auto">
            <a:xfrm>
              <a:off x="4140200" y="2281238"/>
              <a:ext cx="914400" cy="317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altLang="ja-JP" sz="1000" b="1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Immune</a:t>
              </a:r>
              <a:endParaRPr lang="en-US" sz="1000" b="1" i="1" dirty="0"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635896" y="1556792"/>
              <a:ext cx="45719" cy="194421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5" name="Straight Arrow Connector 24"/>
          <p:cNvCxnSpPr/>
          <p:nvPr/>
        </p:nvCxnSpPr>
        <p:spPr>
          <a:xfrm>
            <a:off x="3775133" y="1762996"/>
            <a:ext cx="216024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4063165" y="1762996"/>
            <a:ext cx="216024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74371" y="1474964"/>
            <a:ext cx="15808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Infectious duration, </a:t>
            </a:r>
            <a:r>
              <a:rPr lang="en-GB" sz="1000" b="1" i="1" dirty="0"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</a:p>
        </p:txBody>
      </p:sp>
      <p:cxnSp>
        <p:nvCxnSpPr>
          <p:cNvPr id="29" name="Straight Arrow Connector 28"/>
          <p:cNvCxnSpPr>
            <a:endCxn id="22" idx="2"/>
          </p:cNvCxnSpPr>
          <p:nvPr/>
        </p:nvCxnSpPr>
        <p:spPr>
          <a:xfrm flipV="1">
            <a:off x="3775133" y="3923236"/>
            <a:ext cx="238884" cy="24912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744574" y="313492"/>
            <a:ext cx="76548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Endemic disease in an unvaccinated population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9512" y="1043444"/>
            <a:ext cx="8979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Consider a population in a stable endemic state with a disease that confers lifelong immunity.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0643" y="3725616"/>
            <a:ext cx="517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294" y="5131220"/>
            <a:ext cx="8143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A </a:t>
            </a:r>
            <a:r>
              <a:rPr lang="en-GB" dirty="0"/>
              <a:t>is closely related to </a:t>
            </a:r>
            <a:r>
              <a:rPr lang="en-GB" b="1" dirty="0"/>
              <a:t>force of infection</a:t>
            </a:r>
            <a:r>
              <a:rPr lang="en-GB" dirty="0"/>
              <a:t>, the probability per unit time of an individual </a:t>
            </a:r>
          </a:p>
          <a:p>
            <a:r>
              <a:rPr lang="en-GB" dirty="0"/>
              <a:t>becoming infected:</a:t>
            </a:r>
            <a:endParaRPr lang="en-GB" i="1" dirty="0"/>
          </a:p>
        </p:txBody>
      </p:sp>
      <p:graphicFrame>
        <p:nvGraphicFramePr>
          <p:cNvPr id="33" name="Object 32"/>
          <p:cNvGraphicFramePr>
            <a:graphicFrameLocks noChangeAspect="1"/>
          </p:cNvGraphicFramePr>
          <p:nvPr/>
        </p:nvGraphicFramePr>
        <p:xfrm>
          <a:off x="2637284" y="5939821"/>
          <a:ext cx="2991229" cy="35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" name="Equation" r:id="rId4" imgW="1701720" imgH="203040" progId="Equation.DSMT4">
                  <p:embed/>
                </p:oleObj>
              </mc:Choice>
              <mc:Fallback>
                <p:oleObj name="Equation" r:id="rId4" imgW="1701720" imgH="2030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7284" y="5939821"/>
                        <a:ext cx="2991229" cy="357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38713" y="3158265"/>
            <a:ext cx="1212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Disease</a:t>
            </a:r>
          </a:p>
          <a:p>
            <a:pPr algn="ctr"/>
            <a:r>
              <a:rPr lang="en-GB" dirty="0"/>
              <a:t>prevalence</a:t>
            </a: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66837"/>
              </p:ext>
            </p:extLst>
          </p:nvPr>
        </p:nvGraphicFramePr>
        <p:xfrm>
          <a:off x="1601910" y="3143495"/>
          <a:ext cx="485775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6" name="Equation" r:id="rId6" imgW="279360" imgH="393480" progId="Equation.DSMT4">
                  <p:embed/>
                </p:oleObj>
              </mc:Choice>
              <mc:Fallback>
                <p:oleObj name="Equation" r:id="rId6" imgW="279360" imgH="393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910" y="3143495"/>
                        <a:ext cx="485775" cy="684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" name="Object 6"/>
          <p:cNvGraphicFramePr>
            <a:graphicFrameLocks noChangeAspect="1"/>
          </p:cNvGraphicFramePr>
          <p:nvPr/>
        </p:nvGraphicFramePr>
        <p:xfrm>
          <a:off x="947383" y="2013673"/>
          <a:ext cx="985838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" name="Equation" r:id="rId8" imgW="482400" imgH="393480" progId="Equation.DSMT4">
                  <p:embed/>
                </p:oleObj>
              </mc:Choice>
              <mc:Fallback>
                <p:oleObj name="Equation" r:id="rId8" imgW="482400" imgH="3934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383" y="2013673"/>
                        <a:ext cx="985838" cy="804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772400" cy="863600"/>
          </a:xfrm>
        </p:spPr>
        <p:txBody>
          <a:bodyPr/>
          <a:lstStyle/>
          <a:p>
            <a:r>
              <a:rPr lang="en-GB" sz="3200" i="1" dirty="0">
                <a:latin typeface="Tahoma" pitchFamily="34" charset="0"/>
                <a:ea typeface="Tahoma" pitchFamily="34" charset="0"/>
                <a:cs typeface="Tahoma" pitchFamily="34" charset="0"/>
              </a:rPr>
              <a:t>R</a:t>
            </a:r>
            <a:r>
              <a:rPr lang="en-GB" sz="3200" baseline="-25000" dirty="0">
                <a:latin typeface="Tahoma" pitchFamily="34" charset="0"/>
                <a:ea typeface="Tahoma" pitchFamily="34" charset="0"/>
                <a:cs typeface="Tahoma" pitchFamily="34" charset="0"/>
              </a:rPr>
              <a:t>0</a:t>
            </a:r>
            <a:r>
              <a:rPr lang="en-GB" sz="3200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GB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and the mean age at infection </a:t>
            </a:r>
            <a:r>
              <a:rPr lang="en-GB" sz="3200" i="1" dirty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539750" y="1196975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Age-serological profiles for Rubella before vaccination</a:t>
            </a:r>
            <a:endParaRPr lang="en-GB" sz="2400" dirty="0">
              <a:solidFill>
                <a:schemeClr val="bg1"/>
              </a:solidFill>
              <a:latin typeface="Symbol" pitchFamily="18" charset="2"/>
            </a:endParaRP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687525" y="5013325"/>
            <a:ext cx="1816074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GB" sz="2400" i="1" dirty="0">
                <a:solidFill>
                  <a:srgbClr val="FF0000"/>
                </a:solidFill>
              </a:rPr>
              <a:t>A</a:t>
            </a:r>
            <a:r>
              <a:rPr lang="en-GB" sz="2400" baseline="-25000" dirty="0">
                <a:solidFill>
                  <a:srgbClr val="FF0000"/>
                </a:solidFill>
              </a:rPr>
              <a:t>UK</a:t>
            </a:r>
            <a:r>
              <a:rPr lang="en-GB" sz="2400" i="1" dirty="0">
                <a:solidFill>
                  <a:srgbClr val="FF0000"/>
                </a:solidFill>
              </a:rPr>
              <a:t>= </a:t>
            </a:r>
            <a:r>
              <a:rPr lang="en-GB" sz="2400" dirty="0">
                <a:solidFill>
                  <a:srgbClr val="FF0000"/>
                </a:solidFill>
              </a:rPr>
              <a:t>9-10 yrs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5695555" y="5013325"/>
            <a:ext cx="2064540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GB" sz="2400" i="1" dirty="0" err="1">
                <a:solidFill>
                  <a:srgbClr val="FF0000"/>
                </a:solidFill>
              </a:rPr>
              <a:t>A</a:t>
            </a:r>
            <a:r>
              <a:rPr lang="en-GB" sz="2400" baseline="-25000" dirty="0" err="1">
                <a:solidFill>
                  <a:srgbClr val="FF0000"/>
                </a:solidFill>
              </a:rPr>
              <a:t>Gambia</a:t>
            </a:r>
            <a:r>
              <a:rPr lang="en-GB" sz="2400" i="1" dirty="0">
                <a:solidFill>
                  <a:srgbClr val="FF0000"/>
                </a:solidFill>
              </a:rPr>
              <a:t>= </a:t>
            </a:r>
            <a:r>
              <a:rPr lang="en-GB" sz="2400" dirty="0">
                <a:solidFill>
                  <a:srgbClr val="FF0000"/>
                </a:solidFill>
              </a:rPr>
              <a:t>2-3 yrs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19463" name="Picture 7" descr="Picture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750" y="1989138"/>
            <a:ext cx="3829050" cy="2716212"/>
          </a:xfrm>
          <a:prstGeom prst="rect">
            <a:avLst/>
          </a:prstGeom>
          <a:noFill/>
        </p:spPr>
      </p:pic>
      <p:pic>
        <p:nvPicPr>
          <p:cNvPr id="19464" name="Picture 8" descr="Picture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56100" y="2132013"/>
            <a:ext cx="3970338" cy="2716212"/>
          </a:xfrm>
          <a:prstGeom prst="rect">
            <a:avLst/>
          </a:prstGeom>
          <a:noFill/>
        </p:spPr>
      </p:pic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3203575" y="5749164"/>
            <a:ext cx="2603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dirty="0"/>
              <a:t>Force of infection = 1/A </a:t>
            </a:r>
          </a:p>
        </p:txBody>
      </p:sp>
      <p:graphicFrame>
        <p:nvGraphicFramePr>
          <p:cNvPr id="19467" name="Object 11"/>
          <p:cNvGraphicFramePr>
            <a:graphicFrameLocks noChangeAspect="1"/>
          </p:cNvGraphicFramePr>
          <p:nvPr/>
        </p:nvGraphicFramePr>
        <p:xfrm>
          <a:off x="3429000" y="28829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7" name="Equation" r:id="rId6" imgW="914400" imgH="198720" progId="Equation.DSMT4">
                  <p:embed/>
                </p:oleObj>
              </mc:Choice>
              <mc:Fallback>
                <p:oleObj name="Equation" r:id="rId6" imgW="914400" imgH="1987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882900"/>
                        <a:ext cx="914400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2858999" y="1460304"/>
            <a:ext cx="342600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 dirty="0"/>
              <a:t>Rubella </a:t>
            </a:r>
            <a:r>
              <a:rPr lang="en-GB" sz="2000" dirty="0" err="1"/>
              <a:t>sero</a:t>
            </a:r>
            <a:r>
              <a:rPr lang="en-GB" sz="2000" dirty="0"/>
              <a:t>-prevalence by age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3232900" y="1796786"/>
            <a:ext cx="0" cy="21828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3939225" y="4082798"/>
            <a:ext cx="45717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ja-JP" sz="1600" b="1" dirty="0">
                <a:solidFill>
                  <a:srgbClr val="00006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A*</a:t>
            </a:r>
            <a:endParaRPr lang="en-US" sz="2400" b="1" i="1" dirty="0">
              <a:solidFill>
                <a:srgbClr val="000066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6278872" y="4067955"/>
            <a:ext cx="28725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ja-JP" sz="1600" dirty="0">
                <a:solidFill>
                  <a:srgbClr val="00006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</a:t>
            </a:r>
            <a:endParaRPr lang="en-US" sz="2400" i="1" dirty="0">
              <a:solidFill>
                <a:srgbClr val="000066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3232900" y="2084818"/>
            <a:ext cx="3176588" cy="1920875"/>
          </a:xfrm>
          <a:prstGeom prst="rect">
            <a:avLst/>
          </a:prstGeom>
          <a:solidFill>
            <a:srgbClr val="C0C0C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486" name="Line 6"/>
          <p:cNvSpPr>
            <a:spLocks noChangeShapeType="1"/>
          </p:cNvSpPr>
          <p:nvPr/>
        </p:nvSpPr>
        <p:spPr bwMode="auto">
          <a:xfrm>
            <a:off x="3232900" y="4029034"/>
            <a:ext cx="3683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3232900" y="2084818"/>
            <a:ext cx="939800" cy="192087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3251950" y="2991454"/>
            <a:ext cx="947738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altLang="ja-JP" sz="1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Susceptible</a:t>
            </a:r>
            <a:endParaRPr lang="en-US" sz="1000" b="1" i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4631487" y="2989866"/>
            <a:ext cx="914400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altLang="ja-JP" sz="1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Immune</a:t>
            </a:r>
            <a:endParaRPr lang="en-US" sz="1000" b="1" i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127183" y="2084818"/>
            <a:ext cx="45719" cy="194421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1043566" y="313492"/>
            <a:ext cx="705686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Endemic disease in a vaccinated population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33978" y="2077792"/>
            <a:ext cx="3168352" cy="582282"/>
          </a:xfrm>
          <a:prstGeom prst="rect">
            <a:avLst/>
          </a:prstGeom>
          <a:solidFill>
            <a:schemeClr val="accent3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Left Brace 30"/>
          <p:cNvSpPr/>
          <p:nvPr/>
        </p:nvSpPr>
        <p:spPr>
          <a:xfrm>
            <a:off x="2909458" y="2108411"/>
            <a:ext cx="294723" cy="52899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/>
          <p:cNvSpPr txBox="1"/>
          <p:nvPr/>
        </p:nvSpPr>
        <p:spPr>
          <a:xfrm>
            <a:off x="4163924" y="2183981"/>
            <a:ext cx="1204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Vaccinated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732" y="2214210"/>
            <a:ext cx="19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Prop. vaccinated, p</a:t>
            </a:r>
          </a:p>
        </p:txBody>
      </p:sp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101206" y="887203"/>
            <a:ext cx="89073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latin typeface="Tahoma" pitchFamily="34" charset="0"/>
                <a:ea typeface="Tahoma" pitchFamily="34" charset="0"/>
                <a:cs typeface="Tahoma" pitchFamily="34" charset="0"/>
              </a:rPr>
              <a:t>Consider same population with a proportion p vaccinated, insufficient for eradication. </a:t>
            </a:r>
          </a:p>
          <a:p>
            <a:r>
              <a:rPr lang="en-GB" dirty="0">
                <a:latin typeface="Tahoma" pitchFamily="34" charset="0"/>
                <a:ea typeface="Tahoma" pitchFamily="34" charset="0"/>
                <a:cs typeface="Tahoma" pitchFamily="34" charset="0"/>
              </a:rPr>
              <a:t>It now has average age of infection, A*. </a:t>
            </a:r>
            <a:endParaRPr lang="en-US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7" name="Text Box 27"/>
          <p:cNvSpPr txBox="1">
            <a:spLocks noChangeArrowheads="1"/>
          </p:cNvSpPr>
          <p:nvPr/>
        </p:nvSpPr>
        <p:spPr bwMode="auto">
          <a:xfrm>
            <a:off x="220217" y="4865872"/>
            <a:ext cx="40020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/>
              <a:t>Proportion of </a:t>
            </a:r>
            <a:r>
              <a:rPr lang="en-GB" dirty="0" err="1"/>
              <a:t>pop</a:t>
            </a:r>
            <a:r>
              <a:rPr lang="en-GB" baseline="30000" dirty="0" err="1"/>
              <a:t>n</a:t>
            </a:r>
            <a:r>
              <a:rPr lang="en-GB" dirty="0"/>
              <a:t> susceptible is now </a:t>
            </a:r>
            <a:endParaRPr lang="en-US" baseline="30000" dirty="0"/>
          </a:p>
        </p:txBody>
      </p:sp>
      <p:graphicFrame>
        <p:nvGraphicFramePr>
          <p:cNvPr id="38" name="Object 28"/>
          <p:cNvGraphicFramePr>
            <a:graphicFrameLocks noChangeAspect="1"/>
          </p:cNvGraphicFramePr>
          <p:nvPr/>
        </p:nvGraphicFramePr>
        <p:xfrm>
          <a:off x="4181029" y="4642034"/>
          <a:ext cx="1344613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Equation" r:id="rId4" imgW="660240" imgH="393480" progId="Equation.DSMT4">
                  <p:embed/>
                </p:oleObj>
              </mc:Choice>
              <mc:Fallback>
                <p:oleObj name="Equation" r:id="rId4" imgW="660240" imgH="393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029" y="4642034"/>
                        <a:ext cx="1344613" cy="801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AutoShape 29"/>
          <p:cNvSpPr>
            <a:spLocks noChangeArrowheads="1"/>
          </p:cNvSpPr>
          <p:nvPr/>
        </p:nvSpPr>
        <p:spPr bwMode="auto">
          <a:xfrm>
            <a:off x="5673279" y="4794434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40" name="Object 30"/>
          <p:cNvGraphicFramePr>
            <a:graphicFrameLocks noChangeAspect="1"/>
          </p:cNvGraphicFramePr>
          <p:nvPr/>
        </p:nvGraphicFramePr>
        <p:xfrm>
          <a:off x="6697217" y="4603934"/>
          <a:ext cx="2195512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Equation" r:id="rId6" imgW="1041120" imgH="393480" progId="Equation.DSMT4">
                  <p:embed/>
                </p:oleObj>
              </mc:Choice>
              <mc:Fallback>
                <p:oleObj name="Equation" r:id="rId6" imgW="1041120" imgH="393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7217" y="4603934"/>
                        <a:ext cx="2195512" cy="830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31"/>
          <p:cNvGraphicFramePr>
            <a:graphicFrameLocks noChangeAspect="1"/>
          </p:cNvGraphicFramePr>
          <p:nvPr/>
        </p:nvGraphicFramePr>
        <p:xfrm>
          <a:off x="3877436" y="5713099"/>
          <a:ext cx="4405313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Equation" r:id="rId8" imgW="2158920" imgH="419040" progId="Equation.DSMT4">
                  <p:embed/>
                </p:oleObj>
              </mc:Choice>
              <mc:Fallback>
                <p:oleObj name="Equation" r:id="rId8" imgW="2158920" imgH="4190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7436" y="5713099"/>
                        <a:ext cx="4405313" cy="8556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32"/>
          <p:cNvSpPr txBox="1">
            <a:spLocks noChangeArrowheads="1"/>
          </p:cNvSpPr>
          <p:nvPr/>
        </p:nvSpPr>
        <p:spPr bwMode="auto">
          <a:xfrm>
            <a:off x="287338" y="5933367"/>
            <a:ext cx="3956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/>
              <a:t>Comparing to the unvaccinated case: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actMatrices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35696" y="1916832"/>
            <a:ext cx="5076559" cy="3312368"/>
          </a:xfrm>
          <a:prstGeom prst="rect">
            <a:avLst/>
          </a:prstGeom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195736" y="313492"/>
            <a:ext cx="45159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Realistic infectious contacts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576" y="1196752"/>
            <a:ext cx="7498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Real patterns of contact between individuals are strongly correlated with age. </a:t>
            </a:r>
          </a:p>
          <a:p>
            <a:r>
              <a:rPr lang="en-GB" dirty="0"/>
              <a:t>Figure shows intensity of contact as a function of ages of participants: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592" y="5517232"/>
            <a:ext cx="65708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dirty="0"/>
              <a:t>Contact strongest between people of similar age. 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Contact most intense between school children. 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Note contacts between children and parents and also grandparents.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9558" y="6581001"/>
            <a:ext cx="26444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/>
              <a:t>Mossong</a:t>
            </a:r>
            <a:r>
              <a:rPr lang="en-GB" sz="1200" dirty="0"/>
              <a:t> et al, 2008, </a:t>
            </a:r>
            <a:r>
              <a:rPr lang="en-GB" sz="1200" dirty="0" err="1"/>
              <a:t>PLoS</a:t>
            </a:r>
            <a:r>
              <a:rPr lang="en-GB" sz="1200" dirty="0"/>
              <a:t> Med., 5, p74</a:t>
            </a:r>
          </a:p>
        </p:txBody>
      </p:sp>
    </p:spTree>
    <p:extLst>
      <p:ext uri="{BB962C8B-B14F-4D97-AF65-F5344CB8AC3E}">
        <p14:creationId xmlns:p14="http://schemas.microsoft.com/office/powerpoint/2010/main" val="746468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477050"/>
              </p:ext>
            </p:extLst>
          </p:nvPr>
        </p:nvGraphicFramePr>
        <p:xfrm>
          <a:off x="5733308" y="3133638"/>
          <a:ext cx="3289300" cy="256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0" name="Image" r:id="rId3" imgW="4396753" imgH="3430992" progId="">
                  <p:embed/>
                </p:oleObj>
              </mc:Choice>
              <mc:Fallback>
                <p:oleObj name="Image" r:id="rId3" imgW="4396753" imgH="34309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3308" y="3133638"/>
                        <a:ext cx="3289300" cy="256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541733" y="313492"/>
            <a:ext cx="377231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Periodicity in incidence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5074" y="2820939"/>
            <a:ext cx="1334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Measles, UK</a:t>
            </a:r>
          </a:p>
        </p:txBody>
      </p:sp>
      <p:pic>
        <p:nvPicPr>
          <p:cNvPr id="9" name="Picture 4" descr="pertussis london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3334946"/>
            <a:ext cx="5467287" cy="2285942"/>
          </a:xfrm>
          <a:prstGeom prst="rect">
            <a:avLst/>
          </a:prstGeom>
          <a:noFill/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375721" y="2851717"/>
            <a:ext cx="293259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London </a:t>
            </a:r>
            <a:r>
              <a:rPr lang="en-GB" sz="1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pertussis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 notifications </a:t>
            </a:r>
            <a:endParaRPr lang="en-US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0431" y="906579"/>
            <a:ext cx="759541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Infectious diseases are often characterised by periodicity in incidence rates.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degree of annual variability can be extremely high.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Period can be annual, biannual, three or four yearly or highly variable. </a:t>
            </a:r>
          </a:p>
        </p:txBody>
      </p:sp>
    </p:spTree>
    <p:extLst>
      <p:ext uri="{BB962C8B-B14F-4D97-AF65-F5344CB8AC3E}">
        <p14:creationId xmlns:p14="http://schemas.microsoft.com/office/powerpoint/2010/main" val="3715771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2226038" y="260648"/>
            <a:ext cx="46919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US" sz="3200" dirty="0"/>
              <a:t>Seasonality in transmission</a:t>
            </a:r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0" y="31099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8205" name="Rectangle 13"/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60" name="TextBox 59"/>
          <p:cNvSpPr txBox="1"/>
          <p:nvPr/>
        </p:nvSpPr>
        <p:spPr>
          <a:xfrm>
            <a:off x="260624" y="982469"/>
            <a:ext cx="8271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Seasonal variation in incidence is mainly generated by annual cycles in transmissibility </a:t>
            </a:r>
          </a:p>
          <a:p>
            <a:r>
              <a:rPr lang="en-GB" dirty="0"/>
              <a:t>between individuals.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1520" y="1916832"/>
            <a:ext cx="4909549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possible mechanisms of variation are: 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Social distance: people spend more time indoors</a:t>
            </a:r>
          </a:p>
          <a:p>
            <a:r>
              <a:rPr lang="en-GB" dirty="0"/>
              <a:t>  in winter, increasing the frequency and strength</a:t>
            </a:r>
          </a:p>
          <a:p>
            <a:r>
              <a:rPr lang="en-GB" dirty="0"/>
              <a:t>  of contacts. </a:t>
            </a:r>
          </a:p>
          <a:p>
            <a:pPr>
              <a:buFont typeface="Arial" pitchFamily="34" charset="0"/>
              <a:buChar char="•"/>
            </a:pPr>
            <a:endParaRPr lang="en-GB" dirty="0"/>
          </a:p>
          <a:p>
            <a:pPr>
              <a:buFont typeface="Arial" pitchFamily="34" charset="0"/>
              <a:buChar char="•"/>
            </a:pPr>
            <a:r>
              <a:rPr lang="en-GB" dirty="0"/>
              <a:t>School terms: Children in school experience more</a:t>
            </a:r>
          </a:p>
          <a:p>
            <a:r>
              <a:rPr lang="en-GB" dirty="0"/>
              <a:t>  transmission in school than during holidays.</a:t>
            </a:r>
          </a:p>
          <a:p>
            <a:pPr>
              <a:buFont typeface="Arial" pitchFamily="34" charset="0"/>
              <a:buChar char="•"/>
            </a:pPr>
            <a:endParaRPr lang="en-GB" dirty="0"/>
          </a:p>
          <a:p>
            <a:pPr>
              <a:buFont typeface="Arial" pitchFamily="34" charset="0"/>
              <a:buChar char="•"/>
            </a:pPr>
            <a:r>
              <a:rPr lang="en-GB" dirty="0"/>
              <a:t>Absolute humidity: drier air during winter </a:t>
            </a:r>
          </a:p>
          <a:p>
            <a:r>
              <a:rPr lang="en-GB" dirty="0"/>
              <a:t>  facilitates aerosol transmission of disease </a:t>
            </a:r>
          </a:p>
          <a:p>
            <a:r>
              <a:rPr lang="en-GB" dirty="0"/>
              <a:t> (influenza).</a:t>
            </a:r>
          </a:p>
          <a:p>
            <a:pPr>
              <a:buFont typeface="Arial" pitchFamily="34" charset="0"/>
              <a:buChar char="•"/>
            </a:pPr>
            <a:endParaRPr lang="en-GB" dirty="0"/>
          </a:p>
          <a:p>
            <a:pPr>
              <a:buFont typeface="Arial" pitchFamily="34" charset="0"/>
              <a:buChar char="•"/>
            </a:pPr>
            <a:r>
              <a:rPr lang="en-GB" dirty="0"/>
              <a:t>Vitamin D levels: Lower winter light levels leads </a:t>
            </a:r>
          </a:p>
          <a:p>
            <a:r>
              <a:rPr lang="en-GB" dirty="0"/>
              <a:t>  lower Vitamin D levels which increase </a:t>
            </a:r>
          </a:p>
          <a:p>
            <a:r>
              <a:rPr lang="en-GB" dirty="0"/>
              <a:t>  susceptibility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038" y="1434262"/>
            <a:ext cx="1269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u="sng" dirty="0"/>
              <a:t>School terms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6216" y="4077072"/>
            <a:ext cx="1027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u="sng" dirty="0"/>
              <a:t>Sinusoidal</a:t>
            </a: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64013" y="1467222"/>
            <a:ext cx="3800475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8396" y="4088085"/>
            <a:ext cx="384810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47134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194825" y="313492"/>
            <a:ext cx="67543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Effect of vaccination on disease dynamics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567328" y="1605060"/>
            <a:ext cx="338437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buFontTx/>
              <a:buChar char="•"/>
            </a:pPr>
            <a:r>
              <a:rPr lang="en-GB" dirty="0">
                <a:latin typeface="+mj-lt"/>
                <a:ea typeface="Tahoma" pitchFamily="34" charset="0"/>
                <a:cs typeface="Tahoma" pitchFamily="34" charset="0"/>
              </a:rPr>
              <a:t> Mean age of infection. </a:t>
            </a:r>
          </a:p>
          <a:p>
            <a:pPr eaLnBrk="0" hangingPunct="0">
              <a:buFontTx/>
              <a:buChar char="•"/>
            </a:pPr>
            <a:r>
              <a:rPr lang="en-GB" dirty="0">
                <a:latin typeface="+mj-lt"/>
                <a:ea typeface="Tahoma" pitchFamily="34" charset="0"/>
                <a:cs typeface="Tahoma" pitchFamily="34" charset="0"/>
              </a:rPr>
              <a:t> Birth rates in the population</a:t>
            </a:r>
          </a:p>
          <a:p>
            <a:pPr eaLnBrk="0" hangingPunct="0">
              <a:buFontTx/>
              <a:buChar char="•"/>
            </a:pPr>
            <a:r>
              <a:rPr lang="en-GB" dirty="0">
                <a:latin typeface="+mj-lt"/>
                <a:ea typeface="Tahoma" pitchFamily="34" charset="0"/>
                <a:cs typeface="Tahoma" pitchFamily="34" charset="0"/>
              </a:rPr>
              <a:t> Seasonality of contact rates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4040656"/>
              </p:ext>
            </p:extLst>
          </p:nvPr>
        </p:nvGraphicFramePr>
        <p:xfrm>
          <a:off x="2784475" y="3216275"/>
          <a:ext cx="30861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" name="Equation" r:id="rId3" imgW="1346040" imgH="444240" progId="Equation.DSMT4">
                  <p:embed/>
                </p:oleObj>
              </mc:Choice>
              <mc:Fallback>
                <p:oleObj name="Equation" r:id="rId3" imgW="1346040" imgH="4442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5" y="3216275"/>
                        <a:ext cx="3086100" cy="102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7544" y="2874112"/>
            <a:ext cx="40362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+mj-lt"/>
                <a:ea typeface="Tahoma" pitchFamily="34" charset="0"/>
                <a:cs typeface="Tahoma" pitchFamily="34" charset="0"/>
              </a:rPr>
              <a:t>with a period approximately given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1663" y="1050426"/>
            <a:ext cx="4750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periodicity of disease incidence depends 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119" y="4572000"/>
            <a:ext cx="7537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altered mean age of infection under vaccination gives a new longer period:</a:t>
            </a:r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3116263" y="4999038"/>
          <a:ext cx="230028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name="Equation" r:id="rId5" imgW="1002960" imgH="469800" progId="Equation.DSMT4">
                  <p:embed/>
                </p:oleObj>
              </mc:Choice>
              <mc:Fallback>
                <p:oleObj name="Equation" r:id="rId5" imgW="1002960" imgH="4698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4999038"/>
                        <a:ext cx="2300287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65263" y="2857500"/>
            <a:ext cx="5164137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323850" y="260350"/>
            <a:ext cx="82073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Simulating the impact of vaccination</a:t>
            </a:r>
          </a:p>
        </p:txBody>
      </p:sp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363538" y="1181100"/>
            <a:ext cx="8355012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2000" dirty="0"/>
              <a:t> Simple SEIR model, modeling 70% vaccination (at birth) with 85% efficacy.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GB" sz="2000" dirty="0"/>
              <a:t> Assume vaccination reduces infectiousness.</a:t>
            </a:r>
            <a:endParaRPr lang="en-US" sz="2000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 dirty="0"/>
              <a:t> Switch from predominantly annual to 4-5 year cycles.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 dirty="0"/>
              <a:t> Stochastic model somewhat more realistic.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 noTextEdit="1"/>
          </p:cNvSpPr>
          <p:nvPr/>
        </p:nvSpPr>
        <p:spPr bwMode="auto">
          <a:xfrm>
            <a:off x="180975" y="2308225"/>
            <a:ext cx="0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7651" name="Text Box 5"/>
          <p:cNvSpPr txBox="1">
            <a:spLocks noChangeArrowheads="1"/>
          </p:cNvSpPr>
          <p:nvPr/>
        </p:nvSpPr>
        <p:spPr bwMode="auto">
          <a:xfrm>
            <a:off x="465138" y="1608138"/>
            <a:ext cx="8408987" cy="1585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90000"/>
              </a:spcAft>
              <a:buFontTx/>
              <a:buChar char="•"/>
            </a:pPr>
            <a:r>
              <a:rPr lang="en-GB" sz="2000" dirty="0"/>
              <a:t> The current concern about MMR uptake levels makes predicting the likelihood of a large measles outbreak a priority.</a:t>
            </a:r>
          </a:p>
          <a:p>
            <a:pPr>
              <a:spcAft>
                <a:spcPct val="90000"/>
              </a:spcAft>
              <a:buFontTx/>
              <a:buChar char="•"/>
            </a:pPr>
            <a:r>
              <a:rPr lang="en-GB" sz="2000" dirty="0"/>
              <a:t> Can data on the current small outbreaks seen in the last few years tell us anything?</a:t>
            </a:r>
            <a:endParaRPr lang="en-US" sz="2000" dirty="0"/>
          </a:p>
        </p:txBody>
      </p:sp>
      <p:sp>
        <p:nvSpPr>
          <p:cNvPr id="27652" name="Rectangle 6"/>
          <p:cNvSpPr>
            <a:spLocks noChangeArrowheads="1"/>
          </p:cNvSpPr>
          <p:nvPr/>
        </p:nvSpPr>
        <p:spPr bwMode="auto">
          <a:xfrm>
            <a:off x="681831" y="328613"/>
            <a:ext cx="7780338" cy="52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28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impact of reduced MMR uptake</a:t>
            </a:r>
          </a:p>
        </p:txBody>
      </p:sp>
      <p:pic>
        <p:nvPicPr>
          <p:cNvPr id="2765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75" y="3424238"/>
            <a:ext cx="6562725" cy="2401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4" name="Text Box 8"/>
          <p:cNvSpPr txBox="1">
            <a:spLocks noChangeArrowheads="1"/>
          </p:cNvSpPr>
          <p:nvPr/>
        </p:nvSpPr>
        <p:spPr bwMode="auto">
          <a:xfrm>
            <a:off x="854075" y="6251575"/>
            <a:ext cx="45704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/>
              <a:t>[Jansen, V.A.A. et al, Science (2002), 301:804]</a:t>
            </a:r>
          </a:p>
        </p:txBody>
      </p:sp>
    </p:spTree>
    <p:extLst>
      <p:ext uri="{BB962C8B-B14F-4D97-AF65-F5344CB8AC3E}">
        <p14:creationId xmlns:p14="http://schemas.microsoft.com/office/powerpoint/2010/main" val="1794697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 noTextEdit="1"/>
          </p:cNvSpPr>
          <p:nvPr/>
        </p:nvSpPr>
        <p:spPr bwMode="auto">
          <a:xfrm>
            <a:off x="180975" y="2308225"/>
            <a:ext cx="0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8675" name="Text Box 4"/>
          <p:cNvSpPr txBox="1">
            <a:spLocks noChangeArrowheads="1"/>
          </p:cNvSpPr>
          <p:nvPr/>
        </p:nvSpPr>
        <p:spPr bwMode="auto">
          <a:xfrm>
            <a:off x="457200" y="1190625"/>
            <a:ext cx="4262438" cy="518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90000"/>
              </a:spcAft>
              <a:buFontTx/>
              <a:buChar char="•"/>
            </a:pPr>
            <a:r>
              <a:rPr lang="en-GB" sz="2000" dirty="0"/>
              <a:t> For sub-critical transmission, possible to estimate </a:t>
            </a:r>
            <a:r>
              <a:rPr lang="en-GB" sz="2000" i="1" dirty="0"/>
              <a:t>R</a:t>
            </a:r>
            <a:r>
              <a:rPr lang="en-GB" sz="2000" dirty="0"/>
              <a:t> from the distribution of outbreak sizes (</a:t>
            </a:r>
            <a:r>
              <a:rPr lang="en-GB" sz="2000" i="1" dirty="0"/>
              <a:t>m</a:t>
            </a:r>
            <a:r>
              <a:rPr lang="en-GB" sz="2000" dirty="0"/>
              <a:t>=2/(1-R), where </a:t>
            </a:r>
            <a:r>
              <a:rPr lang="en-GB" sz="2000" i="1" dirty="0"/>
              <a:t>m</a:t>
            </a:r>
            <a:r>
              <a:rPr lang="en-GB" sz="2000" dirty="0"/>
              <a:t> is mean outbreak size).</a:t>
            </a:r>
          </a:p>
          <a:p>
            <a:pPr>
              <a:spcAft>
                <a:spcPct val="90000"/>
              </a:spcAft>
              <a:buFontTx/>
              <a:buChar char="•"/>
            </a:pPr>
            <a:r>
              <a:rPr lang="en-GB" sz="2000" dirty="0"/>
              <a:t> This analysis shows a significantly increased level of transmission in the period 1999-2002 compared with 1995-98.</a:t>
            </a:r>
          </a:p>
          <a:p>
            <a:pPr>
              <a:spcAft>
                <a:spcPct val="90000"/>
              </a:spcAft>
              <a:buFontTx/>
              <a:buChar char="•"/>
            </a:pPr>
            <a:r>
              <a:rPr lang="en-GB" sz="2000" dirty="0"/>
              <a:t> </a:t>
            </a:r>
            <a:r>
              <a:rPr lang="en-GB" sz="2000" i="1" dirty="0"/>
              <a:t>R</a:t>
            </a:r>
            <a:r>
              <a:rPr lang="en-GB" sz="2000" dirty="0"/>
              <a:t> is now dangerously close to 1 – meaning a major measles outbreak is due any time.</a:t>
            </a:r>
          </a:p>
          <a:p>
            <a:pPr>
              <a:spcAft>
                <a:spcPct val="90000"/>
              </a:spcAft>
              <a:buFontTx/>
              <a:buChar char="•"/>
            </a:pPr>
            <a:r>
              <a:rPr lang="en-GB" sz="2000" dirty="0"/>
              <a:t> This is an intrinsically stochastic analysis – since outbreak size is a random variable.</a:t>
            </a:r>
            <a:endParaRPr lang="en-US" sz="2000" dirty="0"/>
          </a:p>
        </p:txBody>
      </p:sp>
      <p:sp>
        <p:nvSpPr>
          <p:cNvPr id="28676" name="Rectangle 5"/>
          <p:cNvSpPr>
            <a:spLocks noChangeArrowheads="1"/>
          </p:cNvSpPr>
          <p:nvPr/>
        </p:nvSpPr>
        <p:spPr bwMode="auto">
          <a:xfrm>
            <a:off x="765175" y="328613"/>
            <a:ext cx="7780338" cy="52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Inferring </a:t>
            </a:r>
            <a:r>
              <a:rPr lang="en-GB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from outbreak size distributions</a:t>
            </a:r>
          </a:p>
        </p:txBody>
      </p:sp>
      <p:grpSp>
        <p:nvGrpSpPr>
          <p:cNvPr id="28677" name="Group 12"/>
          <p:cNvGrpSpPr>
            <a:grpSpLocks/>
          </p:cNvGrpSpPr>
          <p:nvPr/>
        </p:nvGrpSpPr>
        <p:grpSpPr bwMode="auto">
          <a:xfrm>
            <a:off x="5170488" y="4019550"/>
            <a:ext cx="3109912" cy="2182813"/>
            <a:chOff x="611" y="2160"/>
            <a:chExt cx="1959" cy="1375"/>
          </a:xfrm>
        </p:grpSpPr>
        <p:pic>
          <p:nvPicPr>
            <p:cNvPr id="28681" name="Picture 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11" y="2186"/>
              <a:ext cx="1959" cy="1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682" name="Rectangle 10"/>
            <p:cNvSpPr>
              <a:spLocks noChangeArrowheads="1"/>
            </p:cNvSpPr>
            <p:nvPr/>
          </p:nvSpPr>
          <p:spPr bwMode="auto">
            <a:xfrm>
              <a:off x="963" y="2160"/>
              <a:ext cx="189" cy="1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8678" name="Group 13"/>
          <p:cNvGrpSpPr>
            <a:grpSpLocks/>
          </p:cNvGrpSpPr>
          <p:nvPr/>
        </p:nvGrpSpPr>
        <p:grpSpPr bwMode="auto">
          <a:xfrm>
            <a:off x="5059363" y="1250950"/>
            <a:ext cx="3257550" cy="2259013"/>
            <a:chOff x="3004" y="2068"/>
            <a:chExt cx="2052" cy="1423"/>
          </a:xfrm>
        </p:grpSpPr>
        <p:pic>
          <p:nvPicPr>
            <p:cNvPr id="28679" name="Picture 9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004" y="2078"/>
              <a:ext cx="2052" cy="1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680" name="Rectangle 11"/>
            <p:cNvSpPr>
              <a:spLocks noChangeArrowheads="1"/>
            </p:cNvSpPr>
            <p:nvPr/>
          </p:nvSpPr>
          <p:spPr bwMode="auto">
            <a:xfrm>
              <a:off x="3403" y="2068"/>
              <a:ext cx="189" cy="1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80323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736232" y="1341188"/>
            <a:ext cx="7590219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sz="2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Rubella infection</a:t>
            </a:r>
          </a:p>
          <a:p>
            <a:pPr lvl="1" eaLnBrk="0" hangingPunct="0">
              <a:buFontTx/>
              <a:buChar char="•"/>
            </a:pPr>
            <a:r>
              <a:rPr lang="en-GB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GB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Virus, directly transmitted</a:t>
            </a:r>
          </a:p>
          <a:p>
            <a:pPr lvl="1" eaLnBrk="0" hangingPunct="0">
              <a:buFontTx/>
              <a:buChar char="•"/>
            </a:pPr>
            <a:r>
              <a:rPr lang="en-GB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Mild fever</a:t>
            </a:r>
          </a:p>
          <a:p>
            <a:pPr lvl="1" eaLnBrk="0" hangingPunct="0">
              <a:buFontTx/>
              <a:buChar char="•"/>
            </a:pPr>
            <a:r>
              <a:rPr lang="en-GB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Rash (</a:t>
            </a:r>
            <a:r>
              <a:rPr lang="en-GB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punctate</a:t>
            </a:r>
            <a:r>
              <a:rPr lang="en-GB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and </a:t>
            </a:r>
            <a:r>
              <a:rPr lang="en-GB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maculopapular</a:t>
            </a:r>
            <a:r>
              <a:rPr lang="en-GB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  <a:p>
            <a:pPr lvl="1" eaLnBrk="0" hangingPunct="0">
              <a:buFontTx/>
              <a:buChar char="•"/>
            </a:pPr>
            <a:r>
              <a:rPr lang="en-GB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Transmission to foetus possible (p&gt;0.25) when </a:t>
            </a:r>
          </a:p>
          <a:p>
            <a:pPr lvl="1" eaLnBrk="0" hangingPunct="0"/>
            <a:r>
              <a:rPr lang="en-GB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acquired during 1</a:t>
            </a:r>
            <a:r>
              <a:rPr lang="en-GB" sz="2000" baseline="30000" dirty="0">
                <a:latin typeface="Tahoma" pitchFamily="34" charset="0"/>
                <a:ea typeface="Tahoma" pitchFamily="34" charset="0"/>
                <a:cs typeface="Tahoma" pitchFamily="34" charset="0"/>
              </a:rPr>
              <a:t>st</a:t>
            </a:r>
            <a:r>
              <a:rPr lang="en-GB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trimester of pregnancy</a:t>
            </a:r>
          </a:p>
          <a:p>
            <a:pPr eaLnBrk="0" hangingPunct="0"/>
            <a:endParaRPr lang="en-GB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eaLnBrk="0" hangingPunct="0"/>
            <a:endParaRPr lang="en-GB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eaLnBrk="0" hangingPunct="0"/>
            <a:r>
              <a:rPr lang="en-GB" sz="2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Congenital rubella infection</a:t>
            </a:r>
          </a:p>
          <a:p>
            <a:pPr lvl="1" eaLnBrk="0" hangingPunct="0">
              <a:buFontTx/>
              <a:buChar char="•"/>
            </a:pPr>
            <a:r>
              <a:rPr lang="en-GB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GB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causes Congenital Rubella Syndrome in about 80% of cases</a:t>
            </a:r>
          </a:p>
          <a:p>
            <a:pPr lvl="1" eaLnBrk="0" hangingPunct="0">
              <a:buFontTx/>
              <a:buChar char="•"/>
            </a:pPr>
            <a:r>
              <a:rPr lang="en-GB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CRS: deafness, blindness, heart defects</a:t>
            </a:r>
          </a:p>
          <a:p>
            <a:pPr eaLnBrk="0" hangingPunct="0"/>
            <a:r>
              <a:rPr lang="en-GB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850796" y="313492"/>
            <a:ext cx="51884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Introduction to rubella and CRS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1" name="Group 3"/>
          <p:cNvGraphicFramePr>
            <a:graphicFrameLocks noGrp="1"/>
          </p:cNvGraphicFramePr>
          <p:nvPr>
            <p:ph type="tbl" idx="1"/>
          </p:nvPr>
        </p:nvGraphicFramePr>
        <p:xfrm>
          <a:off x="623757" y="1427819"/>
          <a:ext cx="7772400" cy="2547621"/>
        </p:xfrm>
        <a:graphic>
          <a:graphicData uri="http://schemas.openxmlformats.org/drawingml/2006/table">
            <a:tbl>
              <a:tblPr/>
              <a:tblGrid>
                <a:gridCol w="2662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2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2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29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4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years</a:t>
                      </a:r>
                      <a:endParaRPr kumimoji="0" lang="en-US" sz="2000" b="0" i="1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71-75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76-80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81-85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86-90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91-95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96-00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CRI only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34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25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CRS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19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Total CRI/CRS births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241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206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113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Terminations for rubella (EW only)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3709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2002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759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268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43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291" name="Text Box 43"/>
          <p:cNvSpPr txBox="1">
            <a:spLocks noChangeArrowheads="1"/>
          </p:cNvSpPr>
          <p:nvPr/>
        </p:nvSpPr>
        <p:spPr bwMode="auto">
          <a:xfrm>
            <a:off x="380174" y="4368170"/>
            <a:ext cx="8424862" cy="1231106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sz="2000" b="1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GB" sz="2000" b="1" dirty="0">
                <a:solidFill>
                  <a:srgbClr val="00006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Vaccination policies in the UK</a:t>
            </a:r>
            <a:r>
              <a:rPr lang="en-GB" sz="2000" dirty="0">
                <a:solidFill>
                  <a:srgbClr val="FF99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</a:p>
          <a:p>
            <a:pPr lvl="1" eaLnBrk="0" hangingPunct="0"/>
            <a:r>
              <a:rPr lang="en-GB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1970- 1988: selective immunisation: all schoolgirls, susceptible adult women</a:t>
            </a:r>
          </a:p>
          <a:p>
            <a:pPr lvl="1" eaLnBrk="0" hangingPunct="0"/>
            <a:r>
              <a:rPr lang="en-GB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1988- now: MMR in second year of life</a:t>
            </a:r>
          </a:p>
          <a:p>
            <a:pPr lvl="1" eaLnBrk="0" hangingPunct="0"/>
            <a:r>
              <a:rPr lang="en-GB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1996: schoolgirl immunisation program ceased</a:t>
            </a:r>
            <a:endParaRPr lang="en-US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310883" y="313492"/>
            <a:ext cx="652223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GB" sz="2800" dirty="0"/>
              <a:t>Epidemiology of CRS in the United Kingdom</a:t>
            </a:r>
            <a:endParaRPr lang="en-US" sz="28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310883" y="313492"/>
            <a:ext cx="62166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GB" sz="2800" dirty="0"/>
              <a:t>Vaccination: a possible perverse outcome</a:t>
            </a:r>
            <a:endParaRPr lang="en-US" sz="28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0523" y="937071"/>
            <a:ext cx="8510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existence of an important risk group (women of child-bearing age) outside the usual </a:t>
            </a:r>
          </a:p>
          <a:p>
            <a:r>
              <a:rPr lang="en-GB" dirty="0"/>
              <a:t>age-range of infection can lead to unexpected effects.</a:t>
            </a:r>
          </a:p>
        </p:txBody>
      </p:sp>
      <p:pic>
        <p:nvPicPr>
          <p:cNvPr id="4" name="Picture 6" descr="Picture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3249" y="1845725"/>
            <a:ext cx="3829050" cy="2716213"/>
          </a:xfrm>
          <a:prstGeom prst="rect">
            <a:avLst/>
          </a:prstGeom>
          <a:noFill/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250380" y="4580200"/>
            <a:ext cx="1479893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buFont typeface="Arial" pitchFamily="34" charset="0"/>
              <a:buChar char="•"/>
            </a:pPr>
            <a:r>
              <a:rPr lang="en-GB" i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A= </a:t>
            </a:r>
            <a:r>
              <a:rPr lang="en-GB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9-10 yrs</a:t>
            </a:r>
            <a:endParaRPr lang="en-US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2509" y="2017726"/>
            <a:ext cx="437504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dirty="0"/>
              <a:t>Pre-vaccination, most women are already </a:t>
            </a:r>
          </a:p>
          <a:p>
            <a:r>
              <a:rPr lang="en-GB" dirty="0"/>
              <a:t>  immune to rubella by child-bearing age. </a:t>
            </a:r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r>
              <a:rPr lang="en-GB" dirty="0"/>
              <a:t>Introducing vaccination will increase A, and </a:t>
            </a:r>
          </a:p>
          <a:p>
            <a:r>
              <a:rPr lang="en-GB" dirty="0"/>
              <a:t>  hence the number of </a:t>
            </a:r>
            <a:r>
              <a:rPr lang="en-GB" dirty="0" err="1"/>
              <a:t>susceptibles</a:t>
            </a:r>
            <a:r>
              <a:rPr lang="en-GB" dirty="0"/>
              <a:t> in the </a:t>
            </a:r>
          </a:p>
          <a:p>
            <a:r>
              <a:rPr lang="en-GB" dirty="0"/>
              <a:t>  risk group, S</a:t>
            </a:r>
            <a:r>
              <a:rPr lang="en-GB" baseline="-25000" dirty="0">
                <a:latin typeface="Symbol" pitchFamily="18" charset="2"/>
              </a:rPr>
              <a:t>a</a:t>
            </a:r>
            <a:r>
              <a:rPr lang="en-GB" dirty="0"/>
              <a:t>. </a:t>
            </a:r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r>
              <a:rPr lang="en-GB" dirty="0"/>
              <a:t>However, vaccination also decreases the </a:t>
            </a:r>
          </a:p>
          <a:p>
            <a:r>
              <a:rPr lang="en-GB" dirty="0"/>
              <a:t>  force of infection, </a:t>
            </a:r>
            <a:r>
              <a:rPr lang="en-GB" dirty="0">
                <a:latin typeface="Symbol" pitchFamily="18" charset="2"/>
              </a:rPr>
              <a:t>l</a:t>
            </a:r>
            <a:r>
              <a:rPr lang="en-GB" baseline="-25000" dirty="0">
                <a:latin typeface="Symbol" pitchFamily="18" charset="2"/>
              </a:rPr>
              <a:t>a</a:t>
            </a:r>
            <a:r>
              <a:rPr lang="en-GB" dirty="0"/>
              <a:t>, experienced by the </a:t>
            </a:r>
          </a:p>
          <a:p>
            <a:r>
              <a:rPr lang="en-GB" dirty="0"/>
              <a:t>  risk group.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2966" y="5191677"/>
            <a:ext cx="4565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Case rate in the risk group is given by</a:t>
            </a:r>
            <a:r>
              <a:rPr lang="en-GB" dirty="0">
                <a:latin typeface="Symbol" pitchFamily="18" charset="2"/>
              </a:rPr>
              <a:t> </a:t>
            </a:r>
            <a:r>
              <a:rPr lang="en-GB" dirty="0"/>
              <a:t>S</a:t>
            </a:r>
            <a:r>
              <a:rPr lang="en-GB" baseline="-25000" dirty="0">
                <a:latin typeface="Symbol" pitchFamily="18" charset="2"/>
              </a:rPr>
              <a:t>a </a:t>
            </a:r>
            <a:r>
              <a:rPr lang="en-GB" dirty="0">
                <a:latin typeface="Symbol" pitchFamily="18" charset="2"/>
              </a:rPr>
              <a:t>l</a:t>
            </a:r>
            <a:r>
              <a:rPr lang="en-GB" baseline="-25000" dirty="0">
                <a:latin typeface="Symbol" pitchFamily="18" charset="2"/>
              </a:rPr>
              <a:t>a</a:t>
            </a:r>
            <a:r>
              <a:rPr lang="en-GB" dirty="0"/>
              <a:t>, so: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704520" y="5809799"/>
            <a:ext cx="5383205" cy="5232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GB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If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sz="2800" dirty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GB" sz="2400" baseline="-25000" dirty="0">
                <a:latin typeface="Symbol" pitchFamily="18" charset="2"/>
              </a:rPr>
              <a:t>a</a:t>
            </a:r>
            <a:r>
              <a:rPr lang="el-GR" sz="2400" i="1" dirty="0">
                <a:latin typeface="Times New Roman" pitchFamily="18" charset="0"/>
              </a:rPr>
              <a:t> </a:t>
            </a:r>
            <a:r>
              <a:rPr lang="el-GR" sz="2800" dirty="0">
                <a:latin typeface="Times New Roman" pitchFamily="18" charset="0"/>
              </a:rPr>
              <a:t>↓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and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S</a:t>
            </a:r>
            <a:r>
              <a:rPr lang="en-GB" sz="2400" baseline="-25000" dirty="0">
                <a:latin typeface="Symbol" pitchFamily="18" charset="2"/>
              </a:rPr>
              <a:t>a</a:t>
            </a:r>
            <a:r>
              <a:rPr lang="en-GB" sz="2400" i="1" dirty="0">
                <a:latin typeface="Times New Roman" pitchFamily="18" charset="0"/>
              </a:rPr>
              <a:t> </a:t>
            </a:r>
            <a:r>
              <a:rPr lang="el-GR" sz="2800" dirty="0">
                <a:latin typeface="Times New Roman" pitchFamily="18" charset="0"/>
                <a:cs typeface="Times New Roman" pitchFamily="18" charset="0"/>
              </a:rPr>
              <a:t>↑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GB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then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l-GR" sz="2800" dirty="0">
                <a:latin typeface="Times New Roman" pitchFamily="18" charset="0"/>
              </a:rPr>
              <a:t>λ</a:t>
            </a:r>
            <a:r>
              <a:rPr lang="en-GB" sz="2400" baseline="-25000" dirty="0">
                <a:latin typeface="Symbol" pitchFamily="18" charset="2"/>
              </a:rPr>
              <a:t>a</a:t>
            </a:r>
            <a:r>
              <a:rPr lang="el-GR" sz="2400" i="1" dirty="0">
                <a:latin typeface="Times New Roman" pitchFamily="18" charset="0"/>
              </a:rPr>
              <a:t> </a:t>
            </a:r>
            <a:r>
              <a:rPr lang="en-GB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S</a:t>
            </a:r>
            <a:r>
              <a:rPr lang="en-GB" sz="2400" baseline="-25000" dirty="0">
                <a:latin typeface="Symbol" pitchFamily="18" charset="2"/>
              </a:rPr>
              <a:t>a</a:t>
            </a:r>
            <a:r>
              <a:rPr lang="en-GB" sz="2400" i="1" dirty="0">
                <a:latin typeface="Times New Roman" pitchFamily="18" charset="0"/>
              </a:rPr>
              <a:t> </a:t>
            </a:r>
            <a:r>
              <a:rPr lang="el-GR" sz="2800" dirty="0">
                <a:latin typeface="Times New Roman" pitchFamily="18" charset="0"/>
              </a:rPr>
              <a:t>↓</a:t>
            </a:r>
            <a:r>
              <a:rPr lang="en-GB" sz="2800" dirty="0">
                <a:latin typeface="Times New Roman" pitchFamily="18" charset="0"/>
              </a:rPr>
              <a:t> </a:t>
            </a:r>
            <a:r>
              <a:rPr lang="en-GB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or</a:t>
            </a:r>
            <a:r>
              <a:rPr lang="en-GB" sz="2800" dirty="0">
                <a:latin typeface="Times New Roman" pitchFamily="18" charset="0"/>
              </a:rPr>
              <a:t> </a:t>
            </a:r>
            <a:r>
              <a:rPr lang="el-GR" sz="2800" dirty="0">
                <a:latin typeface="Times New Roman" pitchFamily="18" charset="0"/>
              </a:rPr>
              <a:t>↑</a:t>
            </a:r>
            <a:r>
              <a:rPr lang="en-GB" sz="2800" dirty="0">
                <a:latin typeface="Times New Roman" pitchFamily="18" charset="0"/>
              </a:rPr>
              <a:t> ?</a:t>
            </a:r>
            <a:endParaRPr lang="en-US" sz="2800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40437" y="1957834"/>
            <a:ext cx="4791075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395731" y="313492"/>
            <a:ext cx="43525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GB" sz="2800" dirty="0"/>
              <a:t>Prediction of a simple model</a:t>
            </a:r>
            <a:endParaRPr lang="en-US" sz="28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6027" y="974856"/>
            <a:ext cx="8910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very simple model, based on vaccination at birth and uniform mixing shows an equilibrium </a:t>
            </a:r>
          </a:p>
          <a:p>
            <a:r>
              <a:rPr lang="en-GB" dirty="0"/>
              <a:t>increase in relative risk for a risk group at age 30. Risk increases with age and R</a:t>
            </a:r>
            <a:r>
              <a:rPr lang="en-GB" baseline="-25000" dirty="0"/>
              <a:t>0</a:t>
            </a:r>
            <a:r>
              <a:rPr lang="en-GB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80602" y="419414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</a:t>
            </a:r>
            <a:r>
              <a:rPr lang="en-GB" baseline="-25000" dirty="0"/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409" y="5410830"/>
            <a:ext cx="84450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Is this effect seen in reality and, if so, how should vaccination programs be implemented</a:t>
            </a:r>
          </a:p>
          <a:p>
            <a:r>
              <a:rPr lang="en-GB" dirty="0"/>
              <a:t>to avoid it?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539264" y="333375"/>
            <a:ext cx="8065477" cy="627917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+mj-ea"/>
                <a:cs typeface="Tahoma" pitchFamily="34" charset="0"/>
              </a:rPr>
              <a:t>CRS: partially vaccinated populations – short term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9094" y="1040855"/>
            <a:ext cx="81575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MMR is recommended vaccine, but relatively expensive.</a:t>
            </a: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In many countries, availability is through private healthcare and hence covers</a:t>
            </a:r>
          </a:p>
          <a:p>
            <a:r>
              <a:rPr lang="en-GB" dirty="0">
                <a:latin typeface="Tahoma" pitchFamily="34" charset="0"/>
                <a:cs typeface="Tahoma" pitchFamily="34" charset="0"/>
              </a:rPr>
              <a:t>  only a fraction of the population.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7626" y="2132856"/>
            <a:ext cx="72948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ahoma" pitchFamily="34" charset="0"/>
                <a:cs typeface="Tahoma" pitchFamily="34" charset="0"/>
              </a:rPr>
              <a:t>Vaccinated group pushes FOI down. What happens to unprotected in </a:t>
            </a:r>
          </a:p>
          <a:p>
            <a:r>
              <a:rPr lang="en-GB" dirty="0">
                <a:latin typeface="Tahoma" pitchFamily="34" charset="0"/>
                <a:cs typeface="Tahoma" pitchFamily="34" charset="0"/>
              </a:rPr>
              <a:t>short and long term?</a:t>
            </a:r>
          </a:p>
          <a:p>
            <a:endParaRPr lang="en-GB" dirty="0">
              <a:latin typeface="Tahoma" pitchFamily="34" charset="0"/>
              <a:cs typeface="Tahoma" pitchFamily="34" charset="0"/>
            </a:endParaRPr>
          </a:p>
          <a:p>
            <a:r>
              <a:rPr lang="en-GB" dirty="0">
                <a:latin typeface="Tahoma" pitchFamily="34" charset="0"/>
                <a:cs typeface="Tahoma" pitchFamily="34" charset="0"/>
              </a:rPr>
              <a:t>Short term:</a:t>
            </a:r>
          </a:p>
        </p:txBody>
      </p:sp>
      <p:pic>
        <p:nvPicPr>
          <p:cNvPr id="2129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9167" y="3474253"/>
            <a:ext cx="7229475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771191" y="3505201"/>
            <a:ext cx="11725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Unvaccinated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85452" y="3505201"/>
            <a:ext cx="1502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Whole population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321675" y="333375"/>
            <a:ext cx="8531158" cy="692343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+mj-ea"/>
                <a:cs typeface="Tahoma" pitchFamily="34" charset="0"/>
              </a:rPr>
              <a:t>CRS: partially vaccinated populations – long</a:t>
            </a:r>
            <a:r>
              <a:rPr kumimoji="0" lang="en-GB" sz="28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+mj-ea"/>
                <a:cs typeface="Tahoma" pitchFamily="34" charset="0"/>
              </a:rPr>
              <a:t> term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 pitchFamily="34" charset="0"/>
              <a:ea typeface="+mj-ea"/>
              <a:cs typeface="Tahoma" pitchFamily="34" charset="0"/>
            </a:endParaRPr>
          </a:p>
        </p:txBody>
      </p:sp>
      <p:pic>
        <p:nvPicPr>
          <p:cNvPr id="2140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4821" y="963033"/>
            <a:ext cx="2701429" cy="5686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965016" y="6519446"/>
            <a:ext cx="1261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Tahoma" pitchFamily="34" charset="0"/>
                <a:cs typeface="Tahoma" pitchFamily="34" charset="0"/>
              </a:rPr>
              <a:t>%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819" y="1507793"/>
            <a:ext cx="533896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ahoma" pitchFamily="34" charset="0"/>
                <a:cs typeface="Tahoma" pitchFamily="34" charset="0"/>
              </a:rPr>
              <a:t>Long term effects:</a:t>
            </a: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Vaccination always increases CRS incidence in </a:t>
            </a:r>
          </a:p>
          <a:p>
            <a:r>
              <a:rPr lang="en-GB" dirty="0">
                <a:latin typeface="Tahoma" pitchFamily="34" charset="0"/>
                <a:cs typeface="Tahoma" pitchFamily="34" charset="0"/>
              </a:rPr>
              <a:t>  unvaccinated group. </a:t>
            </a:r>
          </a:p>
          <a:p>
            <a:pPr>
              <a:buFont typeface="Arial" pitchFamily="34" charset="0"/>
              <a:buChar char="•"/>
            </a:pPr>
            <a:endParaRPr lang="en-GB" dirty="0">
              <a:latin typeface="Tahoma" pitchFamily="34" charset="0"/>
              <a:cs typeface="Tahoma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Incidence increases with coverage, up to a point. </a:t>
            </a:r>
          </a:p>
          <a:p>
            <a:pPr>
              <a:buFont typeface="Arial" pitchFamily="34" charset="0"/>
              <a:buChar char="•"/>
            </a:pPr>
            <a:endParaRPr lang="en-GB" dirty="0">
              <a:latin typeface="Tahoma" pitchFamily="34" charset="0"/>
              <a:cs typeface="Tahoma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For medium-high pre-vaccination FOI, there is </a:t>
            </a:r>
          </a:p>
          <a:p>
            <a:r>
              <a:rPr lang="en-GB" dirty="0">
                <a:latin typeface="Tahoma" pitchFamily="34" charset="0"/>
                <a:cs typeface="Tahoma" pitchFamily="34" charset="0"/>
              </a:rPr>
              <a:t>  increase in the population as a whole. 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4329116" y="3706239"/>
            <a:ext cx="29017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Tahoma" pitchFamily="34" charset="0"/>
                <a:cs typeface="Tahoma" pitchFamily="34" charset="0"/>
              </a:rPr>
              <a:t>CRS incidence /100,000 births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684213" y="333375"/>
            <a:ext cx="7772400" cy="692343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+mj-ea"/>
                <a:cs typeface="Tahoma" pitchFamily="34" charset="0"/>
              </a:rPr>
              <a:t>Vaccination in Greece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86976" y="4064630"/>
          <a:ext cx="5821428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8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% pregnant women susceptible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1971-5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1984-9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24%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1990-1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32509" y="952185"/>
            <a:ext cx="859145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dirty="0"/>
              <a:t>Rubella vaccination in Greece started in ’77; not compulsory and mainly in private sector.</a:t>
            </a:r>
          </a:p>
          <a:p>
            <a:r>
              <a:rPr lang="en-GB" dirty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Aimed primarily at young children (indirect strategy). </a:t>
            </a:r>
          </a:p>
          <a:p>
            <a:pPr>
              <a:buFont typeface="Arial" pitchFamily="34" charset="0"/>
              <a:buChar char="•"/>
            </a:pPr>
            <a:endParaRPr lang="en-GB" dirty="0"/>
          </a:p>
          <a:p>
            <a:pPr>
              <a:buFont typeface="Arial" pitchFamily="34" charset="0"/>
              <a:buChar char="•"/>
            </a:pPr>
            <a:r>
              <a:rPr lang="en-GB" dirty="0"/>
              <a:t>Compulsory MMR for 1 year-olds from 1989. </a:t>
            </a:r>
          </a:p>
          <a:p>
            <a:pPr>
              <a:buFont typeface="Arial" pitchFamily="34" charset="0"/>
              <a:buChar char="•"/>
            </a:pPr>
            <a:endParaRPr lang="en-GB" dirty="0"/>
          </a:p>
          <a:p>
            <a:pPr>
              <a:buFont typeface="Arial" pitchFamily="34" charset="0"/>
              <a:buChar char="•"/>
            </a:pPr>
            <a:r>
              <a:rPr lang="en-GB" dirty="0"/>
              <a:t>Poor assessment of vaccine uptake and notification of rubella cases. However, coverage </a:t>
            </a:r>
          </a:p>
          <a:p>
            <a:r>
              <a:rPr lang="en-GB" dirty="0"/>
              <a:t>  probably &lt;&lt;50% for children up to 1989.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138" y="3687828"/>
            <a:ext cx="2638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Susceptibility in risk group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684213" y="333375"/>
            <a:ext cx="7772400" cy="692343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+mj-ea"/>
                <a:cs typeface="Tahoma" pitchFamily="34" charset="0"/>
              </a:rPr>
              <a:t>Rubella</a:t>
            </a:r>
            <a:r>
              <a:rPr kumimoji="0" lang="en-GB" sz="28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+mj-ea"/>
                <a:cs typeface="Tahoma" pitchFamily="34" charset="0"/>
              </a:rPr>
              <a:t> and </a:t>
            </a: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+mj-ea"/>
                <a:cs typeface="Tahoma" pitchFamily="34" charset="0"/>
              </a:rPr>
              <a:t>CRS in Greece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233" y="1315898"/>
            <a:ext cx="500098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In 1993, a major rubella epidemic occurred in </a:t>
            </a:r>
          </a:p>
          <a:p>
            <a:r>
              <a:rPr lang="en-GB" dirty="0">
                <a:latin typeface="Tahoma" pitchFamily="34" charset="0"/>
                <a:cs typeface="Tahoma" pitchFamily="34" charset="0"/>
              </a:rPr>
              <a:t>  Greece, resulting in 25 confirmed CRS cases.</a:t>
            </a:r>
          </a:p>
          <a:p>
            <a:endParaRPr lang="en-GB" dirty="0">
              <a:latin typeface="Tahoma" pitchFamily="34" charset="0"/>
              <a:cs typeface="Tahoma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Note shift in age distribution of rubella cases. </a:t>
            </a:r>
          </a:p>
          <a:p>
            <a:pPr>
              <a:buFont typeface="Arial" pitchFamily="34" charset="0"/>
              <a:buChar char="•"/>
            </a:pPr>
            <a:endParaRPr lang="en-GB" dirty="0">
              <a:latin typeface="Tahoma" pitchFamily="34" charset="0"/>
              <a:cs typeface="Tahoma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CRS incidence matches outbreak, shifted by </a:t>
            </a:r>
          </a:p>
          <a:p>
            <a:r>
              <a:rPr lang="en-GB" dirty="0">
                <a:latin typeface="Tahoma" pitchFamily="34" charset="0"/>
                <a:cs typeface="Tahoma" pitchFamily="34" charset="0"/>
              </a:rPr>
              <a:t>  7 months. </a:t>
            </a:r>
          </a:p>
        </p:txBody>
      </p:sp>
      <p:pic>
        <p:nvPicPr>
          <p:cNvPr id="2099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14333" y="4299378"/>
            <a:ext cx="3933825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99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3864" y="4294650"/>
            <a:ext cx="38671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992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64037" y="839691"/>
            <a:ext cx="3543300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01501" y="2024456"/>
            <a:ext cx="4223032" cy="4780960"/>
            <a:chOff x="357158" y="1785926"/>
            <a:chExt cx="4223032" cy="4780960"/>
          </a:xfrm>
        </p:grpSpPr>
        <p:sp>
          <p:nvSpPr>
            <p:cNvPr id="5" name="Isosceles Triangle 4"/>
            <p:cNvSpPr/>
            <p:nvPr/>
          </p:nvSpPr>
          <p:spPr>
            <a:xfrm rot="8092381">
              <a:off x="1547072" y="2923930"/>
              <a:ext cx="4049591" cy="2016645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857224" y="6000768"/>
              <a:ext cx="3643338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16200000" flipV="1">
              <a:off x="-750130" y="4393413"/>
              <a:ext cx="3224234" cy="95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1142976" y="6072206"/>
              <a:ext cx="5180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ahoma" pitchFamily="34" charset="0"/>
                  <a:cs typeface="Tahoma" pitchFamily="34" charset="0"/>
                </a:rPr>
                <a:t>1974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93607" y="6072206"/>
              <a:ext cx="5180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ahoma" pitchFamily="34" charset="0"/>
                  <a:cs typeface="Tahoma" pitchFamily="34" charset="0"/>
                </a:rPr>
                <a:t>1982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5400000">
              <a:off x="-107189" y="4464851"/>
              <a:ext cx="3071834" cy="1588"/>
            </a:xfrm>
            <a:prstGeom prst="line">
              <a:avLst/>
            </a:prstGeom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>
              <a:off x="965175" y="4464057"/>
              <a:ext cx="3071834" cy="1588"/>
            </a:xfrm>
            <a:prstGeom prst="line">
              <a:avLst/>
            </a:prstGeom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57224" y="4643446"/>
              <a:ext cx="3427436" cy="1588"/>
            </a:xfrm>
            <a:prstGeom prst="line">
              <a:avLst/>
            </a:prstGeom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0800000" flipV="1">
              <a:off x="857224" y="5735601"/>
              <a:ext cx="3571900" cy="19048"/>
            </a:xfrm>
            <a:prstGeom prst="line">
              <a:avLst/>
            </a:prstGeom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Isosceles Triangle 13"/>
            <p:cNvSpPr/>
            <p:nvPr/>
          </p:nvSpPr>
          <p:spPr>
            <a:xfrm rot="8092381">
              <a:off x="2575100" y="4645910"/>
              <a:ext cx="2565037" cy="1276916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57422" y="6286520"/>
              <a:ext cx="5212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ahoma" pitchFamily="34" charset="0"/>
                  <a:cs typeface="Tahoma" pitchFamily="34" charset="0"/>
                </a:rPr>
                <a:t>Time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86116" y="6072206"/>
              <a:ext cx="5180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ahoma" pitchFamily="34" charset="0"/>
                  <a:cs typeface="Tahoma" pitchFamily="34" charset="0"/>
                </a:rPr>
                <a:t>1990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 rot="16200000">
              <a:off x="275085" y="3868263"/>
              <a:ext cx="4411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ahoma" pitchFamily="34" charset="0"/>
                  <a:cs typeface="Tahoma" pitchFamily="34" charset="0"/>
                </a:rPr>
                <a:t>Age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 rot="16200000">
              <a:off x="185525" y="5634665"/>
              <a:ext cx="9060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ahoma" pitchFamily="34" charset="0"/>
                  <a:cs typeface="Tahoma" pitchFamily="34" charset="0"/>
                </a:rPr>
                <a:t>18 months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 rot="16200000">
              <a:off x="462845" y="4500570"/>
              <a:ext cx="3513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ahoma" pitchFamily="34" charset="0"/>
                  <a:cs typeface="Tahoma" pitchFamily="34" charset="0"/>
                </a:rPr>
                <a:t>12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143240" y="1785926"/>
              <a:ext cx="1214446" cy="1071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698735" y="3006121"/>
            <a:ext cx="4147109" cy="3780828"/>
            <a:chOff x="4706686" y="2791444"/>
            <a:chExt cx="4147109" cy="3780828"/>
          </a:xfrm>
        </p:grpSpPr>
        <p:cxnSp>
          <p:nvCxnSpPr>
            <p:cNvPr id="22" name="Straight Arrow Connector 21"/>
            <p:cNvCxnSpPr/>
            <p:nvPr/>
          </p:nvCxnSpPr>
          <p:spPr>
            <a:xfrm>
              <a:off x="5206752" y="6006154"/>
              <a:ext cx="3643338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rot="16200000" flipV="1">
              <a:off x="3599398" y="4398799"/>
              <a:ext cx="3224234" cy="95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5492504" y="6077592"/>
              <a:ext cx="5180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ahoma" pitchFamily="34" charset="0"/>
                  <a:cs typeface="Tahoma" pitchFamily="34" charset="0"/>
                </a:rPr>
                <a:t>1974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643135" y="6077592"/>
              <a:ext cx="5180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ahoma" pitchFamily="34" charset="0"/>
                  <a:cs typeface="Tahoma" pitchFamily="34" charset="0"/>
                </a:rPr>
                <a:t>1982</a:t>
              </a:r>
            </a:p>
          </p:txBody>
        </p:sp>
        <p:cxnSp>
          <p:nvCxnSpPr>
            <p:cNvPr id="26" name="Straight Connector 25"/>
            <p:cNvCxnSpPr/>
            <p:nvPr/>
          </p:nvCxnSpPr>
          <p:spPr>
            <a:xfrm rot="5400000">
              <a:off x="4242339" y="4470237"/>
              <a:ext cx="3071834" cy="1588"/>
            </a:xfrm>
            <a:prstGeom prst="line">
              <a:avLst/>
            </a:prstGeom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5314703" y="4469443"/>
              <a:ext cx="3071834" cy="1588"/>
            </a:xfrm>
            <a:prstGeom prst="line">
              <a:avLst/>
            </a:prstGeom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5206752" y="4648832"/>
              <a:ext cx="3427436" cy="1588"/>
            </a:xfrm>
            <a:prstGeom prst="line">
              <a:avLst/>
            </a:prstGeom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10800000" flipV="1">
              <a:off x="5206752" y="5740987"/>
              <a:ext cx="3571900" cy="19048"/>
            </a:xfrm>
            <a:prstGeom prst="line">
              <a:avLst/>
            </a:prstGeom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Isosceles Triangle 29"/>
            <p:cNvSpPr/>
            <p:nvPr/>
          </p:nvSpPr>
          <p:spPr>
            <a:xfrm rot="8092381">
              <a:off x="6924628" y="4651296"/>
              <a:ext cx="2565037" cy="1276916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706950" y="6291906"/>
              <a:ext cx="5212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ahoma" pitchFamily="34" charset="0"/>
                  <a:cs typeface="Tahoma" pitchFamily="34" charset="0"/>
                </a:rPr>
                <a:t>Time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635644" y="6077592"/>
              <a:ext cx="5180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ahoma" pitchFamily="34" charset="0"/>
                  <a:cs typeface="Tahoma" pitchFamily="34" charset="0"/>
                </a:rPr>
                <a:t>1990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 rot="16200000">
              <a:off x="4624613" y="3873649"/>
              <a:ext cx="4411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ahoma" pitchFamily="34" charset="0"/>
                  <a:cs typeface="Tahoma" pitchFamily="34" charset="0"/>
                </a:rPr>
                <a:t>Age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 rot="16200000">
              <a:off x="4535053" y="5640051"/>
              <a:ext cx="9060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ahoma" pitchFamily="34" charset="0"/>
                  <a:cs typeface="Tahoma" pitchFamily="34" charset="0"/>
                </a:rPr>
                <a:t>18 months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 rot="16200000">
              <a:off x="4812373" y="4505956"/>
              <a:ext cx="3513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ahoma" pitchFamily="34" charset="0"/>
                  <a:cs typeface="Tahoma" pitchFamily="34" charset="0"/>
                </a:rPr>
                <a:t>12</a:t>
              </a:r>
            </a:p>
          </p:txBody>
        </p:sp>
        <p:sp>
          <p:nvSpPr>
            <p:cNvPr id="36" name="Isosceles Triangle 35"/>
            <p:cNvSpPr/>
            <p:nvPr/>
          </p:nvSpPr>
          <p:spPr>
            <a:xfrm rot="8092381">
              <a:off x="6932818" y="3574340"/>
              <a:ext cx="2565037" cy="1276916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684213" y="333375"/>
            <a:ext cx="7772400" cy="692343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itchFamily="34" charset="0"/>
                <a:ea typeface="+mj-ea"/>
                <a:cs typeface="Tahoma" pitchFamily="34" charset="0"/>
              </a:rPr>
              <a:t>Implementation of vaccination in Sweden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7339" y="914408"/>
            <a:ext cx="84165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ahoma" pitchFamily="34" charset="0"/>
                <a:cs typeface="Tahoma" pitchFamily="34" charset="0"/>
              </a:rPr>
              <a:t>‘Standard’ vaccination strategy (as used in UK, USA):</a:t>
            </a: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1974: direct phase. Vaccination of girls at 12 years. Also women, post-partum, </a:t>
            </a:r>
          </a:p>
          <a:p>
            <a:r>
              <a:rPr lang="en-GB" dirty="0">
                <a:latin typeface="Tahoma" pitchFamily="34" charset="0"/>
                <a:cs typeface="Tahoma" pitchFamily="34" charset="0"/>
              </a:rPr>
              <a:t>  if susceptible. </a:t>
            </a: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1982: indirect phase. vaccination of all 12-year-olds and children at 18 months. </a:t>
            </a: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Coverage of target groups approximately 90% and increasing.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99139" y="2747845"/>
            <a:ext cx="911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ahoma" pitchFamily="34" charset="0"/>
                <a:cs typeface="Tahoma" pitchFamily="34" charset="0"/>
              </a:rPr>
              <a:t>Female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279" y="2747845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ahoma" pitchFamily="34" charset="0"/>
                <a:cs typeface="Tahoma" pitchFamily="34" charset="0"/>
              </a:rPr>
              <a:t>Male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684213" y="333375"/>
            <a:ext cx="7772400" cy="692343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+mj-ea"/>
                <a:cs typeface="Tahoma" pitchFamily="34" charset="0"/>
              </a:rPr>
              <a:t>Effect of vaccination in Sweden</a:t>
            </a:r>
          </a:p>
        </p:txBody>
      </p:sp>
      <p:pic>
        <p:nvPicPr>
          <p:cNvPr id="2109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1075" y="4076700"/>
            <a:ext cx="377190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09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27835" y="1309544"/>
            <a:ext cx="3914775" cy="506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43134" y="1065476"/>
            <a:ext cx="478304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ahoma" pitchFamily="34" charset="0"/>
                <a:cs typeface="Tahoma" pitchFamily="34" charset="0"/>
              </a:rPr>
              <a:t>Effect of vaccination strategy:</a:t>
            </a: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Rubella effectively eradicated since mid-90s.</a:t>
            </a: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CRS: since 1973 53 severe cases, since </a:t>
            </a:r>
          </a:p>
          <a:p>
            <a:r>
              <a:rPr lang="en-GB" dirty="0">
                <a:latin typeface="Tahoma" pitchFamily="34" charset="0"/>
                <a:cs typeface="Tahoma" pitchFamily="34" charset="0"/>
              </a:rPr>
              <a:t>  1985, none. </a:t>
            </a: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Pregnant women: 12% </a:t>
            </a:r>
            <a:r>
              <a:rPr lang="en-GB" dirty="0" err="1">
                <a:latin typeface="Tahoma" pitchFamily="34" charset="0"/>
                <a:cs typeface="Tahoma" pitchFamily="34" charset="0"/>
              </a:rPr>
              <a:t>susc</a:t>
            </a:r>
            <a:r>
              <a:rPr lang="en-GB" dirty="0">
                <a:latin typeface="Tahoma" pitchFamily="34" charset="0"/>
                <a:cs typeface="Tahoma" pitchFamily="34" charset="0"/>
              </a:rPr>
              <a:t>. -&gt; 3% by ’87.</a:t>
            </a: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Changing coverage reflected in gender </a:t>
            </a:r>
          </a:p>
          <a:p>
            <a:r>
              <a:rPr lang="en-GB" dirty="0">
                <a:latin typeface="Tahoma" pitchFamily="34" charset="0"/>
                <a:cs typeface="Tahoma" pitchFamily="34" charset="0"/>
              </a:rPr>
              <a:t>  distribution of cases. </a:t>
            </a: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Note gender-specific reporting bias.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6268" y="6391459"/>
            <a:ext cx="2103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Lab-confirmed cases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684213" y="333375"/>
            <a:ext cx="7772400" cy="692343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+mj-ea"/>
                <a:cs typeface="Tahoma" pitchFamily="34" charset="0"/>
              </a:rPr>
              <a:t>Serology in post-vaccination Sweden</a:t>
            </a:r>
          </a:p>
        </p:txBody>
      </p:sp>
      <p:pic>
        <p:nvPicPr>
          <p:cNvPr id="2119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67177" y="946080"/>
            <a:ext cx="2936048" cy="3260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14706" y="938258"/>
            <a:ext cx="550330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ahoma" pitchFamily="34" charset="0"/>
                <a:cs typeface="Tahoma" pitchFamily="34" charset="0"/>
              </a:rPr>
              <a:t>Antenatal sera from </a:t>
            </a:r>
            <a:r>
              <a:rPr lang="en-GB" dirty="0" err="1">
                <a:latin typeface="Tahoma" pitchFamily="34" charset="0"/>
                <a:cs typeface="Tahoma" pitchFamily="34" charset="0"/>
              </a:rPr>
              <a:t>primapara</a:t>
            </a:r>
            <a:r>
              <a:rPr lang="en-GB" dirty="0">
                <a:latin typeface="Tahoma" pitchFamily="34" charset="0"/>
                <a:cs typeface="Tahoma" pitchFamily="34" charset="0"/>
              </a:rPr>
              <a:t> women:</a:t>
            </a: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95% of pregnant women protected. </a:t>
            </a: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Serum </a:t>
            </a:r>
            <a:r>
              <a:rPr lang="en-GB" dirty="0" err="1">
                <a:latin typeface="Tahoma" pitchFamily="34" charset="0"/>
                <a:cs typeface="Tahoma" pitchFamily="34" charset="0"/>
              </a:rPr>
              <a:t>IgG</a:t>
            </a:r>
            <a:r>
              <a:rPr lang="en-GB" dirty="0">
                <a:latin typeface="Tahoma" pitchFamily="34" charset="0"/>
                <a:cs typeface="Tahoma" pitchFamily="34" charset="0"/>
              </a:rPr>
              <a:t> levels strongly depend on year of birth. </a:t>
            </a: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Weaker protection for those born after ~1980.</a:t>
            </a: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‘Natural’ immunity stronger? Frequent challenge? </a:t>
            </a:r>
          </a:p>
          <a:p>
            <a:pPr>
              <a:buFont typeface="Arial" pitchFamily="34" charset="0"/>
              <a:buChar char="•"/>
            </a:pPr>
            <a:r>
              <a:rPr lang="en-GB" dirty="0">
                <a:latin typeface="Tahoma" pitchFamily="34" charset="0"/>
                <a:cs typeface="Tahoma" pitchFamily="34" charset="0"/>
              </a:rPr>
              <a:t>Possible sub-clinical infections…</a:t>
            </a:r>
          </a:p>
        </p:txBody>
      </p:sp>
      <p:pic>
        <p:nvPicPr>
          <p:cNvPr id="2109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1590" y="4007457"/>
            <a:ext cx="3517132" cy="2850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197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1164" y="3279250"/>
            <a:ext cx="3769106" cy="350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323850" y="188913"/>
            <a:ext cx="82073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GB" sz="3200" dirty="0" err="1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Pertussis</a:t>
            </a:r>
            <a:endParaRPr lang="en-GB" sz="3200" dirty="0">
              <a:solidFill>
                <a:schemeClr val="tx2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900113" y="1389063"/>
            <a:ext cx="7469187" cy="4662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b="1" dirty="0" err="1">
                <a:solidFill>
                  <a:srgbClr val="800000"/>
                </a:solidFill>
                <a:latin typeface="+mj-lt"/>
              </a:rPr>
              <a:t>Aetiologic</a:t>
            </a:r>
            <a:r>
              <a:rPr lang="en-US" sz="2200" b="1" dirty="0">
                <a:solidFill>
                  <a:srgbClr val="800000"/>
                </a:solidFill>
                <a:latin typeface="+mj-lt"/>
              </a:rPr>
              <a:t> agent</a:t>
            </a:r>
            <a:r>
              <a:rPr lang="en-US" sz="2200" b="1" dirty="0">
                <a:latin typeface="+mj-lt"/>
              </a:rPr>
              <a:t>: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Bordetella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pertussis</a:t>
            </a:r>
            <a:r>
              <a:rPr lang="en-US" sz="2200" dirty="0">
                <a:latin typeface="+mj-lt"/>
              </a:rPr>
              <a:t>, a gram-negative </a:t>
            </a:r>
            <a:r>
              <a:rPr lang="en-US" sz="2200" dirty="0" err="1">
                <a:latin typeface="+mj-lt"/>
              </a:rPr>
              <a:t>coccobacillus</a:t>
            </a:r>
            <a:r>
              <a:rPr lang="en-US" sz="2200" dirty="0">
                <a:latin typeface="+mj-lt"/>
              </a:rPr>
              <a:t>. </a:t>
            </a:r>
          </a:p>
          <a:p>
            <a:pPr>
              <a:spcBef>
                <a:spcPct val="50000"/>
              </a:spcBef>
            </a:pPr>
            <a:r>
              <a:rPr lang="en-US" sz="2200" b="1" dirty="0">
                <a:solidFill>
                  <a:srgbClr val="800000"/>
                </a:solidFill>
                <a:latin typeface="+mj-lt"/>
              </a:rPr>
              <a:t>Transmission:</a:t>
            </a:r>
            <a:r>
              <a:rPr lang="en-US" sz="2200" dirty="0">
                <a:latin typeface="+mj-lt"/>
              </a:rPr>
              <a:t> Highly transmissible (R</a:t>
            </a:r>
            <a:r>
              <a:rPr lang="en-US" sz="2200" baseline="-25000" dirty="0">
                <a:latin typeface="+mj-lt"/>
              </a:rPr>
              <a:t>0</a:t>
            </a:r>
            <a:r>
              <a:rPr lang="en-US" sz="2200" dirty="0">
                <a:latin typeface="+mj-lt"/>
                <a:cs typeface="Arial" charset="0"/>
              </a:rPr>
              <a:t>≈</a:t>
            </a:r>
            <a:r>
              <a:rPr lang="en-US" sz="2200" dirty="0">
                <a:latin typeface="+mj-lt"/>
              </a:rPr>
              <a:t>16), via direct contact with discharges from respiratory mucous membranes of infected persons.  </a:t>
            </a:r>
          </a:p>
          <a:p>
            <a:pPr>
              <a:spcBef>
                <a:spcPct val="50000"/>
              </a:spcBef>
            </a:pPr>
            <a:r>
              <a:rPr lang="en-US" sz="2200" b="1" dirty="0">
                <a:solidFill>
                  <a:srgbClr val="800000"/>
                </a:solidFill>
                <a:latin typeface="+mj-lt"/>
              </a:rPr>
              <a:t>Clinical Features:</a:t>
            </a:r>
            <a:r>
              <a:rPr lang="en-US" sz="2200" dirty="0">
                <a:latin typeface="+mj-lt"/>
              </a:rPr>
              <a:t> Highly communicable, vaccine-preventable disease that lasts for many weeks – can result in very severe coughing, whooping, and post-</a:t>
            </a:r>
            <a:r>
              <a:rPr lang="en-US" sz="2200" dirty="0" err="1">
                <a:latin typeface="+mj-lt"/>
              </a:rPr>
              <a:t>tussive</a:t>
            </a:r>
            <a:r>
              <a:rPr lang="en-US" sz="2200" dirty="0">
                <a:latin typeface="+mj-lt"/>
              </a:rPr>
              <a:t> vomiting. </a:t>
            </a:r>
          </a:p>
          <a:p>
            <a:pPr>
              <a:spcBef>
                <a:spcPct val="50000"/>
              </a:spcBef>
            </a:pPr>
            <a:r>
              <a:rPr lang="en-US" sz="2200" b="1" dirty="0">
                <a:solidFill>
                  <a:srgbClr val="800000"/>
                </a:solidFill>
                <a:latin typeface="+mj-lt"/>
              </a:rPr>
              <a:t>Major complications:</a:t>
            </a:r>
            <a:r>
              <a:rPr lang="en-US" sz="2200" dirty="0">
                <a:latin typeface="+mj-lt"/>
              </a:rPr>
              <a:t> most common in infants and young children and include hypoxia, apnea, pneumonia, seizures, encephalopathy, and malnutrition. High mortality in developing world.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53" y="936216"/>
            <a:ext cx="7670891" cy="5757681"/>
          </a:xfrm>
          <a:prstGeom prst="rect">
            <a:avLst/>
          </a:prstGeom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684213" y="206375"/>
            <a:ext cx="7772400" cy="692343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+mj-ea"/>
                <a:cs typeface="Tahoma" pitchFamily="34" charset="0"/>
              </a:rPr>
              <a:t>Pertussis incidence</a:t>
            </a:r>
            <a:r>
              <a:rPr kumimoji="0" lang="en-GB" sz="28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+mj-ea"/>
                <a:cs typeface="Tahoma" pitchFamily="34" charset="0"/>
              </a:rPr>
              <a:t> trend: US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 pitchFamily="34" charset="0"/>
              <a:ea typeface="+mj-ea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2472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53" y="940729"/>
            <a:ext cx="7670891" cy="5748655"/>
          </a:xfrm>
          <a:prstGeom prst="rect">
            <a:avLst/>
          </a:prstGeom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684213" y="206375"/>
            <a:ext cx="7772400" cy="692343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+mj-ea"/>
                <a:cs typeface="Tahoma" pitchFamily="34" charset="0"/>
              </a:rPr>
              <a:t>Pertussis incidence</a:t>
            </a:r>
            <a:r>
              <a:rPr kumimoji="0" lang="en-GB" sz="28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+mj-ea"/>
                <a:cs typeface="Tahoma" pitchFamily="34" charset="0"/>
              </a:rPr>
              <a:t> trend: by age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 pitchFamily="34" charset="0"/>
              <a:ea typeface="+mj-ea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5883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323850" y="260350"/>
            <a:ext cx="82073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GB" sz="3200" dirty="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Dynamics</a:t>
            </a:r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862013" y="1219200"/>
            <a:ext cx="72929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2000" dirty="0">
                <a:latin typeface="+mj-lt"/>
              </a:rPr>
              <a:t> Pre-vaccination dynamics show irregular annual epidemic cycles.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 dirty="0">
                <a:latin typeface="+mj-lt"/>
              </a:rPr>
              <a:t> Post-vaccination epidemics show ~4 year oscillations. </a:t>
            </a:r>
          </a:p>
        </p:txBody>
      </p:sp>
      <p:pic>
        <p:nvPicPr>
          <p:cNvPr id="89092" name="Picture 4" descr="pertussis london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4600" y="2330450"/>
            <a:ext cx="7502525" cy="3136900"/>
          </a:xfrm>
          <a:prstGeom prst="rect">
            <a:avLst/>
          </a:prstGeom>
          <a:noFill/>
        </p:spPr>
      </p:pic>
      <p:sp>
        <p:nvSpPr>
          <p:cNvPr id="89093" name="Text Box 5"/>
          <p:cNvSpPr txBox="1">
            <a:spLocks noChangeArrowheads="1"/>
          </p:cNvSpPr>
          <p:nvPr/>
        </p:nvSpPr>
        <p:spPr bwMode="auto">
          <a:xfrm>
            <a:off x="4357688" y="2809875"/>
            <a:ext cx="3257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srgbClr val="0000CC"/>
                </a:solidFill>
              </a:rPr>
              <a:t>London pertussis notifications </a:t>
            </a:r>
            <a:endParaRPr lang="en-US">
              <a:solidFill>
                <a:srgbClr val="0000CC"/>
              </a:solidFill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658221"/>
              </p:ext>
            </p:extLst>
          </p:nvPr>
        </p:nvGraphicFramePr>
        <p:xfrm>
          <a:off x="3483428" y="5845007"/>
          <a:ext cx="2317477" cy="767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5" name="Equation" r:id="rId5" imgW="1346040" imgH="444240" progId="Equation.DSMT4">
                  <p:embed/>
                </p:oleObj>
              </mc:Choice>
              <mc:Fallback>
                <p:oleObj name="Equation" r:id="rId5" imgW="1346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3428" y="5845007"/>
                        <a:ext cx="2317477" cy="76772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388938" y="142875"/>
            <a:ext cx="82073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GB" sz="3200" dirty="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Does vaccination reduce transmission?</a:t>
            </a:r>
          </a:p>
        </p:txBody>
      </p:sp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584200" y="1328738"/>
            <a:ext cx="3459163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2000" dirty="0">
                <a:latin typeface="+mj-lt"/>
              </a:rPr>
              <a:t> Since whole cell vaccine is live, perhaps it contributes to asymptomatic infection?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 dirty="0">
                <a:latin typeface="+mj-lt"/>
              </a:rPr>
              <a:t> Can look for signatures of decline in temporal dynamics.</a:t>
            </a:r>
          </a:p>
        </p:txBody>
      </p:sp>
      <p:pic>
        <p:nvPicPr>
          <p:cNvPr id="105476" name="Picture 4" descr="pert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35475" y="1203325"/>
            <a:ext cx="4216400" cy="5251450"/>
          </a:xfrm>
          <a:prstGeom prst="rect">
            <a:avLst/>
          </a:prstGeom>
          <a:noFill/>
        </p:spPr>
      </p:pic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5454650" y="6427788"/>
            <a:ext cx="3570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0000CC"/>
                </a:solidFill>
              </a:rPr>
              <a:t>from</a:t>
            </a:r>
            <a:r>
              <a:rPr lang="en-US" sz="1400" i="1">
                <a:solidFill>
                  <a:srgbClr val="0000CC"/>
                </a:solidFill>
              </a:rPr>
              <a:t> Rohani et al, Lancet (2000) 355:285-6</a:t>
            </a:r>
            <a:endParaRPr lang="en-GB" sz="1400" i="1">
              <a:solidFill>
                <a:srgbClr val="0000CC"/>
              </a:solidFill>
            </a:endParaRPr>
          </a:p>
        </p:txBody>
      </p:sp>
      <p:pic>
        <p:nvPicPr>
          <p:cNvPr id="105478" name="Picture 6" descr="pert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850" y="3913188"/>
            <a:ext cx="3849688" cy="260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ChangeArrowheads="1"/>
          </p:cNvSpPr>
          <p:nvPr/>
        </p:nvSpPr>
        <p:spPr bwMode="auto">
          <a:xfrm>
            <a:off x="406400" y="161925"/>
            <a:ext cx="82073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GB" sz="3200" dirty="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Does vaccination reduce transmission?</a:t>
            </a:r>
          </a:p>
        </p:txBody>
      </p:sp>
      <p:sp>
        <p:nvSpPr>
          <p:cNvPr id="107523" name="Rectangle 3"/>
          <p:cNvSpPr>
            <a:spLocks noChangeArrowheads="1"/>
          </p:cNvSpPr>
          <p:nvPr/>
        </p:nvSpPr>
        <p:spPr bwMode="auto">
          <a:xfrm>
            <a:off x="363538" y="1181100"/>
            <a:ext cx="809625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dirty="0">
                <a:latin typeface="+mj-lt"/>
              </a:rPr>
              <a:t> Possibly simpler method is to look at age-related patterns of infection.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>
                <a:latin typeface="+mj-lt"/>
              </a:rPr>
              <a:t> In particular, look at reported case in infants &lt;3 months (prior to </a:t>
            </a:r>
            <a:r>
              <a:rPr lang="en-US" dirty="0" err="1">
                <a:latin typeface="+mj-lt"/>
              </a:rPr>
              <a:t>vacc</a:t>
            </a:r>
            <a:r>
              <a:rPr lang="en-US" dirty="0">
                <a:latin typeface="+mj-lt"/>
              </a:rPr>
              <a:t>.)</a:t>
            </a:r>
          </a:p>
        </p:txBody>
      </p:sp>
      <p:pic>
        <p:nvPicPr>
          <p:cNvPr id="107524" name="Picture 4" descr="pert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2079625"/>
            <a:ext cx="6580188" cy="4164013"/>
          </a:xfrm>
          <a:prstGeom prst="rect">
            <a:avLst/>
          </a:prstGeom>
          <a:noFill/>
        </p:spPr>
      </p:pic>
      <p:sp>
        <p:nvSpPr>
          <p:cNvPr id="107525" name="Rectangle 5"/>
          <p:cNvSpPr>
            <a:spLocks noChangeArrowheads="1"/>
          </p:cNvSpPr>
          <p:nvPr/>
        </p:nvSpPr>
        <p:spPr bwMode="auto">
          <a:xfrm>
            <a:off x="5454650" y="6427788"/>
            <a:ext cx="35321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0000CC"/>
                </a:solidFill>
              </a:rPr>
              <a:t>from</a:t>
            </a:r>
            <a:r>
              <a:rPr lang="en-US" sz="1400" i="1">
                <a:solidFill>
                  <a:srgbClr val="0000CC"/>
                </a:solidFill>
              </a:rPr>
              <a:t> Gay &amp; Miller, Lancet (2000) 355:1553</a:t>
            </a:r>
            <a:endParaRPr lang="en-GB" sz="1400" i="1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06400" y="161925"/>
            <a:ext cx="82073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GB" sz="3200" dirty="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2575" y="1073098"/>
            <a:ext cx="826867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dirty="0"/>
              <a:t>Vaccination protects individuals directly, but also indirectly through the effect of </a:t>
            </a:r>
          </a:p>
          <a:p>
            <a:r>
              <a:rPr lang="en-GB" dirty="0"/>
              <a:t>  herd immunity. </a:t>
            </a:r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r>
              <a:rPr lang="en-GB" dirty="0"/>
              <a:t>Vaccination reduces the force of infection in the population and this has indirect </a:t>
            </a:r>
          </a:p>
          <a:p>
            <a:r>
              <a:rPr lang="en-GB" dirty="0"/>
              <a:t>  effects on the mean age of infection and the age distribution of </a:t>
            </a:r>
            <a:r>
              <a:rPr lang="en-GB" dirty="0" err="1"/>
              <a:t>sero</a:t>
            </a:r>
            <a:r>
              <a:rPr lang="en-GB" dirty="0"/>
              <a:t>-positive </a:t>
            </a:r>
          </a:p>
          <a:p>
            <a:r>
              <a:rPr lang="en-GB" dirty="0"/>
              <a:t>  individuals. </a:t>
            </a:r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r>
              <a:rPr lang="en-GB" dirty="0"/>
              <a:t>Vaccination strategies can have unexpected consequences, developing over many </a:t>
            </a:r>
          </a:p>
          <a:p>
            <a:r>
              <a:rPr lang="en-GB" dirty="0"/>
              <a:t>  years to produce a negative outcome. </a:t>
            </a:r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r>
              <a:rPr lang="en-GB" dirty="0"/>
              <a:t>In situations, in which the risk group and population driving the infection differ, great </a:t>
            </a:r>
          </a:p>
          <a:p>
            <a:r>
              <a:rPr lang="en-GB" dirty="0"/>
              <a:t>  care is needed in designing vaccine interventions.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36619" y="115503"/>
            <a:ext cx="21717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References</a:t>
            </a: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51042" y="716546"/>
            <a:ext cx="8756932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Kakoulidou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, M., </a:t>
            </a:r>
            <a:r>
              <a:rPr lang="en-GB" sz="1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Forsgren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, M., </a:t>
            </a:r>
            <a:r>
              <a:rPr lang="en-GB" sz="1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Lewensohn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-Fuchs, I., &amp; Johansen, K. (2009). Serum levels of </a:t>
            </a:r>
          </a:p>
          <a:p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rubella-specific antibodies in Swedish women following three decades of vaccination </a:t>
            </a:r>
          </a:p>
          <a:p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programmes. </a:t>
            </a:r>
            <a:r>
              <a:rPr lang="en-GB" sz="1600" i="1" dirty="0">
                <a:latin typeface="Tahoma" pitchFamily="34" charset="0"/>
                <a:ea typeface="Tahoma" pitchFamily="34" charset="0"/>
                <a:cs typeface="Tahoma" pitchFamily="34" charset="0"/>
              </a:rPr>
              <a:t>Vaccine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GB" sz="1600" i="1" dirty="0">
                <a:latin typeface="Tahoma" pitchFamily="34" charset="0"/>
                <a:ea typeface="Tahoma" pitchFamily="34" charset="0"/>
                <a:cs typeface="Tahoma" pitchFamily="34" charset="0"/>
              </a:rPr>
              <a:t>28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(4), 1002-1007.</a:t>
            </a:r>
          </a:p>
          <a:p>
            <a:endParaRPr lang="en-US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GB" sz="1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Bottinger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, M., &amp; </a:t>
            </a:r>
            <a:r>
              <a:rPr lang="en-GB" sz="1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Forsgren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, M. (1997). Twenty years’ experience of rubella vaccination in </a:t>
            </a:r>
          </a:p>
          <a:p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Sweden: 10 years of selective vaccination (of 12-year-old girls and of women postpartum) </a:t>
            </a:r>
          </a:p>
          <a:p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and 13 years of a general two-dose vaccination. </a:t>
            </a:r>
            <a:r>
              <a:rPr lang="en-GB" sz="1600" i="1" dirty="0">
                <a:latin typeface="Tahoma" pitchFamily="34" charset="0"/>
                <a:ea typeface="Tahoma" pitchFamily="34" charset="0"/>
                <a:cs typeface="Tahoma" pitchFamily="34" charset="0"/>
              </a:rPr>
              <a:t>Vaccine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GB" sz="1600" i="1" dirty="0">
                <a:latin typeface="Tahoma" pitchFamily="34" charset="0"/>
                <a:ea typeface="Tahoma" pitchFamily="34" charset="0"/>
                <a:cs typeface="Tahoma" pitchFamily="34" charset="0"/>
              </a:rPr>
              <a:t>15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(14), 1538-1544. </a:t>
            </a:r>
          </a:p>
          <a:p>
            <a:endParaRPr lang="en-GB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GB" sz="1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Panagiotopoulos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, T. et al., 1999. Increase in congenital rubella occurrence after immunisation </a:t>
            </a:r>
          </a:p>
          <a:p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in Greece: retrospective survey and systematic review. </a:t>
            </a:r>
            <a:r>
              <a:rPr lang="en-GB" sz="1600" i="1" dirty="0">
                <a:latin typeface="Tahoma" pitchFamily="34" charset="0"/>
                <a:ea typeface="Tahoma" pitchFamily="34" charset="0"/>
                <a:cs typeface="Tahoma" pitchFamily="34" charset="0"/>
              </a:rPr>
              <a:t>BMJ (Clinical research ed.)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</a:p>
          <a:p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319(7223), pp.1462-7.</a:t>
            </a:r>
          </a:p>
          <a:p>
            <a:endParaRPr lang="en-GB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GB" sz="1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Vynnycky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, E., Gay, N. J., &amp; </a:t>
            </a:r>
            <a:r>
              <a:rPr lang="en-GB" sz="1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Cutts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, F. (2003). The predicted impact of private sector MMR </a:t>
            </a:r>
          </a:p>
          <a:p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vaccination on the burden of Congenital Rubella Syndrome. </a:t>
            </a:r>
            <a:r>
              <a:rPr lang="en-GB" sz="1600" i="1" dirty="0">
                <a:latin typeface="Tahoma" pitchFamily="34" charset="0"/>
                <a:ea typeface="Tahoma" pitchFamily="34" charset="0"/>
                <a:cs typeface="Tahoma" pitchFamily="34" charset="0"/>
              </a:rPr>
              <a:t>Vaccine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GB" sz="1600" i="1" dirty="0">
                <a:latin typeface="Tahoma" pitchFamily="34" charset="0"/>
                <a:ea typeface="Tahoma" pitchFamily="34" charset="0"/>
                <a:cs typeface="Tahoma" pitchFamily="34" charset="0"/>
              </a:rPr>
              <a:t>21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(21-22), 2708-2719. </a:t>
            </a:r>
          </a:p>
          <a:p>
            <a:endParaRPr lang="en-GB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GB" sz="1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Rohani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, P., Earn, D. J., &amp; Grenfell, B. T. (2000). Impact of immunisation on </a:t>
            </a:r>
            <a:r>
              <a:rPr lang="en-GB" sz="1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pertussis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</a:p>
          <a:p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transmission in England and Wales. </a:t>
            </a:r>
            <a:r>
              <a:rPr lang="en-GB" sz="1600" i="1" dirty="0">
                <a:latin typeface="Tahoma" pitchFamily="34" charset="0"/>
                <a:ea typeface="Tahoma" pitchFamily="34" charset="0"/>
                <a:cs typeface="Tahoma" pitchFamily="34" charset="0"/>
              </a:rPr>
              <a:t>Lancet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GB" sz="1600" i="1" dirty="0">
                <a:latin typeface="Tahoma" pitchFamily="34" charset="0"/>
                <a:ea typeface="Tahoma" pitchFamily="34" charset="0"/>
                <a:cs typeface="Tahoma" pitchFamily="34" charset="0"/>
              </a:rPr>
              <a:t>355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(9200), 285-6. </a:t>
            </a:r>
          </a:p>
          <a:p>
            <a:endParaRPr lang="en-US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A good mathematical but also practical approach can be found in the early chapters of </a:t>
            </a:r>
          </a:p>
          <a:p>
            <a:r>
              <a:rPr lang="en-US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Infectious Diseases of Humans: Dynamics and Control. by Anderson and May. </a:t>
            </a:r>
          </a:p>
          <a:p>
            <a:endParaRPr lang="en-US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862" y="3105835"/>
            <a:ext cx="3290276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Unused slides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076" name="Object 4"/>
          <p:cNvGraphicFramePr>
            <a:graphicFrameLocks noChangeAspect="1"/>
          </p:cNvGraphicFramePr>
          <p:nvPr/>
        </p:nvGraphicFramePr>
        <p:xfrm>
          <a:off x="4548188" y="5180013"/>
          <a:ext cx="441960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" name="Equation" r:id="rId3" imgW="2095200" imgH="393480" progId="Equation.DSMT4">
                  <p:embed/>
                </p:oleObj>
              </mc:Choice>
              <mc:Fallback>
                <p:oleObj name="Equation" r:id="rId3" imgW="2095200" imgH="393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8188" y="5180013"/>
                        <a:ext cx="4419600" cy="830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7" name="Object 5"/>
          <p:cNvGraphicFramePr>
            <a:graphicFrameLocks noChangeAspect="1"/>
          </p:cNvGraphicFramePr>
          <p:nvPr/>
        </p:nvGraphicFramePr>
        <p:xfrm>
          <a:off x="1528763" y="5192713"/>
          <a:ext cx="265112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2" name="Equation" r:id="rId5" imgW="1257120" imgH="393480" progId="Equation.DSMT4">
                  <p:embed/>
                </p:oleObj>
              </mc:Choice>
              <mc:Fallback>
                <p:oleObj name="Equation" r:id="rId5" imgW="1257120" imgH="3934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763" y="5192713"/>
                        <a:ext cx="2651125" cy="830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8" name="Text Box 6"/>
          <p:cNvSpPr txBox="1">
            <a:spLocks noChangeArrowheads="1"/>
          </p:cNvSpPr>
          <p:nvPr/>
        </p:nvSpPr>
        <p:spPr bwMode="auto">
          <a:xfrm>
            <a:off x="1947863" y="3509963"/>
            <a:ext cx="18446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sz="2000">
                <a:solidFill>
                  <a:srgbClr val="FF0000"/>
                </a:solidFill>
                <a:latin typeface="Times New Roman" pitchFamily="18" charset="0"/>
              </a:rPr>
              <a:t>Pre-vaccination:</a:t>
            </a:r>
            <a:endParaRPr lang="en-US" sz="200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31079" name="Text Box 7"/>
          <p:cNvSpPr txBox="1">
            <a:spLocks noChangeArrowheads="1"/>
          </p:cNvSpPr>
          <p:nvPr/>
        </p:nvSpPr>
        <p:spPr bwMode="auto">
          <a:xfrm>
            <a:off x="5851525" y="3465513"/>
            <a:ext cx="1973263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sz="2000">
                <a:solidFill>
                  <a:srgbClr val="FF0000"/>
                </a:solidFill>
                <a:latin typeface="Times New Roman" pitchFamily="18" charset="0"/>
              </a:rPr>
              <a:t>Post-vaccination:</a:t>
            </a:r>
            <a:endParaRPr lang="en-US" sz="2000" i="1">
              <a:solidFill>
                <a:srgbClr val="000066"/>
              </a:solidFill>
              <a:latin typeface="Symbol" pitchFamily="18" charset="2"/>
            </a:endParaRPr>
          </a:p>
        </p:txBody>
      </p:sp>
      <p:sp>
        <p:nvSpPr>
          <p:cNvPr id="131080" name="Rectangle 8"/>
          <p:cNvSpPr>
            <a:spLocks noGrp="1" noChangeArrowheads="1"/>
          </p:cNvSpPr>
          <p:nvPr>
            <p:ph type="title"/>
          </p:nvPr>
        </p:nvSpPr>
        <p:spPr>
          <a:xfrm>
            <a:off x="755650" y="219075"/>
            <a:ext cx="7772400" cy="1143000"/>
          </a:xfrm>
          <a:noFill/>
          <a:ln/>
        </p:spPr>
        <p:txBody>
          <a:bodyPr/>
          <a:lstStyle/>
          <a:p>
            <a:r>
              <a:rPr lang="en-GB" sz="2800">
                <a:latin typeface="Times New Roman" pitchFamily="18" charset="0"/>
                <a:cs typeface="Times New Roman" pitchFamily="18" charset="0"/>
              </a:rPr>
              <a:t>The effect of vaccination on the age-susceptibility profile: a simple model calculation</a:t>
            </a:r>
          </a:p>
        </p:txBody>
      </p:sp>
      <p:graphicFrame>
        <p:nvGraphicFramePr>
          <p:cNvPr id="131081" name="Object 9"/>
          <p:cNvGraphicFramePr>
            <a:graphicFrameLocks noChangeAspect="1"/>
          </p:cNvGraphicFramePr>
          <p:nvPr/>
        </p:nvGraphicFramePr>
        <p:xfrm>
          <a:off x="3365500" y="2487613"/>
          <a:ext cx="209867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" name="Equation" r:id="rId7" imgW="1091880" imgH="393480" progId="Equation.DSMT4">
                  <p:embed/>
                </p:oleObj>
              </mc:Choice>
              <mc:Fallback>
                <p:oleObj name="Equation" r:id="rId7" imgW="1091880" imgH="393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0" y="2487613"/>
                        <a:ext cx="2098675" cy="7858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82" name="Rectangle 10"/>
          <p:cNvSpPr>
            <a:spLocks noChangeArrowheads="1"/>
          </p:cNvSpPr>
          <p:nvPr/>
        </p:nvSpPr>
        <p:spPr bwMode="auto">
          <a:xfrm>
            <a:off x="842963" y="1338263"/>
            <a:ext cx="77724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GB" sz="2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 endemic equilibrium, prevalence only changes with age (not with time). Hence, for the susceptible population: </a:t>
            </a:r>
          </a:p>
        </p:txBody>
      </p:sp>
      <p:graphicFrame>
        <p:nvGraphicFramePr>
          <p:cNvPr id="131083" name="Object 11"/>
          <p:cNvGraphicFramePr>
            <a:graphicFrameLocks noChangeAspect="1"/>
          </p:cNvGraphicFramePr>
          <p:nvPr/>
        </p:nvGraphicFramePr>
        <p:xfrm>
          <a:off x="2244725" y="4073525"/>
          <a:ext cx="13144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" name="Equation" r:id="rId9" imgW="558720" imgH="203040" progId="Equation.DSMT4">
                  <p:embed/>
                </p:oleObj>
              </mc:Choice>
              <mc:Fallback>
                <p:oleObj name="Equation" r:id="rId9" imgW="558720" imgH="2030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725" y="4073525"/>
                        <a:ext cx="1314450" cy="477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84" name="Object 12"/>
          <p:cNvGraphicFramePr>
            <a:graphicFrameLocks noChangeAspect="1"/>
          </p:cNvGraphicFramePr>
          <p:nvPr/>
        </p:nvGraphicFramePr>
        <p:xfrm>
          <a:off x="5886450" y="4073525"/>
          <a:ext cx="21209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5" name="Equation" r:id="rId11" imgW="901440" imgH="203040" progId="Equation.DSMT4">
                  <p:embed/>
                </p:oleObj>
              </mc:Choice>
              <mc:Fallback>
                <p:oleObj name="Equation" r:id="rId11" imgW="901440" imgH="2030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450" y="4073525"/>
                        <a:ext cx="2120900" cy="477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85" name="Text Box 13"/>
          <p:cNvSpPr txBox="1">
            <a:spLocks noChangeArrowheads="1"/>
          </p:cNvSpPr>
          <p:nvPr/>
        </p:nvSpPr>
        <p:spPr bwMode="auto">
          <a:xfrm>
            <a:off x="271463" y="4133850"/>
            <a:ext cx="847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 b="1"/>
              <a:t>Vacc.</a:t>
            </a:r>
            <a:endParaRPr lang="en-US" sz="2000" b="1"/>
          </a:p>
        </p:txBody>
      </p:sp>
      <p:sp>
        <p:nvSpPr>
          <p:cNvPr id="131086" name="Text Box 14"/>
          <p:cNvSpPr txBox="1">
            <a:spLocks noChangeArrowheads="1"/>
          </p:cNvSpPr>
          <p:nvPr/>
        </p:nvSpPr>
        <p:spPr bwMode="auto">
          <a:xfrm>
            <a:off x="401638" y="5381625"/>
            <a:ext cx="606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 b="1"/>
              <a:t>FOI</a:t>
            </a:r>
            <a:endParaRPr lang="en-US" sz="200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0"/>
            <a:ext cx="7772400" cy="836613"/>
          </a:xfrm>
        </p:spPr>
        <p:txBody>
          <a:bodyPr/>
          <a:lstStyle/>
          <a:p>
            <a:r>
              <a:rPr lang="en-GB" sz="2800" dirty="0"/>
              <a:t>Vaccination and age-susceptibility profiles</a:t>
            </a:r>
          </a:p>
        </p:txBody>
      </p:sp>
      <p:graphicFrame>
        <p:nvGraphicFramePr>
          <p:cNvPr id="60419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2817300" y="1049338"/>
          <a:ext cx="434498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3" name="Equation" r:id="rId4" imgW="2120760" imgH="228600" progId="Equation.DSMT4">
                  <p:embed/>
                </p:oleObj>
              </mc:Choice>
              <mc:Fallback>
                <p:oleObj name="Equation" r:id="rId4" imgW="2120760" imgH="2286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300" y="1049338"/>
                        <a:ext cx="4344988" cy="4683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769938" y="1089025"/>
            <a:ext cx="18446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sz="2000">
                <a:solidFill>
                  <a:srgbClr val="FF0000"/>
                </a:solidFill>
                <a:latin typeface="Times New Roman" pitchFamily="18" charset="0"/>
              </a:rPr>
              <a:t>Pre-vaccination:</a:t>
            </a:r>
            <a:endParaRPr lang="en-US" sz="200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60423" name="Text Box 7"/>
          <p:cNvSpPr txBox="1">
            <a:spLocks noChangeArrowheads="1"/>
          </p:cNvSpPr>
          <p:nvPr/>
        </p:nvSpPr>
        <p:spPr bwMode="auto">
          <a:xfrm>
            <a:off x="757238" y="1974850"/>
            <a:ext cx="2192337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sz="2000">
                <a:solidFill>
                  <a:srgbClr val="FF0000"/>
                </a:solidFill>
                <a:latin typeface="Times New Roman" pitchFamily="18" charset="0"/>
              </a:rPr>
              <a:t>Post-vaccination:</a:t>
            </a:r>
            <a:endParaRPr lang="en-US" sz="2000" i="1">
              <a:solidFill>
                <a:srgbClr val="000066"/>
              </a:solidFill>
              <a:latin typeface="Symbol" pitchFamily="18" charset="2"/>
            </a:endParaRPr>
          </a:p>
        </p:txBody>
      </p:sp>
      <p:graphicFrame>
        <p:nvGraphicFramePr>
          <p:cNvPr id="60424" name="Object 8"/>
          <p:cNvGraphicFramePr>
            <a:graphicFrameLocks noChangeAspect="1"/>
          </p:cNvGraphicFramePr>
          <p:nvPr/>
        </p:nvGraphicFramePr>
        <p:xfrm>
          <a:off x="2781088" y="1968500"/>
          <a:ext cx="602456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4" name="Equation" r:id="rId6" imgW="2920680" imgH="228600" progId="Equation.DSMT4">
                  <p:embed/>
                </p:oleObj>
              </mc:Choice>
              <mc:Fallback>
                <p:oleObj name="Equation" r:id="rId6" imgW="2920680" imgH="228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088" y="1968500"/>
                        <a:ext cx="6024562" cy="4492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0425" name="Picture 9" descr="Picture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010154" y="2733675"/>
            <a:ext cx="5094288" cy="4124325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6653715" y="4134261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Ratio of risk =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537661" y="4502730"/>
          <a:ext cx="1982918" cy="380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" name="Equation" r:id="rId9" imgW="1257120" imgH="241200" progId="Equation.DSMT4">
                  <p:embed/>
                </p:oleObj>
              </mc:Choice>
              <mc:Fallback>
                <p:oleObj name="Equation" r:id="rId9" imgW="125712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7661" y="4502730"/>
                        <a:ext cx="1982918" cy="380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6625"/>
            <a:ext cx="8229600" cy="1143000"/>
          </a:xfrm>
        </p:spPr>
        <p:txBody>
          <a:bodyPr/>
          <a:lstStyle/>
          <a:p>
            <a:r>
              <a:rPr lang="en-GB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Empirical evidence for age heterogeneity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664087" y="1322191"/>
            <a:ext cx="7772400" cy="997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GB" sz="24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For childhood diseases, studies measuring the force of infection have shown that it is age-dependent</a:t>
            </a:r>
            <a:endParaRPr lang="en-GB" sz="28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611188" y="5609125"/>
            <a:ext cx="80613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GB" sz="2000" dirty="0">
                <a:solidFill>
                  <a:srgbClr val="000066"/>
                </a:solidFill>
                <a:latin typeface="+mj-lt"/>
                <a:cs typeface="Times New Roman" pitchFamily="18" charset="0"/>
              </a:rPr>
              <a:t>The effects of immunization  programmes and other observed patterns cannot be reproduced with models without introducing age heterogeneity</a:t>
            </a:r>
            <a:endParaRPr lang="en-GB" sz="2800" dirty="0">
              <a:solidFill>
                <a:srgbClr val="000066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971550" y="2133600"/>
            <a:ext cx="6835775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GB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Example of data for</a:t>
            </a:r>
            <a:r>
              <a:rPr lang="en-GB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l</a:t>
            </a:r>
            <a:r>
              <a:rPr lang="en-GB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GB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pertussis</a:t>
            </a:r>
            <a:r>
              <a:rPr lang="en-GB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in England and Wales</a:t>
            </a:r>
            <a:endParaRPr lang="en-US" sz="24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7654" name="Picture 6" descr="Picture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27538" y="2276475"/>
            <a:ext cx="4176712" cy="3457575"/>
          </a:xfrm>
          <a:prstGeom prst="rect">
            <a:avLst/>
          </a:prstGeom>
          <a:noFill/>
        </p:spPr>
      </p:pic>
      <p:graphicFrame>
        <p:nvGraphicFramePr>
          <p:cNvPr id="27660" name="Object 12"/>
          <p:cNvGraphicFramePr>
            <a:graphicFrameLocks noGrp="1" noChangeAspect="1"/>
          </p:cNvGraphicFramePr>
          <p:nvPr>
            <p:ph idx="1"/>
          </p:nvPr>
        </p:nvGraphicFramePr>
        <p:xfrm>
          <a:off x="323850" y="2492375"/>
          <a:ext cx="4249738" cy="309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1" name="Chart" r:id="rId5" imgW="4981575" imgH="3800653" progId="Excel.Sheet.8">
                  <p:embed/>
                </p:oleObj>
              </mc:Choice>
              <mc:Fallback>
                <p:oleObj name="Chart" r:id="rId5" imgW="4981575" imgH="3800653" progId="Excel.Shee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492375"/>
                        <a:ext cx="4249738" cy="309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42" name="Object 10"/>
          <p:cNvGraphicFramePr>
            <a:graphicFrameLocks noGrp="1" noChangeAspect="1"/>
          </p:cNvGraphicFramePr>
          <p:nvPr>
            <p:ph/>
          </p:nvPr>
        </p:nvGraphicFramePr>
        <p:xfrm>
          <a:off x="3467601" y="2188379"/>
          <a:ext cx="5229225" cy="380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6" name="Chart" r:id="rId3" imgW="5229225" imgH="3800653" progId="Excel.Sheet.8">
                  <p:embed/>
                </p:oleObj>
              </mc:Choice>
              <mc:Fallback>
                <p:oleObj name="Chart" r:id="rId3" imgW="5229225" imgH="3800653" progId="Excel.Shee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601" y="2188379"/>
                        <a:ext cx="5229225" cy="380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7" name="Text Box 15"/>
          <p:cNvSpPr txBox="1">
            <a:spLocks noChangeArrowheads="1"/>
          </p:cNvSpPr>
          <p:nvPr/>
        </p:nvSpPr>
        <p:spPr bwMode="auto">
          <a:xfrm>
            <a:off x="250825" y="404813"/>
            <a:ext cx="79175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Example: Seroprevalence data by age for Rubella, 1987 (Farrington, 2001)</a:t>
            </a:r>
            <a:r>
              <a:rPr lang="en-GB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611188" y="3212400"/>
            <a:ext cx="2351926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latin typeface="Times New Roman" pitchFamily="18" charset="0"/>
                <a:cs typeface="Times New Roman" pitchFamily="18" charset="0"/>
              </a:rPr>
              <a:t>Homogeneous mixing: </a:t>
            </a:r>
          </a:p>
          <a:p>
            <a:r>
              <a:rPr lang="el-GR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GB">
                <a:latin typeface="Times New Roman" pitchFamily="18" charset="0"/>
                <a:cs typeface="Times New Roman" pitchFamily="18" charset="0"/>
              </a:rPr>
              <a:t>=0.11/yr</a:t>
            </a:r>
            <a:endParaRPr lang="el-GR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611190" y="4178133"/>
            <a:ext cx="2345514" cy="17543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latin typeface="Times New Roman" pitchFamily="18" charset="0"/>
                <a:cs typeface="Times New Roman" pitchFamily="18" charset="0"/>
              </a:rPr>
              <a:t>Heterogeneous mixing:</a:t>
            </a:r>
          </a:p>
          <a:p>
            <a:r>
              <a:rPr lang="en-GB">
                <a:latin typeface="Times New Roman" pitchFamily="18" charset="0"/>
                <a:cs typeface="Times New Roman" pitchFamily="18" charset="0"/>
              </a:rPr>
              <a:t>0-3 yrs: </a:t>
            </a:r>
            <a:r>
              <a:rPr lang="el-GR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GB">
                <a:latin typeface="Times New Roman" pitchFamily="18" charset="0"/>
                <a:cs typeface="Times New Roman" pitchFamily="18" charset="0"/>
              </a:rPr>
              <a:t>=0.098</a:t>
            </a:r>
          </a:p>
          <a:p>
            <a:r>
              <a:rPr lang="en-GB">
                <a:latin typeface="Times New Roman" pitchFamily="18" charset="0"/>
                <a:cs typeface="Times New Roman" pitchFamily="18" charset="0"/>
              </a:rPr>
              <a:t>3-8 yrs: </a:t>
            </a:r>
            <a:r>
              <a:rPr lang="el-GR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GB">
                <a:latin typeface="Times New Roman" pitchFamily="18" charset="0"/>
                <a:cs typeface="Times New Roman" pitchFamily="18" charset="0"/>
              </a:rPr>
              <a:t>=0.15</a:t>
            </a:r>
          </a:p>
          <a:p>
            <a:r>
              <a:rPr lang="en-GB">
                <a:latin typeface="Times New Roman" pitchFamily="18" charset="0"/>
                <a:cs typeface="Times New Roman" pitchFamily="18" charset="0"/>
              </a:rPr>
              <a:t>8-15 yrs: </a:t>
            </a:r>
            <a:r>
              <a:rPr lang="el-GR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GB">
                <a:latin typeface="Times New Roman" pitchFamily="18" charset="0"/>
                <a:cs typeface="Times New Roman" pitchFamily="18" charset="0"/>
              </a:rPr>
              <a:t>=0.12</a:t>
            </a:r>
          </a:p>
          <a:p>
            <a:r>
              <a:rPr lang="en-GB">
                <a:latin typeface="Times New Roman" pitchFamily="18" charset="0"/>
                <a:cs typeface="Times New Roman" pitchFamily="18" charset="0"/>
              </a:rPr>
              <a:t>15-25 yrs: </a:t>
            </a:r>
            <a:r>
              <a:rPr lang="el-GR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GB">
                <a:latin typeface="Times New Roman" pitchFamily="18" charset="0"/>
                <a:cs typeface="Times New Roman" pitchFamily="18" charset="0"/>
              </a:rPr>
              <a:t>=0.056</a:t>
            </a:r>
          </a:p>
          <a:p>
            <a:r>
              <a:rPr lang="en-GB">
                <a:latin typeface="Times New Roman" pitchFamily="18" charset="0"/>
                <a:cs typeface="Times New Roman" pitchFamily="18" charset="0"/>
              </a:rPr>
              <a:t>25+ yrs: </a:t>
            </a:r>
            <a:r>
              <a:rPr lang="el-GR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GB">
                <a:latin typeface="Times New Roman" pitchFamily="18" charset="0"/>
                <a:cs typeface="Times New Roman" pitchFamily="18" charset="0"/>
              </a:rPr>
              <a:t>=0.033</a:t>
            </a:r>
            <a:endParaRPr lang="el-GR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581610" y="6000199"/>
            <a:ext cx="773160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Steeper curve at younger ages and flatter at older ages reflects the stronger contact</a:t>
            </a:r>
          </a:p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among children at school compared to adults. </a:t>
            </a:r>
          </a:p>
        </p:txBody>
      </p:sp>
      <p:sp>
        <p:nvSpPr>
          <p:cNvPr id="18451" name="Text Box 19"/>
          <p:cNvSpPr txBox="1">
            <a:spLocks noChangeArrowheads="1"/>
          </p:cNvSpPr>
          <p:nvPr/>
        </p:nvSpPr>
        <p:spPr bwMode="auto">
          <a:xfrm>
            <a:off x="898642" y="2419267"/>
            <a:ext cx="181331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b="1">
                <a:latin typeface="Times New Roman" pitchFamily="18" charset="0"/>
                <a:cs typeface="Times New Roman" pitchFamily="18" charset="0"/>
              </a:rPr>
              <a:t>Results of fitting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015238" y="930275"/>
          <a:ext cx="4594225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7" name="Equation" r:id="rId5" imgW="2070000" imgH="482400" progId="Equation.DSMT4">
                  <p:embed/>
                </p:oleObj>
              </mc:Choice>
              <mc:Fallback>
                <p:oleObj name="Equation" r:id="rId5" imgW="2070000" imgH="4824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5238" y="930275"/>
                        <a:ext cx="4594225" cy="10715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actMatrices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35696" y="1916832"/>
            <a:ext cx="5076559" cy="3312368"/>
          </a:xfrm>
          <a:prstGeom prst="rect">
            <a:avLst/>
          </a:prstGeom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195736" y="313492"/>
            <a:ext cx="45159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Realistic infectious contacts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576" y="1196752"/>
            <a:ext cx="7498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Real patterns of contact between individuals are strongly correlated with age. </a:t>
            </a:r>
          </a:p>
          <a:p>
            <a:r>
              <a:rPr lang="en-GB" dirty="0"/>
              <a:t>Figure shows intensity of contact as a function of ages of participants: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592" y="5517232"/>
            <a:ext cx="65708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dirty="0"/>
              <a:t>Contact strongest between people of similar age. 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Contact most intense between school children. 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Note contacts between children and parents and also grandparents.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9558" y="6581001"/>
            <a:ext cx="26444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/>
              <a:t>Mossong</a:t>
            </a:r>
            <a:r>
              <a:rPr lang="en-GB" sz="1200" dirty="0"/>
              <a:t> et al, 2008, </a:t>
            </a:r>
            <a:r>
              <a:rPr lang="en-GB" sz="1200" dirty="0" err="1"/>
              <a:t>PLoS</a:t>
            </a:r>
            <a:r>
              <a:rPr lang="en-GB" sz="1200" dirty="0"/>
              <a:t> Med., 5, p74</a:t>
            </a:r>
          </a:p>
        </p:txBody>
      </p:sp>
    </p:spTree>
    <p:extLst>
      <p:ext uri="{BB962C8B-B14F-4D97-AF65-F5344CB8AC3E}">
        <p14:creationId xmlns:p14="http://schemas.microsoft.com/office/powerpoint/2010/main" val="29332066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251520" y="5085184"/>
            <a:ext cx="8424936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Char char="•"/>
            </a:pP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Dynamics are also affected by our interventions, e.g. vaccination.</a:t>
            </a:r>
          </a:p>
          <a:p>
            <a:pPr>
              <a:spcBef>
                <a:spcPct val="50000"/>
              </a:spcBef>
              <a:buFont typeface="Arial" pitchFamily="34" charset="0"/>
              <a:buChar char="•"/>
            </a:pP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These can have unexpected or even negative outcomes. </a:t>
            </a:r>
          </a:p>
          <a:p>
            <a:pPr>
              <a:spcBef>
                <a:spcPct val="50000"/>
              </a:spcBef>
              <a:buFont typeface="Arial" pitchFamily="34" charset="0"/>
              <a:buChar char="•"/>
            </a:pP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Understanding the consequences of interventions is essential for effective public   health policies. </a:t>
            </a:r>
          </a:p>
        </p:txBody>
      </p:sp>
      <p:pic>
        <p:nvPicPr>
          <p:cNvPr id="89092" name="Picture 4" descr="pertussis lond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817" y="1772816"/>
            <a:ext cx="5467287" cy="2285942"/>
          </a:xfrm>
          <a:prstGeom prst="rect">
            <a:avLst/>
          </a:prstGeom>
          <a:noFill/>
        </p:spPr>
      </p:pic>
      <p:sp>
        <p:nvSpPr>
          <p:cNvPr id="89093" name="Text Box 5"/>
          <p:cNvSpPr txBox="1">
            <a:spLocks noChangeArrowheads="1"/>
          </p:cNvSpPr>
          <p:nvPr/>
        </p:nvSpPr>
        <p:spPr bwMode="auto">
          <a:xfrm>
            <a:off x="1547664" y="4149080"/>
            <a:ext cx="293259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London </a:t>
            </a:r>
            <a:r>
              <a:rPr lang="en-GB" sz="1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pertussis</a:t>
            </a:r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 notifications </a:t>
            </a:r>
            <a:endParaRPr lang="en-US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612280" y="313492"/>
            <a:ext cx="59194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Effects of interventions on dynamics</a:t>
            </a: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52120" y="1395430"/>
            <a:ext cx="3168352" cy="2895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6300192" y="4509120"/>
            <a:ext cx="24052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Rubella</a:t>
            </a:r>
            <a:r>
              <a:rPr lang="en-GB" sz="1600" dirty="0"/>
              <a:t> and CRS in Greece</a:t>
            </a:r>
          </a:p>
        </p:txBody>
      </p:sp>
    </p:spTree>
    <p:extLst>
      <p:ext uri="{BB962C8B-B14F-4D97-AF65-F5344CB8AC3E}">
        <p14:creationId xmlns:p14="http://schemas.microsoft.com/office/powerpoint/2010/main" val="19432332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4811092" y="1223640"/>
          <a:ext cx="3289300" cy="256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2" name="Image" r:id="rId3" imgW="4396753" imgH="3430992" progId="">
                  <p:embed/>
                </p:oleObj>
              </mc:Choice>
              <mc:Fallback>
                <p:oleObj name="Image" r:id="rId3" imgW="4396753" imgH="34309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1092" y="1223640"/>
                        <a:ext cx="3289300" cy="256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MumpsDenmark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139952" y="3861048"/>
            <a:ext cx="4609623" cy="2983784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541733" y="313492"/>
            <a:ext cx="377231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Periodicity in incidence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8144" y="971436"/>
            <a:ext cx="1334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Measles, 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8104" y="3779748"/>
            <a:ext cx="186826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Mumps, Denmark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04" y="1718806"/>
            <a:ext cx="416037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dirty="0"/>
              <a:t>Incidence rates are usually highly variable</a:t>
            </a:r>
          </a:p>
          <a:p>
            <a:r>
              <a:rPr lang="en-GB" dirty="0"/>
              <a:t>  over time. </a:t>
            </a:r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r>
              <a:rPr lang="en-GB" dirty="0"/>
              <a:t>A range of periods are observed (annual, </a:t>
            </a:r>
          </a:p>
          <a:p>
            <a:r>
              <a:rPr lang="en-GB" dirty="0"/>
              <a:t>  biennial, 3, 4, 5…)</a:t>
            </a:r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r>
              <a:rPr lang="en-GB" dirty="0"/>
              <a:t>Behaviour often varies over longer time</a:t>
            </a:r>
          </a:p>
          <a:p>
            <a:r>
              <a:rPr lang="en-GB" dirty="0"/>
              <a:t>  periods. </a:t>
            </a:r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r>
              <a:rPr lang="en-GB" dirty="0"/>
              <a:t>Sometimes, behaviour appears random</a:t>
            </a:r>
          </a:p>
        </p:txBody>
      </p:sp>
    </p:spTree>
    <p:extLst>
      <p:ext uri="{BB962C8B-B14F-4D97-AF65-F5344CB8AC3E}">
        <p14:creationId xmlns:p14="http://schemas.microsoft.com/office/powerpoint/2010/main" val="12978818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1624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2226038" y="260648"/>
            <a:ext cx="46919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US" sz="3200" dirty="0"/>
              <a:t>Seasonality in transmission</a:t>
            </a:r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0" y="31099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8205" name="Rectangle 13"/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60" name="TextBox 59"/>
          <p:cNvSpPr txBox="1"/>
          <p:nvPr/>
        </p:nvSpPr>
        <p:spPr>
          <a:xfrm>
            <a:off x="260624" y="982469"/>
            <a:ext cx="8271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Seasonal variation in incidence is mainly generated by annual cycles in transmissibility </a:t>
            </a:r>
          </a:p>
          <a:p>
            <a:r>
              <a:rPr lang="en-GB" dirty="0"/>
              <a:t>between individuals.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1520" y="1916832"/>
            <a:ext cx="4909549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possible mechanisms of variation are: 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Social distance: people spend more time indoors</a:t>
            </a:r>
          </a:p>
          <a:p>
            <a:r>
              <a:rPr lang="en-GB" dirty="0"/>
              <a:t>  in winter, increasing the frequency and strength</a:t>
            </a:r>
          </a:p>
          <a:p>
            <a:r>
              <a:rPr lang="en-GB" dirty="0"/>
              <a:t>  of contacts. </a:t>
            </a:r>
          </a:p>
          <a:p>
            <a:pPr>
              <a:buFont typeface="Arial" pitchFamily="34" charset="0"/>
              <a:buChar char="•"/>
            </a:pPr>
            <a:endParaRPr lang="en-GB" dirty="0"/>
          </a:p>
          <a:p>
            <a:pPr>
              <a:buFont typeface="Arial" pitchFamily="34" charset="0"/>
              <a:buChar char="•"/>
            </a:pPr>
            <a:r>
              <a:rPr lang="en-GB" dirty="0"/>
              <a:t>School terms: Children in school experience more</a:t>
            </a:r>
          </a:p>
          <a:p>
            <a:r>
              <a:rPr lang="en-GB" dirty="0"/>
              <a:t>  transmission in school than during holidays.</a:t>
            </a:r>
          </a:p>
          <a:p>
            <a:pPr>
              <a:buFont typeface="Arial" pitchFamily="34" charset="0"/>
              <a:buChar char="•"/>
            </a:pPr>
            <a:endParaRPr lang="en-GB" dirty="0"/>
          </a:p>
          <a:p>
            <a:pPr>
              <a:buFont typeface="Arial" pitchFamily="34" charset="0"/>
              <a:buChar char="•"/>
            </a:pPr>
            <a:r>
              <a:rPr lang="en-GB" dirty="0"/>
              <a:t>Absolute humidity: drier air during winter </a:t>
            </a:r>
          </a:p>
          <a:p>
            <a:r>
              <a:rPr lang="en-GB" dirty="0"/>
              <a:t>  facilitates aerosol transmission of disease </a:t>
            </a:r>
          </a:p>
          <a:p>
            <a:r>
              <a:rPr lang="en-GB" dirty="0"/>
              <a:t> (influenza).</a:t>
            </a:r>
          </a:p>
          <a:p>
            <a:pPr>
              <a:buFont typeface="Arial" pitchFamily="34" charset="0"/>
              <a:buChar char="•"/>
            </a:pPr>
            <a:endParaRPr lang="en-GB" dirty="0"/>
          </a:p>
          <a:p>
            <a:pPr>
              <a:buFont typeface="Arial" pitchFamily="34" charset="0"/>
              <a:buChar char="•"/>
            </a:pPr>
            <a:r>
              <a:rPr lang="en-GB" dirty="0"/>
              <a:t>Vitamin D levels: Lower winter light levels leads </a:t>
            </a:r>
          </a:p>
          <a:p>
            <a:r>
              <a:rPr lang="en-GB" dirty="0"/>
              <a:t>  lower Vitamin D levels which increase </a:t>
            </a:r>
          </a:p>
          <a:p>
            <a:r>
              <a:rPr lang="en-GB" dirty="0"/>
              <a:t>  susceptibility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038" y="1434262"/>
            <a:ext cx="1269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u="sng" dirty="0"/>
              <a:t>School terms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6216" y="4077072"/>
            <a:ext cx="1027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u="sng" dirty="0"/>
              <a:t>Sinusoidal</a:t>
            </a: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64013" y="1467222"/>
            <a:ext cx="3800475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8396" y="4088085"/>
            <a:ext cx="384810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79495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2590</Words>
  <Application>Microsoft Office PowerPoint</Application>
  <PresentationFormat>On-screen Show (4:3)</PresentationFormat>
  <Paragraphs>446</Paragraphs>
  <Slides>45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Calibri</vt:lpstr>
      <vt:lpstr>Symbol</vt:lpstr>
      <vt:lpstr>Tahoma</vt:lpstr>
      <vt:lpstr>Times New Roman</vt:lpstr>
      <vt:lpstr>Office Theme</vt:lpstr>
      <vt:lpstr>Equation</vt:lpstr>
      <vt:lpstr>Image</vt:lpstr>
      <vt:lpstr>Chart</vt:lpstr>
      <vt:lpstr>PowerPoint Presentation</vt:lpstr>
      <vt:lpstr>PowerPoint Presentation</vt:lpstr>
      <vt:lpstr>PowerPoint Presentation</vt:lpstr>
      <vt:lpstr>Review of the theory of vaccination</vt:lpstr>
      <vt:lpstr>Pre-vaccination R0 estimates for England and Wales</vt:lpstr>
      <vt:lpstr>PowerPoint Presentation</vt:lpstr>
      <vt:lpstr>PowerPoint Presentation</vt:lpstr>
      <vt:lpstr>PowerPoint Presentation</vt:lpstr>
      <vt:lpstr>R0 and the mean age at infection 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effect of vaccination on the age-susceptibility profile: a simple model calculation</vt:lpstr>
      <vt:lpstr>Vaccination and age-susceptibility profiles</vt:lpstr>
      <vt:lpstr>Empirical evidence for age heterogeneity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James Truscott</dc:creator>
  <cp:lastModifiedBy>Truscott, James</cp:lastModifiedBy>
  <cp:revision>295</cp:revision>
  <dcterms:created xsi:type="dcterms:W3CDTF">2012-02-06T10:43:01Z</dcterms:created>
  <dcterms:modified xsi:type="dcterms:W3CDTF">2020-01-16T10:03:26Z</dcterms:modified>
</cp:coreProperties>
</file>