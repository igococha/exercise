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8"/>
  </p:notesMasterIdLst>
  <p:handoutMasterIdLst>
    <p:handoutMasterId r:id="rId49"/>
  </p:handoutMasterIdLst>
  <p:sldIdLst>
    <p:sldId id="428" r:id="rId2"/>
    <p:sldId id="497" r:id="rId3"/>
    <p:sldId id="452" r:id="rId4"/>
    <p:sldId id="454" r:id="rId5"/>
    <p:sldId id="476" r:id="rId6"/>
    <p:sldId id="498" r:id="rId7"/>
    <p:sldId id="477" r:id="rId8"/>
    <p:sldId id="499" r:id="rId9"/>
    <p:sldId id="475" r:id="rId10"/>
    <p:sldId id="494" r:id="rId11"/>
    <p:sldId id="495" r:id="rId12"/>
    <p:sldId id="455" r:id="rId13"/>
    <p:sldId id="527" r:id="rId14"/>
    <p:sldId id="456" r:id="rId15"/>
    <p:sldId id="493" r:id="rId16"/>
    <p:sldId id="510" r:id="rId17"/>
    <p:sldId id="519" r:id="rId18"/>
    <p:sldId id="485" r:id="rId19"/>
    <p:sldId id="486" r:id="rId20"/>
    <p:sldId id="487" r:id="rId21"/>
    <p:sldId id="504" r:id="rId22"/>
    <p:sldId id="496" r:id="rId23"/>
    <p:sldId id="492" r:id="rId24"/>
    <p:sldId id="491" r:id="rId25"/>
    <p:sldId id="525" r:id="rId26"/>
    <p:sldId id="526" r:id="rId27"/>
    <p:sldId id="506" r:id="rId28"/>
    <p:sldId id="507" r:id="rId29"/>
    <p:sldId id="501" r:id="rId30"/>
    <p:sldId id="521" r:id="rId31"/>
    <p:sldId id="522" r:id="rId32"/>
    <p:sldId id="509" r:id="rId33"/>
    <p:sldId id="508" r:id="rId34"/>
    <p:sldId id="489" r:id="rId35"/>
    <p:sldId id="515" r:id="rId36"/>
    <p:sldId id="516" r:id="rId37"/>
    <p:sldId id="517" r:id="rId38"/>
    <p:sldId id="520" r:id="rId39"/>
    <p:sldId id="523" r:id="rId40"/>
    <p:sldId id="524" r:id="rId41"/>
    <p:sldId id="445" r:id="rId42"/>
    <p:sldId id="483" r:id="rId43"/>
    <p:sldId id="450" r:id="rId44"/>
    <p:sldId id="490" r:id="rId45"/>
    <p:sldId id="502" r:id="rId46"/>
    <p:sldId id="503" r:id="rId47"/>
  </p:sldIdLst>
  <p:sldSz cx="9144000" cy="6858000" type="screen4x3"/>
  <p:notesSz cx="6794500" cy="9906000"/>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CC33"/>
    <a:srgbClr val="0033CC"/>
    <a:srgbClr val="000000"/>
    <a:srgbClr val="DDDDDD"/>
    <a:srgbClr val="006600"/>
    <a:srgbClr val="99CCFF"/>
    <a:srgbClr val="00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86" autoAdjust="0"/>
    <p:restoredTop sz="93018" autoAdjust="0"/>
  </p:normalViewPr>
  <p:slideViewPr>
    <p:cSldViewPr snapToGrid="0">
      <p:cViewPr varScale="1">
        <p:scale>
          <a:sx n="72" d="100"/>
          <a:sy n="72" d="100"/>
        </p:scale>
        <p:origin x="194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image" Target="../media/image19.pn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43225" cy="495300"/>
          </a:xfrm>
          <a:prstGeom prst="rect">
            <a:avLst/>
          </a:prstGeom>
          <a:noFill/>
          <a:ln w="9525">
            <a:noFill/>
            <a:miter lim="800000"/>
            <a:headEnd/>
            <a:tailEnd/>
          </a:ln>
          <a:effectLst/>
        </p:spPr>
        <p:txBody>
          <a:bodyPr vert="horz" wrap="square" lIns="95423" tIns="47712" rIns="95423" bIns="47712" numCol="1" anchor="t" anchorCtr="0" compatLnSpc="1">
            <a:prstTxWarp prst="textNoShape">
              <a:avLst/>
            </a:prstTxWarp>
          </a:bodyPr>
          <a:lstStyle>
            <a:lvl1pPr defTabSz="954088">
              <a:defRPr sz="1300">
                <a:latin typeface="Times New Roman" pitchFamily="18" charset="0"/>
              </a:defRPr>
            </a:lvl1pPr>
          </a:lstStyle>
          <a:p>
            <a:pPr>
              <a:defRPr/>
            </a:pPr>
            <a:endParaRPr lang="en-US"/>
          </a:p>
        </p:txBody>
      </p:sp>
      <p:sp>
        <p:nvSpPr>
          <p:cNvPr id="253955" name="Rectangle 3"/>
          <p:cNvSpPr>
            <a:spLocks noGrp="1" noChangeArrowheads="1"/>
          </p:cNvSpPr>
          <p:nvPr>
            <p:ph type="dt" sz="quarter" idx="1"/>
          </p:nvPr>
        </p:nvSpPr>
        <p:spPr bwMode="auto">
          <a:xfrm>
            <a:off x="3849688" y="0"/>
            <a:ext cx="2943225" cy="495300"/>
          </a:xfrm>
          <a:prstGeom prst="rect">
            <a:avLst/>
          </a:prstGeom>
          <a:noFill/>
          <a:ln w="9525">
            <a:noFill/>
            <a:miter lim="800000"/>
            <a:headEnd/>
            <a:tailEnd/>
          </a:ln>
          <a:effectLst/>
        </p:spPr>
        <p:txBody>
          <a:bodyPr vert="horz" wrap="square" lIns="95423" tIns="47712" rIns="95423" bIns="47712" numCol="1" anchor="t" anchorCtr="0" compatLnSpc="1">
            <a:prstTxWarp prst="textNoShape">
              <a:avLst/>
            </a:prstTxWarp>
          </a:bodyPr>
          <a:lstStyle>
            <a:lvl1pPr algn="r" defTabSz="954088">
              <a:defRPr sz="1300">
                <a:latin typeface="Times New Roman" pitchFamily="18" charset="0"/>
              </a:defRPr>
            </a:lvl1pPr>
          </a:lstStyle>
          <a:p>
            <a:pPr>
              <a:defRPr/>
            </a:pPr>
            <a:endParaRPr lang="en-US"/>
          </a:p>
        </p:txBody>
      </p:sp>
      <p:sp>
        <p:nvSpPr>
          <p:cNvPr id="253956" name="Rectangle 4"/>
          <p:cNvSpPr>
            <a:spLocks noGrp="1" noChangeArrowheads="1"/>
          </p:cNvSpPr>
          <p:nvPr>
            <p:ph type="ftr" sz="quarter" idx="2"/>
          </p:nvPr>
        </p:nvSpPr>
        <p:spPr bwMode="auto">
          <a:xfrm>
            <a:off x="0" y="9409113"/>
            <a:ext cx="2943225" cy="495300"/>
          </a:xfrm>
          <a:prstGeom prst="rect">
            <a:avLst/>
          </a:prstGeom>
          <a:noFill/>
          <a:ln w="9525">
            <a:noFill/>
            <a:miter lim="800000"/>
            <a:headEnd/>
            <a:tailEnd/>
          </a:ln>
          <a:effectLst/>
        </p:spPr>
        <p:txBody>
          <a:bodyPr vert="horz" wrap="square" lIns="95423" tIns="47712" rIns="95423" bIns="47712" numCol="1" anchor="b" anchorCtr="0" compatLnSpc="1">
            <a:prstTxWarp prst="textNoShape">
              <a:avLst/>
            </a:prstTxWarp>
          </a:bodyPr>
          <a:lstStyle>
            <a:lvl1pPr defTabSz="954088">
              <a:defRPr sz="1300">
                <a:latin typeface="Times New Roman" pitchFamily="18" charset="0"/>
              </a:defRPr>
            </a:lvl1pPr>
          </a:lstStyle>
          <a:p>
            <a:pPr>
              <a:defRPr/>
            </a:pPr>
            <a:endParaRPr lang="en-US"/>
          </a:p>
        </p:txBody>
      </p:sp>
      <p:sp>
        <p:nvSpPr>
          <p:cNvPr id="253957" name="Rectangle 5"/>
          <p:cNvSpPr>
            <a:spLocks noGrp="1" noChangeArrowheads="1"/>
          </p:cNvSpPr>
          <p:nvPr>
            <p:ph type="sldNum" sz="quarter" idx="3"/>
          </p:nvPr>
        </p:nvSpPr>
        <p:spPr bwMode="auto">
          <a:xfrm>
            <a:off x="3849688" y="9409113"/>
            <a:ext cx="2943225" cy="495300"/>
          </a:xfrm>
          <a:prstGeom prst="rect">
            <a:avLst/>
          </a:prstGeom>
          <a:noFill/>
          <a:ln w="9525">
            <a:noFill/>
            <a:miter lim="800000"/>
            <a:headEnd/>
            <a:tailEnd/>
          </a:ln>
          <a:effectLst/>
        </p:spPr>
        <p:txBody>
          <a:bodyPr vert="horz" wrap="square" lIns="95423" tIns="47712" rIns="95423" bIns="47712" numCol="1" anchor="b" anchorCtr="0" compatLnSpc="1">
            <a:prstTxWarp prst="textNoShape">
              <a:avLst/>
            </a:prstTxWarp>
          </a:bodyPr>
          <a:lstStyle>
            <a:lvl1pPr algn="r" defTabSz="954088">
              <a:defRPr sz="1300">
                <a:latin typeface="Times New Roman" panose="02020603050405020304" pitchFamily="18" charset="0"/>
              </a:defRPr>
            </a:lvl1pPr>
          </a:lstStyle>
          <a:p>
            <a:fld id="{BE8A7242-7D0D-4787-B6E5-3165D398D8A6}" type="slidenum">
              <a:rPr lang="en-US" altLang="en-US"/>
              <a:pPr/>
              <a:t>‹#›</a:t>
            </a:fld>
            <a:endParaRPr lang="en-US" altLang="en-US"/>
          </a:p>
        </p:txBody>
      </p:sp>
    </p:spTree>
    <p:extLst>
      <p:ext uri="{BB962C8B-B14F-4D97-AF65-F5344CB8AC3E}">
        <p14:creationId xmlns:p14="http://schemas.microsoft.com/office/powerpoint/2010/main" val="3559270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42" name="Rectangle 2"/>
          <p:cNvSpPr>
            <a:spLocks noGrp="1" noChangeArrowheads="1"/>
          </p:cNvSpPr>
          <p:nvPr>
            <p:ph type="hdr" sz="quarter"/>
          </p:nvPr>
        </p:nvSpPr>
        <p:spPr bwMode="auto">
          <a:xfrm>
            <a:off x="0" y="0"/>
            <a:ext cx="2943225" cy="495300"/>
          </a:xfrm>
          <a:prstGeom prst="rect">
            <a:avLst/>
          </a:prstGeom>
          <a:noFill/>
          <a:ln w="9525">
            <a:noFill/>
            <a:miter lim="800000"/>
            <a:headEnd/>
            <a:tailEnd/>
          </a:ln>
          <a:effectLst/>
        </p:spPr>
        <p:txBody>
          <a:bodyPr vert="horz" wrap="square" lIns="89264" tIns="44632" rIns="89264" bIns="44632" numCol="1" anchor="t" anchorCtr="0" compatLnSpc="1">
            <a:prstTxWarp prst="textNoShape">
              <a:avLst/>
            </a:prstTxWarp>
          </a:bodyPr>
          <a:lstStyle>
            <a:lvl1pPr defTabSz="892175">
              <a:defRPr sz="1200">
                <a:latin typeface="Times New Roman" pitchFamily="18" charset="0"/>
              </a:defRPr>
            </a:lvl1pPr>
          </a:lstStyle>
          <a:p>
            <a:pPr>
              <a:defRPr/>
            </a:pPr>
            <a:endParaRPr lang="en-GB"/>
          </a:p>
        </p:txBody>
      </p:sp>
      <p:sp>
        <p:nvSpPr>
          <p:cNvPr id="368643" name="Rectangle 3"/>
          <p:cNvSpPr>
            <a:spLocks noGrp="1" noChangeArrowheads="1"/>
          </p:cNvSpPr>
          <p:nvPr>
            <p:ph type="dt" idx="1"/>
          </p:nvPr>
        </p:nvSpPr>
        <p:spPr bwMode="auto">
          <a:xfrm>
            <a:off x="3849688" y="0"/>
            <a:ext cx="2943225" cy="495300"/>
          </a:xfrm>
          <a:prstGeom prst="rect">
            <a:avLst/>
          </a:prstGeom>
          <a:noFill/>
          <a:ln w="9525">
            <a:noFill/>
            <a:miter lim="800000"/>
            <a:headEnd/>
            <a:tailEnd/>
          </a:ln>
          <a:effectLst/>
        </p:spPr>
        <p:txBody>
          <a:bodyPr vert="horz" wrap="square" lIns="89264" tIns="44632" rIns="89264" bIns="44632" numCol="1" anchor="t" anchorCtr="0" compatLnSpc="1">
            <a:prstTxWarp prst="textNoShape">
              <a:avLst/>
            </a:prstTxWarp>
          </a:bodyPr>
          <a:lstStyle>
            <a:lvl1pPr algn="r" defTabSz="892175">
              <a:defRPr sz="1200">
                <a:latin typeface="Times New Roman" pitchFamily="18" charset="0"/>
              </a:defRPr>
            </a:lvl1pPr>
          </a:lstStyle>
          <a:p>
            <a:pPr>
              <a:defRPr/>
            </a:pPr>
            <a:endParaRPr lang="en-GB"/>
          </a:p>
        </p:txBody>
      </p:sp>
      <p:sp>
        <p:nvSpPr>
          <p:cNvPr id="46084" name="Rectangle 4"/>
          <p:cNvSpPr>
            <a:spLocks noGrp="1" noRot="1" noChangeAspect="1" noChangeArrowheads="1" noTextEdit="1"/>
          </p:cNvSpPr>
          <p:nvPr>
            <p:ph type="sldImg" idx="2"/>
          </p:nvPr>
        </p:nvSpPr>
        <p:spPr bwMode="auto">
          <a:xfrm>
            <a:off x="920750" y="742950"/>
            <a:ext cx="4953000" cy="3714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45" name="Rectangle 5"/>
          <p:cNvSpPr>
            <a:spLocks noGrp="1" noChangeArrowheads="1"/>
          </p:cNvSpPr>
          <p:nvPr>
            <p:ph type="body" sz="quarter" idx="3"/>
          </p:nvPr>
        </p:nvSpPr>
        <p:spPr bwMode="auto">
          <a:xfrm>
            <a:off x="679450" y="4705350"/>
            <a:ext cx="5435600" cy="4457700"/>
          </a:xfrm>
          <a:prstGeom prst="rect">
            <a:avLst/>
          </a:prstGeom>
          <a:noFill/>
          <a:ln w="9525">
            <a:noFill/>
            <a:miter lim="800000"/>
            <a:headEnd/>
            <a:tailEnd/>
          </a:ln>
          <a:effectLst/>
        </p:spPr>
        <p:txBody>
          <a:bodyPr vert="horz" wrap="square" lIns="89264" tIns="44632" rIns="89264" bIns="4463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68646" name="Rectangle 6"/>
          <p:cNvSpPr>
            <a:spLocks noGrp="1" noChangeArrowheads="1"/>
          </p:cNvSpPr>
          <p:nvPr>
            <p:ph type="ftr" sz="quarter" idx="4"/>
          </p:nvPr>
        </p:nvSpPr>
        <p:spPr bwMode="auto">
          <a:xfrm>
            <a:off x="0" y="9409113"/>
            <a:ext cx="2943225" cy="495300"/>
          </a:xfrm>
          <a:prstGeom prst="rect">
            <a:avLst/>
          </a:prstGeom>
          <a:noFill/>
          <a:ln w="9525">
            <a:noFill/>
            <a:miter lim="800000"/>
            <a:headEnd/>
            <a:tailEnd/>
          </a:ln>
          <a:effectLst/>
        </p:spPr>
        <p:txBody>
          <a:bodyPr vert="horz" wrap="square" lIns="89264" tIns="44632" rIns="89264" bIns="44632" numCol="1" anchor="b" anchorCtr="0" compatLnSpc="1">
            <a:prstTxWarp prst="textNoShape">
              <a:avLst/>
            </a:prstTxWarp>
          </a:bodyPr>
          <a:lstStyle>
            <a:lvl1pPr defTabSz="892175">
              <a:defRPr sz="1200">
                <a:latin typeface="Times New Roman" pitchFamily="18" charset="0"/>
              </a:defRPr>
            </a:lvl1pPr>
          </a:lstStyle>
          <a:p>
            <a:pPr>
              <a:defRPr/>
            </a:pPr>
            <a:endParaRPr lang="en-GB"/>
          </a:p>
        </p:txBody>
      </p:sp>
      <p:sp>
        <p:nvSpPr>
          <p:cNvPr id="368647" name="Rectangle 7"/>
          <p:cNvSpPr>
            <a:spLocks noGrp="1" noChangeArrowheads="1"/>
          </p:cNvSpPr>
          <p:nvPr>
            <p:ph type="sldNum" sz="quarter" idx="5"/>
          </p:nvPr>
        </p:nvSpPr>
        <p:spPr bwMode="auto">
          <a:xfrm>
            <a:off x="3849688" y="9409113"/>
            <a:ext cx="2943225" cy="495300"/>
          </a:xfrm>
          <a:prstGeom prst="rect">
            <a:avLst/>
          </a:prstGeom>
          <a:noFill/>
          <a:ln w="9525">
            <a:noFill/>
            <a:miter lim="800000"/>
            <a:headEnd/>
            <a:tailEnd/>
          </a:ln>
          <a:effectLst/>
        </p:spPr>
        <p:txBody>
          <a:bodyPr vert="horz" wrap="square" lIns="89264" tIns="44632" rIns="89264" bIns="44632" numCol="1" anchor="b" anchorCtr="0" compatLnSpc="1">
            <a:prstTxWarp prst="textNoShape">
              <a:avLst/>
            </a:prstTxWarp>
          </a:bodyPr>
          <a:lstStyle>
            <a:lvl1pPr algn="r" defTabSz="892175">
              <a:defRPr sz="1200">
                <a:latin typeface="Times New Roman" panose="02020603050405020304" pitchFamily="18" charset="0"/>
              </a:defRPr>
            </a:lvl1pPr>
          </a:lstStyle>
          <a:p>
            <a:fld id="{4D95000D-73FC-4086-911D-F1C42A1D6EF8}" type="slidenum">
              <a:rPr lang="en-GB" altLang="en-US"/>
              <a:pPr/>
              <a:t>‹#›</a:t>
            </a:fld>
            <a:endParaRPr lang="en-GB" altLang="en-US"/>
          </a:p>
        </p:txBody>
      </p:sp>
    </p:spTree>
    <p:extLst>
      <p:ext uri="{BB962C8B-B14F-4D97-AF65-F5344CB8AC3E}">
        <p14:creationId xmlns:p14="http://schemas.microsoft.com/office/powerpoint/2010/main" val="15572829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Infective , X=Susceptible</a:t>
            </a:r>
          </a:p>
        </p:txBody>
      </p:sp>
      <p:sp>
        <p:nvSpPr>
          <p:cNvPr id="4" name="Slide Number Placeholder 3"/>
          <p:cNvSpPr>
            <a:spLocks noGrp="1"/>
          </p:cNvSpPr>
          <p:nvPr>
            <p:ph type="sldNum" sz="quarter" idx="10"/>
          </p:nvPr>
        </p:nvSpPr>
        <p:spPr/>
        <p:txBody>
          <a:bodyPr/>
          <a:lstStyle/>
          <a:p>
            <a:fld id="{4D95000D-73FC-4086-911D-F1C42A1D6EF8}" type="slidenum">
              <a:rPr lang="en-GB" altLang="en-US" smtClean="0"/>
              <a:pPr/>
              <a:t>13</a:t>
            </a:fld>
            <a:endParaRPr lang="en-GB" altLang="en-US"/>
          </a:p>
        </p:txBody>
      </p:sp>
    </p:spTree>
    <p:extLst>
      <p:ext uri="{BB962C8B-B14F-4D97-AF65-F5344CB8AC3E}">
        <p14:creationId xmlns:p14="http://schemas.microsoft.com/office/powerpoint/2010/main" val="227331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spcBef>
                <a:spcPct val="30000"/>
              </a:spcBef>
              <a:defRPr sz="1200">
                <a:solidFill>
                  <a:schemeClr val="tx1"/>
                </a:solidFill>
                <a:latin typeface="Times New Roman" panose="02020603050405020304" pitchFamily="18" charset="0"/>
              </a:defRPr>
            </a:lvl1pPr>
            <a:lvl2pPr marL="742950" indent="-285750" defTabSz="892175" eaLnBrk="0" hangingPunct="0">
              <a:spcBef>
                <a:spcPct val="30000"/>
              </a:spcBef>
              <a:defRPr sz="1200">
                <a:solidFill>
                  <a:schemeClr val="tx1"/>
                </a:solidFill>
                <a:latin typeface="Times New Roman" panose="02020603050405020304" pitchFamily="18" charset="0"/>
              </a:defRPr>
            </a:lvl2pPr>
            <a:lvl3pPr marL="1143000" indent="-228600" defTabSz="892175" eaLnBrk="0" hangingPunct="0">
              <a:spcBef>
                <a:spcPct val="30000"/>
              </a:spcBef>
              <a:defRPr sz="1200">
                <a:solidFill>
                  <a:schemeClr val="tx1"/>
                </a:solidFill>
                <a:latin typeface="Times New Roman" panose="02020603050405020304" pitchFamily="18" charset="0"/>
              </a:defRPr>
            </a:lvl3pPr>
            <a:lvl4pPr marL="1600200" indent="-228600" defTabSz="892175" eaLnBrk="0" hangingPunct="0">
              <a:spcBef>
                <a:spcPct val="30000"/>
              </a:spcBef>
              <a:defRPr sz="1200">
                <a:solidFill>
                  <a:schemeClr val="tx1"/>
                </a:solidFill>
                <a:latin typeface="Times New Roman" panose="02020603050405020304" pitchFamily="18" charset="0"/>
              </a:defRPr>
            </a:lvl4pPr>
            <a:lvl5pPr marL="2057400" indent="-228600" defTabSz="892175" eaLnBrk="0" hangingPunct="0">
              <a:spcBef>
                <a:spcPct val="30000"/>
              </a:spcBef>
              <a:defRPr sz="1200">
                <a:solidFill>
                  <a:schemeClr val="tx1"/>
                </a:solidFill>
                <a:latin typeface="Times New Roman" panose="02020603050405020304" pitchFamily="18" charset="0"/>
              </a:defRPr>
            </a:lvl5pPr>
            <a:lvl6pPr marL="2514600" indent="-228600" defTabSz="8921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921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921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92175"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ADE4A26-57DD-469A-9F87-84AE73DFF693}" type="slidenum">
              <a:rPr lang="en-GB" altLang="en-US"/>
              <a:pPr eaLnBrk="1" hangingPunct="1">
                <a:spcBef>
                  <a:spcPct val="0"/>
                </a:spcBef>
              </a:pPr>
              <a:t>24</a:t>
            </a:fld>
            <a:endParaRPr lang="en-GB" alt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extLst>
      <p:ext uri="{BB962C8B-B14F-4D97-AF65-F5344CB8AC3E}">
        <p14:creationId xmlns:p14="http://schemas.microsoft.com/office/powerpoint/2010/main" val="704639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spcBef>
                <a:spcPct val="30000"/>
              </a:spcBef>
              <a:defRPr sz="1200">
                <a:solidFill>
                  <a:schemeClr val="tx1"/>
                </a:solidFill>
                <a:latin typeface="Times New Roman" panose="02020603050405020304" pitchFamily="18" charset="0"/>
              </a:defRPr>
            </a:lvl1pPr>
            <a:lvl2pPr marL="742950" indent="-285750" defTabSz="892175" eaLnBrk="0" hangingPunct="0">
              <a:spcBef>
                <a:spcPct val="30000"/>
              </a:spcBef>
              <a:defRPr sz="1200">
                <a:solidFill>
                  <a:schemeClr val="tx1"/>
                </a:solidFill>
                <a:latin typeface="Times New Roman" panose="02020603050405020304" pitchFamily="18" charset="0"/>
              </a:defRPr>
            </a:lvl2pPr>
            <a:lvl3pPr marL="1143000" indent="-228600" defTabSz="892175" eaLnBrk="0" hangingPunct="0">
              <a:spcBef>
                <a:spcPct val="30000"/>
              </a:spcBef>
              <a:defRPr sz="1200">
                <a:solidFill>
                  <a:schemeClr val="tx1"/>
                </a:solidFill>
                <a:latin typeface="Times New Roman" panose="02020603050405020304" pitchFamily="18" charset="0"/>
              </a:defRPr>
            </a:lvl3pPr>
            <a:lvl4pPr marL="1600200" indent="-228600" defTabSz="892175" eaLnBrk="0" hangingPunct="0">
              <a:spcBef>
                <a:spcPct val="30000"/>
              </a:spcBef>
              <a:defRPr sz="1200">
                <a:solidFill>
                  <a:schemeClr val="tx1"/>
                </a:solidFill>
                <a:latin typeface="Times New Roman" panose="02020603050405020304" pitchFamily="18" charset="0"/>
              </a:defRPr>
            </a:lvl4pPr>
            <a:lvl5pPr marL="2057400" indent="-228600" defTabSz="892175" eaLnBrk="0" hangingPunct="0">
              <a:spcBef>
                <a:spcPct val="30000"/>
              </a:spcBef>
              <a:defRPr sz="1200">
                <a:solidFill>
                  <a:schemeClr val="tx1"/>
                </a:solidFill>
                <a:latin typeface="Times New Roman" panose="02020603050405020304" pitchFamily="18" charset="0"/>
              </a:defRPr>
            </a:lvl5pPr>
            <a:lvl6pPr marL="2514600" indent="-228600" defTabSz="8921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921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921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92175"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249F9D26-0CC7-4F90-9DA0-E17FA49F9E91}" type="slidenum">
              <a:rPr lang="en-GB" altLang="en-US"/>
              <a:pPr eaLnBrk="1" hangingPunct="1">
                <a:spcBef>
                  <a:spcPct val="0"/>
                </a:spcBef>
              </a:pPr>
              <a:t>29</a:t>
            </a:fld>
            <a:endParaRPr lang="en-GB" alt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SHOULD I TALK ABOUT MULTIPLE HAZARDS HERE OR LEAVE UNTIL LATER?</a:t>
            </a:r>
          </a:p>
        </p:txBody>
      </p:sp>
    </p:spTree>
    <p:extLst>
      <p:ext uri="{BB962C8B-B14F-4D97-AF65-F5344CB8AC3E}">
        <p14:creationId xmlns:p14="http://schemas.microsoft.com/office/powerpoint/2010/main" val="897179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spcBef>
                <a:spcPct val="30000"/>
              </a:spcBef>
              <a:defRPr sz="1200">
                <a:solidFill>
                  <a:schemeClr val="tx1"/>
                </a:solidFill>
                <a:latin typeface="Times New Roman" panose="02020603050405020304" pitchFamily="18" charset="0"/>
              </a:defRPr>
            </a:lvl1pPr>
            <a:lvl2pPr marL="742950" indent="-285750" defTabSz="892175" eaLnBrk="0" hangingPunct="0">
              <a:spcBef>
                <a:spcPct val="30000"/>
              </a:spcBef>
              <a:defRPr sz="1200">
                <a:solidFill>
                  <a:schemeClr val="tx1"/>
                </a:solidFill>
                <a:latin typeface="Times New Roman" panose="02020603050405020304" pitchFamily="18" charset="0"/>
              </a:defRPr>
            </a:lvl2pPr>
            <a:lvl3pPr marL="1143000" indent="-228600" defTabSz="892175" eaLnBrk="0" hangingPunct="0">
              <a:spcBef>
                <a:spcPct val="30000"/>
              </a:spcBef>
              <a:defRPr sz="1200">
                <a:solidFill>
                  <a:schemeClr val="tx1"/>
                </a:solidFill>
                <a:latin typeface="Times New Roman" panose="02020603050405020304" pitchFamily="18" charset="0"/>
              </a:defRPr>
            </a:lvl3pPr>
            <a:lvl4pPr marL="1600200" indent="-228600" defTabSz="892175" eaLnBrk="0" hangingPunct="0">
              <a:spcBef>
                <a:spcPct val="30000"/>
              </a:spcBef>
              <a:defRPr sz="1200">
                <a:solidFill>
                  <a:schemeClr val="tx1"/>
                </a:solidFill>
                <a:latin typeface="Times New Roman" panose="02020603050405020304" pitchFamily="18" charset="0"/>
              </a:defRPr>
            </a:lvl4pPr>
            <a:lvl5pPr marL="2057400" indent="-228600" defTabSz="892175" eaLnBrk="0" hangingPunct="0">
              <a:spcBef>
                <a:spcPct val="30000"/>
              </a:spcBef>
              <a:defRPr sz="1200">
                <a:solidFill>
                  <a:schemeClr val="tx1"/>
                </a:solidFill>
                <a:latin typeface="Times New Roman" panose="02020603050405020304" pitchFamily="18" charset="0"/>
              </a:defRPr>
            </a:lvl5pPr>
            <a:lvl6pPr marL="2514600" indent="-228600" defTabSz="8921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921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921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92175"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483D17B-DD58-44D0-A328-8DA970AB5030}" type="slidenum">
              <a:rPr lang="en-GB" altLang="en-US"/>
              <a:pPr eaLnBrk="1" hangingPunct="1">
                <a:spcBef>
                  <a:spcPct val="0"/>
                </a:spcBef>
              </a:pPr>
              <a:t>30</a:t>
            </a:fld>
            <a:endParaRPr lang="en-GB" alt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SHOULD I TALK ABOUT MULTIPLE HAZARDS HERE OR LEAVE UNTIL LATER?</a:t>
            </a:r>
          </a:p>
        </p:txBody>
      </p:sp>
    </p:spTree>
    <p:extLst>
      <p:ext uri="{BB962C8B-B14F-4D97-AF65-F5344CB8AC3E}">
        <p14:creationId xmlns:p14="http://schemas.microsoft.com/office/powerpoint/2010/main" val="2755484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12BE484B-9A35-4E3D-95A4-1AE472AF3366}" type="slidenum">
              <a:rPr lang="en-GB" altLang="en-US"/>
              <a:pPr/>
              <a:t>‹#›</a:t>
            </a:fld>
            <a:endParaRPr lang="en-GB" altLang="en-US"/>
          </a:p>
        </p:txBody>
      </p:sp>
    </p:spTree>
    <p:extLst>
      <p:ext uri="{BB962C8B-B14F-4D97-AF65-F5344CB8AC3E}">
        <p14:creationId xmlns:p14="http://schemas.microsoft.com/office/powerpoint/2010/main" val="1544633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24657808-524C-40EF-B41C-1ADA56A87513}" type="slidenum">
              <a:rPr lang="en-GB" altLang="en-US"/>
              <a:pPr/>
              <a:t>‹#›</a:t>
            </a:fld>
            <a:endParaRPr lang="en-GB" altLang="en-US"/>
          </a:p>
        </p:txBody>
      </p:sp>
    </p:spTree>
    <p:extLst>
      <p:ext uri="{BB962C8B-B14F-4D97-AF65-F5344CB8AC3E}">
        <p14:creationId xmlns:p14="http://schemas.microsoft.com/office/powerpoint/2010/main" val="2517564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2726F3E9-8F78-4342-A775-8FBB9F638606}" type="slidenum">
              <a:rPr lang="en-GB" altLang="en-US"/>
              <a:pPr/>
              <a:t>‹#›</a:t>
            </a:fld>
            <a:endParaRPr lang="en-GB" altLang="en-US"/>
          </a:p>
        </p:txBody>
      </p:sp>
    </p:spTree>
    <p:extLst>
      <p:ext uri="{BB962C8B-B14F-4D97-AF65-F5344CB8AC3E}">
        <p14:creationId xmlns:p14="http://schemas.microsoft.com/office/powerpoint/2010/main" val="360867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9D2C61BA-8370-4FEA-85FC-015A88EE1C9D}" type="slidenum">
              <a:rPr lang="en-GB" altLang="en-US"/>
              <a:pPr/>
              <a:t>‹#›</a:t>
            </a:fld>
            <a:endParaRPr lang="en-GB" altLang="en-US"/>
          </a:p>
        </p:txBody>
      </p:sp>
    </p:spTree>
    <p:extLst>
      <p:ext uri="{BB962C8B-B14F-4D97-AF65-F5344CB8AC3E}">
        <p14:creationId xmlns:p14="http://schemas.microsoft.com/office/powerpoint/2010/main" val="1714775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437B127A-2965-4DFB-A880-068AAA61E730}" type="slidenum">
              <a:rPr lang="en-GB" altLang="en-US"/>
              <a:pPr/>
              <a:t>‹#›</a:t>
            </a:fld>
            <a:endParaRPr lang="en-GB" altLang="en-US"/>
          </a:p>
        </p:txBody>
      </p:sp>
    </p:spTree>
    <p:extLst>
      <p:ext uri="{BB962C8B-B14F-4D97-AF65-F5344CB8AC3E}">
        <p14:creationId xmlns:p14="http://schemas.microsoft.com/office/powerpoint/2010/main" val="1644969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23BC44A6-651B-4548-8CA5-6FDA1E9368E8}" type="slidenum">
              <a:rPr lang="en-GB" altLang="en-US"/>
              <a:pPr/>
              <a:t>‹#›</a:t>
            </a:fld>
            <a:endParaRPr lang="en-GB" altLang="en-US"/>
          </a:p>
        </p:txBody>
      </p:sp>
    </p:spTree>
    <p:extLst>
      <p:ext uri="{BB962C8B-B14F-4D97-AF65-F5344CB8AC3E}">
        <p14:creationId xmlns:p14="http://schemas.microsoft.com/office/powerpoint/2010/main" val="3443893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fld id="{0A7FF875-40F4-455C-92B7-B3AA557E4EA0}" type="slidenum">
              <a:rPr lang="en-GB" altLang="en-US"/>
              <a:pPr/>
              <a:t>‹#›</a:t>
            </a:fld>
            <a:endParaRPr lang="en-GB" altLang="en-US"/>
          </a:p>
        </p:txBody>
      </p:sp>
    </p:spTree>
    <p:extLst>
      <p:ext uri="{BB962C8B-B14F-4D97-AF65-F5344CB8AC3E}">
        <p14:creationId xmlns:p14="http://schemas.microsoft.com/office/powerpoint/2010/main" val="2930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52B65BF2-27C0-4BD3-BB1D-23DD5BD4B88F}" type="slidenum">
              <a:rPr lang="en-GB" altLang="en-US"/>
              <a:pPr/>
              <a:t>‹#›</a:t>
            </a:fld>
            <a:endParaRPr lang="en-GB" altLang="en-US"/>
          </a:p>
        </p:txBody>
      </p:sp>
    </p:spTree>
    <p:extLst>
      <p:ext uri="{BB962C8B-B14F-4D97-AF65-F5344CB8AC3E}">
        <p14:creationId xmlns:p14="http://schemas.microsoft.com/office/powerpoint/2010/main" val="4060871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7479DBBA-3F5D-466C-8BCF-9EF234B45C69}" type="slidenum">
              <a:rPr lang="en-GB" altLang="en-US"/>
              <a:pPr/>
              <a:t>‹#›</a:t>
            </a:fld>
            <a:endParaRPr lang="en-GB" altLang="en-US"/>
          </a:p>
        </p:txBody>
      </p:sp>
    </p:spTree>
    <p:extLst>
      <p:ext uri="{BB962C8B-B14F-4D97-AF65-F5344CB8AC3E}">
        <p14:creationId xmlns:p14="http://schemas.microsoft.com/office/powerpoint/2010/main" val="1628241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54E621FC-4A42-4FBD-B10A-E7D7B8C01C08}" type="slidenum">
              <a:rPr lang="en-GB" altLang="en-US"/>
              <a:pPr/>
              <a:t>‹#›</a:t>
            </a:fld>
            <a:endParaRPr lang="en-GB" altLang="en-US"/>
          </a:p>
        </p:txBody>
      </p:sp>
    </p:spTree>
    <p:extLst>
      <p:ext uri="{BB962C8B-B14F-4D97-AF65-F5344CB8AC3E}">
        <p14:creationId xmlns:p14="http://schemas.microsoft.com/office/powerpoint/2010/main" val="133663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5FAB92E4-066C-4603-815A-71D579458C91}" type="slidenum">
              <a:rPr lang="en-GB" altLang="en-US"/>
              <a:pPr/>
              <a:t>‹#›</a:t>
            </a:fld>
            <a:endParaRPr lang="en-GB" altLang="en-US"/>
          </a:p>
        </p:txBody>
      </p:sp>
    </p:spTree>
    <p:extLst>
      <p:ext uri="{BB962C8B-B14F-4D97-AF65-F5344CB8AC3E}">
        <p14:creationId xmlns:p14="http://schemas.microsoft.com/office/powerpoint/2010/main" val="3902115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endParaRPr lang="en-GB"/>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DCC24B6-A925-4CC5-A5A8-665495163E49}" type="slidenum">
              <a:rPr lang="en-US"/>
              <a:pPr>
                <a:defRPr/>
              </a:pPr>
              <a:t>‹#›</a:t>
            </a:fld>
            <a:endParaRPr lang="en-US"/>
          </a:p>
        </p:txBody>
      </p:sp>
    </p:spTree>
    <p:extLst>
      <p:ext uri="{BB962C8B-B14F-4D97-AF65-F5344CB8AC3E}">
        <p14:creationId xmlns:p14="http://schemas.microsoft.com/office/powerpoint/2010/main" val="2900579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40550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a:defRPr/>
            </a:pPr>
            <a:endParaRPr lang="en-GB"/>
          </a:p>
        </p:txBody>
      </p:sp>
      <p:sp>
        <p:nvSpPr>
          <p:cNvPr id="40550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defRPr>
            </a:lvl1pPr>
          </a:lstStyle>
          <a:p>
            <a:pPr>
              <a:defRPr/>
            </a:pPr>
            <a:endParaRPr lang="en-GB"/>
          </a:p>
        </p:txBody>
      </p:sp>
      <p:sp>
        <p:nvSpPr>
          <p:cNvPr id="40551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fld id="{61E3EA22-0074-4261-85EA-B8FC706F05F9}" type="slidenum">
              <a:rPr lang="en-GB" altLang="en-US"/>
              <a:pPr/>
              <a:t>‹#›</a:t>
            </a:fld>
            <a:endParaRPr lang="en-GB" altLang="en-US"/>
          </a:p>
        </p:txBody>
      </p:sp>
      <p:sp>
        <p:nvSpPr>
          <p:cNvPr id="1031" name="Line 7"/>
          <p:cNvSpPr>
            <a:spLocks noChangeShapeType="1"/>
          </p:cNvSpPr>
          <p:nvPr userDrawn="1"/>
        </p:nvSpPr>
        <p:spPr bwMode="auto">
          <a:xfrm>
            <a:off x="325438" y="1141413"/>
            <a:ext cx="8364537" cy="0"/>
          </a:xfrm>
          <a:prstGeom prst="line">
            <a:avLst/>
          </a:prstGeom>
          <a:noFill/>
          <a:ln w="57150" cmpd="thinThick">
            <a:solidFill>
              <a:srgbClr val="0033CC"/>
            </a:solidFill>
            <a:round/>
            <a:headEnd/>
            <a:tailEnd/>
          </a:ln>
          <a:extLst>
            <a:ext uri="{909E8E84-426E-40DD-AFC4-6F175D3DCCD1}">
              <a14:hiddenFill xmlns:a14="http://schemas.microsoft.com/office/drawing/2010/main">
                <a:noFill/>
              </a14:hiddenFill>
            </a:ext>
          </a:extLst>
        </p:spPr>
        <p:txBody>
          <a:bodyPr/>
          <a:lstStyle/>
          <a:p>
            <a:endParaRPr lang="en-GB"/>
          </a:p>
        </p:txBody>
      </p:sp>
      <p:pic>
        <p:nvPicPr>
          <p:cNvPr id="1032" name="Picture 8"/>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4775" y="95250"/>
            <a:ext cx="1692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ctr" rtl="0" eaLnBrk="0" fontAlgn="base" hangingPunct="0">
        <a:spcBef>
          <a:spcPct val="0"/>
        </a:spcBef>
        <a:spcAft>
          <a:spcPct val="0"/>
        </a:spcAft>
        <a:defRPr sz="3600" b="1">
          <a:solidFill>
            <a:schemeClr val="accent2"/>
          </a:solidFill>
          <a:latin typeface="+mj-lt"/>
          <a:ea typeface="+mj-ea"/>
          <a:cs typeface="+mj-cs"/>
        </a:defRPr>
      </a:lvl1pPr>
      <a:lvl2pPr algn="ctr" rtl="0" eaLnBrk="0" fontAlgn="base" hangingPunct="0">
        <a:spcBef>
          <a:spcPct val="0"/>
        </a:spcBef>
        <a:spcAft>
          <a:spcPct val="0"/>
        </a:spcAft>
        <a:defRPr sz="3600" b="1">
          <a:solidFill>
            <a:schemeClr val="accent2"/>
          </a:solidFill>
          <a:latin typeface="Arial" charset="0"/>
        </a:defRPr>
      </a:lvl2pPr>
      <a:lvl3pPr algn="ctr" rtl="0" eaLnBrk="0" fontAlgn="base" hangingPunct="0">
        <a:spcBef>
          <a:spcPct val="0"/>
        </a:spcBef>
        <a:spcAft>
          <a:spcPct val="0"/>
        </a:spcAft>
        <a:defRPr sz="3600" b="1">
          <a:solidFill>
            <a:schemeClr val="accent2"/>
          </a:solidFill>
          <a:latin typeface="Arial" charset="0"/>
        </a:defRPr>
      </a:lvl3pPr>
      <a:lvl4pPr algn="ctr" rtl="0" eaLnBrk="0" fontAlgn="base" hangingPunct="0">
        <a:spcBef>
          <a:spcPct val="0"/>
        </a:spcBef>
        <a:spcAft>
          <a:spcPct val="0"/>
        </a:spcAft>
        <a:defRPr sz="3600" b="1">
          <a:solidFill>
            <a:schemeClr val="accent2"/>
          </a:solidFill>
          <a:latin typeface="Arial" charset="0"/>
        </a:defRPr>
      </a:lvl4pPr>
      <a:lvl5pPr algn="ctr" rtl="0" eaLnBrk="0" fontAlgn="base" hangingPunct="0">
        <a:spcBef>
          <a:spcPct val="0"/>
        </a:spcBef>
        <a:spcAft>
          <a:spcPct val="0"/>
        </a:spcAft>
        <a:defRPr sz="3600" b="1">
          <a:solidFill>
            <a:schemeClr val="accent2"/>
          </a:solidFill>
          <a:latin typeface="Arial" charset="0"/>
        </a:defRPr>
      </a:lvl5pPr>
      <a:lvl6pPr marL="457200" algn="ctr" rtl="0" fontAlgn="base">
        <a:spcBef>
          <a:spcPct val="0"/>
        </a:spcBef>
        <a:spcAft>
          <a:spcPct val="0"/>
        </a:spcAft>
        <a:defRPr sz="3600" b="1">
          <a:solidFill>
            <a:schemeClr val="accent2"/>
          </a:solidFill>
          <a:latin typeface="Arial" charset="0"/>
        </a:defRPr>
      </a:lvl6pPr>
      <a:lvl7pPr marL="914400" algn="ctr" rtl="0" fontAlgn="base">
        <a:spcBef>
          <a:spcPct val="0"/>
        </a:spcBef>
        <a:spcAft>
          <a:spcPct val="0"/>
        </a:spcAft>
        <a:defRPr sz="3600" b="1">
          <a:solidFill>
            <a:schemeClr val="accent2"/>
          </a:solidFill>
          <a:latin typeface="Arial" charset="0"/>
        </a:defRPr>
      </a:lvl7pPr>
      <a:lvl8pPr marL="1371600" algn="ctr" rtl="0" fontAlgn="base">
        <a:spcBef>
          <a:spcPct val="0"/>
        </a:spcBef>
        <a:spcAft>
          <a:spcPct val="0"/>
        </a:spcAft>
        <a:defRPr sz="3600" b="1">
          <a:solidFill>
            <a:schemeClr val="accent2"/>
          </a:solidFill>
          <a:latin typeface="Arial" charset="0"/>
        </a:defRPr>
      </a:lvl8pPr>
      <a:lvl9pPr marL="1828800" algn="ctr" rtl="0" fontAlgn="base">
        <a:spcBef>
          <a:spcPct val="0"/>
        </a:spcBef>
        <a:spcAft>
          <a:spcPct val="0"/>
        </a:spcAft>
        <a:defRPr sz="3600" b="1">
          <a:solidFill>
            <a:schemeClr val="accent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0.png"/><Relationship Id="rId5" Type="http://schemas.openxmlformats.org/officeDocument/2006/relationships/oleObject" Target="../embeddings/oleObject6.bin"/><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xml"/><Relationship Id="rId7" Type="http://schemas.openxmlformats.org/officeDocument/2006/relationships/image" Target="../media/image17.wmf"/><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9"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20.png"/><Relationship Id="rId5" Type="http://schemas.openxmlformats.org/officeDocument/2006/relationships/oleObject" Target="../embeddings/oleObject12.bin"/><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3.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27.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9.wmf"/></Relationships>
</file>

<file path=ppt/slides/_rels/slide2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1.wmf"/></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23.bin"/><Relationship Id="rId4" Type="http://schemas.openxmlformats.org/officeDocument/2006/relationships/image" Target="../media/image36.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40.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Text Box 4"/>
          <p:cNvSpPr txBox="1">
            <a:spLocks noChangeArrowheads="1"/>
          </p:cNvSpPr>
          <p:nvPr/>
        </p:nvSpPr>
        <p:spPr bwMode="auto">
          <a:xfrm>
            <a:off x="652463" y="1657350"/>
            <a:ext cx="78073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GB" altLang="en-US" sz="4000" b="1">
                <a:solidFill>
                  <a:srgbClr val="0033CC"/>
                </a:solidFill>
              </a:rPr>
              <a:t>Introduction to stochasticity</a:t>
            </a:r>
          </a:p>
        </p:txBody>
      </p:sp>
      <p:sp>
        <p:nvSpPr>
          <p:cNvPr id="2051" name="Text Box 2"/>
          <p:cNvSpPr txBox="1">
            <a:spLocks noChangeArrowheads="1"/>
          </p:cNvSpPr>
          <p:nvPr/>
        </p:nvSpPr>
        <p:spPr bwMode="auto">
          <a:xfrm>
            <a:off x="508000" y="3244850"/>
            <a:ext cx="8128000"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solidFill>
                  <a:srgbClr val="990000"/>
                </a:solidFill>
              </a:rPr>
              <a:t>Juan Vesga</a:t>
            </a:r>
          </a:p>
          <a:p>
            <a:pPr algn="ctr" eaLnBrk="1" hangingPunct="1">
              <a:spcBef>
                <a:spcPct val="50000"/>
              </a:spcBef>
              <a:buFontTx/>
              <a:buNone/>
            </a:pPr>
            <a:r>
              <a:rPr lang="en-US" altLang="en-US" sz="2400" dirty="0">
                <a:solidFill>
                  <a:srgbClr val="990000"/>
                </a:solidFill>
              </a:rPr>
              <a:t> </a:t>
            </a:r>
            <a:r>
              <a:rPr lang="en-US" altLang="en-US" sz="2000" dirty="0">
                <a:solidFill>
                  <a:srgbClr val="990000"/>
                </a:solidFill>
              </a:rPr>
              <a:t>with thanks to Neil Ferguson, Michael White, </a:t>
            </a:r>
            <a:r>
              <a:rPr lang="en-US" altLang="en-US" sz="2000" dirty="0" err="1">
                <a:solidFill>
                  <a:srgbClr val="990000"/>
                </a:solidFill>
              </a:rPr>
              <a:t>Déirdre</a:t>
            </a:r>
            <a:r>
              <a:rPr lang="en-US" altLang="en-US" sz="2000" dirty="0">
                <a:solidFill>
                  <a:srgbClr val="990000"/>
                </a:solidFill>
              </a:rPr>
              <a:t> Hollingsworth &amp; James Truscott </a:t>
            </a:r>
            <a:endParaRPr lang="en-US" altLang="en-US" sz="2800" dirty="0">
              <a:solidFill>
                <a:srgbClr val="990000"/>
              </a:solidFill>
            </a:endParaRPr>
          </a:p>
          <a:p>
            <a:pPr algn="ctr" eaLnBrk="1" hangingPunct="1">
              <a:spcBef>
                <a:spcPct val="50000"/>
              </a:spcBef>
              <a:spcAft>
                <a:spcPct val="50000"/>
              </a:spcAft>
              <a:buFontTx/>
              <a:buNone/>
            </a:pPr>
            <a:endParaRPr lang="en-US" altLang="en-US" sz="1800" dirty="0"/>
          </a:p>
          <a:p>
            <a:pPr algn="ctr" eaLnBrk="1" hangingPunct="1">
              <a:spcBef>
                <a:spcPct val="50000"/>
              </a:spcBef>
              <a:buFontTx/>
              <a:buNone/>
            </a:pPr>
            <a:endParaRPr lang="en-US" altLang="en-US" sz="1000" dirty="0"/>
          </a:p>
          <a:p>
            <a:pPr algn="ctr" eaLnBrk="1" hangingPunct="1">
              <a:spcBef>
                <a:spcPct val="50000"/>
              </a:spcBef>
              <a:buFontTx/>
              <a:buNone/>
            </a:pPr>
            <a:r>
              <a:rPr lang="en-GB" altLang="en-US" sz="2000" i="1" dirty="0"/>
              <a:t>Dept. of Infectious Disease Epidemiology</a:t>
            </a:r>
            <a:br>
              <a:rPr lang="en-GB" altLang="en-US" sz="2000" i="1" dirty="0"/>
            </a:br>
            <a:r>
              <a:rPr lang="en-GB" altLang="en-US" sz="2000" i="1" dirty="0"/>
              <a:t>Faculty of Medicine</a:t>
            </a:r>
            <a:br>
              <a:rPr lang="en-GB" altLang="en-US" sz="2000" i="1" dirty="0"/>
            </a:br>
            <a:r>
              <a:rPr lang="en-US" altLang="en-US" sz="2000" i="1" dirty="0"/>
              <a:t>Imperial College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18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Plan &amp; objectives</a:t>
            </a:r>
          </a:p>
        </p:txBody>
      </p:sp>
      <p:sp>
        <p:nvSpPr>
          <p:cNvPr id="394243" name="Rectangle 3"/>
          <p:cNvSpPr>
            <a:spLocks noChangeArrowheads="1"/>
          </p:cNvSpPr>
          <p:nvPr/>
        </p:nvSpPr>
        <p:spPr bwMode="auto">
          <a:xfrm>
            <a:off x="196850" y="1182688"/>
            <a:ext cx="883285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defRPr>
            </a:lvl1pPr>
            <a:lvl2pPr marL="800100" indent="-34290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Aft>
                <a:spcPts val="600"/>
              </a:spcAft>
              <a:buFontTx/>
              <a:buChar char="•"/>
              <a:defRPr/>
            </a:pPr>
            <a:r>
              <a:rPr lang="en-US" altLang="en-US" dirty="0">
                <a:latin typeface="Times New Roman" pitchFamily="18" charset="0"/>
              </a:rPr>
              <a:t>What are </a:t>
            </a:r>
            <a:r>
              <a:rPr lang="en-US" altLang="en-US" dirty="0" err="1">
                <a:latin typeface="Times New Roman" pitchFamily="18" charset="0"/>
              </a:rPr>
              <a:t>stochasticity</a:t>
            </a:r>
            <a:r>
              <a:rPr lang="en-US" altLang="en-US" dirty="0">
                <a:latin typeface="Times New Roman" pitchFamily="18" charset="0"/>
              </a:rPr>
              <a:t> and persistence and why are they important?</a:t>
            </a:r>
          </a:p>
          <a:p>
            <a:pPr eaLnBrk="1" hangingPunct="1">
              <a:spcAft>
                <a:spcPts val="600"/>
              </a:spcAft>
              <a:buFontTx/>
              <a:buChar char="•"/>
              <a:defRPr/>
            </a:pPr>
            <a:endParaRPr lang="en-US" altLang="en-US" dirty="0">
              <a:latin typeface="Times New Roman" pitchFamily="18" charset="0"/>
            </a:endParaRPr>
          </a:p>
          <a:p>
            <a:pPr eaLnBrk="1" hangingPunct="1">
              <a:spcAft>
                <a:spcPts val="600"/>
              </a:spcAft>
              <a:buFontTx/>
              <a:buChar char="•"/>
              <a:defRPr/>
            </a:pPr>
            <a:r>
              <a:rPr lang="en-US" altLang="en-US" dirty="0">
                <a:latin typeface="Times New Roman" pitchFamily="18" charset="0"/>
              </a:rPr>
              <a:t>Some important consequences of </a:t>
            </a:r>
            <a:r>
              <a:rPr lang="en-US" altLang="en-US" dirty="0" err="1">
                <a:latin typeface="Times New Roman" pitchFamily="18" charset="0"/>
              </a:rPr>
              <a:t>stochasticity</a:t>
            </a:r>
            <a:r>
              <a:rPr lang="en-US" altLang="en-US" dirty="0">
                <a:latin typeface="Times New Roman" pitchFamily="18" charset="0"/>
              </a:rPr>
              <a:t> on disease dynamics:</a:t>
            </a:r>
          </a:p>
          <a:p>
            <a:pPr lvl="1" eaLnBrk="1" hangingPunct="1">
              <a:spcAft>
                <a:spcPts val="600"/>
              </a:spcAft>
              <a:buFontTx/>
              <a:buAutoNum type="arabicPeriod"/>
              <a:defRPr/>
            </a:pPr>
            <a:r>
              <a:rPr lang="en-GB" altLang="en-US" dirty="0">
                <a:latin typeface="Times New Roman" pitchFamily="18" charset="0"/>
              </a:rPr>
              <a:t>Variability</a:t>
            </a:r>
          </a:p>
          <a:p>
            <a:pPr lvl="1" eaLnBrk="1" hangingPunct="1">
              <a:spcAft>
                <a:spcPts val="600"/>
              </a:spcAft>
              <a:buFontTx/>
              <a:buAutoNum type="arabicPeriod"/>
              <a:defRPr/>
            </a:pPr>
            <a:r>
              <a:rPr lang="en-GB" altLang="en-US" dirty="0">
                <a:latin typeface="Times New Roman" pitchFamily="18" charset="0"/>
              </a:rPr>
              <a:t>Persistence and critical community size</a:t>
            </a:r>
          </a:p>
          <a:p>
            <a:pPr lvl="1" eaLnBrk="1" hangingPunct="1">
              <a:spcAft>
                <a:spcPts val="600"/>
              </a:spcAft>
              <a:buFontTx/>
              <a:buAutoNum type="arabicPeriod"/>
              <a:defRPr/>
            </a:pPr>
            <a:r>
              <a:rPr lang="en-GB" altLang="en-US" dirty="0">
                <a:latin typeface="Times New Roman" pitchFamily="18" charset="0"/>
              </a:rPr>
              <a:t>Fade out probability</a:t>
            </a:r>
          </a:p>
          <a:p>
            <a:pPr marL="457200" lvl="1" indent="0" eaLnBrk="1" hangingPunct="1">
              <a:spcAft>
                <a:spcPts val="600"/>
              </a:spcAft>
              <a:defRPr/>
            </a:pPr>
            <a:endParaRPr lang="en-US" altLang="en-US" dirty="0">
              <a:latin typeface="Times New Roman" pitchFamily="18" charset="0"/>
            </a:endParaRPr>
          </a:p>
          <a:p>
            <a:pPr eaLnBrk="1" hangingPunct="1">
              <a:spcAft>
                <a:spcPts val="600"/>
              </a:spcAft>
              <a:buFontTx/>
              <a:buChar char="•"/>
              <a:defRPr/>
            </a:pPr>
            <a:r>
              <a:rPr lang="en-US" altLang="en-US" dirty="0">
                <a:latin typeface="Times New Roman" pitchFamily="18" charset="0"/>
              </a:rPr>
              <a:t>Criterion for disease persistence: the SIR &amp; SIS paradigms.</a:t>
            </a:r>
          </a:p>
          <a:p>
            <a:pPr eaLnBrk="1" hangingPunct="1">
              <a:spcAft>
                <a:spcPts val="600"/>
              </a:spcAft>
              <a:defRPr/>
            </a:pPr>
            <a:r>
              <a:rPr lang="en-US" altLang="en-US" dirty="0">
                <a:latin typeface="Times New Roman" pitchFamily="18" charset="0"/>
              </a:rPr>
              <a:t> </a:t>
            </a:r>
          </a:p>
          <a:p>
            <a:pPr eaLnBrk="1" hangingPunct="1">
              <a:spcAft>
                <a:spcPts val="600"/>
              </a:spcAft>
              <a:buFontTx/>
              <a:buChar char="•"/>
              <a:defRPr/>
            </a:pPr>
            <a:r>
              <a:rPr lang="en-US" altLang="en-US" dirty="0">
                <a:latin typeface="Times New Roman" pitchFamily="18" charset="0"/>
              </a:rPr>
              <a:t>Formulating stochastic models.</a:t>
            </a:r>
          </a:p>
          <a:p>
            <a:pPr eaLnBrk="1" hangingPunct="1">
              <a:spcAft>
                <a:spcPts val="600"/>
              </a:spcAft>
              <a:defRPr/>
            </a:pPr>
            <a:r>
              <a:rPr lang="en-US" altLang="en-US" dirty="0">
                <a:latin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4243">
                                            <p:txEl>
                                              <p:pRg st="8" end="8"/>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4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42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9424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9424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9424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94243">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94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457200" y="2365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Stochasticity</a:t>
            </a:r>
          </a:p>
        </p:txBody>
      </p:sp>
      <p:sp>
        <p:nvSpPr>
          <p:cNvPr id="4099" name="Rectangle 3"/>
          <p:cNvSpPr>
            <a:spLocks noChangeArrowheads="1"/>
          </p:cNvSpPr>
          <p:nvPr/>
        </p:nvSpPr>
        <p:spPr bwMode="auto">
          <a:xfrm>
            <a:off x="330200" y="1196975"/>
            <a:ext cx="8356600" cy="518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ts val="600"/>
              </a:spcAft>
              <a:buFontTx/>
              <a:buNone/>
            </a:pPr>
            <a:r>
              <a:rPr lang="en-US" altLang="en-US" sz="2400" i="1" dirty="0">
                <a:latin typeface="Calibri" panose="020F0502020204030204" pitchFamily="34" charset="0"/>
              </a:rPr>
              <a:t>Deterministic models</a:t>
            </a:r>
          </a:p>
          <a:p>
            <a:pPr lvl="1" eaLnBrk="1" hangingPunct="1">
              <a:spcBef>
                <a:spcPct val="0"/>
              </a:spcBef>
              <a:spcAft>
                <a:spcPts val="600"/>
              </a:spcAft>
              <a:buFont typeface="Wingdings" panose="05000000000000000000" pitchFamily="2" charset="2"/>
              <a:buChar char="Ø"/>
            </a:pPr>
            <a:r>
              <a:rPr lang="en-US" altLang="en-US" sz="2000" dirty="0">
                <a:solidFill>
                  <a:srgbClr val="990000"/>
                </a:solidFill>
                <a:latin typeface="Calibri" panose="020F0502020204030204" pitchFamily="34" charset="0"/>
              </a:rPr>
              <a:t> try to capture ‘average’ </a:t>
            </a:r>
            <a:r>
              <a:rPr lang="en-US" altLang="en-US" sz="2000" dirty="0" err="1">
                <a:solidFill>
                  <a:srgbClr val="990000"/>
                </a:solidFill>
                <a:latin typeface="Calibri" panose="020F0502020204030204" pitchFamily="34" charset="0"/>
              </a:rPr>
              <a:t>behaviour</a:t>
            </a:r>
            <a:r>
              <a:rPr lang="en-US" altLang="en-US" sz="2000" dirty="0">
                <a:solidFill>
                  <a:srgbClr val="990000"/>
                </a:solidFill>
                <a:latin typeface="Calibri" panose="020F0502020204030204" pitchFamily="34" charset="0"/>
              </a:rPr>
              <a:t>.</a:t>
            </a:r>
          </a:p>
          <a:p>
            <a:pPr lvl="1" eaLnBrk="1" hangingPunct="1">
              <a:spcBef>
                <a:spcPct val="0"/>
              </a:spcBef>
              <a:spcAft>
                <a:spcPts val="600"/>
              </a:spcAft>
              <a:buFont typeface="Wingdings" panose="05000000000000000000" pitchFamily="2" charset="2"/>
              <a:buChar char="Ø"/>
            </a:pPr>
            <a:r>
              <a:rPr lang="en-US" altLang="en-US" sz="2000" dirty="0">
                <a:solidFill>
                  <a:srgbClr val="990000"/>
                </a:solidFill>
                <a:latin typeface="Calibri" panose="020F0502020204030204" pitchFamily="34" charset="0"/>
              </a:rPr>
              <a:t> …but in reality transmission/demographic processes are random.</a:t>
            </a:r>
          </a:p>
          <a:p>
            <a:pPr lvl="1" eaLnBrk="1" hangingPunct="1">
              <a:spcBef>
                <a:spcPct val="0"/>
              </a:spcBef>
              <a:spcAft>
                <a:spcPts val="600"/>
              </a:spcAft>
              <a:buFontTx/>
              <a:buNone/>
            </a:pPr>
            <a:endParaRPr lang="en-US" altLang="en-US" sz="2400" i="1" dirty="0">
              <a:latin typeface="Calibri" panose="020F0502020204030204" pitchFamily="34" charset="0"/>
            </a:endParaRPr>
          </a:p>
          <a:p>
            <a:pPr eaLnBrk="1" hangingPunct="1">
              <a:spcBef>
                <a:spcPct val="0"/>
              </a:spcBef>
              <a:spcAft>
                <a:spcPts val="600"/>
              </a:spcAft>
              <a:buFontTx/>
              <a:buNone/>
            </a:pPr>
            <a:r>
              <a:rPr lang="en-US" altLang="en-US" sz="2400" i="1" dirty="0">
                <a:latin typeface="Calibri" panose="020F0502020204030204" pitchFamily="34" charset="0"/>
              </a:rPr>
              <a:t>Stochasticity</a:t>
            </a:r>
          </a:p>
          <a:p>
            <a:pPr lvl="1" eaLnBrk="1" hangingPunct="1">
              <a:spcBef>
                <a:spcPct val="0"/>
              </a:spcBef>
              <a:spcAft>
                <a:spcPts val="600"/>
              </a:spcAft>
              <a:buFont typeface="Wingdings" panose="05000000000000000000" pitchFamily="2" charset="2"/>
              <a:buChar char="Ø"/>
            </a:pPr>
            <a:r>
              <a:rPr lang="en-US" altLang="en-US" sz="2000" dirty="0">
                <a:solidFill>
                  <a:srgbClr val="990000"/>
                </a:solidFill>
                <a:latin typeface="Calibri" panose="020F0502020204030204" pitchFamily="34" charset="0"/>
              </a:rPr>
              <a:t> Randomness. </a:t>
            </a:r>
          </a:p>
          <a:p>
            <a:pPr lvl="1" eaLnBrk="1" hangingPunct="1">
              <a:spcBef>
                <a:spcPct val="0"/>
              </a:spcBef>
              <a:spcAft>
                <a:spcPts val="600"/>
              </a:spcAft>
              <a:buFont typeface="Wingdings" panose="05000000000000000000" pitchFamily="2" charset="2"/>
              <a:buChar char="Ø"/>
            </a:pPr>
            <a:r>
              <a:rPr lang="en-US" altLang="en-US" sz="2000" dirty="0">
                <a:solidFill>
                  <a:srgbClr val="990000"/>
                </a:solidFill>
                <a:latin typeface="Calibri" panose="020F0502020204030204" pitchFamily="34" charset="0"/>
              </a:rPr>
              <a:t> Disease transmission really a process of discrete, random infection/recovery and other events.</a:t>
            </a:r>
          </a:p>
          <a:p>
            <a:pPr lvl="1" eaLnBrk="1" hangingPunct="1">
              <a:spcBef>
                <a:spcPct val="0"/>
              </a:spcBef>
              <a:spcAft>
                <a:spcPts val="1200"/>
              </a:spcAft>
              <a:buFont typeface="Wingdings" panose="05000000000000000000" pitchFamily="2" charset="2"/>
              <a:buChar char="Ø"/>
            </a:pPr>
            <a:r>
              <a:rPr lang="en-US" altLang="en-US" sz="2000" dirty="0">
                <a:solidFill>
                  <a:srgbClr val="990000"/>
                </a:solidFill>
                <a:latin typeface="Calibri" panose="020F0502020204030204" pitchFamily="34" charset="0"/>
              </a:rPr>
              <a:t> Stochastic models generate ‘random’ output, so many independent runs are needed to calculate average </a:t>
            </a:r>
            <a:r>
              <a:rPr lang="en-US" altLang="en-US" sz="2000" dirty="0" err="1">
                <a:solidFill>
                  <a:srgbClr val="990000"/>
                </a:solidFill>
                <a:latin typeface="Calibri" panose="020F0502020204030204" pitchFamily="34" charset="0"/>
              </a:rPr>
              <a:t>behaviour</a:t>
            </a:r>
            <a:r>
              <a:rPr lang="en-US" altLang="en-US" sz="2000" dirty="0">
                <a:solidFill>
                  <a:srgbClr val="990000"/>
                </a:solidFill>
                <a:latin typeface="Calibri" panose="020F0502020204030204" pitchFamily="34" charset="0"/>
              </a:rPr>
              <a:t>, variances, correlations, etc</a:t>
            </a:r>
            <a:r>
              <a:rPr lang="en-US" altLang="en-US" sz="2000" i="1" dirty="0">
                <a:solidFill>
                  <a:srgbClr val="990000"/>
                </a:solidFill>
                <a:latin typeface="Calibri" panose="020F0502020204030204" pitchFamily="34" charset="0"/>
              </a:rPr>
              <a:t>.</a:t>
            </a:r>
            <a:endParaRPr lang="en-US" altLang="en-US" sz="2000" dirty="0">
              <a:solidFill>
                <a:srgbClr val="990000"/>
              </a:solidFill>
              <a:latin typeface="Calibri" panose="020F0502020204030204" pitchFamily="34" charset="0"/>
            </a:endParaRPr>
          </a:p>
          <a:p>
            <a:pPr eaLnBrk="1" hangingPunct="1">
              <a:spcBef>
                <a:spcPts val="600"/>
              </a:spcBef>
              <a:spcAft>
                <a:spcPts val="600"/>
              </a:spcAft>
              <a:buFont typeface="Symbol" panose="05050102010706020507" pitchFamily="18" charset="2"/>
              <a:buNone/>
            </a:pPr>
            <a:r>
              <a:rPr lang="en-US" altLang="en-US" sz="2400" i="1" dirty="0">
                <a:latin typeface="Calibri" panose="020F0502020204030204" pitchFamily="34" charset="0"/>
              </a:rPr>
              <a:t>Complicating factors</a:t>
            </a:r>
          </a:p>
          <a:p>
            <a:pPr lvl="1" eaLnBrk="1" hangingPunct="1">
              <a:spcBef>
                <a:spcPct val="0"/>
              </a:spcBef>
              <a:spcAft>
                <a:spcPts val="200"/>
              </a:spcAft>
              <a:buFont typeface="Wingdings" panose="05000000000000000000" pitchFamily="2" charset="2"/>
              <a:buChar char="Ø"/>
            </a:pPr>
            <a:r>
              <a:rPr lang="en-US" altLang="en-US" sz="2000" dirty="0">
                <a:solidFill>
                  <a:srgbClr val="990000"/>
                </a:solidFill>
                <a:latin typeface="Calibri" panose="020F0502020204030204" pitchFamily="34" charset="0"/>
              </a:rPr>
              <a:t> Heterogeneity (</a:t>
            </a:r>
            <a:r>
              <a:rPr lang="en-US" altLang="en-US" sz="2000" dirty="0" err="1">
                <a:solidFill>
                  <a:srgbClr val="990000"/>
                </a:solidFill>
                <a:latin typeface="Calibri" panose="020F0502020204030204" pitchFamily="34" charset="0"/>
              </a:rPr>
              <a:t>behavioural</a:t>
            </a:r>
            <a:r>
              <a:rPr lang="en-US" altLang="en-US" sz="2000" dirty="0">
                <a:solidFill>
                  <a:srgbClr val="990000"/>
                </a:solidFill>
                <a:latin typeface="Calibri" panose="020F0502020204030204" pitchFamily="34" charset="0"/>
              </a:rPr>
              <a:t>, spatial, temporal).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Stochastic population processes</a:t>
            </a:r>
          </a:p>
        </p:txBody>
      </p:sp>
      <p:sp>
        <p:nvSpPr>
          <p:cNvPr id="5123" name="Rectangle 3"/>
          <p:cNvSpPr>
            <a:spLocks noChangeArrowheads="1"/>
          </p:cNvSpPr>
          <p:nvPr/>
        </p:nvSpPr>
        <p:spPr bwMode="auto">
          <a:xfrm>
            <a:off x="342900" y="1325563"/>
            <a:ext cx="8343900"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spcAft>
                <a:spcPts val="600"/>
              </a:spcAft>
            </a:pPr>
            <a:r>
              <a:rPr lang="en-US" altLang="en-US" sz="2400" dirty="0">
                <a:latin typeface="Calibri" panose="020F0502020204030204" pitchFamily="34" charset="0"/>
              </a:rPr>
              <a:t> A </a:t>
            </a:r>
            <a:r>
              <a:rPr lang="en-US" altLang="en-US" sz="2400" dirty="0">
                <a:solidFill>
                  <a:srgbClr val="990000"/>
                </a:solidFill>
                <a:latin typeface="Calibri" panose="020F0502020204030204" pitchFamily="34" charset="0"/>
              </a:rPr>
              <a:t>stochastic model</a:t>
            </a:r>
            <a:r>
              <a:rPr lang="en-US" altLang="en-US" sz="2400" dirty="0">
                <a:latin typeface="Calibri" panose="020F0502020204030204" pitchFamily="34" charset="0"/>
              </a:rPr>
              <a:t> consists of a </a:t>
            </a:r>
            <a:r>
              <a:rPr lang="en-US" altLang="en-US" sz="2400" dirty="0">
                <a:solidFill>
                  <a:srgbClr val="990000"/>
                </a:solidFill>
                <a:latin typeface="Calibri" panose="020F0502020204030204" pitchFamily="34" charset="0"/>
              </a:rPr>
              <a:t>population</a:t>
            </a:r>
            <a:r>
              <a:rPr lang="en-US" altLang="en-US" sz="2400" dirty="0">
                <a:latin typeface="Calibri" panose="020F0502020204030204" pitchFamily="34" charset="0"/>
              </a:rPr>
              <a:t> and a number of </a:t>
            </a:r>
            <a:r>
              <a:rPr lang="en-US" altLang="en-US" sz="2400" dirty="0">
                <a:solidFill>
                  <a:srgbClr val="990000"/>
                </a:solidFill>
                <a:latin typeface="Calibri" panose="020F0502020204030204" pitchFamily="34" charset="0"/>
              </a:rPr>
              <a:t>event types</a:t>
            </a:r>
            <a:r>
              <a:rPr lang="en-US" altLang="en-US" sz="2400" dirty="0">
                <a:latin typeface="Calibri" panose="020F0502020204030204" pitchFamily="34" charset="0"/>
              </a:rPr>
              <a:t>. </a:t>
            </a:r>
          </a:p>
          <a:p>
            <a:pPr eaLnBrk="1" hangingPunct="1">
              <a:spcBef>
                <a:spcPct val="50000"/>
              </a:spcBef>
              <a:spcAft>
                <a:spcPts val="600"/>
              </a:spcAft>
            </a:pPr>
            <a:r>
              <a:rPr lang="en-US" altLang="en-US" sz="2400" dirty="0">
                <a:latin typeface="Calibri" panose="020F0502020204030204" pitchFamily="34" charset="0"/>
              </a:rPr>
              <a:t>The population may consist of individuals or of sub-populations in given states. E.g. susceptible, infected, ‘recovered’, etc. </a:t>
            </a:r>
          </a:p>
          <a:p>
            <a:pPr eaLnBrk="1" hangingPunct="1">
              <a:spcBef>
                <a:spcPct val="50000"/>
              </a:spcBef>
              <a:spcAft>
                <a:spcPts val="600"/>
              </a:spcAft>
            </a:pPr>
            <a:r>
              <a:rPr lang="en-US" altLang="en-US" sz="2400" dirty="0">
                <a:latin typeface="Calibri" panose="020F0502020204030204" pitchFamily="34" charset="0"/>
              </a:rPr>
              <a:t>Event types could be infection, recovery, death, etc. </a:t>
            </a:r>
          </a:p>
          <a:p>
            <a:pPr eaLnBrk="1" hangingPunct="1">
              <a:spcBef>
                <a:spcPct val="50000"/>
              </a:spcBef>
              <a:spcAft>
                <a:spcPts val="600"/>
              </a:spcAft>
            </a:pPr>
            <a:r>
              <a:rPr lang="en-US" altLang="en-US" sz="2400" dirty="0">
                <a:latin typeface="Calibri" panose="020F0502020204030204" pitchFamily="34" charset="0"/>
              </a:rPr>
              <a:t>Simple basic idea – in any time interval there is a certain probability of each type of event occurring (e.g. birth/death).</a:t>
            </a:r>
          </a:p>
          <a:p>
            <a:pPr eaLnBrk="1" hangingPunct="1">
              <a:spcBef>
                <a:spcPct val="50000"/>
              </a:spcBef>
              <a:spcAft>
                <a:spcPts val="600"/>
              </a:spcAft>
            </a:pPr>
            <a:r>
              <a:rPr lang="en-US" altLang="en-US" sz="2400" dirty="0">
                <a:solidFill>
                  <a:srgbClr val="990000"/>
                </a:solidFill>
                <a:latin typeface="Calibri" panose="020F0502020204030204" pitchFamily="34" charset="0"/>
              </a:rPr>
              <a:t> Deterministic</a:t>
            </a:r>
            <a:r>
              <a:rPr lang="en-US" altLang="en-US" sz="2400" dirty="0">
                <a:solidFill>
                  <a:srgbClr val="FF0000"/>
                </a:solidFill>
                <a:latin typeface="Calibri" panose="020F0502020204030204" pitchFamily="34" charset="0"/>
              </a:rPr>
              <a:t> </a:t>
            </a:r>
            <a:r>
              <a:rPr lang="en-US" altLang="en-US" sz="2400" dirty="0">
                <a:solidFill>
                  <a:srgbClr val="990000"/>
                </a:solidFill>
                <a:latin typeface="Calibri" panose="020F0502020204030204" pitchFamily="34" charset="0"/>
              </a:rPr>
              <a:t>models</a:t>
            </a:r>
            <a:r>
              <a:rPr lang="en-US" altLang="en-US" sz="2400" dirty="0">
                <a:latin typeface="Calibri" panose="020F0502020204030204" pitchFamily="34" charset="0"/>
              </a:rPr>
              <a:t> approximate by saying that in any time interval, the </a:t>
            </a:r>
            <a:r>
              <a:rPr lang="en-US" altLang="en-US" sz="2400" i="1" dirty="0">
                <a:solidFill>
                  <a:srgbClr val="990000"/>
                </a:solidFill>
                <a:latin typeface="Calibri" panose="020F0502020204030204" pitchFamily="34" charset="0"/>
              </a:rPr>
              <a:t>mean</a:t>
            </a:r>
            <a:r>
              <a:rPr lang="en-US" altLang="en-US" sz="2400" dirty="0">
                <a:latin typeface="Calibri" panose="020F0502020204030204" pitchFamily="34" charset="0"/>
              </a:rPr>
              <a:t> number of events of any particular type occur. They also assume population sizes to be real, not integer numbers.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solidFill>
                  <a:srgbClr val="0033CC"/>
                </a:solidFill>
              </a:rPr>
              <a:t>Simple</a:t>
            </a:r>
            <a:r>
              <a:rPr lang="en-GB" altLang="en-US" sz="2000" dirty="0">
                <a:solidFill>
                  <a:schemeClr val="accent2"/>
                </a:solidFill>
              </a:rPr>
              <a:t> </a:t>
            </a:r>
            <a:r>
              <a:rPr lang="en-GB" altLang="en-US" sz="2800" b="1" dirty="0">
                <a:solidFill>
                  <a:srgbClr val="0033CC"/>
                </a:solidFill>
              </a:rPr>
              <a:t>birth-death process (1)</a:t>
            </a:r>
          </a:p>
        </p:txBody>
      </p:sp>
      <p:graphicFrame>
        <p:nvGraphicFramePr>
          <p:cNvPr id="6147" name="Object 3"/>
          <p:cNvGraphicFramePr>
            <a:graphicFrameLocks/>
          </p:cNvGraphicFramePr>
          <p:nvPr/>
        </p:nvGraphicFramePr>
        <p:xfrm>
          <a:off x="4725988" y="2019300"/>
          <a:ext cx="3113087" cy="447675"/>
        </p:xfrm>
        <a:graphic>
          <a:graphicData uri="http://schemas.openxmlformats.org/presentationml/2006/ole">
            <mc:AlternateContent xmlns:mc="http://schemas.openxmlformats.org/markup-compatibility/2006">
              <mc:Choice xmlns:v="urn:schemas-microsoft-com:vml" Requires="v">
                <p:oleObj spid="_x0000_s6222" name="Equation" r:id="rId3" imgW="1574800" imgH="279400" progId="Equation.DSMT4">
                  <p:embed/>
                </p:oleObj>
              </mc:Choice>
              <mc:Fallback>
                <p:oleObj name="Equation" r:id="rId3" imgW="1574800" imgH="279400" progId="Equation.DSMT4">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5988" y="2019300"/>
                        <a:ext cx="3113087" cy="447675"/>
                      </a:xfrm>
                      <a:prstGeom prst="rect">
                        <a:avLst/>
                      </a:prstGeom>
                      <a:noFill/>
                      <a:ln w="25400">
                        <a:solidFill>
                          <a:srgbClr val="800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8" name="Rectangle 4"/>
          <p:cNvSpPr>
            <a:spLocks noChangeArrowheads="1"/>
          </p:cNvSpPr>
          <p:nvPr/>
        </p:nvSpPr>
        <p:spPr bwMode="auto">
          <a:xfrm>
            <a:off x="2565400" y="2043113"/>
            <a:ext cx="18605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a:latin typeface="Calibri" panose="020F0502020204030204" pitchFamily="34" charset="0"/>
              </a:rPr>
              <a:t>  - with solution </a:t>
            </a:r>
          </a:p>
        </p:txBody>
      </p:sp>
      <p:sp>
        <p:nvSpPr>
          <p:cNvPr id="6149" name="Rectangle 5"/>
          <p:cNvSpPr>
            <a:spLocks noChangeArrowheads="1"/>
          </p:cNvSpPr>
          <p:nvPr/>
        </p:nvSpPr>
        <p:spPr bwMode="auto">
          <a:xfrm>
            <a:off x="0"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aphicFrame>
        <p:nvGraphicFramePr>
          <p:cNvPr id="6150" name="Object 6"/>
          <p:cNvGraphicFramePr>
            <a:graphicFrameLocks noChangeAspect="1"/>
          </p:cNvGraphicFramePr>
          <p:nvPr/>
        </p:nvGraphicFramePr>
        <p:xfrm>
          <a:off x="527050" y="1844675"/>
          <a:ext cx="1797050" cy="704850"/>
        </p:xfrm>
        <a:graphic>
          <a:graphicData uri="http://schemas.openxmlformats.org/presentationml/2006/ole">
            <mc:AlternateContent xmlns:mc="http://schemas.openxmlformats.org/markup-compatibility/2006">
              <mc:Choice xmlns:v="urn:schemas-microsoft-com:vml" Requires="v">
                <p:oleObj spid="_x0000_s6223" name="Equation" r:id="rId5" imgW="1002865" imgH="393529" progId="Equation.DSMT4">
                  <p:embed/>
                </p:oleObj>
              </mc:Choice>
              <mc:Fallback>
                <p:oleObj name="Equation" r:id="rId5" imgW="1002865" imgH="393529"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050" y="1844675"/>
                        <a:ext cx="1797050" cy="704850"/>
                      </a:xfrm>
                      <a:prstGeom prst="rect">
                        <a:avLst/>
                      </a:prstGeom>
                      <a:noFill/>
                      <a:ln w="25400">
                        <a:solidFill>
                          <a:srgbClr val="800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1" name="Rectangle 7"/>
          <p:cNvSpPr>
            <a:spLocks noChangeArrowheads="1"/>
          </p:cNvSpPr>
          <p:nvPr/>
        </p:nvSpPr>
        <p:spPr bwMode="auto">
          <a:xfrm>
            <a:off x="360363" y="1209675"/>
            <a:ext cx="2624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b="1">
                <a:cs typeface="Times New Roman" panose="02020603050405020304" pitchFamily="18" charset="0"/>
              </a:rPr>
              <a:t>Deterministically</a:t>
            </a:r>
            <a:endParaRPr lang="en-GB" altLang="en-US" sz="2800"/>
          </a:p>
        </p:txBody>
      </p:sp>
      <p:sp>
        <p:nvSpPr>
          <p:cNvPr id="6152" name="Rectangle 8"/>
          <p:cNvSpPr>
            <a:spLocks noChangeArrowheads="1"/>
          </p:cNvSpPr>
          <p:nvPr/>
        </p:nvSpPr>
        <p:spPr bwMode="auto">
          <a:xfrm>
            <a:off x="457200" y="2819400"/>
            <a:ext cx="8229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ts val="600"/>
              </a:spcAft>
              <a:buFontTx/>
              <a:buNone/>
            </a:pPr>
            <a:r>
              <a:rPr lang="en-US" altLang="en-US" sz="2000" dirty="0">
                <a:latin typeface="Calibri" panose="020F0502020204030204" pitchFamily="34" charset="0"/>
              </a:rPr>
              <a:t>For </a:t>
            </a:r>
            <a:r>
              <a:rPr lang="en-US" altLang="en-US" sz="2000" dirty="0">
                <a:latin typeface="Calibri" panose="020F0502020204030204" pitchFamily="34" charset="0"/>
                <a:sym typeface="Symbol" panose="05050102010706020507" pitchFamily="18" charset="2"/>
              </a:rPr>
              <a:t></a:t>
            </a:r>
            <a:r>
              <a:rPr lang="en-US" altLang="en-US" sz="2000" dirty="0">
                <a:latin typeface="Calibri" panose="020F0502020204030204" pitchFamily="34" charset="0"/>
              </a:rPr>
              <a:t>&gt;m, </a:t>
            </a:r>
            <a:r>
              <a:rPr lang="en-US" altLang="en-US" sz="2000" i="1" dirty="0">
                <a:latin typeface="Calibri" panose="020F0502020204030204" pitchFamily="34" charset="0"/>
              </a:rPr>
              <a:t>N</a:t>
            </a:r>
            <a:r>
              <a:rPr lang="en-US" altLang="en-US" sz="2000" dirty="0">
                <a:latin typeface="Calibri" panose="020F0502020204030204" pitchFamily="34" charset="0"/>
              </a:rPr>
              <a:t> grows exponentially. For </a:t>
            </a:r>
            <a:r>
              <a:rPr lang="en-US" altLang="en-US" sz="2400" dirty="0">
                <a:latin typeface="Calibri" panose="020F0502020204030204" pitchFamily="34" charset="0"/>
                <a:sym typeface="Symbol" panose="05050102010706020507" pitchFamily="18" charset="2"/>
              </a:rPr>
              <a:t></a:t>
            </a:r>
            <a:r>
              <a:rPr lang="en-US" altLang="en-US" sz="2400" dirty="0">
                <a:latin typeface="Calibri" panose="020F0502020204030204" pitchFamily="34" charset="0"/>
              </a:rPr>
              <a:t> </a:t>
            </a:r>
            <a:r>
              <a:rPr lang="en-US" altLang="en-US" sz="2000" dirty="0">
                <a:latin typeface="Calibri" panose="020F0502020204030204" pitchFamily="34" charset="0"/>
              </a:rPr>
              <a:t>&lt;m, </a:t>
            </a:r>
            <a:r>
              <a:rPr lang="en-US" altLang="en-US" sz="2000" i="1" dirty="0">
                <a:latin typeface="Calibri" panose="020F0502020204030204" pitchFamily="34" charset="0"/>
              </a:rPr>
              <a:t>N</a:t>
            </a:r>
            <a:r>
              <a:rPr lang="en-US" altLang="en-US" sz="2000" dirty="0">
                <a:latin typeface="Calibri" panose="020F0502020204030204" pitchFamily="34" charset="0"/>
              </a:rPr>
              <a:t> decreases asymptotically to zero. For </a:t>
            </a:r>
            <a:r>
              <a:rPr lang="en-US" altLang="en-US" sz="2400" dirty="0">
                <a:latin typeface="Calibri" panose="020F0502020204030204" pitchFamily="34" charset="0"/>
                <a:sym typeface="Symbol" panose="05050102010706020507" pitchFamily="18" charset="2"/>
              </a:rPr>
              <a:t></a:t>
            </a:r>
            <a:r>
              <a:rPr lang="en-US" altLang="en-US" sz="2400" dirty="0">
                <a:latin typeface="Calibri" panose="020F0502020204030204" pitchFamily="34" charset="0"/>
              </a:rPr>
              <a:t> </a:t>
            </a:r>
            <a:r>
              <a:rPr lang="en-US" altLang="en-US" sz="2000" dirty="0">
                <a:latin typeface="Calibri" panose="020F0502020204030204" pitchFamily="34" charset="0"/>
              </a:rPr>
              <a:t>=m, </a:t>
            </a:r>
            <a:r>
              <a:rPr lang="en-US" altLang="en-US" sz="2000" i="1" dirty="0">
                <a:latin typeface="Calibri" panose="020F0502020204030204" pitchFamily="34" charset="0"/>
              </a:rPr>
              <a:t>N</a:t>
            </a:r>
            <a:r>
              <a:rPr lang="en-US" altLang="en-US" sz="2000" dirty="0">
                <a:latin typeface="Calibri" panose="020F0502020204030204" pitchFamily="34" charset="0"/>
              </a:rPr>
              <a:t> remains constant.</a:t>
            </a:r>
          </a:p>
        </p:txBody>
      </p:sp>
      <p:graphicFrame>
        <p:nvGraphicFramePr>
          <p:cNvPr id="6153" name="Object 9"/>
          <p:cNvGraphicFramePr>
            <a:graphicFrameLocks noChangeAspect="1"/>
          </p:cNvGraphicFramePr>
          <p:nvPr/>
        </p:nvGraphicFramePr>
        <p:xfrm>
          <a:off x="4356100" y="3860800"/>
          <a:ext cx="4102100" cy="2757488"/>
        </p:xfrm>
        <a:graphic>
          <a:graphicData uri="http://schemas.openxmlformats.org/presentationml/2006/ole">
            <mc:AlternateContent xmlns:mc="http://schemas.openxmlformats.org/markup-compatibility/2006">
              <mc:Choice xmlns:v="urn:schemas-microsoft-com:vml" Requires="v">
                <p:oleObj spid="_x0000_s6224" name="Worksheet" r:id="rId7" imgW="4057802" imgH="2695651" progId="Excel.Sheet.8">
                  <p:embed/>
                </p:oleObj>
              </mc:Choice>
              <mc:Fallback>
                <p:oleObj name="Worksheet" r:id="rId7" imgW="4057802" imgH="2695651" progId="Excel.Sheet.8">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6100" y="3860800"/>
                        <a:ext cx="4102100"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4" name="Rectangle 10"/>
          <p:cNvSpPr>
            <a:spLocks noChangeArrowheads="1"/>
          </p:cNvSpPr>
          <p:nvPr/>
        </p:nvSpPr>
        <p:spPr bwMode="auto">
          <a:xfrm>
            <a:off x="457200" y="3856038"/>
            <a:ext cx="384492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solidFill>
                  <a:srgbClr val="990000"/>
                </a:solidFill>
                <a:latin typeface="Calibri" panose="020F0502020204030204" pitchFamily="34" charset="0"/>
              </a:rPr>
              <a:t>Here </a:t>
            </a:r>
            <a:r>
              <a:rPr lang="en-US" altLang="en-US" sz="2000" i="1">
                <a:solidFill>
                  <a:srgbClr val="990000"/>
                </a:solidFill>
                <a:latin typeface="Calibri" panose="020F0502020204030204" pitchFamily="34" charset="0"/>
              </a:rPr>
              <a:t>N</a:t>
            </a:r>
            <a:r>
              <a:rPr lang="en-US" altLang="en-US" sz="2000">
                <a:solidFill>
                  <a:srgbClr val="990000"/>
                </a:solidFill>
                <a:latin typeface="Calibri" panose="020F0502020204030204" pitchFamily="34" charset="0"/>
              </a:rPr>
              <a:t>(</a:t>
            </a:r>
            <a:r>
              <a:rPr lang="en-US" altLang="en-US" sz="2000" i="1">
                <a:solidFill>
                  <a:srgbClr val="990000"/>
                </a:solidFill>
                <a:latin typeface="Calibri" panose="020F0502020204030204" pitchFamily="34" charset="0"/>
              </a:rPr>
              <a:t>t</a:t>
            </a:r>
            <a:r>
              <a:rPr lang="en-US" altLang="en-US" sz="2000">
                <a:solidFill>
                  <a:srgbClr val="990000"/>
                </a:solidFill>
                <a:latin typeface="Calibri" panose="020F0502020204030204" pitchFamily="34" charset="0"/>
              </a:rPr>
              <a:t>) represents the average number of individuals alive at time </a:t>
            </a:r>
            <a:r>
              <a:rPr lang="en-US" altLang="en-US" sz="2000" i="1">
                <a:solidFill>
                  <a:srgbClr val="990000"/>
                </a:solidFill>
                <a:latin typeface="Calibri" panose="020F0502020204030204" pitchFamily="34" charset="0"/>
              </a:rPr>
              <a:t>t</a:t>
            </a:r>
            <a:r>
              <a:rPr lang="en-US" altLang="en-US" sz="2000">
                <a:solidFill>
                  <a:srgbClr val="990000"/>
                </a:solidFill>
                <a:latin typeface="Calibri" panose="020F0502020204030204" pitchFamily="34" charset="0"/>
              </a:rPr>
              <a:t>. Should be careful in interpreting it as the </a:t>
            </a:r>
            <a:r>
              <a:rPr lang="en-US" altLang="en-US" sz="2000" i="1">
                <a:solidFill>
                  <a:srgbClr val="990000"/>
                </a:solidFill>
                <a:latin typeface="Calibri" panose="020F0502020204030204" pitchFamily="34" charset="0"/>
              </a:rPr>
              <a:t>real</a:t>
            </a:r>
            <a:r>
              <a:rPr lang="en-US" altLang="en-US" sz="2000">
                <a:solidFill>
                  <a:srgbClr val="990000"/>
                </a:solidFill>
                <a:latin typeface="Calibri" panose="020F0502020204030204" pitchFamily="34" charset="0"/>
              </a:rPr>
              <a:t> number of people alive – since the model in that case tells you that a fraction of an individual can be alive, and a fraction dead.</a:t>
            </a:r>
          </a:p>
        </p:txBody>
      </p:sp>
      <p:sp>
        <p:nvSpPr>
          <p:cNvPr id="6155" name="Text Box 11"/>
          <p:cNvSpPr txBox="1">
            <a:spLocks noChangeArrowheads="1"/>
          </p:cNvSpPr>
          <p:nvPr/>
        </p:nvSpPr>
        <p:spPr bwMode="auto">
          <a:xfrm>
            <a:off x="4656138" y="3852863"/>
            <a:ext cx="4381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50</a:t>
            </a:r>
          </a:p>
        </p:txBody>
      </p:sp>
      <p:sp>
        <p:nvSpPr>
          <p:cNvPr id="6156" name="Rectangle 12"/>
          <p:cNvSpPr>
            <a:spLocks noChangeArrowheads="1"/>
          </p:cNvSpPr>
          <p:nvPr/>
        </p:nvSpPr>
        <p:spPr bwMode="auto">
          <a:xfrm>
            <a:off x="4737100" y="4329113"/>
            <a:ext cx="296863" cy="1277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 name="TextBox 1"/>
          <p:cNvSpPr txBox="1"/>
          <p:nvPr/>
        </p:nvSpPr>
        <p:spPr>
          <a:xfrm>
            <a:off x="4114800" y="2974931"/>
            <a:ext cx="65" cy="369332"/>
          </a:xfrm>
          <a:prstGeom prst="rect">
            <a:avLst/>
          </a:prstGeom>
          <a:noFill/>
        </p:spPr>
        <p:txBody>
          <a:bodyPr wrap="none" lIns="0" tIns="0" rIns="0" bIns="0"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Simple birth-death process (2) </a:t>
            </a:r>
          </a:p>
        </p:txBody>
      </p:sp>
      <p:sp>
        <p:nvSpPr>
          <p:cNvPr id="7171" name="Text Box 3"/>
          <p:cNvSpPr txBox="1">
            <a:spLocks noChangeArrowheads="1"/>
          </p:cNvSpPr>
          <p:nvPr/>
        </p:nvSpPr>
        <p:spPr bwMode="auto">
          <a:xfrm>
            <a:off x="354013" y="1231900"/>
            <a:ext cx="80708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latin typeface="Calibri" panose="020F0502020204030204" pitchFamily="34" charset="0"/>
              </a:rPr>
              <a:t>We need a complete description of the stochastic model so we </a:t>
            </a:r>
          </a:p>
          <a:p>
            <a:pPr eaLnBrk="1" hangingPunct="1">
              <a:spcBef>
                <a:spcPct val="0"/>
              </a:spcBef>
              <a:buFontTx/>
              <a:buNone/>
            </a:pPr>
            <a:r>
              <a:rPr lang="en-GB" altLang="en-US" sz="2400">
                <a:latin typeface="Calibri" panose="020F0502020204030204" pitchFamily="34" charset="0"/>
              </a:rPr>
              <a:t>can simulate it. For the present case:</a:t>
            </a:r>
          </a:p>
          <a:p>
            <a:pPr eaLnBrk="1" hangingPunct="1">
              <a:spcBef>
                <a:spcPct val="0"/>
              </a:spcBef>
              <a:buFontTx/>
              <a:buNone/>
            </a:pPr>
            <a:endParaRPr lang="en-GB" altLang="en-US" sz="2400">
              <a:latin typeface="Calibri" panose="020F0502020204030204" pitchFamily="34" charset="0"/>
            </a:endParaRPr>
          </a:p>
          <a:p>
            <a:pPr eaLnBrk="1" hangingPunct="1">
              <a:spcBef>
                <a:spcPct val="0"/>
              </a:spcBef>
              <a:buFontTx/>
              <a:buNone/>
            </a:pPr>
            <a:r>
              <a:rPr lang="en-GB" altLang="en-US" sz="2400">
                <a:latin typeface="Calibri" panose="020F0502020204030204" pitchFamily="34" charset="0"/>
              </a:rPr>
              <a:t>Population: N identical individuals.</a:t>
            </a:r>
          </a:p>
          <a:p>
            <a:pPr eaLnBrk="1" hangingPunct="1">
              <a:spcBef>
                <a:spcPct val="0"/>
              </a:spcBef>
              <a:buFontTx/>
              <a:buNone/>
            </a:pPr>
            <a:endParaRPr lang="en-US" altLang="en-US" sz="2400">
              <a:latin typeface="Calibri" panose="020F0502020204030204" pitchFamily="34" charset="0"/>
            </a:endParaRPr>
          </a:p>
          <a:p>
            <a:pPr eaLnBrk="1" hangingPunct="1">
              <a:spcBef>
                <a:spcPct val="0"/>
              </a:spcBef>
              <a:buFontTx/>
              <a:buNone/>
            </a:pPr>
            <a:endParaRPr lang="en-US" altLang="en-US" sz="2400">
              <a:latin typeface="Calibri" panose="020F0502020204030204" pitchFamily="34" charset="0"/>
            </a:endParaRPr>
          </a:p>
        </p:txBody>
      </p:sp>
      <p:graphicFrame>
        <p:nvGraphicFramePr>
          <p:cNvPr id="395289" name="Group 25"/>
          <p:cNvGraphicFramePr>
            <a:graphicFrameLocks noGrp="1"/>
          </p:cNvGraphicFramePr>
          <p:nvPr/>
        </p:nvGraphicFramePr>
        <p:xfrm>
          <a:off x="1020763" y="3308350"/>
          <a:ext cx="6700837" cy="1562102"/>
        </p:xfrm>
        <a:graphic>
          <a:graphicData uri="http://schemas.openxmlformats.org/drawingml/2006/table">
            <a:tbl>
              <a:tblPr/>
              <a:tblGrid>
                <a:gridCol w="1414463">
                  <a:extLst>
                    <a:ext uri="{9D8B030D-6E8A-4147-A177-3AD203B41FA5}">
                      <a16:colId xmlns:a16="http://schemas.microsoft.com/office/drawing/2014/main" xmlns="" val="20000"/>
                    </a:ext>
                  </a:extLst>
                </a:gridCol>
                <a:gridCol w="3368674">
                  <a:extLst>
                    <a:ext uri="{9D8B030D-6E8A-4147-A177-3AD203B41FA5}">
                      <a16:colId xmlns:a16="http://schemas.microsoft.com/office/drawing/2014/main" xmlns="" val="20001"/>
                    </a:ext>
                  </a:extLst>
                </a:gridCol>
                <a:gridCol w="1917700">
                  <a:extLst>
                    <a:ext uri="{9D8B030D-6E8A-4147-A177-3AD203B41FA5}">
                      <a16:colId xmlns:a16="http://schemas.microsoft.com/office/drawing/2014/main" xmlns="" val="20002"/>
                    </a:ext>
                  </a:extLst>
                </a:gridCol>
              </a:tblGrid>
              <a:tr h="4934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Name</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What happens to population</a:t>
                      </a:r>
                      <a:endParaRPr kumimoji="0" lang="en-US" sz="2000" b="0" i="0" u="none" strike="noStrike" cap="none" normalizeH="0" baseline="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Rate/individual</a:t>
                      </a:r>
                      <a:endParaRPr kumimoji="0" lang="en-US" sz="2000" b="0" i="0" u="none" strike="noStrike" cap="none" normalizeH="0" baseline="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181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Birth</a:t>
                      </a:r>
                      <a:endParaRPr kumimoji="0" lang="en-US" sz="2000" b="0" i="0" u="none" strike="noStrike" cap="none" normalizeH="0" baseline="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N </a:t>
                      </a:r>
                      <a:r>
                        <a:rPr kumimoji="0" lang="en-GB" sz="2000" b="0" i="0" u="none" strike="noStrike" cap="none" normalizeH="0" baseline="0">
                          <a:ln>
                            <a:noFill/>
                          </a:ln>
                          <a:solidFill>
                            <a:schemeClr val="tx1"/>
                          </a:solidFill>
                          <a:effectLst/>
                          <a:latin typeface="Arial" charset="0"/>
                          <a:sym typeface="Wingdings" pitchFamily="2" charset="2"/>
                        </a:rPr>
                        <a:t>N + 1</a:t>
                      </a:r>
                      <a:r>
                        <a:rPr kumimoji="0" lang="en-GB" sz="2000" b="0" i="0" u="none" strike="noStrike" cap="none" normalizeH="0" baseline="0">
                          <a:ln>
                            <a:noFill/>
                          </a:ln>
                          <a:solidFill>
                            <a:schemeClr val="tx1"/>
                          </a:solidFill>
                          <a:effectLst/>
                          <a:latin typeface="Arial" charset="0"/>
                        </a:rPr>
                        <a:t>  </a:t>
                      </a:r>
                      <a:endParaRPr kumimoji="0" lang="en-US" sz="2000" b="0" i="0" u="none" strike="noStrike" cap="none" normalizeH="0" baseline="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sym typeface="Symbol" pitchFamily="18" charset="2"/>
                        </a:rPr>
                        <a:t></a:t>
                      </a: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505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Death</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N </a:t>
                      </a:r>
                      <a:r>
                        <a:rPr kumimoji="0" lang="en-GB" sz="2000" b="0" i="0" u="none" strike="noStrike" cap="none" normalizeH="0" baseline="0">
                          <a:ln>
                            <a:noFill/>
                          </a:ln>
                          <a:solidFill>
                            <a:schemeClr val="tx1"/>
                          </a:solidFill>
                          <a:effectLst/>
                          <a:latin typeface="Arial" charset="0"/>
                          <a:sym typeface="Wingdings" pitchFamily="2" charset="2"/>
                        </a:rPr>
                        <a:t>N - 1</a:t>
                      </a:r>
                      <a:endParaRPr kumimoji="0" lang="en-US" sz="2000" b="0" i="0" u="none" strike="noStrike" cap="none" normalizeH="0" baseline="0">
                        <a:ln>
                          <a:noFill/>
                        </a:ln>
                        <a:solidFill>
                          <a:schemeClr val="tx1"/>
                        </a:solidFill>
                        <a:effectLst/>
                        <a:latin typeface="Arial" charset="0"/>
                        <a:sym typeface="Wingdings" pitchFamily="2" charset="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chemeClr val="tx1"/>
                          </a:solidFill>
                          <a:effectLst/>
                          <a:latin typeface="Symbol" pitchFamily="18" charset="2"/>
                        </a:rPr>
                        <a:t>m</a:t>
                      </a:r>
                      <a:endParaRPr kumimoji="0" lang="en-US" sz="2400" b="0" i="0" u="none" strike="noStrike" cap="none" normalizeH="0" baseline="0" dirty="0">
                        <a:ln>
                          <a:noFill/>
                        </a:ln>
                        <a:solidFill>
                          <a:schemeClr val="tx1"/>
                        </a:solidFill>
                        <a:effectLst/>
                        <a:latin typeface="Symbol" pitchFamily="18" charset="2"/>
                      </a:endParaRP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95288" name="Text Box 24"/>
          <p:cNvSpPr txBox="1">
            <a:spLocks noChangeArrowheads="1"/>
          </p:cNvSpPr>
          <p:nvPr/>
        </p:nvSpPr>
        <p:spPr bwMode="auto">
          <a:xfrm>
            <a:off x="396875" y="5265738"/>
            <a:ext cx="7196138"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latin typeface="Calibri" panose="020F0502020204030204" pitchFamily="34" charset="0"/>
              </a:rPr>
              <a:t>So in a short time period, dt, and a population of size </a:t>
            </a:r>
            <a:r>
              <a:rPr lang="en-GB" altLang="en-US" sz="2400" i="1">
                <a:latin typeface="Calibri" panose="020F0502020204030204" pitchFamily="34" charset="0"/>
              </a:rPr>
              <a:t>N</a:t>
            </a:r>
            <a:r>
              <a:rPr lang="en-GB" altLang="en-US" sz="2400">
                <a:latin typeface="Calibri" panose="020F0502020204030204" pitchFamily="34" charset="0"/>
              </a:rPr>
              <a:t>, </a:t>
            </a:r>
          </a:p>
          <a:p>
            <a:pPr eaLnBrk="1" hangingPunct="1">
              <a:spcBef>
                <a:spcPct val="0"/>
              </a:spcBef>
              <a:buFontTx/>
              <a:buNone/>
            </a:pPr>
            <a:r>
              <a:rPr lang="en-GB" altLang="en-US" sz="2400">
                <a:latin typeface="Calibri" panose="020F0502020204030204" pitchFamily="34" charset="0"/>
              </a:rPr>
              <a:t>For each individual the probability of a birth is </a:t>
            </a:r>
            <a:r>
              <a:rPr lang="en-GB" altLang="en-US" sz="2400" i="1">
                <a:latin typeface="Calibri" panose="020F0502020204030204" pitchFamily="34" charset="0"/>
                <a:sym typeface="Symbol" panose="05050102010706020507" pitchFamily="18" charset="2"/>
              </a:rPr>
              <a:t></a:t>
            </a:r>
            <a:r>
              <a:rPr lang="en-GB" altLang="en-US" sz="2400">
                <a:latin typeface="Calibri" panose="020F0502020204030204" pitchFamily="34" charset="0"/>
                <a:sym typeface="Symbol" panose="05050102010706020507" pitchFamily="18" charset="2"/>
              </a:rPr>
              <a:t>d</a:t>
            </a:r>
            <a:r>
              <a:rPr lang="en-GB" altLang="en-US" sz="2400" i="1">
                <a:latin typeface="Calibri" panose="020F0502020204030204" pitchFamily="34" charset="0"/>
              </a:rPr>
              <a:t>t</a:t>
            </a:r>
          </a:p>
          <a:p>
            <a:pPr eaLnBrk="1" hangingPunct="1">
              <a:spcBef>
                <a:spcPct val="0"/>
              </a:spcBef>
              <a:buFontTx/>
              <a:buNone/>
            </a:pPr>
            <a:r>
              <a:rPr lang="en-GB" altLang="en-US" sz="2400">
                <a:latin typeface="Calibri" panose="020F0502020204030204" pitchFamily="34" charset="0"/>
              </a:rPr>
              <a:t>So the expected number of births is </a:t>
            </a:r>
            <a:r>
              <a:rPr lang="en-GB" altLang="en-US" sz="2400" i="1">
                <a:latin typeface="Calibri" panose="020F0502020204030204" pitchFamily="34" charset="0"/>
                <a:sym typeface="Symbol" panose="05050102010706020507" pitchFamily="18" charset="2"/>
              </a:rPr>
              <a:t>N</a:t>
            </a:r>
            <a:r>
              <a:rPr lang="en-GB" altLang="en-US" sz="2400">
                <a:latin typeface="Calibri" panose="020F0502020204030204" pitchFamily="34" charset="0"/>
              </a:rPr>
              <a:t>d</a:t>
            </a:r>
            <a:r>
              <a:rPr lang="en-GB" altLang="en-US" sz="2400" i="1">
                <a:latin typeface="Calibri" panose="020F0502020204030204" pitchFamily="34" charset="0"/>
              </a:rPr>
              <a:t>t</a:t>
            </a:r>
            <a:r>
              <a:rPr lang="en-GB" altLang="en-US" sz="2400">
                <a:latin typeface="Calibri" panose="020F0502020204030204" pitchFamily="34" charset="0"/>
              </a:rPr>
              <a:t> </a:t>
            </a:r>
          </a:p>
          <a:p>
            <a:pPr eaLnBrk="1" hangingPunct="1">
              <a:spcBef>
                <a:spcPct val="0"/>
              </a:spcBef>
              <a:buFontTx/>
              <a:buNone/>
            </a:pPr>
            <a:r>
              <a:rPr lang="en-GB" altLang="en-US" sz="2400">
                <a:latin typeface="Calibri" panose="020F0502020204030204" pitchFamily="34" charset="0"/>
              </a:rPr>
              <a:t>(we will discuss this later in the lecture)</a:t>
            </a:r>
            <a:endParaRPr lang="en-US" altLang="en-US" sz="240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52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Simple birth-death process (3)</a:t>
            </a:r>
          </a:p>
        </p:txBody>
      </p:sp>
      <p:sp>
        <p:nvSpPr>
          <p:cNvPr id="8195" name="Rectangle 3"/>
          <p:cNvSpPr>
            <a:spLocks noChangeArrowheads="1"/>
          </p:cNvSpPr>
          <p:nvPr/>
        </p:nvSpPr>
        <p:spPr bwMode="auto">
          <a:xfrm>
            <a:off x="0"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196" name="Rectangle 4"/>
          <p:cNvSpPr>
            <a:spLocks noChangeArrowheads="1"/>
          </p:cNvSpPr>
          <p:nvPr/>
        </p:nvSpPr>
        <p:spPr bwMode="auto">
          <a:xfrm>
            <a:off x="352425" y="1209675"/>
            <a:ext cx="223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b="1">
                <a:cs typeface="Times New Roman" panose="02020603050405020304" pitchFamily="18" charset="0"/>
              </a:rPr>
              <a:t>Stochastically</a:t>
            </a:r>
            <a:endParaRPr lang="en-GB" altLang="en-US" sz="2800"/>
          </a:p>
        </p:txBody>
      </p:sp>
      <p:sp>
        <p:nvSpPr>
          <p:cNvPr id="8197" name="Rectangle 5"/>
          <p:cNvSpPr>
            <a:spLocks noChangeArrowheads="1"/>
          </p:cNvSpPr>
          <p:nvPr/>
        </p:nvSpPr>
        <p:spPr bwMode="auto">
          <a:xfrm>
            <a:off x="352425" y="1844675"/>
            <a:ext cx="8334375"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ts val="600"/>
              </a:spcAft>
              <a:buFontTx/>
              <a:buNone/>
            </a:pPr>
            <a:r>
              <a:rPr lang="en-US" altLang="en-US" sz="2000" dirty="0">
                <a:latin typeface="Calibri" panose="020F0502020204030204" pitchFamily="34" charset="0"/>
              </a:rPr>
              <a:t>Between time </a:t>
            </a:r>
            <a:r>
              <a:rPr lang="en-US" altLang="en-US" sz="2000" i="1" dirty="0">
                <a:solidFill>
                  <a:srgbClr val="990000"/>
                </a:solidFill>
                <a:latin typeface="Calibri" panose="020F0502020204030204" pitchFamily="34" charset="0"/>
              </a:rPr>
              <a:t>t</a:t>
            </a:r>
            <a:r>
              <a:rPr lang="en-US" altLang="en-US" sz="2000" dirty="0">
                <a:latin typeface="Calibri" panose="020F0502020204030204" pitchFamily="34" charset="0"/>
              </a:rPr>
              <a:t> at time </a:t>
            </a:r>
            <a:r>
              <a:rPr lang="en-US" altLang="en-US" sz="2000" i="1" dirty="0" err="1">
                <a:solidFill>
                  <a:srgbClr val="990000"/>
                </a:solidFill>
                <a:latin typeface="Calibri" panose="020F0502020204030204" pitchFamily="34" charset="0"/>
              </a:rPr>
              <a:t>t+dt</a:t>
            </a:r>
            <a:r>
              <a:rPr lang="en-US" altLang="en-US" sz="2000" dirty="0">
                <a:latin typeface="Calibri" panose="020F0502020204030204" pitchFamily="34" charset="0"/>
              </a:rPr>
              <a:t> a short time later, one of two events might happen:</a:t>
            </a:r>
          </a:p>
          <a:p>
            <a:pPr lvl="1" eaLnBrk="1" hangingPunct="1">
              <a:spcBef>
                <a:spcPct val="0"/>
              </a:spcBef>
              <a:spcAft>
                <a:spcPts val="600"/>
              </a:spcAft>
              <a:buFontTx/>
              <a:buChar char="•"/>
            </a:pPr>
            <a:r>
              <a:rPr lang="en-US" altLang="en-US" sz="2000" i="1" dirty="0">
                <a:solidFill>
                  <a:srgbClr val="990000"/>
                </a:solidFill>
                <a:latin typeface="Calibri" panose="020F0502020204030204" pitchFamily="34" charset="0"/>
              </a:rPr>
              <a:t> A birth</a:t>
            </a:r>
            <a:r>
              <a:rPr lang="en-US" altLang="en-US" sz="2000" dirty="0">
                <a:solidFill>
                  <a:srgbClr val="990000"/>
                </a:solidFill>
                <a:latin typeface="Calibri" panose="020F0502020204030204" pitchFamily="34" charset="0"/>
              </a:rPr>
              <a:t> – with probability </a:t>
            </a:r>
            <a:r>
              <a:rPr lang="en-US" altLang="en-US" sz="2000" dirty="0">
                <a:latin typeface="Calibri" panose="020F0502020204030204" pitchFamily="34" charset="0"/>
                <a:sym typeface="Symbol" panose="05050102010706020507" pitchFamily="18" charset="2"/>
              </a:rPr>
              <a:t> </a:t>
            </a:r>
            <a:r>
              <a:rPr lang="en-US" altLang="en-US" sz="2000" dirty="0">
                <a:solidFill>
                  <a:srgbClr val="990000"/>
                </a:solidFill>
                <a:latin typeface="Calibri" panose="020F0502020204030204" pitchFamily="34" charset="0"/>
                <a:sym typeface="Symbol" panose="05050102010706020507" pitchFamily="18" charset="2"/>
              </a:rPr>
              <a:t></a:t>
            </a:r>
            <a:r>
              <a:rPr lang="en-US" altLang="en-US" sz="2000" dirty="0" err="1">
                <a:solidFill>
                  <a:srgbClr val="990000"/>
                </a:solidFill>
                <a:latin typeface="Calibri" panose="020F0502020204030204" pitchFamily="34" charset="0"/>
              </a:rPr>
              <a:t>dt</a:t>
            </a:r>
            <a:r>
              <a:rPr lang="en-US" altLang="en-US" sz="2000" dirty="0">
                <a:solidFill>
                  <a:srgbClr val="990000"/>
                </a:solidFill>
                <a:latin typeface="Calibri" panose="020F0502020204030204" pitchFamily="34" charset="0"/>
              </a:rPr>
              <a:t> per individual</a:t>
            </a:r>
          </a:p>
          <a:p>
            <a:pPr lvl="1" eaLnBrk="1" hangingPunct="1">
              <a:spcBef>
                <a:spcPct val="0"/>
              </a:spcBef>
              <a:spcAft>
                <a:spcPts val="600"/>
              </a:spcAft>
              <a:buFontTx/>
              <a:buChar char="•"/>
            </a:pPr>
            <a:r>
              <a:rPr lang="en-US" altLang="en-US" sz="2000" dirty="0">
                <a:solidFill>
                  <a:srgbClr val="990000"/>
                </a:solidFill>
                <a:latin typeface="Calibri" panose="020F0502020204030204" pitchFamily="34" charset="0"/>
              </a:rPr>
              <a:t> </a:t>
            </a:r>
            <a:r>
              <a:rPr lang="en-US" altLang="en-US" sz="2000" i="1" dirty="0">
                <a:solidFill>
                  <a:srgbClr val="990000"/>
                </a:solidFill>
                <a:latin typeface="Calibri" panose="020F0502020204030204" pitchFamily="34" charset="0"/>
              </a:rPr>
              <a:t>A death</a:t>
            </a:r>
            <a:r>
              <a:rPr lang="en-US" altLang="en-US" sz="2000" dirty="0">
                <a:solidFill>
                  <a:srgbClr val="990000"/>
                </a:solidFill>
                <a:latin typeface="Calibri" panose="020F0502020204030204" pitchFamily="34" charset="0"/>
              </a:rPr>
              <a:t> – with probability </a:t>
            </a:r>
            <a:r>
              <a:rPr lang="el-GR" altLang="en-US" sz="2000" dirty="0">
                <a:solidFill>
                  <a:srgbClr val="990000"/>
                </a:solidFill>
                <a:latin typeface="Calibri" panose="020F0502020204030204" pitchFamily="34" charset="0"/>
              </a:rPr>
              <a:t>μ</a:t>
            </a:r>
            <a:r>
              <a:rPr lang="en-US" altLang="en-US" sz="2000" dirty="0" err="1">
                <a:solidFill>
                  <a:srgbClr val="990000"/>
                </a:solidFill>
                <a:latin typeface="Calibri" panose="020F0502020204030204" pitchFamily="34" charset="0"/>
              </a:rPr>
              <a:t>dt</a:t>
            </a:r>
            <a:r>
              <a:rPr lang="en-US" altLang="en-US" sz="2000" dirty="0">
                <a:solidFill>
                  <a:srgbClr val="990000"/>
                </a:solidFill>
                <a:latin typeface="Calibri" panose="020F0502020204030204" pitchFamily="34" charset="0"/>
              </a:rPr>
              <a:t> per individual</a:t>
            </a:r>
          </a:p>
          <a:p>
            <a:pPr eaLnBrk="1" hangingPunct="1">
              <a:spcBef>
                <a:spcPct val="0"/>
              </a:spcBef>
              <a:spcAft>
                <a:spcPts val="600"/>
              </a:spcAft>
              <a:buFontTx/>
              <a:buNone/>
            </a:pPr>
            <a:r>
              <a:rPr lang="en-GB" altLang="en-US" sz="2000" dirty="0">
                <a:latin typeface="Calibri" panose="020F0502020204030204" pitchFamily="34" charset="0"/>
              </a:rPr>
              <a:t>Stochastic simulation involves picking these events randomly to generate a single realisation:</a:t>
            </a:r>
            <a:endParaRPr lang="en-US" altLang="en-US" sz="2000" dirty="0">
              <a:latin typeface="Calibri" panose="020F0502020204030204" pitchFamily="34" charset="0"/>
            </a:endParaRPr>
          </a:p>
        </p:txBody>
      </p:sp>
      <p:sp>
        <p:nvSpPr>
          <p:cNvPr id="8198" name="Rectangle 6"/>
          <p:cNvSpPr>
            <a:spLocks noChangeArrowheads="1"/>
          </p:cNvSpPr>
          <p:nvPr/>
        </p:nvSpPr>
        <p:spPr bwMode="auto">
          <a:xfrm>
            <a:off x="0" y="1690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aphicFrame>
        <p:nvGraphicFramePr>
          <p:cNvPr id="8199" name="Object 7"/>
          <p:cNvGraphicFramePr>
            <a:graphicFrameLocks noChangeAspect="1"/>
          </p:cNvGraphicFramePr>
          <p:nvPr/>
        </p:nvGraphicFramePr>
        <p:xfrm>
          <a:off x="1838325" y="3868738"/>
          <a:ext cx="4373563" cy="2989262"/>
        </p:xfrm>
        <a:graphic>
          <a:graphicData uri="http://schemas.openxmlformats.org/presentationml/2006/ole">
            <mc:AlternateContent xmlns:mc="http://schemas.openxmlformats.org/markup-compatibility/2006">
              <mc:Choice xmlns:v="urn:schemas-microsoft-com:vml" Requires="v">
                <p:oleObj spid="_x0000_s8223" name="Chart" r:id="rId3" imgW="4362450" imgH="2981325" progId="Excel.Chart.8">
                  <p:embed/>
                </p:oleObj>
              </mc:Choice>
              <mc:Fallback>
                <p:oleObj name="Chart" r:id="rId3" imgW="4362450" imgH="2981325" progId="Excel.Chart.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325" y="3868738"/>
                        <a:ext cx="4373563"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4"/>
          <p:cNvGrpSpPr>
            <a:grpSpLocks/>
          </p:cNvGrpSpPr>
          <p:nvPr/>
        </p:nvGrpSpPr>
        <p:grpSpPr bwMode="auto">
          <a:xfrm>
            <a:off x="185738" y="1430338"/>
            <a:ext cx="3789362" cy="2506662"/>
            <a:chOff x="343" y="1621"/>
            <a:chExt cx="2047" cy="1345"/>
          </a:xfrm>
        </p:grpSpPr>
        <p:pic>
          <p:nvPicPr>
            <p:cNvPr id="922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 y="1621"/>
              <a:ext cx="2047" cy="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7" name="Text Box 6"/>
            <p:cNvSpPr txBox="1">
              <a:spLocks noChangeArrowheads="1"/>
            </p:cNvSpPr>
            <p:nvPr/>
          </p:nvSpPr>
          <p:spPr bwMode="auto">
            <a:xfrm>
              <a:off x="1028" y="1823"/>
              <a:ext cx="6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t>N</a:t>
              </a:r>
              <a:r>
                <a:rPr lang="en-GB" altLang="en-US" sz="1800" baseline="-25000"/>
                <a:t>0</a:t>
              </a:r>
              <a:r>
                <a:rPr lang="en-GB" altLang="en-US" sz="1800"/>
                <a:t>=1000</a:t>
              </a:r>
            </a:p>
          </p:txBody>
        </p:sp>
      </p:grpSp>
      <p:grpSp>
        <p:nvGrpSpPr>
          <p:cNvPr id="9219" name="Group 7"/>
          <p:cNvGrpSpPr>
            <a:grpSpLocks/>
          </p:cNvGrpSpPr>
          <p:nvPr/>
        </p:nvGrpSpPr>
        <p:grpSpPr bwMode="auto">
          <a:xfrm>
            <a:off x="4576763" y="1430338"/>
            <a:ext cx="3962400" cy="2506662"/>
            <a:chOff x="2861" y="1620"/>
            <a:chExt cx="2049" cy="1347"/>
          </a:xfrm>
        </p:grpSpPr>
        <p:pic>
          <p:nvPicPr>
            <p:cNvPr id="92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1" y="1620"/>
              <a:ext cx="2049" cy="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9"/>
            <p:cNvSpPr txBox="1">
              <a:spLocks noChangeArrowheads="1"/>
            </p:cNvSpPr>
            <p:nvPr/>
          </p:nvSpPr>
          <p:spPr bwMode="auto">
            <a:xfrm>
              <a:off x="3587" y="1823"/>
              <a:ext cx="5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t>N</a:t>
              </a:r>
              <a:r>
                <a:rPr lang="en-GB" altLang="en-US" sz="1800" baseline="-25000"/>
                <a:t>0</a:t>
              </a:r>
              <a:r>
                <a:rPr lang="en-GB" altLang="en-US" sz="1800"/>
                <a:t>=100</a:t>
              </a:r>
            </a:p>
          </p:txBody>
        </p:sp>
      </p:grpSp>
      <p:grpSp>
        <p:nvGrpSpPr>
          <p:cNvPr id="9220" name="Group 10"/>
          <p:cNvGrpSpPr>
            <a:grpSpLocks/>
          </p:cNvGrpSpPr>
          <p:nvPr/>
        </p:nvGrpSpPr>
        <p:grpSpPr bwMode="auto">
          <a:xfrm>
            <a:off x="2081213" y="4159250"/>
            <a:ext cx="3898900" cy="2327275"/>
            <a:chOff x="4721" y="1617"/>
            <a:chExt cx="2054" cy="1352"/>
          </a:xfrm>
        </p:grpSpPr>
        <p:pic>
          <p:nvPicPr>
            <p:cNvPr id="9222"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1" y="1617"/>
              <a:ext cx="2054" cy="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 name="Text Box 12"/>
            <p:cNvSpPr txBox="1">
              <a:spLocks noChangeArrowheads="1"/>
            </p:cNvSpPr>
            <p:nvPr/>
          </p:nvSpPr>
          <p:spPr bwMode="auto">
            <a:xfrm>
              <a:off x="5490" y="1824"/>
              <a:ext cx="5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t>N</a:t>
              </a:r>
              <a:r>
                <a:rPr lang="en-GB" altLang="en-US" sz="1800" baseline="-25000"/>
                <a:t>0</a:t>
              </a:r>
              <a:r>
                <a:rPr lang="en-GB" altLang="en-US" sz="1800"/>
                <a:t>=10</a:t>
              </a:r>
            </a:p>
          </p:txBody>
        </p:sp>
      </p:grpSp>
      <p:sp>
        <p:nvSpPr>
          <p:cNvPr id="18438" name="Rectangle 14"/>
          <p:cNvSpPr>
            <a:spLocks noGrp="1" noChangeArrowheads="1"/>
          </p:cNvSpPr>
          <p:nvPr>
            <p:ph type="title"/>
          </p:nvPr>
        </p:nvSpPr>
        <p:spPr>
          <a:xfrm>
            <a:off x="457200" y="274638"/>
            <a:ext cx="8229600" cy="879475"/>
          </a:xfrm>
        </p:spPr>
        <p:txBody>
          <a:bodyPr/>
          <a:lstStyle/>
          <a:p>
            <a:pPr eaLnBrk="1" hangingPunct="1">
              <a:defRPr/>
            </a:pPr>
            <a:r>
              <a:rPr lang="en-GB" altLang="en-US" sz="2800" kern="1200" dirty="0">
                <a:solidFill>
                  <a:srgbClr val="0033CC"/>
                </a:solidFill>
                <a:ea typeface="+mn-ea"/>
                <a:cs typeface="+mn-cs"/>
              </a:rPr>
              <a:t>Population size and </a:t>
            </a:r>
            <a:r>
              <a:rPr lang="en-GB" altLang="en-US" sz="2800" kern="1200" dirty="0" err="1">
                <a:solidFill>
                  <a:srgbClr val="0033CC"/>
                </a:solidFill>
                <a:ea typeface="+mn-ea"/>
                <a:cs typeface="+mn-cs"/>
              </a:rPr>
              <a:t>stochasticity</a:t>
            </a:r>
            <a:endParaRPr lang="en-GB" altLang="en-US" sz="2800" kern="1200" dirty="0">
              <a:solidFill>
                <a:srgbClr val="0033CC"/>
              </a:solidFill>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Stochasticity and persistence</a:t>
            </a:r>
          </a:p>
        </p:txBody>
      </p:sp>
      <p:sp>
        <p:nvSpPr>
          <p:cNvPr id="10243" name="Rectangle 3"/>
          <p:cNvSpPr>
            <a:spLocks noChangeArrowheads="1"/>
          </p:cNvSpPr>
          <p:nvPr/>
        </p:nvSpPr>
        <p:spPr bwMode="auto">
          <a:xfrm>
            <a:off x="342900" y="1452563"/>
            <a:ext cx="83439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ts val="600"/>
              </a:spcAft>
              <a:buFontTx/>
              <a:buNone/>
            </a:pPr>
            <a:r>
              <a:rPr lang="en-US" altLang="en-US" sz="2400" i="1" dirty="0">
                <a:latin typeface="Calibri" panose="020F0502020204030204" pitchFamily="34" charset="0"/>
              </a:rPr>
              <a:t>What is persistence?</a:t>
            </a:r>
          </a:p>
          <a:p>
            <a:pPr lvl="1" eaLnBrk="1" hangingPunct="1">
              <a:spcBef>
                <a:spcPct val="0"/>
              </a:spcBef>
              <a:spcAft>
                <a:spcPts val="1200"/>
              </a:spcAft>
              <a:buFont typeface="Wingdings" panose="05000000000000000000" pitchFamily="2" charset="2"/>
              <a:buChar char="Ø"/>
            </a:pPr>
            <a:r>
              <a:rPr lang="en-US" altLang="en-US" sz="2400" dirty="0">
                <a:solidFill>
                  <a:srgbClr val="990000"/>
                </a:solidFill>
                <a:latin typeface="Calibri" panose="020F0502020204030204" pitchFamily="34" charset="0"/>
              </a:rPr>
              <a:t> The ability of a disease to remain endemic.</a:t>
            </a:r>
            <a:endParaRPr lang="en-US" altLang="en-US" sz="2400" dirty="0">
              <a:latin typeface="Calibri" panose="020F0502020204030204" pitchFamily="34" charset="0"/>
            </a:endParaRPr>
          </a:p>
          <a:p>
            <a:pPr eaLnBrk="1" hangingPunct="1">
              <a:spcBef>
                <a:spcPct val="50000"/>
              </a:spcBef>
              <a:spcAft>
                <a:spcPts val="600"/>
              </a:spcAft>
            </a:pPr>
            <a:r>
              <a:rPr lang="en-US" altLang="en-US" sz="2400" dirty="0">
                <a:latin typeface="Calibri" panose="020F0502020204030204" pitchFamily="34" charset="0"/>
              </a:rPr>
              <a:t> Deterministic models tell us </a:t>
            </a:r>
            <a:r>
              <a:rPr lang="en-US" altLang="en-US" sz="2400" i="1" dirty="0">
                <a:latin typeface="Calibri" panose="020F0502020204030204" pitchFamily="34" charset="0"/>
              </a:rPr>
              <a:t>R</a:t>
            </a:r>
            <a:r>
              <a:rPr lang="en-US" altLang="en-US" sz="2400" baseline="-25000" dirty="0">
                <a:latin typeface="Calibri" panose="020F0502020204030204" pitchFamily="34" charset="0"/>
              </a:rPr>
              <a:t>0</a:t>
            </a:r>
            <a:r>
              <a:rPr lang="en-US" altLang="en-US" sz="2400" dirty="0">
                <a:latin typeface="Calibri" panose="020F0502020204030204" pitchFamily="34" charset="0"/>
              </a:rPr>
              <a:t>&gt;1 is only criterion for persistence.</a:t>
            </a:r>
          </a:p>
          <a:p>
            <a:pPr eaLnBrk="1" hangingPunct="1">
              <a:spcBef>
                <a:spcPct val="50000"/>
              </a:spcBef>
              <a:spcAft>
                <a:spcPts val="200"/>
              </a:spcAft>
            </a:pPr>
            <a:r>
              <a:rPr lang="en-US" altLang="en-US" sz="2400" dirty="0">
                <a:latin typeface="Calibri" panose="020F0502020204030204" pitchFamily="34" charset="0"/>
              </a:rPr>
              <a:t> In fact, random fluctuations often drive diseases to extinction.</a:t>
            </a:r>
          </a:p>
          <a:p>
            <a:pPr eaLnBrk="1" hangingPunct="1">
              <a:spcBef>
                <a:spcPct val="50000"/>
              </a:spcBef>
              <a:spcAft>
                <a:spcPts val="200"/>
              </a:spcAft>
            </a:pPr>
            <a:r>
              <a:rPr lang="en-US" altLang="en-US" sz="2400" dirty="0">
                <a:latin typeface="Calibri" panose="020F0502020204030204" pitchFamily="34" charset="0"/>
              </a:rPr>
              <a:t> Population size, N, a key issue (&amp; space).</a:t>
            </a:r>
          </a:p>
          <a:p>
            <a:pPr eaLnBrk="1" hangingPunct="1">
              <a:spcBef>
                <a:spcPct val="50000"/>
              </a:spcBef>
              <a:spcAft>
                <a:spcPts val="200"/>
              </a:spcAft>
            </a:pPr>
            <a:r>
              <a:rPr lang="en-US" altLang="en-US" sz="2400" dirty="0">
                <a:latin typeface="Calibri" panose="020F0502020204030204" pitchFamily="34" charset="0"/>
              </a:rPr>
              <a:t> Stochastic effects can give fundamentally different dynamics – especially for cyclical epidemics.</a:t>
            </a:r>
          </a:p>
          <a:p>
            <a:pPr eaLnBrk="1" hangingPunct="1">
              <a:spcBef>
                <a:spcPct val="50000"/>
              </a:spcBef>
              <a:spcAft>
                <a:spcPts val="200"/>
              </a:spcAft>
              <a:buFontTx/>
              <a:buNone/>
            </a:pPr>
            <a:endParaRPr lang="en-US" altLang="en-US" sz="2400" dirty="0">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684213" y="260350"/>
            <a:ext cx="7772400" cy="762000"/>
          </a:xfrm>
        </p:spPr>
        <p:txBody>
          <a:bodyPr/>
          <a:lstStyle/>
          <a:p>
            <a:pPr eaLnBrk="1" hangingPunct="1">
              <a:defRPr/>
            </a:pPr>
            <a:r>
              <a:rPr lang="en-GB" altLang="en-US" sz="2800" kern="1200" dirty="0">
                <a:solidFill>
                  <a:srgbClr val="0033CC"/>
                </a:solidFill>
                <a:ea typeface="+mn-ea"/>
                <a:cs typeface="+mn-cs"/>
              </a:rPr>
              <a:t>Measles dynamics</a:t>
            </a:r>
          </a:p>
        </p:txBody>
      </p:sp>
      <p:sp>
        <p:nvSpPr>
          <p:cNvPr id="11267" name="Rectangle 3"/>
          <p:cNvSpPr>
            <a:spLocks noChangeArrowheads="1"/>
          </p:cNvSpPr>
          <p:nvPr/>
        </p:nvSpPr>
        <p:spPr bwMode="auto">
          <a:xfrm>
            <a:off x="2232025" y="2187575"/>
            <a:ext cx="54133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tabLst>
                <a:tab pos="914400" algn="l"/>
              </a:tabLst>
              <a:defRPr sz="3200">
                <a:solidFill>
                  <a:schemeClr val="tx1"/>
                </a:solidFill>
                <a:latin typeface="Arial" panose="020B0604020202020204" pitchFamily="34" charset="0"/>
              </a:defRPr>
            </a:lvl1pPr>
            <a:lvl2pPr marL="742950" indent="-285750" eaLnBrk="0" hangingPunct="0">
              <a:spcBef>
                <a:spcPct val="20000"/>
              </a:spcBef>
              <a:buChar char="–"/>
              <a:tabLst>
                <a:tab pos="914400" algn="l"/>
              </a:tabLst>
              <a:defRPr sz="2800">
                <a:solidFill>
                  <a:schemeClr val="tx1"/>
                </a:solidFill>
                <a:latin typeface="Arial" panose="020B0604020202020204" pitchFamily="34" charset="0"/>
              </a:defRPr>
            </a:lvl2pPr>
            <a:lvl3pPr marL="1143000" indent="-228600" eaLnBrk="0" hangingPunct="0">
              <a:spcBef>
                <a:spcPct val="20000"/>
              </a:spcBef>
              <a:buChar char="•"/>
              <a:tabLst>
                <a:tab pos="914400" algn="l"/>
              </a:tabLst>
              <a:defRPr sz="2400">
                <a:solidFill>
                  <a:schemeClr val="tx1"/>
                </a:solidFill>
                <a:latin typeface="Arial" panose="020B0604020202020204" pitchFamily="34" charset="0"/>
              </a:defRPr>
            </a:lvl3pPr>
            <a:lvl4pPr marL="1600200" indent="-228600" eaLnBrk="0" hangingPunct="0">
              <a:spcBef>
                <a:spcPct val="20000"/>
              </a:spcBef>
              <a:buChar char="–"/>
              <a:tabLst>
                <a:tab pos="914400" algn="l"/>
              </a:tabLst>
              <a:defRPr sz="2000">
                <a:solidFill>
                  <a:schemeClr val="tx1"/>
                </a:solidFill>
                <a:latin typeface="Arial" panose="020B0604020202020204" pitchFamily="34" charset="0"/>
              </a:defRPr>
            </a:lvl4pPr>
            <a:lvl5pPr marL="2057400" indent="-228600" eaLnBrk="0" hangingPunct="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a:lnSpc>
                <a:spcPct val="125000"/>
              </a:lnSpc>
              <a:spcBef>
                <a:spcPct val="0"/>
              </a:spcBef>
              <a:buFontTx/>
              <a:buNone/>
            </a:pPr>
            <a:r>
              <a:rPr lang="en-GB" altLang="en-US" sz="1800" b="1" i="1">
                <a:solidFill>
                  <a:srgbClr val="FF3300"/>
                </a:solidFill>
                <a:cs typeface="Times New Roman" panose="02020603050405020304" pitchFamily="18" charset="0"/>
              </a:rPr>
              <a:t>UK</a:t>
            </a:r>
            <a:endParaRPr lang="en-GB" altLang="en-US" sz="1200" b="1" i="1">
              <a:solidFill>
                <a:srgbClr val="FF3300"/>
              </a:solidFill>
              <a:cs typeface="Times New Roman" panose="02020603050405020304" pitchFamily="18" charset="0"/>
            </a:endParaRPr>
          </a:p>
        </p:txBody>
      </p:sp>
      <p:sp>
        <p:nvSpPr>
          <p:cNvPr id="11268" name="Rectangle 4"/>
          <p:cNvSpPr>
            <a:spLocks noChangeArrowheads="1"/>
          </p:cNvSpPr>
          <p:nvPr/>
        </p:nvSpPr>
        <p:spPr bwMode="auto">
          <a:xfrm>
            <a:off x="7091363" y="4962525"/>
            <a:ext cx="13081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tabLst>
                <a:tab pos="914400" algn="l"/>
              </a:tabLst>
              <a:defRPr sz="3200">
                <a:solidFill>
                  <a:schemeClr val="tx1"/>
                </a:solidFill>
                <a:latin typeface="Arial" panose="020B0604020202020204" pitchFamily="34" charset="0"/>
              </a:defRPr>
            </a:lvl1pPr>
            <a:lvl2pPr marL="742950" indent="-285750" eaLnBrk="0" hangingPunct="0">
              <a:spcBef>
                <a:spcPct val="20000"/>
              </a:spcBef>
              <a:buChar char="–"/>
              <a:tabLst>
                <a:tab pos="914400" algn="l"/>
              </a:tabLst>
              <a:defRPr sz="2800">
                <a:solidFill>
                  <a:schemeClr val="tx1"/>
                </a:solidFill>
                <a:latin typeface="Arial" panose="020B0604020202020204" pitchFamily="34" charset="0"/>
              </a:defRPr>
            </a:lvl2pPr>
            <a:lvl3pPr marL="1143000" indent="-228600" eaLnBrk="0" hangingPunct="0">
              <a:spcBef>
                <a:spcPct val="20000"/>
              </a:spcBef>
              <a:buChar char="•"/>
              <a:tabLst>
                <a:tab pos="914400" algn="l"/>
              </a:tabLst>
              <a:defRPr sz="2400">
                <a:solidFill>
                  <a:schemeClr val="tx1"/>
                </a:solidFill>
                <a:latin typeface="Arial" panose="020B0604020202020204" pitchFamily="34" charset="0"/>
              </a:defRPr>
            </a:lvl3pPr>
            <a:lvl4pPr marL="1600200" indent="-228600" eaLnBrk="0" hangingPunct="0">
              <a:spcBef>
                <a:spcPct val="20000"/>
              </a:spcBef>
              <a:buChar char="–"/>
              <a:tabLst>
                <a:tab pos="914400" algn="l"/>
              </a:tabLst>
              <a:defRPr sz="2000">
                <a:solidFill>
                  <a:schemeClr val="tx1"/>
                </a:solidFill>
                <a:latin typeface="Arial" panose="020B0604020202020204" pitchFamily="34" charset="0"/>
              </a:defRPr>
            </a:lvl4pPr>
            <a:lvl5pPr marL="2057400" indent="-228600" eaLnBrk="0" hangingPunct="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a:lnSpc>
                <a:spcPct val="125000"/>
              </a:lnSpc>
              <a:spcBef>
                <a:spcPct val="0"/>
              </a:spcBef>
              <a:buFontTx/>
              <a:buNone/>
            </a:pPr>
            <a:r>
              <a:rPr lang="en-GB" altLang="en-US" sz="1800" b="1" i="1">
                <a:solidFill>
                  <a:srgbClr val="FF3300"/>
                </a:solidFill>
                <a:cs typeface="Times New Roman" panose="02020603050405020304" pitchFamily="18" charset="0"/>
              </a:rPr>
              <a:t>New York</a:t>
            </a:r>
            <a:endParaRPr lang="en-GB" altLang="en-US" sz="1200" b="1" i="1">
              <a:solidFill>
                <a:srgbClr val="FF3300"/>
              </a:solidFill>
              <a:cs typeface="Times New Roman" panose="02020603050405020304" pitchFamily="18" charset="0"/>
            </a:endParaRPr>
          </a:p>
        </p:txBody>
      </p:sp>
      <p:sp>
        <p:nvSpPr>
          <p:cNvPr id="11269" name="Rectangle 5"/>
          <p:cNvSpPr>
            <a:spLocks noChangeArrowheads="1"/>
          </p:cNvSpPr>
          <p:nvPr/>
        </p:nvSpPr>
        <p:spPr bwMode="auto">
          <a:xfrm>
            <a:off x="327025" y="4919663"/>
            <a:ext cx="15763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tabLst>
                <a:tab pos="914400" algn="l"/>
              </a:tabLst>
              <a:defRPr sz="3200">
                <a:solidFill>
                  <a:schemeClr val="tx1"/>
                </a:solidFill>
                <a:latin typeface="Arial" panose="020B0604020202020204" pitchFamily="34" charset="0"/>
              </a:defRPr>
            </a:lvl1pPr>
            <a:lvl2pPr marL="742950" indent="-285750" eaLnBrk="0" hangingPunct="0">
              <a:spcBef>
                <a:spcPct val="20000"/>
              </a:spcBef>
              <a:buChar char="–"/>
              <a:tabLst>
                <a:tab pos="914400" algn="l"/>
              </a:tabLst>
              <a:defRPr sz="2800">
                <a:solidFill>
                  <a:schemeClr val="tx1"/>
                </a:solidFill>
                <a:latin typeface="Arial" panose="020B0604020202020204" pitchFamily="34" charset="0"/>
              </a:defRPr>
            </a:lvl2pPr>
            <a:lvl3pPr marL="1143000" indent="-228600" eaLnBrk="0" hangingPunct="0">
              <a:spcBef>
                <a:spcPct val="20000"/>
              </a:spcBef>
              <a:buChar char="•"/>
              <a:tabLst>
                <a:tab pos="914400" algn="l"/>
              </a:tabLst>
              <a:defRPr sz="2400">
                <a:solidFill>
                  <a:schemeClr val="tx1"/>
                </a:solidFill>
                <a:latin typeface="Arial" panose="020B0604020202020204" pitchFamily="34" charset="0"/>
              </a:defRPr>
            </a:lvl3pPr>
            <a:lvl4pPr marL="1600200" indent="-228600" eaLnBrk="0" hangingPunct="0">
              <a:spcBef>
                <a:spcPct val="20000"/>
              </a:spcBef>
              <a:buChar char="–"/>
              <a:tabLst>
                <a:tab pos="914400" algn="l"/>
              </a:tabLst>
              <a:defRPr sz="2000">
                <a:solidFill>
                  <a:schemeClr val="tx1"/>
                </a:solidFill>
                <a:latin typeface="Arial" panose="020B0604020202020204" pitchFamily="34" charset="0"/>
              </a:defRPr>
            </a:lvl4pPr>
            <a:lvl5pPr marL="2057400" indent="-228600" eaLnBrk="0" hangingPunct="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a:lnSpc>
                <a:spcPct val="125000"/>
              </a:lnSpc>
              <a:spcBef>
                <a:spcPct val="0"/>
              </a:spcBef>
              <a:buFontTx/>
              <a:buNone/>
            </a:pPr>
            <a:r>
              <a:rPr lang="en-GB" altLang="en-US" sz="1800" b="1" i="1">
                <a:solidFill>
                  <a:srgbClr val="FF3300"/>
                </a:solidFill>
                <a:cs typeface="Times New Roman" panose="02020603050405020304" pitchFamily="18" charset="0"/>
              </a:rPr>
              <a:t>Copenhagen</a:t>
            </a:r>
            <a:endParaRPr lang="en-GB" altLang="en-US" sz="1200" b="1" i="1">
              <a:solidFill>
                <a:srgbClr val="FF3300"/>
              </a:solidFill>
              <a:cs typeface="Times New Roman" panose="02020603050405020304" pitchFamily="18" charset="0"/>
            </a:endParaRPr>
          </a:p>
        </p:txBody>
      </p:sp>
      <p:sp>
        <p:nvSpPr>
          <p:cNvPr id="11270" name="Text Box 6"/>
          <p:cNvSpPr txBox="1">
            <a:spLocks noChangeArrowheads="1"/>
          </p:cNvSpPr>
          <p:nvPr/>
        </p:nvSpPr>
        <p:spPr bwMode="auto">
          <a:xfrm>
            <a:off x="6765925" y="1636713"/>
            <a:ext cx="20050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a:latin typeface="Calibri" panose="020F0502020204030204" pitchFamily="34" charset="0"/>
              </a:rPr>
              <a:t>Predominantly biennial cycles, but strong annual &amp; triennial components</a:t>
            </a:r>
          </a:p>
        </p:txBody>
      </p:sp>
      <p:graphicFrame>
        <p:nvGraphicFramePr>
          <p:cNvPr id="11271" name="Object 7"/>
          <p:cNvGraphicFramePr>
            <a:graphicFrameLocks noChangeAspect="1"/>
          </p:cNvGraphicFramePr>
          <p:nvPr/>
        </p:nvGraphicFramePr>
        <p:xfrm>
          <a:off x="2895600" y="1295400"/>
          <a:ext cx="3300413" cy="2574925"/>
        </p:xfrm>
        <a:graphic>
          <a:graphicData uri="http://schemas.openxmlformats.org/presentationml/2006/ole">
            <mc:AlternateContent xmlns:mc="http://schemas.openxmlformats.org/markup-compatibility/2006">
              <mc:Choice xmlns:v="urn:schemas-microsoft-com:vml" Requires="v">
                <p:oleObj spid="_x0000_s11317" name="Image" r:id="rId3" imgW="4396753" imgH="3430992" progId="Photoshop.Image.5">
                  <p:embed/>
                </p:oleObj>
              </mc:Choice>
              <mc:Fallback>
                <p:oleObj name="Image" r:id="rId3" imgW="4396753" imgH="3430992" progId="Photoshop.Image.5">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295400"/>
                        <a:ext cx="3300413" cy="257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2" name="Object 8"/>
          <p:cNvGraphicFramePr>
            <a:graphicFrameLocks noChangeAspect="1"/>
          </p:cNvGraphicFramePr>
          <p:nvPr/>
        </p:nvGraphicFramePr>
        <p:xfrm>
          <a:off x="1905000" y="4114800"/>
          <a:ext cx="5127625" cy="2413000"/>
        </p:xfrm>
        <a:graphic>
          <a:graphicData uri="http://schemas.openxmlformats.org/presentationml/2006/ole">
            <mc:AlternateContent xmlns:mc="http://schemas.openxmlformats.org/markup-compatibility/2006">
              <mc:Choice xmlns:v="urn:schemas-microsoft-com:vml" Requires="v">
                <p:oleObj spid="_x0000_s11318" name="Image" r:id="rId5" imgW="6841463" imgH="3219512" progId="Photoshop.Image.5">
                  <p:embed/>
                </p:oleObj>
              </mc:Choice>
              <mc:Fallback>
                <p:oleObj name="Image" r:id="rId5" imgW="6841463" imgH="3219512" progId="Photoshop.Image.5">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114800"/>
                        <a:ext cx="5127625" cy="241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34963" y="1103313"/>
            <a:ext cx="83439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latin typeface="Calibri" panose="020F0502020204030204" pitchFamily="34" charset="0"/>
              </a:rPr>
              <a:t>Seasonally forced model – transmission varies annually.</a:t>
            </a:r>
          </a:p>
          <a:p>
            <a:pPr eaLnBrk="1" hangingPunct="1">
              <a:spcBef>
                <a:spcPct val="0"/>
              </a:spcBef>
              <a:buFontTx/>
              <a:buNone/>
            </a:pPr>
            <a:endParaRPr lang="en-GB" altLang="en-US" sz="2400">
              <a:latin typeface="Calibri" panose="020F0502020204030204" pitchFamily="34" charset="0"/>
            </a:endParaRPr>
          </a:p>
          <a:p>
            <a:pPr eaLnBrk="1" hangingPunct="1">
              <a:spcBef>
                <a:spcPct val="0"/>
              </a:spcBef>
              <a:buFontTx/>
              <a:buNone/>
            </a:pPr>
            <a:r>
              <a:rPr lang="en-GB" altLang="en-US" sz="2400">
                <a:latin typeface="Calibri" panose="020F0502020204030204" pitchFamily="34" charset="0"/>
              </a:rPr>
              <a:t>Equivalent of </a:t>
            </a:r>
            <a:r>
              <a:rPr lang="en-GB" altLang="en-US" sz="2400">
                <a:solidFill>
                  <a:srgbClr val="FF0000"/>
                </a:solidFill>
                <a:latin typeface="Calibri" panose="020F0502020204030204" pitchFamily="34" charset="0"/>
              </a:rPr>
              <a:t>equilibrium</a:t>
            </a:r>
            <a:r>
              <a:rPr lang="en-GB" altLang="en-US" sz="2400">
                <a:latin typeface="Calibri" panose="020F0502020204030204" pitchFamily="34" charset="0"/>
              </a:rPr>
              <a:t> is </a:t>
            </a:r>
            <a:r>
              <a:rPr lang="en-GB" altLang="en-US" sz="2400">
                <a:solidFill>
                  <a:srgbClr val="FF0000"/>
                </a:solidFill>
                <a:latin typeface="Calibri" panose="020F0502020204030204" pitchFamily="34" charset="0"/>
              </a:rPr>
              <a:t>limit cycle</a:t>
            </a:r>
            <a:r>
              <a:rPr lang="en-GB" altLang="en-US" sz="2400">
                <a:latin typeface="Calibri" panose="020F0502020204030204" pitchFamily="34" charset="0"/>
              </a:rPr>
              <a:t> - sustained</a:t>
            </a:r>
            <a:r>
              <a:rPr lang="en-GB" altLang="en-US" sz="2400" i="1">
                <a:latin typeface="Calibri" panose="020F0502020204030204" pitchFamily="34" charset="0"/>
              </a:rPr>
              <a:t> </a:t>
            </a:r>
            <a:r>
              <a:rPr lang="en-GB" altLang="en-US" sz="2400">
                <a:latin typeface="Calibri" panose="020F0502020204030204" pitchFamily="34" charset="0"/>
              </a:rPr>
              <a:t>incidence</a:t>
            </a:r>
            <a:r>
              <a:rPr lang="en-GB" altLang="en-US" sz="2400" i="1">
                <a:latin typeface="Calibri" panose="020F0502020204030204" pitchFamily="34" charset="0"/>
              </a:rPr>
              <a:t> </a:t>
            </a:r>
            <a:r>
              <a:rPr lang="en-GB" altLang="en-US" sz="2400">
                <a:latin typeface="Calibri" panose="020F0502020204030204" pitchFamily="34" charset="0"/>
              </a:rPr>
              <a:t>oscillations - not necessarily of same period as forcing.</a:t>
            </a:r>
          </a:p>
          <a:p>
            <a:pPr eaLnBrk="1" hangingPunct="1">
              <a:spcBef>
                <a:spcPct val="0"/>
              </a:spcBef>
              <a:buFontTx/>
              <a:buNone/>
            </a:pPr>
            <a:endParaRPr lang="en-GB" altLang="en-US" sz="2400">
              <a:latin typeface="Calibri" panose="020F0502020204030204" pitchFamily="34" charset="0"/>
            </a:endParaRPr>
          </a:p>
          <a:p>
            <a:pPr eaLnBrk="1" hangingPunct="1">
              <a:spcBef>
                <a:spcPct val="0"/>
              </a:spcBef>
              <a:buFontTx/>
              <a:buNone/>
            </a:pPr>
            <a:r>
              <a:rPr lang="en-GB" altLang="en-US" sz="2400">
                <a:latin typeface="Calibri" panose="020F0502020204030204" pitchFamily="34" charset="0"/>
              </a:rPr>
              <a:t>Cycles completely regular.</a:t>
            </a:r>
          </a:p>
        </p:txBody>
      </p:sp>
      <p:sp>
        <p:nvSpPr>
          <p:cNvPr id="12291" name="Rectangle 3"/>
          <p:cNvSpPr>
            <a:spLocks noChangeArrowheads="1"/>
          </p:cNvSpPr>
          <p:nvPr/>
        </p:nvSpPr>
        <p:spPr bwMode="auto">
          <a:xfrm>
            <a:off x="1831975" y="379413"/>
            <a:ext cx="5507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800" b="1">
                <a:solidFill>
                  <a:srgbClr val="0033CC"/>
                </a:solidFill>
              </a:rPr>
              <a:t>Deterministic model of Measles</a:t>
            </a:r>
          </a:p>
        </p:txBody>
      </p:sp>
      <p:graphicFrame>
        <p:nvGraphicFramePr>
          <p:cNvPr id="12292" name="Object 4"/>
          <p:cNvGraphicFramePr>
            <a:graphicFrameLocks noChangeAspect="1"/>
          </p:cNvGraphicFramePr>
          <p:nvPr/>
        </p:nvGraphicFramePr>
        <p:xfrm>
          <a:off x="1863725" y="3411538"/>
          <a:ext cx="4572000" cy="3446462"/>
        </p:xfrm>
        <a:graphic>
          <a:graphicData uri="http://schemas.openxmlformats.org/presentationml/2006/ole">
            <mc:AlternateContent xmlns:mc="http://schemas.openxmlformats.org/markup-compatibility/2006">
              <mc:Choice xmlns:v="urn:schemas-microsoft-com:vml" Requires="v">
                <p:oleObj spid="_x0000_s12316" name="Chart" r:id="rId3" imgW="4200449" imgH="3171749" progId="Excel.Chart.8">
                  <p:embed/>
                </p:oleObj>
              </mc:Choice>
              <mc:Fallback>
                <p:oleObj name="Chart" r:id="rId3" imgW="4200449" imgH="3171749"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3725" y="3411538"/>
                        <a:ext cx="4572000" cy="344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457200" y="411163"/>
            <a:ext cx="8229600" cy="612775"/>
          </a:xfrm>
        </p:spPr>
        <p:txBody>
          <a:bodyPr/>
          <a:lstStyle/>
          <a:p>
            <a:pPr eaLnBrk="1" hangingPunct="1">
              <a:defRPr/>
            </a:pPr>
            <a:r>
              <a:rPr lang="en-GB" altLang="en-US" sz="2800" kern="1200" dirty="0">
                <a:solidFill>
                  <a:srgbClr val="0033CC"/>
                </a:solidFill>
                <a:ea typeface="+mn-ea"/>
                <a:cs typeface="+mn-cs"/>
              </a:rPr>
              <a:t>Effect of </a:t>
            </a:r>
            <a:r>
              <a:rPr lang="en-GB" altLang="en-US" sz="2800" kern="1200" dirty="0" err="1">
                <a:solidFill>
                  <a:srgbClr val="0033CC"/>
                </a:solidFill>
                <a:ea typeface="+mn-ea"/>
                <a:cs typeface="+mn-cs"/>
              </a:rPr>
              <a:t>stochasticity</a:t>
            </a:r>
            <a:endParaRPr lang="en-GB" altLang="en-US" sz="2800" kern="1200" dirty="0">
              <a:solidFill>
                <a:srgbClr val="0033CC"/>
              </a:solidFill>
              <a:ea typeface="+mn-ea"/>
              <a:cs typeface="+mn-cs"/>
            </a:endParaRPr>
          </a:p>
        </p:txBody>
      </p:sp>
      <p:sp>
        <p:nvSpPr>
          <p:cNvPr id="13315" name="Rectangle 3"/>
          <p:cNvSpPr>
            <a:spLocks noChangeArrowheads="1" noTextEdit="1"/>
          </p:cNvSpPr>
          <p:nvPr/>
        </p:nvSpPr>
        <p:spPr bwMode="auto">
          <a:xfrm>
            <a:off x="3857625" y="2271713"/>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graphicFrame>
        <p:nvGraphicFramePr>
          <p:cNvPr id="13316" name="Object 10"/>
          <p:cNvGraphicFramePr>
            <a:graphicFrameLocks noChangeAspect="1"/>
          </p:cNvGraphicFramePr>
          <p:nvPr/>
        </p:nvGraphicFramePr>
        <p:xfrm>
          <a:off x="609600" y="1371600"/>
          <a:ext cx="7467600" cy="4918075"/>
        </p:xfrm>
        <a:graphic>
          <a:graphicData uri="http://schemas.openxmlformats.org/presentationml/2006/ole">
            <mc:AlternateContent xmlns:mc="http://schemas.openxmlformats.org/markup-compatibility/2006">
              <mc:Choice xmlns:v="urn:schemas-microsoft-com:vml" Requires="v">
                <p:oleObj spid="_x0000_s13341" name="Image" r:id="rId3" imgW="8297917" imgH="5464172" progId="Photoshop.Image.5">
                  <p:embed/>
                </p:oleObj>
              </mc:Choice>
              <mc:Fallback>
                <p:oleObj name="Image" r:id="rId3" imgW="8297917" imgH="5464172" progId="Photoshop.Image.5">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371600"/>
                        <a:ext cx="7467600"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7" name="Text Box 11"/>
          <p:cNvSpPr txBox="1">
            <a:spLocks noChangeArrowheads="1"/>
          </p:cNvSpPr>
          <p:nvPr/>
        </p:nvSpPr>
        <p:spPr bwMode="auto">
          <a:xfrm>
            <a:off x="249238" y="3886200"/>
            <a:ext cx="37338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i="1">
                <a:solidFill>
                  <a:srgbClr val="990000"/>
                </a:solidFill>
                <a:latin typeface="Calibri" panose="020F0502020204030204" pitchFamily="34" charset="0"/>
              </a:rPr>
              <a:t>Disease extinction likely  by random chance when number of infectives falls to very low numbers.</a:t>
            </a:r>
          </a:p>
          <a:p>
            <a:pPr>
              <a:spcBef>
                <a:spcPct val="0"/>
              </a:spcBef>
              <a:buFontTx/>
              <a:buNone/>
            </a:pPr>
            <a:endParaRPr lang="en-GB" altLang="en-US" sz="2000" b="1" i="1">
              <a:solidFill>
                <a:srgbClr val="990000"/>
              </a:solidFill>
              <a:latin typeface="Calibri" panose="020F0502020204030204" pitchFamily="34" charset="0"/>
            </a:endParaRPr>
          </a:p>
          <a:p>
            <a:pPr>
              <a:spcBef>
                <a:spcPct val="0"/>
              </a:spcBef>
              <a:buFontTx/>
              <a:buNone/>
            </a:pPr>
            <a:r>
              <a:rPr lang="en-GB" altLang="en-US" sz="2000" b="1" i="1">
                <a:solidFill>
                  <a:srgbClr val="990000"/>
                </a:solidFill>
                <a:latin typeface="Calibri" panose="020F0502020204030204" pitchFamily="34" charset="0"/>
              </a:rPr>
              <a:t>- so extinction more frequent as population size decreases.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type="title" sz="quarter"/>
          </p:nvPr>
        </p:nvSpPr>
        <p:spPr/>
        <p:txBody>
          <a:bodyPr/>
          <a:lstStyle/>
          <a:p>
            <a:pPr eaLnBrk="1" hangingPunct="1"/>
            <a:r>
              <a:rPr lang="en-GB" sz="3200">
                <a:latin typeface="Times New Roman" pitchFamily="18" charset="0"/>
              </a:rPr>
              <a:t>Effect of stochasticity on SEIR dynamics</a:t>
            </a:r>
          </a:p>
        </p:txBody>
      </p:sp>
      <p:pic>
        <p:nvPicPr>
          <p:cNvPr id="8196" name="Picture 17"/>
          <p:cNvPicPr>
            <a:picLocks noGrp="1" noChangeAspect="1" noChangeArrowheads="1"/>
          </p:cNvPicPr>
          <p:nvPr>
            <p:ph sz="quarter" idx="1"/>
          </p:nvPr>
        </p:nvPicPr>
        <p:blipFill>
          <a:blip r:embed="rId4" cstate="print"/>
          <a:srcRect/>
          <a:stretch>
            <a:fillRect/>
          </a:stretch>
        </p:blipFill>
        <p:spPr>
          <a:xfrm>
            <a:off x="3297238" y="2098675"/>
            <a:ext cx="2667000" cy="1819275"/>
          </a:xfrm>
          <a:noFill/>
        </p:spPr>
      </p:pic>
      <p:pic>
        <p:nvPicPr>
          <p:cNvPr id="8197" name="Picture 19"/>
          <p:cNvPicPr>
            <a:picLocks noGrp="1" noChangeAspect="1" noChangeArrowheads="1"/>
          </p:cNvPicPr>
          <p:nvPr>
            <p:ph sz="quarter" idx="2"/>
          </p:nvPr>
        </p:nvPicPr>
        <p:blipFill>
          <a:blip r:embed="rId5" cstate="print"/>
          <a:srcRect/>
          <a:stretch>
            <a:fillRect/>
          </a:stretch>
        </p:blipFill>
        <p:spPr>
          <a:xfrm>
            <a:off x="5992813" y="2070100"/>
            <a:ext cx="2667000" cy="1819275"/>
          </a:xfrm>
          <a:noFill/>
        </p:spPr>
      </p:pic>
      <p:pic>
        <p:nvPicPr>
          <p:cNvPr id="8198" name="Picture 21"/>
          <p:cNvPicPr>
            <a:picLocks noGrp="1" noChangeAspect="1" noChangeArrowheads="1"/>
          </p:cNvPicPr>
          <p:nvPr>
            <p:ph sz="quarter" idx="3"/>
          </p:nvPr>
        </p:nvPicPr>
        <p:blipFill>
          <a:blip r:embed="rId6" cstate="print"/>
          <a:srcRect/>
          <a:stretch>
            <a:fillRect/>
          </a:stretch>
        </p:blipFill>
        <p:spPr>
          <a:xfrm>
            <a:off x="3287713" y="4044950"/>
            <a:ext cx="2667000" cy="1819275"/>
          </a:xfrm>
          <a:noFill/>
        </p:spPr>
      </p:pic>
      <p:sp>
        <p:nvSpPr>
          <p:cNvPr id="8199" name="Rectangle 7"/>
          <p:cNvSpPr>
            <a:spLocks noChangeArrowheads="1" noTextEdit="1"/>
          </p:cNvSpPr>
          <p:nvPr/>
        </p:nvSpPr>
        <p:spPr bwMode="auto">
          <a:xfrm>
            <a:off x="3857625" y="2271713"/>
            <a:ext cx="0" cy="101600"/>
          </a:xfrm>
          <a:prstGeom prst="rect">
            <a:avLst/>
          </a:prstGeom>
          <a:noFill/>
          <a:ln w="9525">
            <a:noFill/>
            <a:miter lim="800000"/>
            <a:headEnd/>
            <a:tailEnd/>
          </a:ln>
        </p:spPr>
        <p:txBody>
          <a:bodyPr>
            <a:spAutoFit/>
          </a:bodyPr>
          <a:lstStyle/>
          <a:p>
            <a:endParaRPr lang="en-GB"/>
          </a:p>
        </p:txBody>
      </p:sp>
      <p:sp>
        <p:nvSpPr>
          <p:cNvPr id="8200" name="Text Box 8"/>
          <p:cNvSpPr txBox="1">
            <a:spLocks noChangeArrowheads="1"/>
          </p:cNvSpPr>
          <p:nvPr/>
        </p:nvSpPr>
        <p:spPr bwMode="auto">
          <a:xfrm>
            <a:off x="576263" y="1331913"/>
            <a:ext cx="4273550" cy="396875"/>
          </a:xfrm>
          <a:prstGeom prst="rect">
            <a:avLst/>
          </a:prstGeom>
          <a:noFill/>
          <a:ln w="9525">
            <a:noFill/>
            <a:miter lim="800000"/>
            <a:headEnd/>
            <a:tailEnd/>
          </a:ln>
        </p:spPr>
        <p:txBody>
          <a:bodyPr wrap="none">
            <a:spAutoFit/>
          </a:bodyPr>
          <a:lstStyle/>
          <a:p>
            <a:pPr eaLnBrk="0" hangingPunct="0"/>
            <a:r>
              <a:rPr lang="en-GB" sz="2000"/>
              <a:t>Phase space plots of biennial epidemics:</a:t>
            </a:r>
          </a:p>
        </p:txBody>
      </p:sp>
      <p:sp>
        <p:nvSpPr>
          <p:cNvPr id="8201" name="Rectangle 13"/>
          <p:cNvSpPr>
            <a:spLocks noChangeArrowheads="1"/>
          </p:cNvSpPr>
          <p:nvPr/>
        </p:nvSpPr>
        <p:spPr bwMode="auto">
          <a:xfrm>
            <a:off x="0" y="2457450"/>
            <a:ext cx="9144000" cy="0"/>
          </a:xfrm>
          <a:prstGeom prst="rect">
            <a:avLst/>
          </a:prstGeom>
          <a:noFill/>
          <a:ln w="9525">
            <a:noFill/>
            <a:miter lim="800000"/>
            <a:headEnd/>
            <a:tailEnd/>
          </a:ln>
        </p:spPr>
        <p:txBody>
          <a:bodyPr wrap="none" anchor="ctr">
            <a:spAutoFit/>
          </a:bodyPr>
          <a:lstStyle/>
          <a:p>
            <a:endParaRPr lang="en-GB"/>
          </a:p>
        </p:txBody>
      </p:sp>
      <p:sp>
        <p:nvSpPr>
          <p:cNvPr id="8202" name="Rectangle 14"/>
          <p:cNvSpPr>
            <a:spLocks noChangeArrowheads="1"/>
          </p:cNvSpPr>
          <p:nvPr/>
        </p:nvSpPr>
        <p:spPr bwMode="auto">
          <a:xfrm>
            <a:off x="0" y="2457450"/>
            <a:ext cx="9144000" cy="0"/>
          </a:xfrm>
          <a:prstGeom prst="rect">
            <a:avLst/>
          </a:prstGeom>
          <a:noFill/>
          <a:ln w="9525">
            <a:noFill/>
            <a:miter lim="800000"/>
            <a:headEnd/>
            <a:tailEnd/>
          </a:ln>
        </p:spPr>
        <p:txBody>
          <a:bodyPr wrap="none" anchor="ctr">
            <a:spAutoFit/>
          </a:bodyPr>
          <a:lstStyle/>
          <a:p>
            <a:endParaRPr lang="en-GB"/>
          </a:p>
        </p:txBody>
      </p:sp>
      <p:sp>
        <p:nvSpPr>
          <p:cNvPr id="8203" name="Rectangle 15"/>
          <p:cNvSpPr>
            <a:spLocks noChangeArrowheads="1"/>
          </p:cNvSpPr>
          <p:nvPr/>
        </p:nvSpPr>
        <p:spPr bwMode="auto">
          <a:xfrm>
            <a:off x="0" y="2457450"/>
            <a:ext cx="9144000" cy="0"/>
          </a:xfrm>
          <a:prstGeom prst="rect">
            <a:avLst/>
          </a:prstGeom>
          <a:noFill/>
          <a:ln w="9525">
            <a:noFill/>
            <a:miter lim="800000"/>
            <a:headEnd/>
            <a:tailEnd/>
          </a:ln>
        </p:spPr>
        <p:txBody>
          <a:bodyPr wrap="none" anchor="ctr">
            <a:spAutoFit/>
          </a:bodyPr>
          <a:lstStyle/>
          <a:p>
            <a:endParaRPr lang="en-GB"/>
          </a:p>
        </p:txBody>
      </p:sp>
      <p:sp>
        <p:nvSpPr>
          <p:cNvPr id="8204" name="Rectangle 16"/>
          <p:cNvSpPr>
            <a:spLocks noChangeArrowheads="1"/>
          </p:cNvSpPr>
          <p:nvPr/>
        </p:nvSpPr>
        <p:spPr bwMode="auto">
          <a:xfrm>
            <a:off x="0" y="2457450"/>
            <a:ext cx="9144000" cy="0"/>
          </a:xfrm>
          <a:prstGeom prst="rect">
            <a:avLst/>
          </a:prstGeom>
          <a:noFill/>
          <a:ln w="9525">
            <a:noFill/>
            <a:miter lim="800000"/>
            <a:headEnd/>
            <a:tailEnd/>
          </a:ln>
        </p:spPr>
        <p:txBody>
          <a:bodyPr wrap="none" anchor="ctr">
            <a:spAutoFit/>
          </a:bodyPr>
          <a:lstStyle/>
          <a:p>
            <a:endParaRPr lang="en-GB"/>
          </a:p>
        </p:txBody>
      </p:sp>
      <p:pic>
        <p:nvPicPr>
          <p:cNvPr id="8205" name="Picture 23"/>
          <p:cNvPicPr>
            <a:picLocks noGrp="1" noChangeAspect="1" noChangeArrowheads="1"/>
          </p:cNvPicPr>
          <p:nvPr>
            <p:ph sz="quarter" idx="4"/>
          </p:nvPr>
        </p:nvPicPr>
        <p:blipFill>
          <a:blip r:embed="rId7" cstate="print"/>
          <a:srcRect/>
          <a:stretch>
            <a:fillRect/>
          </a:stretch>
        </p:blipFill>
        <p:spPr>
          <a:xfrm>
            <a:off x="6062663" y="4060825"/>
            <a:ext cx="2667000" cy="1819275"/>
          </a:xfrm>
          <a:noFill/>
        </p:spPr>
      </p:pic>
      <p:graphicFrame>
        <p:nvGraphicFramePr>
          <p:cNvPr id="8194" name="Object 25"/>
          <p:cNvGraphicFramePr>
            <a:graphicFrameLocks noChangeAspect="1"/>
          </p:cNvGraphicFramePr>
          <p:nvPr/>
        </p:nvGraphicFramePr>
        <p:xfrm>
          <a:off x="271463" y="3033713"/>
          <a:ext cx="2670175" cy="1978025"/>
        </p:xfrm>
        <a:graphic>
          <a:graphicData uri="http://schemas.openxmlformats.org/presentationml/2006/ole">
            <mc:AlternateContent xmlns:mc="http://schemas.openxmlformats.org/markup-compatibility/2006">
              <mc:Choice xmlns:v="urn:schemas-microsoft-com:vml" Requires="v">
                <p:oleObj spid="_x0000_s62486" name="Chart" r:id="rId8" imgW="2533650" imgH="1876349" progId="Excel.Chart.8">
                  <p:embed/>
                </p:oleObj>
              </mc:Choice>
              <mc:Fallback>
                <p:oleObj name="Chart" r:id="rId8" imgW="2533650" imgH="1876349" progId="Excel.Chart.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463" y="3033713"/>
                        <a:ext cx="2670175" cy="197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6" name="Text Box 26"/>
          <p:cNvSpPr txBox="1">
            <a:spLocks noChangeArrowheads="1"/>
          </p:cNvSpPr>
          <p:nvPr/>
        </p:nvSpPr>
        <p:spPr bwMode="auto">
          <a:xfrm>
            <a:off x="962025" y="2747963"/>
            <a:ext cx="1428750" cy="366712"/>
          </a:xfrm>
          <a:prstGeom prst="rect">
            <a:avLst/>
          </a:prstGeom>
          <a:noFill/>
          <a:ln w="9525">
            <a:noFill/>
            <a:miter lim="800000"/>
            <a:headEnd/>
            <a:tailEnd/>
          </a:ln>
        </p:spPr>
        <p:txBody>
          <a:bodyPr wrap="none">
            <a:spAutoFit/>
          </a:bodyPr>
          <a:lstStyle/>
          <a:p>
            <a:r>
              <a:rPr lang="en-GB" sz="1800">
                <a:solidFill>
                  <a:srgbClr val="FF0000"/>
                </a:solidFill>
              </a:rPr>
              <a:t>Deterministic</a:t>
            </a:r>
            <a:endParaRPr lang="en-US" sz="1800">
              <a:solidFill>
                <a:srgbClr val="FF0000"/>
              </a:solidFill>
            </a:endParaRPr>
          </a:p>
        </p:txBody>
      </p:sp>
      <p:sp>
        <p:nvSpPr>
          <p:cNvPr id="8207" name="Text Box 27"/>
          <p:cNvSpPr txBox="1">
            <a:spLocks noChangeArrowheads="1"/>
          </p:cNvSpPr>
          <p:nvPr/>
        </p:nvSpPr>
        <p:spPr bwMode="auto">
          <a:xfrm>
            <a:off x="5572125" y="1677988"/>
            <a:ext cx="1123950" cy="366712"/>
          </a:xfrm>
          <a:prstGeom prst="rect">
            <a:avLst/>
          </a:prstGeom>
          <a:noFill/>
          <a:ln w="9525">
            <a:noFill/>
            <a:miter lim="800000"/>
            <a:headEnd/>
            <a:tailEnd/>
          </a:ln>
        </p:spPr>
        <p:txBody>
          <a:bodyPr wrap="none">
            <a:spAutoFit/>
          </a:bodyPr>
          <a:lstStyle/>
          <a:p>
            <a:r>
              <a:rPr lang="en-GB" sz="1800">
                <a:solidFill>
                  <a:srgbClr val="FF0000"/>
                </a:solidFill>
              </a:rPr>
              <a:t>Stochastic</a:t>
            </a:r>
            <a:endParaRPr lang="en-US" sz="1800">
              <a:solidFill>
                <a:srgbClr val="FF0000"/>
              </a:solidFill>
            </a:endParaRPr>
          </a:p>
        </p:txBody>
      </p:sp>
      <p:sp>
        <p:nvSpPr>
          <p:cNvPr id="8208" name="Line 28"/>
          <p:cNvSpPr>
            <a:spLocks noChangeShapeType="1"/>
          </p:cNvSpPr>
          <p:nvPr/>
        </p:nvSpPr>
        <p:spPr bwMode="auto">
          <a:xfrm flipH="1" flipV="1">
            <a:off x="5129213" y="2600325"/>
            <a:ext cx="214312" cy="314325"/>
          </a:xfrm>
          <a:prstGeom prst="line">
            <a:avLst/>
          </a:prstGeom>
          <a:noFill/>
          <a:ln w="9525">
            <a:solidFill>
              <a:schemeClr val="folHlink"/>
            </a:solidFill>
            <a:round/>
            <a:headEnd/>
            <a:tailEnd type="triangle" w="med" len="med"/>
          </a:ln>
        </p:spPr>
        <p:txBody>
          <a:bodyPr/>
          <a:lstStyle/>
          <a:p>
            <a:endParaRPr lang="en-GB"/>
          </a:p>
        </p:txBody>
      </p:sp>
      <p:sp>
        <p:nvSpPr>
          <p:cNvPr id="8209" name="Line 29"/>
          <p:cNvSpPr>
            <a:spLocks noChangeShapeType="1"/>
          </p:cNvSpPr>
          <p:nvPr/>
        </p:nvSpPr>
        <p:spPr bwMode="auto">
          <a:xfrm flipH="1">
            <a:off x="4259263" y="2659063"/>
            <a:ext cx="114300" cy="371475"/>
          </a:xfrm>
          <a:prstGeom prst="line">
            <a:avLst/>
          </a:prstGeom>
          <a:noFill/>
          <a:ln w="9525">
            <a:solidFill>
              <a:schemeClr val="folHlink"/>
            </a:solidFill>
            <a:round/>
            <a:headEnd/>
            <a:tailEnd type="triangle" w="med" len="med"/>
          </a:ln>
        </p:spPr>
        <p:txBody>
          <a:bodyPr/>
          <a:lstStyle/>
          <a:p>
            <a:endParaRPr lang="en-GB"/>
          </a:p>
        </p:txBody>
      </p:sp>
      <p:sp>
        <p:nvSpPr>
          <p:cNvPr id="2" name="TextBox 1">
            <a:extLst>
              <a:ext uri="{FF2B5EF4-FFF2-40B4-BE49-F238E27FC236}">
                <a16:creationId xmlns:a16="http://schemas.microsoft.com/office/drawing/2014/main" xmlns="" id="{791053A8-4515-AA4B-BC96-DC8B8825FD8B}"/>
              </a:ext>
            </a:extLst>
          </p:cNvPr>
          <p:cNvSpPr txBox="1"/>
          <p:nvPr/>
        </p:nvSpPr>
        <p:spPr>
          <a:xfrm>
            <a:off x="338137" y="5864225"/>
            <a:ext cx="2603501" cy="523220"/>
          </a:xfrm>
          <a:prstGeom prst="rect">
            <a:avLst/>
          </a:prstGeom>
          <a:noFill/>
        </p:spPr>
        <p:txBody>
          <a:bodyPr wrap="square" rtlCol="0">
            <a:spAutoFit/>
          </a:bodyPr>
          <a:lstStyle/>
          <a:p>
            <a:r>
              <a:rPr lang="en-US" sz="1400" dirty="0"/>
              <a:t>Y=Infective</a:t>
            </a:r>
          </a:p>
          <a:p>
            <a:r>
              <a:rPr lang="en-US" sz="1400" dirty="0"/>
              <a:t>X=Susceptible</a:t>
            </a:r>
          </a:p>
        </p:txBody>
      </p:sp>
    </p:spTree>
    <p:extLst>
      <p:ext uri="{BB962C8B-B14F-4D97-AF65-F5344CB8AC3E}">
        <p14:creationId xmlns:p14="http://schemas.microsoft.com/office/powerpoint/2010/main" val="1363203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274638"/>
            <a:ext cx="8229600" cy="762000"/>
          </a:xfrm>
        </p:spPr>
        <p:txBody>
          <a:bodyPr/>
          <a:lstStyle/>
          <a:p>
            <a:pPr eaLnBrk="1" hangingPunct="1">
              <a:defRPr/>
            </a:pPr>
            <a:r>
              <a:rPr lang="en-GB" altLang="en-US" sz="2800" kern="1200" dirty="0">
                <a:solidFill>
                  <a:srgbClr val="0033CC"/>
                </a:solidFill>
                <a:ea typeface="+mn-ea"/>
                <a:cs typeface="+mn-cs"/>
              </a:rPr>
              <a:t>Critical community size</a:t>
            </a:r>
          </a:p>
        </p:txBody>
      </p:sp>
      <p:sp>
        <p:nvSpPr>
          <p:cNvPr id="14339" name="Rectangle 3"/>
          <p:cNvSpPr>
            <a:spLocks noChangeArrowheads="1" noTextEdit="1"/>
          </p:cNvSpPr>
          <p:nvPr/>
        </p:nvSpPr>
        <p:spPr bwMode="auto">
          <a:xfrm>
            <a:off x="3857625" y="2271713"/>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grpSp>
        <p:nvGrpSpPr>
          <p:cNvPr id="14340" name="Group 10"/>
          <p:cNvGrpSpPr>
            <a:grpSpLocks/>
          </p:cNvGrpSpPr>
          <p:nvPr/>
        </p:nvGrpSpPr>
        <p:grpSpPr bwMode="auto">
          <a:xfrm>
            <a:off x="685800" y="1752600"/>
            <a:ext cx="7150100" cy="4171950"/>
            <a:chOff x="432" y="1104"/>
            <a:chExt cx="4504" cy="2628"/>
          </a:xfrm>
        </p:grpSpPr>
        <p:sp>
          <p:nvSpPr>
            <p:cNvPr id="14342" name="Text Box 11"/>
            <p:cNvSpPr txBox="1">
              <a:spLocks noChangeArrowheads="1"/>
            </p:cNvSpPr>
            <p:nvPr/>
          </p:nvSpPr>
          <p:spPr bwMode="auto">
            <a:xfrm>
              <a:off x="432" y="1104"/>
              <a:ext cx="45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800" b="1" i="1">
                  <a:solidFill>
                    <a:srgbClr val="990000"/>
                  </a:solidFill>
                </a:rPr>
                <a:t>CCS = minimum population size at which fadeouts become rare.</a:t>
              </a:r>
            </a:p>
          </p:txBody>
        </p:sp>
        <p:graphicFrame>
          <p:nvGraphicFramePr>
            <p:cNvPr id="14343" name="Object 12"/>
            <p:cNvGraphicFramePr>
              <a:graphicFrameLocks noChangeAspect="1"/>
            </p:cNvGraphicFramePr>
            <p:nvPr/>
          </p:nvGraphicFramePr>
          <p:xfrm>
            <a:off x="624" y="1536"/>
            <a:ext cx="3720" cy="2196"/>
          </p:xfrm>
          <a:graphic>
            <a:graphicData uri="http://schemas.openxmlformats.org/presentationml/2006/ole">
              <mc:AlternateContent xmlns:mc="http://schemas.openxmlformats.org/markup-compatibility/2006">
                <mc:Choice xmlns:v="urn:schemas-microsoft-com:vml" Requires="v">
                  <p:oleObj spid="_x0000_s14367" name="Image" r:id="rId3" imgW="5905138" imgH="3486166" progId="Photoshop.Image.5">
                    <p:embed/>
                  </p:oleObj>
                </mc:Choice>
                <mc:Fallback>
                  <p:oleObj name="Image" r:id="rId3" imgW="5905138" imgH="3486166" progId="Photoshop.Image.5">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 y="1536"/>
                          <a:ext cx="3720" cy="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39983" name="Freeform 15"/>
          <p:cNvSpPr>
            <a:spLocks/>
          </p:cNvSpPr>
          <p:nvPr/>
        </p:nvSpPr>
        <p:spPr bwMode="auto">
          <a:xfrm>
            <a:off x="1814513" y="2520950"/>
            <a:ext cx="5030787" cy="2454275"/>
          </a:xfrm>
          <a:custGeom>
            <a:avLst/>
            <a:gdLst>
              <a:gd name="T0" fmla="*/ 0 w 3169"/>
              <a:gd name="T1" fmla="*/ 2147483647 h 1546"/>
              <a:gd name="T2" fmla="*/ 2147483647 w 3169"/>
              <a:gd name="T3" fmla="*/ 2147483647 h 1546"/>
              <a:gd name="T4" fmla="*/ 2147483647 w 3169"/>
              <a:gd name="T5" fmla="*/ 2147483647 h 1546"/>
              <a:gd name="T6" fmla="*/ 2147483647 w 3169"/>
              <a:gd name="T7" fmla="*/ 2147483647 h 1546"/>
              <a:gd name="T8" fmla="*/ 2147483647 w 3169"/>
              <a:gd name="T9" fmla="*/ 2147483647 h 1546"/>
              <a:gd name="T10" fmla="*/ 2147483647 w 3169"/>
              <a:gd name="T11" fmla="*/ 2147483647 h 1546"/>
              <a:gd name="T12" fmla="*/ 0 60000 65536"/>
              <a:gd name="T13" fmla="*/ 0 60000 65536"/>
              <a:gd name="T14" fmla="*/ 0 60000 65536"/>
              <a:gd name="T15" fmla="*/ 0 60000 65536"/>
              <a:gd name="T16" fmla="*/ 0 60000 65536"/>
              <a:gd name="T17" fmla="*/ 0 60000 65536"/>
              <a:gd name="T18" fmla="*/ 0 w 3169"/>
              <a:gd name="T19" fmla="*/ 0 h 1546"/>
              <a:gd name="T20" fmla="*/ 3169 w 3169"/>
              <a:gd name="T21" fmla="*/ 1546 h 1546"/>
            </a:gdLst>
            <a:ahLst/>
            <a:cxnLst>
              <a:cxn ang="T12">
                <a:pos x="T0" y="T1"/>
              </a:cxn>
              <a:cxn ang="T13">
                <a:pos x="T2" y="T3"/>
              </a:cxn>
              <a:cxn ang="T14">
                <a:pos x="T4" y="T5"/>
              </a:cxn>
              <a:cxn ang="T15">
                <a:pos x="T6" y="T7"/>
              </a:cxn>
              <a:cxn ang="T16">
                <a:pos x="T8" y="T9"/>
              </a:cxn>
              <a:cxn ang="T17">
                <a:pos x="T10" y="T11"/>
              </a:cxn>
            </a:cxnLst>
            <a:rect l="T18" t="T19" r="T20" b="T21"/>
            <a:pathLst>
              <a:path w="3169" h="1546">
                <a:moveTo>
                  <a:pt x="0" y="53"/>
                </a:moveTo>
                <a:cubicBezTo>
                  <a:pt x="185" y="78"/>
                  <a:pt x="863" y="0"/>
                  <a:pt x="1109" y="201"/>
                </a:cubicBezTo>
                <a:cubicBezTo>
                  <a:pt x="1355" y="402"/>
                  <a:pt x="1353" y="1040"/>
                  <a:pt x="1475" y="1257"/>
                </a:cubicBezTo>
                <a:cubicBezTo>
                  <a:pt x="1597" y="1474"/>
                  <a:pt x="1644" y="1456"/>
                  <a:pt x="1842" y="1501"/>
                </a:cubicBezTo>
                <a:cubicBezTo>
                  <a:pt x="2040" y="1546"/>
                  <a:pt x="2441" y="1523"/>
                  <a:pt x="2662" y="1527"/>
                </a:cubicBezTo>
                <a:cubicBezTo>
                  <a:pt x="2883" y="1531"/>
                  <a:pt x="3003" y="1531"/>
                  <a:pt x="3169" y="1527"/>
                </a:cubicBezTo>
              </a:path>
            </a:pathLst>
          </a:cu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9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8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30200" y="1174750"/>
            <a:ext cx="8334375" cy="262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defRPr/>
            </a:pPr>
            <a:r>
              <a:rPr lang="en-GB" altLang="en-US" sz="2000" dirty="0">
                <a:latin typeface="Calibri" panose="020F0502020204030204" pitchFamily="34" charset="0"/>
                <a:cs typeface="Times New Roman" pitchFamily="18" charset="0"/>
              </a:rPr>
              <a:t>Age- and spatially- structured measles models reproduce observed pattern of extinction better than simple homogenous models.</a:t>
            </a:r>
          </a:p>
          <a:p>
            <a:pPr>
              <a:spcBef>
                <a:spcPct val="0"/>
              </a:spcBef>
              <a:buFontTx/>
              <a:buNone/>
              <a:defRPr/>
            </a:pPr>
            <a:endParaRPr lang="en-GB" altLang="en-US" sz="1050" dirty="0">
              <a:latin typeface="Calibri" panose="020F0502020204030204" pitchFamily="34" charset="0"/>
              <a:cs typeface="Times New Roman" pitchFamily="18" charset="0"/>
            </a:endParaRPr>
          </a:p>
          <a:p>
            <a:pPr>
              <a:spcBef>
                <a:spcPct val="0"/>
              </a:spcBef>
              <a:buFontTx/>
              <a:buNone/>
              <a:defRPr/>
            </a:pPr>
            <a:r>
              <a:rPr lang="en-GB" altLang="en-US" sz="2000" dirty="0">
                <a:latin typeface="Calibri" panose="020F0502020204030204" pitchFamily="34" charset="0"/>
                <a:cs typeface="Times New Roman" pitchFamily="18" charset="0"/>
              </a:rPr>
              <a:t>Use constant importation of </a:t>
            </a:r>
            <a:r>
              <a:rPr lang="en-GB" altLang="en-US" sz="2000" dirty="0" err="1">
                <a:latin typeface="Calibri" panose="020F0502020204030204" pitchFamily="34" charset="0"/>
                <a:cs typeface="Times New Roman" pitchFamily="18" charset="0"/>
              </a:rPr>
              <a:t>infectives</a:t>
            </a:r>
            <a:r>
              <a:rPr lang="en-GB" altLang="en-US" sz="2000" dirty="0">
                <a:latin typeface="Calibri" panose="020F0502020204030204" pitchFamily="34" charset="0"/>
                <a:cs typeface="Times New Roman" pitchFamily="18" charset="0"/>
              </a:rPr>
              <a:t> as crude representation of spatial coupling.</a:t>
            </a:r>
          </a:p>
          <a:p>
            <a:pPr>
              <a:spcBef>
                <a:spcPct val="0"/>
              </a:spcBef>
              <a:buFontTx/>
              <a:buNone/>
              <a:defRPr/>
            </a:pPr>
            <a:endParaRPr lang="en-GB" altLang="en-US" sz="1400" dirty="0">
              <a:latin typeface="Calibri" panose="020F0502020204030204" pitchFamily="34" charset="0"/>
              <a:cs typeface="Times New Roman" pitchFamily="18" charset="0"/>
            </a:endParaRPr>
          </a:p>
          <a:p>
            <a:pPr>
              <a:spcBef>
                <a:spcPct val="0"/>
              </a:spcBef>
              <a:spcAft>
                <a:spcPts val="600"/>
              </a:spcAft>
              <a:buFont typeface="Symbol" pitchFamily="18" charset="2"/>
              <a:buNone/>
              <a:defRPr/>
            </a:pPr>
            <a:r>
              <a:rPr lang="en-US" altLang="en-US" sz="2000" dirty="0">
                <a:latin typeface="Calibri" panose="020F0502020204030204" pitchFamily="34" charset="0"/>
                <a:cs typeface="Times New Roman" pitchFamily="18" charset="0"/>
              </a:rPr>
              <a:t>For realistic importation levels, observed persistence </a:t>
            </a:r>
            <a:r>
              <a:rPr lang="en-US" altLang="en-US" sz="2000" dirty="0" err="1">
                <a:latin typeface="Calibri" panose="020F0502020204030204" pitchFamily="34" charset="0"/>
                <a:cs typeface="Times New Roman" pitchFamily="18" charset="0"/>
              </a:rPr>
              <a:t>behaviour</a:t>
            </a:r>
            <a:r>
              <a:rPr lang="en-US" altLang="en-US" sz="2000" dirty="0">
                <a:latin typeface="Calibri" panose="020F0502020204030204" pitchFamily="34" charset="0"/>
                <a:cs typeface="Times New Roman" pitchFamily="18" charset="0"/>
              </a:rPr>
              <a:t> is (nearly) reproduced - i.e. fade-outs in small populations, noisy time-series in city-sized communities, and predominately biennial cycles in larger populations.</a:t>
            </a:r>
            <a:endParaRPr lang="en-GB" altLang="en-US" sz="2000" dirty="0">
              <a:latin typeface="Calibri" panose="020F0502020204030204" pitchFamily="34" charset="0"/>
              <a:cs typeface="Times New Roman" pitchFamily="18" charset="0"/>
            </a:endParaRPr>
          </a:p>
        </p:txBody>
      </p:sp>
      <p:sp>
        <p:nvSpPr>
          <p:cNvPr id="7173" name="Rectangle 3"/>
          <p:cNvSpPr>
            <a:spLocks noGrp="1" noChangeArrowheads="1"/>
          </p:cNvSpPr>
          <p:nvPr>
            <p:ph type="title"/>
          </p:nvPr>
        </p:nvSpPr>
        <p:spPr>
          <a:xfrm>
            <a:off x="719138" y="393700"/>
            <a:ext cx="7772400" cy="557213"/>
          </a:xfrm>
        </p:spPr>
        <p:txBody>
          <a:bodyPr/>
          <a:lstStyle/>
          <a:p>
            <a:pPr eaLnBrk="1" hangingPunct="1">
              <a:defRPr/>
            </a:pPr>
            <a:r>
              <a:rPr lang="en-GB" altLang="en-US" sz="2800" kern="1200" dirty="0">
                <a:solidFill>
                  <a:srgbClr val="0033CC"/>
                </a:solidFill>
                <a:ea typeface="+mn-ea"/>
                <a:cs typeface="+mn-cs"/>
              </a:rPr>
              <a:t>Modelling measles persistence</a:t>
            </a:r>
          </a:p>
        </p:txBody>
      </p:sp>
      <p:sp>
        <p:nvSpPr>
          <p:cNvPr id="15364" name="Rectangle 4"/>
          <p:cNvSpPr>
            <a:spLocks noChangeArrowheads="1" noTextEdit="1"/>
          </p:cNvSpPr>
          <p:nvPr/>
        </p:nvSpPr>
        <p:spPr bwMode="auto">
          <a:xfrm>
            <a:off x="3857625" y="2271713"/>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sp>
        <p:nvSpPr>
          <p:cNvPr id="15365" name="Text Box 5"/>
          <p:cNvSpPr txBox="1">
            <a:spLocks noChangeArrowheads="1"/>
          </p:cNvSpPr>
          <p:nvPr/>
        </p:nvSpPr>
        <p:spPr bwMode="auto">
          <a:xfrm>
            <a:off x="2209800" y="3781425"/>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800" b="1" i="1">
                <a:solidFill>
                  <a:schemeClr val="accent2"/>
                </a:solidFill>
              </a:rPr>
              <a:t>Islands</a:t>
            </a:r>
          </a:p>
        </p:txBody>
      </p:sp>
      <p:grpSp>
        <p:nvGrpSpPr>
          <p:cNvPr id="15366" name="Group 6"/>
          <p:cNvGrpSpPr>
            <a:grpSpLocks noChangeAspect="1"/>
          </p:cNvGrpSpPr>
          <p:nvPr/>
        </p:nvGrpSpPr>
        <p:grpSpPr bwMode="auto">
          <a:xfrm>
            <a:off x="1244600" y="4117975"/>
            <a:ext cx="2317750" cy="2379663"/>
            <a:chOff x="486" y="1209"/>
            <a:chExt cx="1946" cy="1998"/>
          </a:xfrm>
        </p:grpSpPr>
        <p:graphicFrame>
          <p:nvGraphicFramePr>
            <p:cNvPr id="15371" name="Object 7"/>
            <p:cNvGraphicFramePr>
              <a:graphicFrameLocks noChangeAspect="1"/>
            </p:cNvGraphicFramePr>
            <p:nvPr/>
          </p:nvGraphicFramePr>
          <p:xfrm>
            <a:off x="486" y="1209"/>
            <a:ext cx="1946" cy="1998"/>
          </p:xfrm>
          <a:graphic>
            <a:graphicData uri="http://schemas.openxmlformats.org/presentationml/2006/ole">
              <mc:AlternateContent xmlns:mc="http://schemas.openxmlformats.org/markup-compatibility/2006">
                <mc:Choice xmlns:v="urn:schemas-microsoft-com:vml" Requires="v">
                  <p:oleObj spid="_x0000_s15417" name="Image" r:id="rId3" imgW="3089780" imgH="3171090" progId="Photoshop.Image.5">
                    <p:embed/>
                  </p:oleObj>
                </mc:Choice>
                <mc:Fallback>
                  <p:oleObj name="Image" r:id="rId3" imgW="3089780" imgH="3171090" progId="Photoshop.Image.5">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 y="1209"/>
                          <a:ext cx="1946" cy="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2" name="Line 8"/>
            <p:cNvSpPr>
              <a:spLocks noChangeAspect="1" noChangeShapeType="1"/>
            </p:cNvSpPr>
            <p:nvPr/>
          </p:nvSpPr>
          <p:spPr bwMode="auto">
            <a:xfrm flipH="1">
              <a:off x="2112" y="1632"/>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grpSp>
        <p:nvGrpSpPr>
          <p:cNvPr id="15367" name="Group 9"/>
          <p:cNvGrpSpPr>
            <a:grpSpLocks noChangeAspect="1"/>
          </p:cNvGrpSpPr>
          <p:nvPr/>
        </p:nvGrpSpPr>
        <p:grpSpPr bwMode="auto">
          <a:xfrm>
            <a:off x="4684713" y="4129088"/>
            <a:ext cx="2314575" cy="2344737"/>
            <a:chOff x="2980" y="1254"/>
            <a:chExt cx="1946" cy="1972"/>
          </a:xfrm>
        </p:grpSpPr>
        <p:graphicFrame>
          <p:nvGraphicFramePr>
            <p:cNvPr id="15369" name="Object 10"/>
            <p:cNvGraphicFramePr>
              <a:graphicFrameLocks noChangeAspect="1"/>
            </p:cNvGraphicFramePr>
            <p:nvPr/>
          </p:nvGraphicFramePr>
          <p:xfrm>
            <a:off x="2980" y="1254"/>
            <a:ext cx="1946" cy="1972"/>
          </p:xfrm>
          <a:graphic>
            <a:graphicData uri="http://schemas.openxmlformats.org/presentationml/2006/ole">
              <mc:AlternateContent xmlns:mc="http://schemas.openxmlformats.org/markup-compatibility/2006">
                <mc:Choice xmlns:v="urn:schemas-microsoft-com:vml" Requires="v">
                  <p:oleObj spid="_x0000_s15418" name="Image" r:id="rId5" imgW="3089780" imgH="3130435" progId="Photoshop.Image.5">
                    <p:embed/>
                  </p:oleObj>
                </mc:Choice>
                <mc:Fallback>
                  <p:oleObj name="Image" r:id="rId5" imgW="3089780" imgH="3130435" progId="Photoshop.Image.5">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0" y="1254"/>
                          <a:ext cx="1946" cy="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0" name="Line 11"/>
            <p:cNvSpPr>
              <a:spLocks noChangeAspect="1" noChangeShapeType="1"/>
            </p:cNvSpPr>
            <p:nvPr/>
          </p:nvSpPr>
          <p:spPr bwMode="auto">
            <a:xfrm flipH="1">
              <a:off x="4224" y="1680"/>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15368" name="Text Box 12"/>
          <p:cNvSpPr txBox="1">
            <a:spLocks noChangeArrowheads="1"/>
          </p:cNvSpPr>
          <p:nvPr/>
        </p:nvSpPr>
        <p:spPr bwMode="auto">
          <a:xfrm>
            <a:off x="5768975" y="3821113"/>
            <a:ext cx="80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800" b="1" i="1">
                <a:solidFill>
                  <a:schemeClr val="accent2"/>
                </a:solidFill>
              </a:rPr>
              <a:t>Cities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74638"/>
            <a:ext cx="8229600" cy="871537"/>
          </a:xfrm>
        </p:spPr>
        <p:txBody>
          <a:bodyPr/>
          <a:lstStyle/>
          <a:p>
            <a:pPr eaLnBrk="1" hangingPunct="1">
              <a:defRPr/>
            </a:pPr>
            <a:r>
              <a:rPr lang="en-GB" altLang="en-US" sz="2800" kern="1200" dirty="0">
                <a:solidFill>
                  <a:srgbClr val="0033CC"/>
                </a:solidFill>
                <a:ea typeface="+mn-ea"/>
                <a:cs typeface="+mn-cs"/>
              </a:rPr>
              <a:t>Persistence</a:t>
            </a:r>
          </a:p>
        </p:txBody>
      </p:sp>
      <p:sp>
        <p:nvSpPr>
          <p:cNvPr id="16387" name="Rectangle 2"/>
          <p:cNvSpPr>
            <a:spLocks noChangeArrowheads="1"/>
          </p:cNvSpPr>
          <p:nvPr/>
        </p:nvSpPr>
        <p:spPr bwMode="auto">
          <a:xfrm>
            <a:off x="354013" y="1203325"/>
            <a:ext cx="8324850" cy="23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spcAft>
                <a:spcPts val="200"/>
              </a:spcAft>
            </a:pPr>
            <a:r>
              <a:rPr lang="en-US" altLang="en-US" sz="2400" dirty="0">
                <a:latin typeface="Calibri" panose="020F0502020204030204" pitchFamily="34" charset="0"/>
              </a:rPr>
              <a:t> Epidemic prediction/control strategy design needs to take account of stochastic effects.</a:t>
            </a:r>
          </a:p>
          <a:p>
            <a:pPr eaLnBrk="1" hangingPunct="1">
              <a:spcBef>
                <a:spcPct val="50000"/>
              </a:spcBef>
              <a:spcAft>
                <a:spcPts val="200"/>
              </a:spcAft>
            </a:pPr>
            <a:r>
              <a:rPr lang="en-GB" altLang="en-US" sz="2400" dirty="0">
                <a:latin typeface="Calibri" panose="020F0502020204030204" pitchFamily="34" charset="0"/>
              </a:rPr>
              <a:t> </a:t>
            </a:r>
            <a:r>
              <a:rPr lang="en-US" altLang="en-US" sz="2400" dirty="0">
                <a:latin typeface="Calibri" panose="020F0502020204030204" pitchFamily="34" charset="0"/>
              </a:rPr>
              <a:t>Different pathogens adopt different strategies to persist.</a:t>
            </a:r>
          </a:p>
          <a:p>
            <a:pPr eaLnBrk="1" hangingPunct="1">
              <a:spcBef>
                <a:spcPct val="50000"/>
              </a:spcBef>
              <a:spcAft>
                <a:spcPts val="200"/>
              </a:spcAft>
            </a:pPr>
            <a:r>
              <a:rPr lang="en-US" altLang="en-US" sz="2400" dirty="0">
                <a:latin typeface="Calibri" panose="020F0502020204030204" pitchFamily="34" charset="0"/>
              </a:rPr>
              <a:t> Key requirement is to keep prevalence of </a:t>
            </a:r>
            <a:r>
              <a:rPr lang="en-US" altLang="en-US" sz="2400" dirty="0" err="1">
                <a:latin typeface="Calibri" panose="020F0502020204030204" pitchFamily="34" charset="0"/>
              </a:rPr>
              <a:t>infectives</a:t>
            </a:r>
            <a:r>
              <a:rPr lang="en-US" altLang="en-US" sz="2400" dirty="0">
                <a:latin typeface="Calibri" panose="020F0502020204030204" pitchFamily="34" charset="0"/>
              </a:rPr>
              <a:t>, </a:t>
            </a:r>
            <a:r>
              <a:rPr lang="en-US" altLang="en-US" sz="2400" i="1" dirty="0">
                <a:latin typeface="Calibri" panose="020F0502020204030204" pitchFamily="34" charset="0"/>
              </a:rPr>
              <a:t>Y</a:t>
            </a:r>
            <a:r>
              <a:rPr lang="en-US" altLang="en-US" sz="2400" dirty="0">
                <a:latin typeface="Calibri" panose="020F0502020204030204" pitchFamily="34" charset="0"/>
              </a:rPr>
              <a:t>, at level where extinction becomes unlikely by chance.</a:t>
            </a:r>
          </a:p>
        </p:txBody>
      </p:sp>
      <p:cxnSp>
        <p:nvCxnSpPr>
          <p:cNvPr id="5" name="Straight Arrow Connector 4"/>
          <p:cNvCxnSpPr/>
          <p:nvPr/>
        </p:nvCxnSpPr>
        <p:spPr>
          <a:xfrm rot="16200000" flipV="1">
            <a:off x="596107" y="5652294"/>
            <a:ext cx="1855787" cy="285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 name="Straight Arrow Connector 5"/>
          <p:cNvCxnSpPr/>
          <p:nvPr/>
        </p:nvCxnSpPr>
        <p:spPr>
          <a:xfrm>
            <a:off x="1204913" y="6178550"/>
            <a:ext cx="3187700" cy="142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Connector 15"/>
          <p:cNvCxnSpPr/>
          <p:nvPr/>
        </p:nvCxnSpPr>
        <p:spPr>
          <a:xfrm flipV="1">
            <a:off x="1524000" y="5541963"/>
            <a:ext cx="2660650" cy="41275"/>
          </a:xfrm>
          <a:prstGeom prst="line">
            <a:avLst/>
          </a:prstGeom>
          <a:ln>
            <a:prstDash val="dash"/>
          </a:ln>
        </p:spPr>
        <p:style>
          <a:lnRef idx="3">
            <a:schemeClr val="accent1"/>
          </a:lnRef>
          <a:fillRef idx="0">
            <a:schemeClr val="accent1"/>
          </a:fillRef>
          <a:effectRef idx="2">
            <a:schemeClr val="accent1"/>
          </a:effectRef>
          <a:fontRef idx="minor">
            <a:schemeClr val="tx1"/>
          </a:fontRef>
        </p:style>
      </p:cxnSp>
      <p:sp>
        <p:nvSpPr>
          <p:cNvPr id="14" name="Freeform 13"/>
          <p:cNvSpPr/>
          <p:nvPr/>
        </p:nvSpPr>
        <p:spPr>
          <a:xfrm>
            <a:off x="1538288" y="4714875"/>
            <a:ext cx="2479675" cy="1366838"/>
          </a:xfrm>
          <a:custGeom>
            <a:avLst/>
            <a:gdLst>
              <a:gd name="connsiteX0" fmla="*/ 0 w 2479963"/>
              <a:gd name="connsiteY0" fmla="*/ 1311089 h 1366507"/>
              <a:gd name="connsiteX1" fmla="*/ 13854 w 2479963"/>
              <a:gd name="connsiteY1" fmla="*/ 1214107 h 1366507"/>
              <a:gd name="connsiteX2" fmla="*/ 41563 w 2479963"/>
              <a:gd name="connsiteY2" fmla="*/ 1172544 h 1366507"/>
              <a:gd name="connsiteX3" fmla="*/ 69272 w 2479963"/>
              <a:gd name="connsiteY3" fmla="*/ 1297235 h 1366507"/>
              <a:gd name="connsiteX4" fmla="*/ 96981 w 2479963"/>
              <a:gd name="connsiteY4" fmla="*/ 1366507 h 1366507"/>
              <a:gd name="connsiteX5" fmla="*/ 138545 w 2479963"/>
              <a:gd name="connsiteY5" fmla="*/ 1311089 h 1366507"/>
              <a:gd name="connsiteX6" fmla="*/ 221672 w 2479963"/>
              <a:gd name="connsiteY6" fmla="*/ 1255671 h 1366507"/>
              <a:gd name="connsiteX7" fmla="*/ 277090 w 2479963"/>
              <a:gd name="connsiteY7" fmla="*/ 978580 h 1366507"/>
              <a:gd name="connsiteX8" fmla="*/ 304800 w 2479963"/>
              <a:gd name="connsiteY8" fmla="*/ 784617 h 1366507"/>
              <a:gd name="connsiteX9" fmla="*/ 318654 w 2479963"/>
              <a:gd name="connsiteY9" fmla="*/ 715344 h 1366507"/>
              <a:gd name="connsiteX10" fmla="*/ 374072 w 2479963"/>
              <a:gd name="connsiteY10" fmla="*/ 632217 h 1366507"/>
              <a:gd name="connsiteX11" fmla="*/ 415636 w 2479963"/>
              <a:gd name="connsiteY11" fmla="*/ 535235 h 1366507"/>
              <a:gd name="connsiteX12" fmla="*/ 471054 w 2479963"/>
              <a:gd name="connsiteY12" fmla="*/ 341271 h 1366507"/>
              <a:gd name="connsiteX13" fmla="*/ 540327 w 2479963"/>
              <a:gd name="connsiteY13" fmla="*/ 216580 h 1366507"/>
              <a:gd name="connsiteX14" fmla="*/ 554181 w 2479963"/>
              <a:gd name="connsiteY14" fmla="*/ 147307 h 1366507"/>
              <a:gd name="connsiteX15" fmla="*/ 581890 w 2479963"/>
              <a:gd name="connsiteY15" fmla="*/ 175017 h 1366507"/>
              <a:gd name="connsiteX16" fmla="*/ 665018 w 2479963"/>
              <a:gd name="connsiteY16" fmla="*/ 8762 h 1366507"/>
              <a:gd name="connsiteX17" fmla="*/ 678872 w 2479963"/>
              <a:gd name="connsiteY17" fmla="*/ 188871 h 1366507"/>
              <a:gd name="connsiteX18" fmla="*/ 692727 w 2479963"/>
              <a:gd name="connsiteY18" fmla="*/ 327417 h 1366507"/>
              <a:gd name="connsiteX19" fmla="*/ 748145 w 2479963"/>
              <a:gd name="connsiteY19" fmla="*/ 521380 h 1366507"/>
              <a:gd name="connsiteX20" fmla="*/ 762000 w 2479963"/>
              <a:gd name="connsiteY20" fmla="*/ 479817 h 1366507"/>
              <a:gd name="connsiteX21" fmla="*/ 775854 w 2479963"/>
              <a:gd name="connsiteY21" fmla="*/ 632217 h 1366507"/>
              <a:gd name="connsiteX22" fmla="*/ 789709 w 2479963"/>
              <a:gd name="connsiteY22" fmla="*/ 687635 h 1366507"/>
              <a:gd name="connsiteX23" fmla="*/ 817418 w 2479963"/>
              <a:gd name="connsiteY23" fmla="*/ 784617 h 1366507"/>
              <a:gd name="connsiteX24" fmla="*/ 872836 w 2479963"/>
              <a:gd name="connsiteY24" fmla="*/ 826180 h 1366507"/>
              <a:gd name="connsiteX25" fmla="*/ 914400 w 2479963"/>
              <a:gd name="connsiteY25" fmla="*/ 743053 h 1366507"/>
              <a:gd name="connsiteX26" fmla="*/ 942109 w 2479963"/>
              <a:gd name="connsiteY26" fmla="*/ 798471 h 1366507"/>
              <a:gd name="connsiteX27" fmla="*/ 955963 w 2479963"/>
              <a:gd name="connsiteY27" fmla="*/ 881598 h 1366507"/>
              <a:gd name="connsiteX28" fmla="*/ 969818 w 2479963"/>
              <a:gd name="connsiteY28" fmla="*/ 950871 h 1366507"/>
              <a:gd name="connsiteX29" fmla="*/ 1039090 w 2479963"/>
              <a:gd name="connsiteY29" fmla="*/ 909307 h 1366507"/>
              <a:gd name="connsiteX30" fmla="*/ 1108363 w 2479963"/>
              <a:gd name="connsiteY30" fmla="*/ 812326 h 1366507"/>
              <a:gd name="connsiteX31" fmla="*/ 1122218 w 2479963"/>
              <a:gd name="connsiteY31" fmla="*/ 853889 h 1366507"/>
              <a:gd name="connsiteX32" fmla="*/ 1191490 w 2479963"/>
              <a:gd name="connsiteY32" fmla="*/ 826180 h 1366507"/>
              <a:gd name="connsiteX33" fmla="*/ 1233054 w 2479963"/>
              <a:gd name="connsiteY33" fmla="*/ 784617 h 1366507"/>
              <a:gd name="connsiteX34" fmla="*/ 1260763 w 2479963"/>
              <a:gd name="connsiteY34" fmla="*/ 853889 h 1366507"/>
              <a:gd name="connsiteX35" fmla="*/ 1288472 w 2479963"/>
              <a:gd name="connsiteY35" fmla="*/ 895453 h 1366507"/>
              <a:gd name="connsiteX36" fmla="*/ 1371600 w 2479963"/>
              <a:gd name="connsiteY36" fmla="*/ 798471 h 1366507"/>
              <a:gd name="connsiteX37" fmla="*/ 1427018 w 2479963"/>
              <a:gd name="connsiteY37" fmla="*/ 770762 h 1366507"/>
              <a:gd name="connsiteX38" fmla="*/ 1524000 w 2479963"/>
              <a:gd name="connsiteY38" fmla="*/ 881598 h 1366507"/>
              <a:gd name="connsiteX39" fmla="*/ 1565563 w 2479963"/>
              <a:gd name="connsiteY39" fmla="*/ 992435 h 1366507"/>
              <a:gd name="connsiteX40" fmla="*/ 1607127 w 2479963"/>
              <a:gd name="connsiteY40" fmla="*/ 964726 h 1366507"/>
              <a:gd name="connsiteX41" fmla="*/ 1634836 w 2479963"/>
              <a:gd name="connsiteY41" fmla="*/ 895453 h 1366507"/>
              <a:gd name="connsiteX42" fmla="*/ 1648690 w 2479963"/>
              <a:gd name="connsiteY42" fmla="*/ 840035 h 1366507"/>
              <a:gd name="connsiteX43" fmla="*/ 1662545 w 2479963"/>
              <a:gd name="connsiteY43" fmla="*/ 798471 h 1366507"/>
              <a:gd name="connsiteX44" fmla="*/ 1745672 w 2479963"/>
              <a:gd name="connsiteY44" fmla="*/ 840035 h 1366507"/>
              <a:gd name="connsiteX45" fmla="*/ 1773381 w 2479963"/>
              <a:gd name="connsiteY45" fmla="*/ 881598 h 1366507"/>
              <a:gd name="connsiteX46" fmla="*/ 1828800 w 2479963"/>
              <a:gd name="connsiteY46" fmla="*/ 826180 h 1366507"/>
              <a:gd name="connsiteX47" fmla="*/ 1870363 w 2479963"/>
              <a:gd name="connsiteY47" fmla="*/ 812326 h 1366507"/>
              <a:gd name="connsiteX48" fmla="*/ 1911927 w 2479963"/>
              <a:gd name="connsiteY48" fmla="*/ 937017 h 1366507"/>
              <a:gd name="connsiteX49" fmla="*/ 1953490 w 2479963"/>
              <a:gd name="connsiteY49" fmla="*/ 1075562 h 1366507"/>
              <a:gd name="connsiteX50" fmla="*/ 2008909 w 2479963"/>
              <a:gd name="connsiteY50" fmla="*/ 1075562 h 1366507"/>
              <a:gd name="connsiteX51" fmla="*/ 2078181 w 2479963"/>
              <a:gd name="connsiteY51" fmla="*/ 1020144 h 1366507"/>
              <a:gd name="connsiteX52" fmla="*/ 2133600 w 2479963"/>
              <a:gd name="connsiteY52" fmla="*/ 1047853 h 1366507"/>
              <a:gd name="connsiteX53" fmla="*/ 2175163 w 2479963"/>
              <a:gd name="connsiteY53" fmla="*/ 1103271 h 1366507"/>
              <a:gd name="connsiteX54" fmla="*/ 2313709 w 2479963"/>
              <a:gd name="connsiteY54" fmla="*/ 756907 h 1366507"/>
              <a:gd name="connsiteX55" fmla="*/ 2355272 w 2479963"/>
              <a:gd name="connsiteY55" fmla="*/ 743053 h 1366507"/>
              <a:gd name="connsiteX56" fmla="*/ 2410690 w 2479963"/>
              <a:gd name="connsiteY56" fmla="*/ 840035 h 1366507"/>
              <a:gd name="connsiteX57" fmla="*/ 2438400 w 2479963"/>
              <a:gd name="connsiteY57" fmla="*/ 798471 h 1366507"/>
              <a:gd name="connsiteX58" fmla="*/ 2479963 w 2479963"/>
              <a:gd name="connsiteY58" fmla="*/ 784617 h 136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479963" h="1366507">
                <a:moveTo>
                  <a:pt x="0" y="1311089"/>
                </a:moveTo>
                <a:cubicBezTo>
                  <a:pt x="4618" y="1278762"/>
                  <a:pt x="4471" y="1245385"/>
                  <a:pt x="13854" y="1214107"/>
                </a:cubicBezTo>
                <a:cubicBezTo>
                  <a:pt x="18639" y="1198158"/>
                  <a:pt x="32327" y="1158690"/>
                  <a:pt x="41563" y="1172544"/>
                </a:cubicBezTo>
                <a:cubicBezTo>
                  <a:pt x="65181" y="1207971"/>
                  <a:pt x="57575" y="1256296"/>
                  <a:pt x="69272" y="1297235"/>
                </a:cubicBezTo>
                <a:cubicBezTo>
                  <a:pt x="76104" y="1321148"/>
                  <a:pt x="87745" y="1343416"/>
                  <a:pt x="96981" y="1366507"/>
                </a:cubicBezTo>
                <a:cubicBezTo>
                  <a:pt x="110836" y="1348034"/>
                  <a:pt x="129969" y="1332528"/>
                  <a:pt x="138545" y="1311089"/>
                </a:cubicBezTo>
                <a:cubicBezTo>
                  <a:pt x="178144" y="1212093"/>
                  <a:pt x="107146" y="1209860"/>
                  <a:pt x="221672" y="1255671"/>
                </a:cubicBezTo>
                <a:cubicBezTo>
                  <a:pt x="258440" y="814471"/>
                  <a:pt x="202069" y="1308673"/>
                  <a:pt x="277090" y="978580"/>
                </a:cubicBezTo>
                <a:cubicBezTo>
                  <a:pt x="291564" y="914893"/>
                  <a:pt x="294614" y="849129"/>
                  <a:pt x="304800" y="784617"/>
                </a:cubicBezTo>
                <a:cubicBezTo>
                  <a:pt x="308473" y="761357"/>
                  <a:pt x="314036" y="738435"/>
                  <a:pt x="318654" y="715344"/>
                </a:cubicBezTo>
                <a:cubicBezTo>
                  <a:pt x="344417" y="818392"/>
                  <a:pt x="326497" y="786837"/>
                  <a:pt x="374072" y="632217"/>
                </a:cubicBezTo>
                <a:cubicBezTo>
                  <a:pt x="390380" y="579217"/>
                  <a:pt x="387164" y="592180"/>
                  <a:pt x="415636" y="535235"/>
                </a:cubicBezTo>
                <a:cubicBezTo>
                  <a:pt x="460873" y="248738"/>
                  <a:pt x="439779" y="184890"/>
                  <a:pt x="471054" y="341271"/>
                </a:cubicBezTo>
                <a:cubicBezTo>
                  <a:pt x="494145" y="299707"/>
                  <a:pt x="521597" y="260283"/>
                  <a:pt x="540327" y="216580"/>
                </a:cubicBezTo>
                <a:cubicBezTo>
                  <a:pt x="549603" y="194936"/>
                  <a:pt x="537530" y="163958"/>
                  <a:pt x="554181" y="147307"/>
                </a:cubicBezTo>
                <a:lnTo>
                  <a:pt x="581890" y="175017"/>
                </a:lnTo>
                <a:cubicBezTo>
                  <a:pt x="609599" y="119599"/>
                  <a:pt x="603681" y="0"/>
                  <a:pt x="665018" y="8762"/>
                </a:cubicBezTo>
                <a:cubicBezTo>
                  <a:pt x="724627" y="17277"/>
                  <a:pt x="673656" y="128884"/>
                  <a:pt x="678872" y="188871"/>
                </a:cubicBezTo>
                <a:cubicBezTo>
                  <a:pt x="682893" y="235109"/>
                  <a:pt x="684043" y="281824"/>
                  <a:pt x="692727" y="327417"/>
                </a:cubicBezTo>
                <a:cubicBezTo>
                  <a:pt x="706183" y="398064"/>
                  <a:pt x="726499" y="456446"/>
                  <a:pt x="748145" y="521380"/>
                </a:cubicBezTo>
                <a:cubicBezTo>
                  <a:pt x="752763" y="507526"/>
                  <a:pt x="758458" y="465649"/>
                  <a:pt x="762000" y="479817"/>
                </a:cubicBezTo>
                <a:cubicBezTo>
                  <a:pt x="774372" y="529303"/>
                  <a:pt x="769112" y="581655"/>
                  <a:pt x="775854" y="632217"/>
                </a:cubicBezTo>
                <a:cubicBezTo>
                  <a:pt x="778371" y="651091"/>
                  <a:pt x="784699" y="669265"/>
                  <a:pt x="789709" y="687635"/>
                </a:cubicBezTo>
                <a:cubicBezTo>
                  <a:pt x="798555" y="720071"/>
                  <a:pt x="800120" y="755787"/>
                  <a:pt x="817418" y="784617"/>
                </a:cubicBezTo>
                <a:cubicBezTo>
                  <a:pt x="829298" y="804417"/>
                  <a:pt x="854363" y="812326"/>
                  <a:pt x="872836" y="826180"/>
                </a:cubicBezTo>
                <a:cubicBezTo>
                  <a:pt x="886691" y="798471"/>
                  <a:pt x="885636" y="754558"/>
                  <a:pt x="914400" y="743053"/>
                </a:cubicBezTo>
                <a:cubicBezTo>
                  <a:pt x="933576" y="735383"/>
                  <a:pt x="936174" y="778689"/>
                  <a:pt x="942109" y="798471"/>
                </a:cubicBezTo>
                <a:cubicBezTo>
                  <a:pt x="950181" y="825378"/>
                  <a:pt x="950938" y="853960"/>
                  <a:pt x="955963" y="881598"/>
                </a:cubicBezTo>
                <a:cubicBezTo>
                  <a:pt x="960175" y="904766"/>
                  <a:pt x="965200" y="927780"/>
                  <a:pt x="969818" y="950871"/>
                </a:cubicBezTo>
                <a:cubicBezTo>
                  <a:pt x="992909" y="937016"/>
                  <a:pt x="1024528" y="931958"/>
                  <a:pt x="1039090" y="909307"/>
                </a:cubicBezTo>
                <a:cubicBezTo>
                  <a:pt x="1123220" y="778438"/>
                  <a:pt x="1073578" y="690578"/>
                  <a:pt x="1108363" y="812326"/>
                </a:cubicBezTo>
                <a:cubicBezTo>
                  <a:pt x="1112375" y="826368"/>
                  <a:pt x="1117600" y="840035"/>
                  <a:pt x="1122218" y="853889"/>
                </a:cubicBezTo>
                <a:cubicBezTo>
                  <a:pt x="1145309" y="844653"/>
                  <a:pt x="1170401" y="839361"/>
                  <a:pt x="1191490" y="826180"/>
                </a:cubicBezTo>
                <a:cubicBezTo>
                  <a:pt x="1208105" y="815796"/>
                  <a:pt x="1214862" y="777340"/>
                  <a:pt x="1233054" y="784617"/>
                </a:cubicBezTo>
                <a:cubicBezTo>
                  <a:pt x="1256145" y="793853"/>
                  <a:pt x="1249641" y="831645"/>
                  <a:pt x="1260763" y="853889"/>
                </a:cubicBezTo>
                <a:cubicBezTo>
                  <a:pt x="1268210" y="868782"/>
                  <a:pt x="1279236" y="881598"/>
                  <a:pt x="1288472" y="895453"/>
                </a:cubicBezTo>
                <a:cubicBezTo>
                  <a:pt x="1316181" y="863126"/>
                  <a:pt x="1339952" y="826954"/>
                  <a:pt x="1371600" y="798471"/>
                </a:cubicBezTo>
                <a:cubicBezTo>
                  <a:pt x="1386951" y="784655"/>
                  <a:pt x="1408887" y="760872"/>
                  <a:pt x="1427018" y="770762"/>
                </a:cubicBezTo>
                <a:cubicBezTo>
                  <a:pt x="1470116" y="794270"/>
                  <a:pt x="1491673" y="844653"/>
                  <a:pt x="1524000" y="881598"/>
                </a:cubicBezTo>
                <a:cubicBezTo>
                  <a:pt x="1537854" y="918544"/>
                  <a:pt x="1537662" y="964534"/>
                  <a:pt x="1565563" y="992435"/>
                </a:cubicBezTo>
                <a:cubicBezTo>
                  <a:pt x="1577337" y="1004209"/>
                  <a:pt x="1597449" y="978276"/>
                  <a:pt x="1607127" y="964726"/>
                </a:cubicBezTo>
                <a:cubicBezTo>
                  <a:pt x="1621582" y="944489"/>
                  <a:pt x="1626972" y="919047"/>
                  <a:pt x="1634836" y="895453"/>
                </a:cubicBezTo>
                <a:cubicBezTo>
                  <a:pt x="1640857" y="877389"/>
                  <a:pt x="1643459" y="858344"/>
                  <a:pt x="1648690" y="840035"/>
                </a:cubicBezTo>
                <a:cubicBezTo>
                  <a:pt x="1652702" y="825993"/>
                  <a:pt x="1657927" y="812326"/>
                  <a:pt x="1662545" y="798471"/>
                </a:cubicBezTo>
                <a:cubicBezTo>
                  <a:pt x="1690254" y="812326"/>
                  <a:pt x="1720888" y="821447"/>
                  <a:pt x="1745672" y="840035"/>
                </a:cubicBezTo>
                <a:cubicBezTo>
                  <a:pt x="1758993" y="850026"/>
                  <a:pt x="1756957" y="884335"/>
                  <a:pt x="1773381" y="881598"/>
                </a:cubicBezTo>
                <a:cubicBezTo>
                  <a:pt x="1799150" y="877303"/>
                  <a:pt x="1807542" y="841364"/>
                  <a:pt x="1828800" y="826180"/>
                </a:cubicBezTo>
                <a:cubicBezTo>
                  <a:pt x="1840684" y="817692"/>
                  <a:pt x="1856509" y="816944"/>
                  <a:pt x="1870363" y="812326"/>
                </a:cubicBezTo>
                <a:cubicBezTo>
                  <a:pt x="1893579" y="905188"/>
                  <a:pt x="1872798" y="832671"/>
                  <a:pt x="1911927" y="937017"/>
                </a:cubicBezTo>
                <a:cubicBezTo>
                  <a:pt x="1926617" y="976191"/>
                  <a:pt x="1944321" y="1043469"/>
                  <a:pt x="1953490" y="1075562"/>
                </a:cubicBezTo>
                <a:cubicBezTo>
                  <a:pt x="2035162" y="953057"/>
                  <a:pt x="1927239" y="1087229"/>
                  <a:pt x="2008909" y="1075562"/>
                </a:cubicBezTo>
                <a:cubicBezTo>
                  <a:pt x="2038182" y="1071380"/>
                  <a:pt x="2055090" y="1038617"/>
                  <a:pt x="2078181" y="1020144"/>
                </a:cubicBezTo>
                <a:cubicBezTo>
                  <a:pt x="2096654" y="1029380"/>
                  <a:pt x="2117919" y="1034412"/>
                  <a:pt x="2133600" y="1047853"/>
                </a:cubicBezTo>
                <a:cubicBezTo>
                  <a:pt x="2151132" y="1062880"/>
                  <a:pt x="2162766" y="1122752"/>
                  <a:pt x="2175163" y="1103271"/>
                </a:cubicBezTo>
                <a:cubicBezTo>
                  <a:pt x="2473426" y="634568"/>
                  <a:pt x="2021691" y="1113818"/>
                  <a:pt x="2313709" y="756907"/>
                </a:cubicBezTo>
                <a:cubicBezTo>
                  <a:pt x="2322957" y="745604"/>
                  <a:pt x="2341418" y="747671"/>
                  <a:pt x="2355272" y="743053"/>
                </a:cubicBezTo>
                <a:cubicBezTo>
                  <a:pt x="2360509" y="764001"/>
                  <a:pt x="2369421" y="840035"/>
                  <a:pt x="2410690" y="840035"/>
                </a:cubicBezTo>
                <a:cubicBezTo>
                  <a:pt x="2427341" y="840035"/>
                  <a:pt x="2425397" y="808873"/>
                  <a:pt x="2438400" y="798471"/>
                </a:cubicBezTo>
                <a:cubicBezTo>
                  <a:pt x="2449804" y="789348"/>
                  <a:pt x="2479963" y="784617"/>
                  <a:pt x="2479963" y="784617"/>
                </a:cubicBezTo>
              </a:path>
            </a:pathLst>
          </a:custGeom>
        </p:spPr>
        <p:style>
          <a:lnRef idx="3">
            <a:schemeClr val="dk1"/>
          </a:lnRef>
          <a:fillRef idx="0">
            <a:schemeClr val="dk1"/>
          </a:fillRef>
          <a:effectRef idx="2">
            <a:schemeClr val="dk1"/>
          </a:effectRef>
          <a:fontRef idx="minor">
            <a:schemeClr val="tx1"/>
          </a:fontRef>
        </p:style>
        <p:txBody>
          <a:bodyPr anchor="ctr"/>
          <a:lstStyle/>
          <a:p>
            <a:pPr algn="ctr">
              <a:defRPr/>
            </a:pPr>
            <a:endParaRPr lang="en-GB" dirty="0"/>
          </a:p>
        </p:txBody>
      </p:sp>
      <p:sp>
        <p:nvSpPr>
          <p:cNvPr id="16392" name="TextBox 17"/>
          <p:cNvSpPr txBox="1">
            <a:spLocks noChangeArrowheads="1"/>
          </p:cNvSpPr>
          <p:nvPr/>
        </p:nvSpPr>
        <p:spPr bwMode="auto">
          <a:xfrm>
            <a:off x="914400" y="5348288"/>
            <a:ext cx="469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t>Y</a:t>
            </a:r>
            <a:r>
              <a:rPr lang="en-GB" altLang="en-US" sz="2400" baseline="30000"/>
              <a:t>*</a:t>
            </a:r>
            <a:endParaRPr lang="en-GB" altLang="en-US" sz="2400"/>
          </a:p>
        </p:txBody>
      </p:sp>
      <p:cxnSp>
        <p:nvCxnSpPr>
          <p:cNvPr id="19" name="Straight Arrow Connector 18"/>
          <p:cNvCxnSpPr/>
          <p:nvPr/>
        </p:nvCxnSpPr>
        <p:spPr>
          <a:xfrm rot="16200000" flipV="1">
            <a:off x="4545013" y="5597525"/>
            <a:ext cx="1855788" cy="2698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0" name="Straight Arrow Connector 19"/>
          <p:cNvCxnSpPr/>
          <p:nvPr/>
        </p:nvCxnSpPr>
        <p:spPr>
          <a:xfrm>
            <a:off x="5154613" y="6122988"/>
            <a:ext cx="3186112" cy="1428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1" name="Straight Connector 20"/>
          <p:cNvCxnSpPr/>
          <p:nvPr/>
        </p:nvCxnSpPr>
        <p:spPr>
          <a:xfrm flipV="1">
            <a:off x="5472113" y="5791200"/>
            <a:ext cx="2660650" cy="41275"/>
          </a:xfrm>
          <a:prstGeom prst="line">
            <a:avLst/>
          </a:prstGeom>
          <a:ln>
            <a:prstDash val="dash"/>
          </a:ln>
        </p:spPr>
        <p:style>
          <a:lnRef idx="3">
            <a:schemeClr val="accent1"/>
          </a:lnRef>
          <a:fillRef idx="0">
            <a:schemeClr val="accent1"/>
          </a:fillRef>
          <a:effectRef idx="2">
            <a:schemeClr val="accent1"/>
          </a:effectRef>
          <a:fontRef idx="minor">
            <a:schemeClr val="tx1"/>
          </a:fontRef>
        </p:style>
      </p:cxnSp>
      <p:sp>
        <p:nvSpPr>
          <p:cNvPr id="22" name="Freeform 21"/>
          <p:cNvSpPr/>
          <p:nvPr/>
        </p:nvSpPr>
        <p:spPr>
          <a:xfrm>
            <a:off x="5459413" y="4992688"/>
            <a:ext cx="2506662" cy="1308100"/>
          </a:xfrm>
          <a:custGeom>
            <a:avLst/>
            <a:gdLst>
              <a:gd name="connsiteX0" fmla="*/ 0 w 2479963"/>
              <a:gd name="connsiteY0" fmla="*/ 1311089 h 1366507"/>
              <a:gd name="connsiteX1" fmla="*/ 13854 w 2479963"/>
              <a:gd name="connsiteY1" fmla="*/ 1214107 h 1366507"/>
              <a:gd name="connsiteX2" fmla="*/ 41563 w 2479963"/>
              <a:gd name="connsiteY2" fmla="*/ 1172544 h 1366507"/>
              <a:gd name="connsiteX3" fmla="*/ 69272 w 2479963"/>
              <a:gd name="connsiteY3" fmla="*/ 1297235 h 1366507"/>
              <a:gd name="connsiteX4" fmla="*/ 96981 w 2479963"/>
              <a:gd name="connsiteY4" fmla="*/ 1366507 h 1366507"/>
              <a:gd name="connsiteX5" fmla="*/ 138545 w 2479963"/>
              <a:gd name="connsiteY5" fmla="*/ 1311089 h 1366507"/>
              <a:gd name="connsiteX6" fmla="*/ 221672 w 2479963"/>
              <a:gd name="connsiteY6" fmla="*/ 1255671 h 1366507"/>
              <a:gd name="connsiteX7" fmla="*/ 277090 w 2479963"/>
              <a:gd name="connsiteY7" fmla="*/ 978580 h 1366507"/>
              <a:gd name="connsiteX8" fmla="*/ 304800 w 2479963"/>
              <a:gd name="connsiteY8" fmla="*/ 784617 h 1366507"/>
              <a:gd name="connsiteX9" fmla="*/ 318654 w 2479963"/>
              <a:gd name="connsiteY9" fmla="*/ 715344 h 1366507"/>
              <a:gd name="connsiteX10" fmla="*/ 374072 w 2479963"/>
              <a:gd name="connsiteY10" fmla="*/ 632217 h 1366507"/>
              <a:gd name="connsiteX11" fmla="*/ 415636 w 2479963"/>
              <a:gd name="connsiteY11" fmla="*/ 535235 h 1366507"/>
              <a:gd name="connsiteX12" fmla="*/ 471054 w 2479963"/>
              <a:gd name="connsiteY12" fmla="*/ 341271 h 1366507"/>
              <a:gd name="connsiteX13" fmla="*/ 540327 w 2479963"/>
              <a:gd name="connsiteY13" fmla="*/ 216580 h 1366507"/>
              <a:gd name="connsiteX14" fmla="*/ 554181 w 2479963"/>
              <a:gd name="connsiteY14" fmla="*/ 147307 h 1366507"/>
              <a:gd name="connsiteX15" fmla="*/ 581890 w 2479963"/>
              <a:gd name="connsiteY15" fmla="*/ 175017 h 1366507"/>
              <a:gd name="connsiteX16" fmla="*/ 665018 w 2479963"/>
              <a:gd name="connsiteY16" fmla="*/ 8762 h 1366507"/>
              <a:gd name="connsiteX17" fmla="*/ 678872 w 2479963"/>
              <a:gd name="connsiteY17" fmla="*/ 188871 h 1366507"/>
              <a:gd name="connsiteX18" fmla="*/ 692727 w 2479963"/>
              <a:gd name="connsiteY18" fmla="*/ 327417 h 1366507"/>
              <a:gd name="connsiteX19" fmla="*/ 748145 w 2479963"/>
              <a:gd name="connsiteY19" fmla="*/ 521380 h 1366507"/>
              <a:gd name="connsiteX20" fmla="*/ 762000 w 2479963"/>
              <a:gd name="connsiteY20" fmla="*/ 479817 h 1366507"/>
              <a:gd name="connsiteX21" fmla="*/ 775854 w 2479963"/>
              <a:gd name="connsiteY21" fmla="*/ 632217 h 1366507"/>
              <a:gd name="connsiteX22" fmla="*/ 789709 w 2479963"/>
              <a:gd name="connsiteY22" fmla="*/ 687635 h 1366507"/>
              <a:gd name="connsiteX23" fmla="*/ 817418 w 2479963"/>
              <a:gd name="connsiteY23" fmla="*/ 784617 h 1366507"/>
              <a:gd name="connsiteX24" fmla="*/ 872836 w 2479963"/>
              <a:gd name="connsiteY24" fmla="*/ 826180 h 1366507"/>
              <a:gd name="connsiteX25" fmla="*/ 914400 w 2479963"/>
              <a:gd name="connsiteY25" fmla="*/ 743053 h 1366507"/>
              <a:gd name="connsiteX26" fmla="*/ 942109 w 2479963"/>
              <a:gd name="connsiteY26" fmla="*/ 798471 h 1366507"/>
              <a:gd name="connsiteX27" fmla="*/ 955963 w 2479963"/>
              <a:gd name="connsiteY27" fmla="*/ 881598 h 1366507"/>
              <a:gd name="connsiteX28" fmla="*/ 969818 w 2479963"/>
              <a:gd name="connsiteY28" fmla="*/ 950871 h 1366507"/>
              <a:gd name="connsiteX29" fmla="*/ 1039090 w 2479963"/>
              <a:gd name="connsiteY29" fmla="*/ 909307 h 1366507"/>
              <a:gd name="connsiteX30" fmla="*/ 1108363 w 2479963"/>
              <a:gd name="connsiteY30" fmla="*/ 812326 h 1366507"/>
              <a:gd name="connsiteX31" fmla="*/ 1122218 w 2479963"/>
              <a:gd name="connsiteY31" fmla="*/ 853889 h 1366507"/>
              <a:gd name="connsiteX32" fmla="*/ 1191490 w 2479963"/>
              <a:gd name="connsiteY32" fmla="*/ 826180 h 1366507"/>
              <a:gd name="connsiteX33" fmla="*/ 1233054 w 2479963"/>
              <a:gd name="connsiteY33" fmla="*/ 784617 h 1366507"/>
              <a:gd name="connsiteX34" fmla="*/ 1260763 w 2479963"/>
              <a:gd name="connsiteY34" fmla="*/ 853889 h 1366507"/>
              <a:gd name="connsiteX35" fmla="*/ 1288472 w 2479963"/>
              <a:gd name="connsiteY35" fmla="*/ 895453 h 1366507"/>
              <a:gd name="connsiteX36" fmla="*/ 1371600 w 2479963"/>
              <a:gd name="connsiteY36" fmla="*/ 798471 h 1366507"/>
              <a:gd name="connsiteX37" fmla="*/ 1427018 w 2479963"/>
              <a:gd name="connsiteY37" fmla="*/ 770762 h 1366507"/>
              <a:gd name="connsiteX38" fmla="*/ 1524000 w 2479963"/>
              <a:gd name="connsiteY38" fmla="*/ 881598 h 1366507"/>
              <a:gd name="connsiteX39" fmla="*/ 1565563 w 2479963"/>
              <a:gd name="connsiteY39" fmla="*/ 992435 h 1366507"/>
              <a:gd name="connsiteX40" fmla="*/ 1607127 w 2479963"/>
              <a:gd name="connsiteY40" fmla="*/ 964726 h 1366507"/>
              <a:gd name="connsiteX41" fmla="*/ 1634836 w 2479963"/>
              <a:gd name="connsiteY41" fmla="*/ 895453 h 1366507"/>
              <a:gd name="connsiteX42" fmla="*/ 1648690 w 2479963"/>
              <a:gd name="connsiteY42" fmla="*/ 840035 h 1366507"/>
              <a:gd name="connsiteX43" fmla="*/ 1662545 w 2479963"/>
              <a:gd name="connsiteY43" fmla="*/ 798471 h 1366507"/>
              <a:gd name="connsiteX44" fmla="*/ 1745672 w 2479963"/>
              <a:gd name="connsiteY44" fmla="*/ 840035 h 1366507"/>
              <a:gd name="connsiteX45" fmla="*/ 1773381 w 2479963"/>
              <a:gd name="connsiteY45" fmla="*/ 881598 h 1366507"/>
              <a:gd name="connsiteX46" fmla="*/ 1828800 w 2479963"/>
              <a:gd name="connsiteY46" fmla="*/ 826180 h 1366507"/>
              <a:gd name="connsiteX47" fmla="*/ 1870363 w 2479963"/>
              <a:gd name="connsiteY47" fmla="*/ 812326 h 1366507"/>
              <a:gd name="connsiteX48" fmla="*/ 1911927 w 2479963"/>
              <a:gd name="connsiteY48" fmla="*/ 937017 h 1366507"/>
              <a:gd name="connsiteX49" fmla="*/ 1953490 w 2479963"/>
              <a:gd name="connsiteY49" fmla="*/ 1075562 h 1366507"/>
              <a:gd name="connsiteX50" fmla="*/ 2008909 w 2479963"/>
              <a:gd name="connsiteY50" fmla="*/ 1075562 h 1366507"/>
              <a:gd name="connsiteX51" fmla="*/ 2078181 w 2479963"/>
              <a:gd name="connsiteY51" fmla="*/ 1020144 h 1366507"/>
              <a:gd name="connsiteX52" fmla="*/ 2133600 w 2479963"/>
              <a:gd name="connsiteY52" fmla="*/ 1047853 h 1366507"/>
              <a:gd name="connsiteX53" fmla="*/ 2175163 w 2479963"/>
              <a:gd name="connsiteY53" fmla="*/ 1103271 h 1366507"/>
              <a:gd name="connsiteX54" fmla="*/ 2313709 w 2479963"/>
              <a:gd name="connsiteY54" fmla="*/ 756907 h 1366507"/>
              <a:gd name="connsiteX55" fmla="*/ 2355272 w 2479963"/>
              <a:gd name="connsiteY55" fmla="*/ 743053 h 1366507"/>
              <a:gd name="connsiteX56" fmla="*/ 2410690 w 2479963"/>
              <a:gd name="connsiteY56" fmla="*/ 840035 h 1366507"/>
              <a:gd name="connsiteX57" fmla="*/ 2438400 w 2479963"/>
              <a:gd name="connsiteY57" fmla="*/ 798471 h 1366507"/>
              <a:gd name="connsiteX58" fmla="*/ 2479963 w 2479963"/>
              <a:gd name="connsiteY58" fmla="*/ 784617 h 1366507"/>
              <a:gd name="connsiteX0" fmla="*/ 0 w 2479963"/>
              <a:gd name="connsiteY0" fmla="*/ 1311089 h 1366507"/>
              <a:gd name="connsiteX1" fmla="*/ 13854 w 2479963"/>
              <a:gd name="connsiteY1" fmla="*/ 1214107 h 1366507"/>
              <a:gd name="connsiteX2" fmla="*/ 41563 w 2479963"/>
              <a:gd name="connsiteY2" fmla="*/ 1172544 h 1366507"/>
              <a:gd name="connsiteX3" fmla="*/ 69272 w 2479963"/>
              <a:gd name="connsiteY3" fmla="*/ 1297235 h 1366507"/>
              <a:gd name="connsiteX4" fmla="*/ 96981 w 2479963"/>
              <a:gd name="connsiteY4" fmla="*/ 1366507 h 1366507"/>
              <a:gd name="connsiteX5" fmla="*/ 138545 w 2479963"/>
              <a:gd name="connsiteY5" fmla="*/ 1311089 h 1366507"/>
              <a:gd name="connsiteX6" fmla="*/ 166254 w 2479963"/>
              <a:gd name="connsiteY6" fmla="*/ 1006290 h 1366507"/>
              <a:gd name="connsiteX7" fmla="*/ 277090 w 2479963"/>
              <a:gd name="connsiteY7" fmla="*/ 978580 h 1366507"/>
              <a:gd name="connsiteX8" fmla="*/ 304800 w 2479963"/>
              <a:gd name="connsiteY8" fmla="*/ 784617 h 1366507"/>
              <a:gd name="connsiteX9" fmla="*/ 318654 w 2479963"/>
              <a:gd name="connsiteY9" fmla="*/ 715344 h 1366507"/>
              <a:gd name="connsiteX10" fmla="*/ 374072 w 2479963"/>
              <a:gd name="connsiteY10" fmla="*/ 632217 h 1366507"/>
              <a:gd name="connsiteX11" fmla="*/ 415636 w 2479963"/>
              <a:gd name="connsiteY11" fmla="*/ 535235 h 1366507"/>
              <a:gd name="connsiteX12" fmla="*/ 471054 w 2479963"/>
              <a:gd name="connsiteY12" fmla="*/ 341271 h 1366507"/>
              <a:gd name="connsiteX13" fmla="*/ 540327 w 2479963"/>
              <a:gd name="connsiteY13" fmla="*/ 216580 h 1366507"/>
              <a:gd name="connsiteX14" fmla="*/ 554181 w 2479963"/>
              <a:gd name="connsiteY14" fmla="*/ 147307 h 1366507"/>
              <a:gd name="connsiteX15" fmla="*/ 581890 w 2479963"/>
              <a:gd name="connsiteY15" fmla="*/ 175017 h 1366507"/>
              <a:gd name="connsiteX16" fmla="*/ 665018 w 2479963"/>
              <a:gd name="connsiteY16" fmla="*/ 8762 h 1366507"/>
              <a:gd name="connsiteX17" fmla="*/ 678872 w 2479963"/>
              <a:gd name="connsiteY17" fmla="*/ 188871 h 1366507"/>
              <a:gd name="connsiteX18" fmla="*/ 692727 w 2479963"/>
              <a:gd name="connsiteY18" fmla="*/ 327417 h 1366507"/>
              <a:gd name="connsiteX19" fmla="*/ 748145 w 2479963"/>
              <a:gd name="connsiteY19" fmla="*/ 521380 h 1366507"/>
              <a:gd name="connsiteX20" fmla="*/ 762000 w 2479963"/>
              <a:gd name="connsiteY20" fmla="*/ 479817 h 1366507"/>
              <a:gd name="connsiteX21" fmla="*/ 775854 w 2479963"/>
              <a:gd name="connsiteY21" fmla="*/ 632217 h 1366507"/>
              <a:gd name="connsiteX22" fmla="*/ 789709 w 2479963"/>
              <a:gd name="connsiteY22" fmla="*/ 687635 h 1366507"/>
              <a:gd name="connsiteX23" fmla="*/ 817418 w 2479963"/>
              <a:gd name="connsiteY23" fmla="*/ 784617 h 1366507"/>
              <a:gd name="connsiteX24" fmla="*/ 872836 w 2479963"/>
              <a:gd name="connsiteY24" fmla="*/ 826180 h 1366507"/>
              <a:gd name="connsiteX25" fmla="*/ 914400 w 2479963"/>
              <a:gd name="connsiteY25" fmla="*/ 743053 h 1366507"/>
              <a:gd name="connsiteX26" fmla="*/ 942109 w 2479963"/>
              <a:gd name="connsiteY26" fmla="*/ 798471 h 1366507"/>
              <a:gd name="connsiteX27" fmla="*/ 955963 w 2479963"/>
              <a:gd name="connsiteY27" fmla="*/ 881598 h 1366507"/>
              <a:gd name="connsiteX28" fmla="*/ 969818 w 2479963"/>
              <a:gd name="connsiteY28" fmla="*/ 950871 h 1366507"/>
              <a:gd name="connsiteX29" fmla="*/ 1039090 w 2479963"/>
              <a:gd name="connsiteY29" fmla="*/ 909307 h 1366507"/>
              <a:gd name="connsiteX30" fmla="*/ 1108363 w 2479963"/>
              <a:gd name="connsiteY30" fmla="*/ 812326 h 1366507"/>
              <a:gd name="connsiteX31" fmla="*/ 1122218 w 2479963"/>
              <a:gd name="connsiteY31" fmla="*/ 853889 h 1366507"/>
              <a:gd name="connsiteX32" fmla="*/ 1191490 w 2479963"/>
              <a:gd name="connsiteY32" fmla="*/ 826180 h 1366507"/>
              <a:gd name="connsiteX33" fmla="*/ 1233054 w 2479963"/>
              <a:gd name="connsiteY33" fmla="*/ 784617 h 1366507"/>
              <a:gd name="connsiteX34" fmla="*/ 1260763 w 2479963"/>
              <a:gd name="connsiteY34" fmla="*/ 853889 h 1366507"/>
              <a:gd name="connsiteX35" fmla="*/ 1288472 w 2479963"/>
              <a:gd name="connsiteY35" fmla="*/ 895453 h 1366507"/>
              <a:gd name="connsiteX36" fmla="*/ 1371600 w 2479963"/>
              <a:gd name="connsiteY36" fmla="*/ 798471 h 1366507"/>
              <a:gd name="connsiteX37" fmla="*/ 1427018 w 2479963"/>
              <a:gd name="connsiteY37" fmla="*/ 770762 h 1366507"/>
              <a:gd name="connsiteX38" fmla="*/ 1524000 w 2479963"/>
              <a:gd name="connsiteY38" fmla="*/ 881598 h 1366507"/>
              <a:gd name="connsiteX39" fmla="*/ 1565563 w 2479963"/>
              <a:gd name="connsiteY39" fmla="*/ 992435 h 1366507"/>
              <a:gd name="connsiteX40" fmla="*/ 1607127 w 2479963"/>
              <a:gd name="connsiteY40" fmla="*/ 964726 h 1366507"/>
              <a:gd name="connsiteX41" fmla="*/ 1634836 w 2479963"/>
              <a:gd name="connsiteY41" fmla="*/ 895453 h 1366507"/>
              <a:gd name="connsiteX42" fmla="*/ 1648690 w 2479963"/>
              <a:gd name="connsiteY42" fmla="*/ 840035 h 1366507"/>
              <a:gd name="connsiteX43" fmla="*/ 1662545 w 2479963"/>
              <a:gd name="connsiteY43" fmla="*/ 798471 h 1366507"/>
              <a:gd name="connsiteX44" fmla="*/ 1745672 w 2479963"/>
              <a:gd name="connsiteY44" fmla="*/ 840035 h 1366507"/>
              <a:gd name="connsiteX45" fmla="*/ 1773381 w 2479963"/>
              <a:gd name="connsiteY45" fmla="*/ 881598 h 1366507"/>
              <a:gd name="connsiteX46" fmla="*/ 1828800 w 2479963"/>
              <a:gd name="connsiteY46" fmla="*/ 826180 h 1366507"/>
              <a:gd name="connsiteX47" fmla="*/ 1870363 w 2479963"/>
              <a:gd name="connsiteY47" fmla="*/ 812326 h 1366507"/>
              <a:gd name="connsiteX48" fmla="*/ 1911927 w 2479963"/>
              <a:gd name="connsiteY48" fmla="*/ 937017 h 1366507"/>
              <a:gd name="connsiteX49" fmla="*/ 1953490 w 2479963"/>
              <a:gd name="connsiteY49" fmla="*/ 1075562 h 1366507"/>
              <a:gd name="connsiteX50" fmla="*/ 2008909 w 2479963"/>
              <a:gd name="connsiteY50" fmla="*/ 1075562 h 1366507"/>
              <a:gd name="connsiteX51" fmla="*/ 2078181 w 2479963"/>
              <a:gd name="connsiteY51" fmla="*/ 1020144 h 1366507"/>
              <a:gd name="connsiteX52" fmla="*/ 2133600 w 2479963"/>
              <a:gd name="connsiteY52" fmla="*/ 1047853 h 1366507"/>
              <a:gd name="connsiteX53" fmla="*/ 2175163 w 2479963"/>
              <a:gd name="connsiteY53" fmla="*/ 1103271 h 1366507"/>
              <a:gd name="connsiteX54" fmla="*/ 2313709 w 2479963"/>
              <a:gd name="connsiteY54" fmla="*/ 756907 h 1366507"/>
              <a:gd name="connsiteX55" fmla="*/ 2355272 w 2479963"/>
              <a:gd name="connsiteY55" fmla="*/ 743053 h 1366507"/>
              <a:gd name="connsiteX56" fmla="*/ 2410690 w 2479963"/>
              <a:gd name="connsiteY56" fmla="*/ 840035 h 1366507"/>
              <a:gd name="connsiteX57" fmla="*/ 2438400 w 2479963"/>
              <a:gd name="connsiteY57" fmla="*/ 798471 h 1366507"/>
              <a:gd name="connsiteX58" fmla="*/ 2479963 w 2479963"/>
              <a:gd name="connsiteY58" fmla="*/ 784617 h 1366507"/>
              <a:gd name="connsiteX0" fmla="*/ 0 w 2479963"/>
              <a:gd name="connsiteY0" fmla="*/ 1311089 h 1366507"/>
              <a:gd name="connsiteX1" fmla="*/ 13854 w 2479963"/>
              <a:gd name="connsiteY1" fmla="*/ 1214107 h 1366507"/>
              <a:gd name="connsiteX2" fmla="*/ 41563 w 2479963"/>
              <a:gd name="connsiteY2" fmla="*/ 1172544 h 1366507"/>
              <a:gd name="connsiteX3" fmla="*/ 69272 w 2479963"/>
              <a:gd name="connsiteY3" fmla="*/ 1297235 h 1366507"/>
              <a:gd name="connsiteX4" fmla="*/ 96981 w 2479963"/>
              <a:gd name="connsiteY4" fmla="*/ 1366507 h 1366507"/>
              <a:gd name="connsiteX5" fmla="*/ 124690 w 2479963"/>
              <a:gd name="connsiteY5" fmla="*/ 964726 h 1366507"/>
              <a:gd name="connsiteX6" fmla="*/ 166254 w 2479963"/>
              <a:gd name="connsiteY6" fmla="*/ 1006290 h 1366507"/>
              <a:gd name="connsiteX7" fmla="*/ 277090 w 2479963"/>
              <a:gd name="connsiteY7" fmla="*/ 978580 h 1366507"/>
              <a:gd name="connsiteX8" fmla="*/ 304800 w 2479963"/>
              <a:gd name="connsiteY8" fmla="*/ 784617 h 1366507"/>
              <a:gd name="connsiteX9" fmla="*/ 318654 w 2479963"/>
              <a:gd name="connsiteY9" fmla="*/ 715344 h 1366507"/>
              <a:gd name="connsiteX10" fmla="*/ 374072 w 2479963"/>
              <a:gd name="connsiteY10" fmla="*/ 632217 h 1366507"/>
              <a:gd name="connsiteX11" fmla="*/ 415636 w 2479963"/>
              <a:gd name="connsiteY11" fmla="*/ 535235 h 1366507"/>
              <a:gd name="connsiteX12" fmla="*/ 471054 w 2479963"/>
              <a:gd name="connsiteY12" fmla="*/ 341271 h 1366507"/>
              <a:gd name="connsiteX13" fmla="*/ 540327 w 2479963"/>
              <a:gd name="connsiteY13" fmla="*/ 216580 h 1366507"/>
              <a:gd name="connsiteX14" fmla="*/ 554181 w 2479963"/>
              <a:gd name="connsiteY14" fmla="*/ 147307 h 1366507"/>
              <a:gd name="connsiteX15" fmla="*/ 581890 w 2479963"/>
              <a:gd name="connsiteY15" fmla="*/ 175017 h 1366507"/>
              <a:gd name="connsiteX16" fmla="*/ 665018 w 2479963"/>
              <a:gd name="connsiteY16" fmla="*/ 8762 h 1366507"/>
              <a:gd name="connsiteX17" fmla="*/ 678872 w 2479963"/>
              <a:gd name="connsiteY17" fmla="*/ 188871 h 1366507"/>
              <a:gd name="connsiteX18" fmla="*/ 692727 w 2479963"/>
              <a:gd name="connsiteY18" fmla="*/ 327417 h 1366507"/>
              <a:gd name="connsiteX19" fmla="*/ 748145 w 2479963"/>
              <a:gd name="connsiteY19" fmla="*/ 521380 h 1366507"/>
              <a:gd name="connsiteX20" fmla="*/ 762000 w 2479963"/>
              <a:gd name="connsiteY20" fmla="*/ 479817 h 1366507"/>
              <a:gd name="connsiteX21" fmla="*/ 775854 w 2479963"/>
              <a:gd name="connsiteY21" fmla="*/ 632217 h 1366507"/>
              <a:gd name="connsiteX22" fmla="*/ 789709 w 2479963"/>
              <a:gd name="connsiteY22" fmla="*/ 687635 h 1366507"/>
              <a:gd name="connsiteX23" fmla="*/ 817418 w 2479963"/>
              <a:gd name="connsiteY23" fmla="*/ 784617 h 1366507"/>
              <a:gd name="connsiteX24" fmla="*/ 872836 w 2479963"/>
              <a:gd name="connsiteY24" fmla="*/ 826180 h 1366507"/>
              <a:gd name="connsiteX25" fmla="*/ 914400 w 2479963"/>
              <a:gd name="connsiteY25" fmla="*/ 743053 h 1366507"/>
              <a:gd name="connsiteX26" fmla="*/ 942109 w 2479963"/>
              <a:gd name="connsiteY26" fmla="*/ 798471 h 1366507"/>
              <a:gd name="connsiteX27" fmla="*/ 955963 w 2479963"/>
              <a:gd name="connsiteY27" fmla="*/ 881598 h 1366507"/>
              <a:gd name="connsiteX28" fmla="*/ 969818 w 2479963"/>
              <a:gd name="connsiteY28" fmla="*/ 950871 h 1366507"/>
              <a:gd name="connsiteX29" fmla="*/ 1039090 w 2479963"/>
              <a:gd name="connsiteY29" fmla="*/ 909307 h 1366507"/>
              <a:gd name="connsiteX30" fmla="*/ 1108363 w 2479963"/>
              <a:gd name="connsiteY30" fmla="*/ 812326 h 1366507"/>
              <a:gd name="connsiteX31" fmla="*/ 1122218 w 2479963"/>
              <a:gd name="connsiteY31" fmla="*/ 853889 h 1366507"/>
              <a:gd name="connsiteX32" fmla="*/ 1191490 w 2479963"/>
              <a:gd name="connsiteY32" fmla="*/ 826180 h 1366507"/>
              <a:gd name="connsiteX33" fmla="*/ 1233054 w 2479963"/>
              <a:gd name="connsiteY33" fmla="*/ 784617 h 1366507"/>
              <a:gd name="connsiteX34" fmla="*/ 1260763 w 2479963"/>
              <a:gd name="connsiteY34" fmla="*/ 853889 h 1366507"/>
              <a:gd name="connsiteX35" fmla="*/ 1288472 w 2479963"/>
              <a:gd name="connsiteY35" fmla="*/ 895453 h 1366507"/>
              <a:gd name="connsiteX36" fmla="*/ 1371600 w 2479963"/>
              <a:gd name="connsiteY36" fmla="*/ 798471 h 1366507"/>
              <a:gd name="connsiteX37" fmla="*/ 1427018 w 2479963"/>
              <a:gd name="connsiteY37" fmla="*/ 770762 h 1366507"/>
              <a:gd name="connsiteX38" fmla="*/ 1524000 w 2479963"/>
              <a:gd name="connsiteY38" fmla="*/ 881598 h 1366507"/>
              <a:gd name="connsiteX39" fmla="*/ 1565563 w 2479963"/>
              <a:gd name="connsiteY39" fmla="*/ 992435 h 1366507"/>
              <a:gd name="connsiteX40" fmla="*/ 1607127 w 2479963"/>
              <a:gd name="connsiteY40" fmla="*/ 964726 h 1366507"/>
              <a:gd name="connsiteX41" fmla="*/ 1634836 w 2479963"/>
              <a:gd name="connsiteY41" fmla="*/ 895453 h 1366507"/>
              <a:gd name="connsiteX42" fmla="*/ 1648690 w 2479963"/>
              <a:gd name="connsiteY42" fmla="*/ 840035 h 1366507"/>
              <a:gd name="connsiteX43" fmla="*/ 1662545 w 2479963"/>
              <a:gd name="connsiteY43" fmla="*/ 798471 h 1366507"/>
              <a:gd name="connsiteX44" fmla="*/ 1745672 w 2479963"/>
              <a:gd name="connsiteY44" fmla="*/ 840035 h 1366507"/>
              <a:gd name="connsiteX45" fmla="*/ 1773381 w 2479963"/>
              <a:gd name="connsiteY45" fmla="*/ 881598 h 1366507"/>
              <a:gd name="connsiteX46" fmla="*/ 1828800 w 2479963"/>
              <a:gd name="connsiteY46" fmla="*/ 826180 h 1366507"/>
              <a:gd name="connsiteX47" fmla="*/ 1870363 w 2479963"/>
              <a:gd name="connsiteY47" fmla="*/ 812326 h 1366507"/>
              <a:gd name="connsiteX48" fmla="*/ 1911927 w 2479963"/>
              <a:gd name="connsiteY48" fmla="*/ 937017 h 1366507"/>
              <a:gd name="connsiteX49" fmla="*/ 1953490 w 2479963"/>
              <a:gd name="connsiteY49" fmla="*/ 1075562 h 1366507"/>
              <a:gd name="connsiteX50" fmla="*/ 2008909 w 2479963"/>
              <a:gd name="connsiteY50" fmla="*/ 1075562 h 1366507"/>
              <a:gd name="connsiteX51" fmla="*/ 2078181 w 2479963"/>
              <a:gd name="connsiteY51" fmla="*/ 1020144 h 1366507"/>
              <a:gd name="connsiteX52" fmla="*/ 2133600 w 2479963"/>
              <a:gd name="connsiteY52" fmla="*/ 1047853 h 1366507"/>
              <a:gd name="connsiteX53" fmla="*/ 2175163 w 2479963"/>
              <a:gd name="connsiteY53" fmla="*/ 1103271 h 1366507"/>
              <a:gd name="connsiteX54" fmla="*/ 2313709 w 2479963"/>
              <a:gd name="connsiteY54" fmla="*/ 756907 h 1366507"/>
              <a:gd name="connsiteX55" fmla="*/ 2355272 w 2479963"/>
              <a:gd name="connsiteY55" fmla="*/ 743053 h 1366507"/>
              <a:gd name="connsiteX56" fmla="*/ 2410690 w 2479963"/>
              <a:gd name="connsiteY56" fmla="*/ 840035 h 1366507"/>
              <a:gd name="connsiteX57" fmla="*/ 2438400 w 2479963"/>
              <a:gd name="connsiteY57" fmla="*/ 798471 h 1366507"/>
              <a:gd name="connsiteX58" fmla="*/ 2479963 w 2479963"/>
              <a:gd name="connsiteY58" fmla="*/ 784617 h 1366507"/>
              <a:gd name="connsiteX0" fmla="*/ 0 w 2479963"/>
              <a:gd name="connsiteY0" fmla="*/ 1311089 h 1321148"/>
              <a:gd name="connsiteX1" fmla="*/ 13854 w 2479963"/>
              <a:gd name="connsiteY1" fmla="*/ 1214107 h 1321148"/>
              <a:gd name="connsiteX2" fmla="*/ 41563 w 2479963"/>
              <a:gd name="connsiteY2" fmla="*/ 1172544 h 1321148"/>
              <a:gd name="connsiteX3" fmla="*/ 69272 w 2479963"/>
              <a:gd name="connsiteY3" fmla="*/ 1297235 h 1321148"/>
              <a:gd name="connsiteX4" fmla="*/ 96981 w 2479963"/>
              <a:gd name="connsiteY4" fmla="*/ 1089416 h 1321148"/>
              <a:gd name="connsiteX5" fmla="*/ 124690 w 2479963"/>
              <a:gd name="connsiteY5" fmla="*/ 964726 h 1321148"/>
              <a:gd name="connsiteX6" fmla="*/ 166254 w 2479963"/>
              <a:gd name="connsiteY6" fmla="*/ 1006290 h 1321148"/>
              <a:gd name="connsiteX7" fmla="*/ 277090 w 2479963"/>
              <a:gd name="connsiteY7" fmla="*/ 978580 h 1321148"/>
              <a:gd name="connsiteX8" fmla="*/ 304800 w 2479963"/>
              <a:gd name="connsiteY8" fmla="*/ 784617 h 1321148"/>
              <a:gd name="connsiteX9" fmla="*/ 318654 w 2479963"/>
              <a:gd name="connsiteY9" fmla="*/ 715344 h 1321148"/>
              <a:gd name="connsiteX10" fmla="*/ 374072 w 2479963"/>
              <a:gd name="connsiteY10" fmla="*/ 632217 h 1321148"/>
              <a:gd name="connsiteX11" fmla="*/ 415636 w 2479963"/>
              <a:gd name="connsiteY11" fmla="*/ 535235 h 1321148"/>
              <a:gd name="connsiteX12" fmla="*/ 471054 w 2479963"/>
              <a:gd name="connsiteY12" fmla="*/ 341271 h 1321148"/>
              <a:gd name="connsiteX13" fmla="*/ 540327 w 2479963"/>
              <a:gd name="connsiteY13" fmla="*/ 216580 h 1321148"/>
              <a:gd name="connsiteX14" fmla="*/ 554181 w 2479963"/>
              <a:gd name="connsiteY14" fmla="*/ 147307 h 1321148"/>
              <a:gd name="connsiteX15" fmla="*/ 581890 w 2479963"/>
              <a:gd name="connsiteY15" fmla="*/ 175017 h 1321148"/>
              <a:gd name="connsiteX16" fmla="*/ 665018 w 2479963"/>
              <a:gd name="connsiteY16" fmla="*/ 8762 h 1321148"/>
              <a:gd name="connsiteX17" fmla="*/ 678872 w 2479963"/>
              <a:gd name="connsiteY17" fmla="*/ 188871 h 1321148"/>
              <a:gd name="connsiteX18" fmla="*/ 692727 w 2479963"/>
              <a:gd name="connsiteY18" fmla="*/ 327417 h 1321148"/>
              <a:gd name="connsiteX19" fmla="*/ 748145 w 2479963"/>
              <a:gd name="connsiteY19" fmla="*/ 521380 h 1321148"/>
              <a:gd name="connsiteX20" fmla="*/ 762000 w 2479963"/>
              <a:gd name="connsiteY20" fmla="*/ 479817 h 1321148"/>
              <a:gd name="connsiteX21" fmla="*/ 775854 w 2479963"/>
              <a:gd name="connsiteY21" fmla="*/ 632217 h 1321148"/>
              <a:gd name="connsiteX22" fmla="*/ 789709 w 2479963"/>
              <a:gd name="connsiteY22" fmla="*/ 687635 h 1321148"/>
              <a:gd name="connsiteX23" fmla="*/ 817418 w 2479963"/>
              <a:gd name="connsiteY23" fmla="*/ 784617 h 1321148"/>
              <a:gd name="connsiteX24" fmla="*/ 872836 w 2479963"/>
              <a:gd name="connsiteY24" fmla="*/ 826180 h 1321148"/>
              <a:gd name="connsiteX25" fmla="*/ 914400 w 2479963"/>
              <a:gd name="connsiteY25" fmla="*/ 743053 h 1321148"/>
              <a:gd name="connsiteX26" fmla="*/ 942109 w 2479963"/>
              <a:gd name="connsiteY26" fmla="*/ 798471 h 1321148"/>
              <a:gd name="connsiteX27" fmla="*/ 955963 w 2479963"/>
              <a:gd name="connsiteY27" fmla="*/ 881598 h 1321148"/>
              <a:gd name="connsiteX28" fmla="*/ 969818 w 2479963"/>
              <a:gd name="connsiteY28" fmla="*/ 950871 h 1321148"/>
              <a:gd name="connsiteX29" fmla="*/ 1039090 w 2479963"/>
              <a:gd name="connsiteY29" fmla="*/ 909307 h 1321148"/>
              <a:gd name="connsiteX30" fmla="*/ 1108363 w 2479963"/>
              <a:gd name="connsiteY30" fmla="*/ 812326 h 1321148"/>
              <a:gd name="connsiteX31" fmla="*/ 1122218 w 2479963"/>
              <a:gd name="connsiteY31" fmla="*/ 853889 h 1321148"/>
              <a:gd name="connsiteX32" fmla="*/ 1191490 w 2479963"/>
              <a:gd name="connsiteY32" fmla="*/ 826180 h 1321148"/>
              <a:gd name="connsiteX33" fmla="*/ 1233054 w 2479963"/>
              <a:gd name="connsiteY33" fmla="*/ 784617 h 1321148"/>
              <a:gd name="connsiteX34" fmla="*/ 1260763 w 2479963"/>
              <a:gd name="connsiteY34" fmla="*/ 853889 h 1321148"/>
              <a:gd name="connsiteX35" fmla="*/ 1288472 w 2479963"/>
              <a:gd name="connsiteY35" fmla="*/ 895453 h 1321148"/>
              <a:gd name="connsiteX36" fmla="*/ 1371600 w 2479963"/>
              <a:gd name="connsiteY36" fmla="*/ 798471 h 1321148"/>
              <a:gd name="connsiteX37" fmla="*/ 1427018 w 2479963"/>
              <a:gd name="connsiteY37" fmla="*/ 770762 h 1321148"/>
              <a:gd name="connsiteX38" fmla="*/ 1524000 w 2479963"/>
              <a:gd name="connsiteY38" fmla="*/ 881598 h 1321148"/>
              <a:gd name="connsiteX39" fmla="*/ 1565563 w 2479963"/>
              <a:gd name="connsiteY39" fmla="*/ 992435 h 1321148"/>
              <a:gd name="connsiteX40" fmla="*/ 1607127 w 2479963"/>
              <a:gd name="connsiteY40" fmla="*/ 964726 h 1321148"/>
              <a:gd name="connsiteX41" fmla="*/ 1634836 w 2479963"/>
              <a:gd name="connsiteY41" fmla="*/ 895453 h 1321148"/>
              <a:gd name="connsiteX42" fmla="*/ 1648690 w 2479963"/>
              <a:gd name="connsiteY42" fmla="*/ 840035 h 1321148"/>
              <a:gd name="connsiteX43" fmla="*/ 1662545 w 2479963"/>
              <a:gd name="connsiteY43" fmla="*/ 798471 h 1321148"/>
              <a:gd name="connsiteX44" fmla="*/ 1745672 w 2479963"/>
              <a:gd name="connsiteY44" fmla="*/ 840035 h 1321148"/>
              <a:gd name="connsiteX45" fmla="*/ 1773381 w 2479963"/>
              <a:gd name="connsiteY45" fmla="*/ 881598 h 1321148"/>
              <a:gd name="connsiteX46" fmla="*/ 1828800 w 2479963"/>
              <a:gd name="connsiteY46" fmla="*/ 826180 h 1321148"/>
              <a:gd name="connsiteX47" fmla="*/ 1870363 w 2479963"/>
              <a:gd name="connsiteY47" fmla="*/ 812326 h 1321148"/>
              <a:gd name="connsiteX48" fmla="*/ 1911927 w 2479963"/>
              <a:gd name="connsiteY48" fmla="*/ 937017 h 1321148"/>
              <a:gd name="connsiteX49" fmla="*/ 1953490 w 2479963"/>
              <a:gd name="connsiteY49" fmla="*/ 1075562 h 1321148"/>
              <a:gd name="connsiteX50" fmla="*/ 2008909 w 2479963"/>
              <a:gd name="connsiteY50" fmla="*/ 1075562 h 1321148"/>
              <a:gd name="connsiteX51" fmla="*/ 2078181 w 2479963"/>
              <a:gd name="connsiteY51" fmla="*/ 1020144 h 1321148"/>
              <a:gd name="connsiteX52" fmla="*/ 2133600 w 2479963"/>
              <a:gd name="connsiteY52" fmla="*/ 1047853 h 1321148"/>
              <a:gd name="connsiteX53" fmla="*/ 2175163 w 2479963"/>
              <a:gd name="connsiteY53" fmla="*/ 1103271 h 1321148"/>
              <a:gd name="connsiteX54" fmla="*/ 2313709 w 2479963"/>
              <a:gd name="connsiteY54" fmla="*/ 756907 h 1321148"/>
              <a:gd name="connsiteX55" fmla="*/ 2355272 w 2479963"/>
              <a:gd name="connsiteY55" fmla="*/ 743053 h 1321148"/>
              <a:gd name="connsiteX56" fmla="*/ 2410690 w 2479963"/>
              <a:gd name="connsiteY56" fmla="*/ 840035 h 1321148"/>
              <a:gd name="connsiteX57" fmla="*/ 2438400 w 2479963"/>
              <a:gd name="connsiteY57" fmla="*/ 798471 h 1321148"/>
              <a:gd name="connsiteX58" fmla="*/ 2479963 w 2479963"/>
              <a:gd name="connsiteY58" fmla="*/ 784617 h 1321148"/>
              <a:gd name="connsiteX0" fmla="*/ 0 w 2479963"/>
              <a:gd name="connsiteY0" fmla="*/ 1311089 h 1311089"/>
              <a:gd name="connsiteX1" fmla="*/ 13854 w 2479963"/>
              <a:gd name="connsiteY1" fmla="*/ 1214107 h 1311089"/>
              <a:gd name="connsiteX2" fmla="*/ 41563 w 2479963"/>
              <a:gd name="connsiteY2" fmla="*/ 1172544 h 1311089"/>
              <a:gd name="connsiteX3" fmla="*/ 69272 w 2479963"/>
              <a:gd name="connsiteY3" fmla="*/ 1075563 h 1311089"/>
              <a:gd name="connsiteX4" fmla="*/ 96981 w 2479963"/>
              <a:gd name="connsiteY4" fmla="*/ 1089416 h 1311089"/>
              <a:gd name="connsiteX5" fmla="*/ 124690 w 2479963"/>
              <a:gd name="connsiteY5" fmla="*/ 964726 h 1311089"/>
              <a:gd name="connsiteX6" fmla="*/ 166254 w 2479963"/>
              <a:gd name="connsiteY6" fmla="*/ 1006290 h 1311089"/>
              <a:gd name="connsiteX7" fmla="*/ 277090 w 2479963"/>
              <a:gd name="connsiteY7" fmla="*/ 978580 h 1311089"/>
              <a:gd name="connsiteX8" fmla="*/ 304800 w 2479963"/>
              <a:gd name="connsiteY8" fmla="*/ 784617 h 1311089"/>
              <a:gd name="connsiteX9" fmla="*/ 318654 w 2479963"/>
              <a:gd name="connsiteY9" fmla="*/ 715344 h 1311089"/>
              <a:gd name="connsiteX10" fmla="*/ 374072 w 2479963"/>
              <a:gd name="connsiteY10" fmla="*/ 632217 h 1311089"/>
              <a:gd name="connsiteX11" fmla="*/ 415636 w 2479963"/>
              <a:gd name="connsiteY11" fmla="*/ 535235 h 1311089"/>
              <a:gd name="connsiteX12" fmla="*/ 471054 w 2479963"/>
              <a:gd name="connsiteY12" fmla="*/ 341271 h 1311089"/>
              <a:gd name="connsiteX13" fmla="*/ 540327 w 2479963"/>
              <a:gd name="connsiteY13" fmla="*/ 216580 h 1311089"/>
              <a:gd name="connsiteX14" fmla="*/ 554181 w 2479963"/>
              <a:gd name="connsiteY14" fmla="*/ 147307 h 1311089"/>
              <a:gd name="connsiteX15" fmla="*/ 581890 w 2479963"/>
              <a:gd name="connsiteY15" fmla="*/ 175017 h 1311089"/>
              <a:gd name="connsiteX16" fmla="*/ 665018 w 2479963"/>
              <a:gd name="connsiteY16" fmla="*/ 8762 h 1311089"/>
              <a:gd name="connsiteX17" fmla="*/ 678872 w 2479963"/>
              <a:gd name="connsiteY17" fmla="*/ 188871 h 1311089"/>
              <a:gd name="connsiteX18" fmla="*/ 692727 w 2479963"/>
              <a:gd name="connsiteY18" fmla="*/ 327417 h 1311089"/>
              <a:gd name="connsiteX19" fmla="*/ 748145 w 2479963"/>
              <a:gd name="connsiteY19" fmla="*/ 521380 h 1311089"/>
              <a:gd name="connsiteX20" fmla="*/ 762000 w 2479963"/>
              <a:gd name="connsiteY20" fmla="*/ 479817 h 1311089"/>
              <a:gd name="connsiteX21" fmla="*/ 775854 w 2479963"/>
              <a:gd name="connsiteY21" fmla="*/ 632217 h 1311089"/>
              <a:gd name="connsiteX22" fmla="*/ 789709 w 2479963"/>
              <a:gd name="connsiteY22" fmla="*/ 687635 h 1311089"/>
              <a:gd name="connsiteX23" fmla="*/ 817418 w 2479963"/>
              <a:gd name="connsiteY23" fmla="*/ 784617 h 1311089"/>
              <a:gd name="connsiteX24" fmla="*/ 872836 w 2479963"/>
              <a:gd name="connsiteY24" fmla="*/ 826180 h 1311089"/>
              <a:gd name="connsiteX25" fmla="*/ 914400 w 2479963"/>
              <a:gd name="connsiteY25" fmla="*/ 743053 h 1311089"/>
              <a:gd name="connsiteX26" fmla="*/ 942109 w 2479963"/>
              <a:gd name="connsiteY26" fmla="*/ 798471 h 1311089"/>
              <a:gd name="connsiteX27" fmla="*/ 955963 w 2479963"/>
              <a:gd name="connsiteY27" fmla="*/ 881598 h 1311089"/>
              <a:gd name="connsiteX28" fmla="*/ 969818 w 2479963"/>
              <a:gd name="connsiteY28" fmla="*/ 950871 h 1311089"/>
              <a:gd name="connsiteX29" fmla="*/ 1039090 w 2479963"/>
              <a:gd name="connsiteY29" fmla="*/ 909307 h 1311089"/>
              <a:gd name="connsiteX30" fmla="*/ 1108363 w 2479963"/>
              <a:gd name="connsiteY30" fmla="*/ 812326 h 1311089"/>
              <a:gd name="connsiteX31" fmla="*/ 1122218 w 2479963"/>
              <a:gd name="connsiteY31" fmla="*/ 853889 h 1311089"/>
              <a:gd name="connsiteX32" fmla="*/ 1191490 w 2479963"/>
              <a:gd name="connsiteY32" fmla="*/ 826180 h 1311089"/>
              <a:gd name="connsiteX33" fmla="*/ 1233054 w 2479963"/>
              <a:gd name="connsiteY33" fmla="*/ 784617 h 1311089"/>
              <a:gd name="connsiteX34" fmla="*/ 1260763 w 2479963"/>
              <a:gd name="connsiteY34" fmla="*/ 853889 h 1311089"/>
              <a:gd name="connsiteX35" fmla="*/ 1288472 w 2479963"/>
              <a:gd name="connsiteY35" fmla="*/ 895453 h 1311089"/>
              <a:gd name="connsiteX36" fmla="*/ 1371600 w 2479963"/>
              <a:gd name="connsiteY36" fmla="*/ 798471 h 1311089"/>
              <a:gd name="connsiteX37" fmla="*/ 1427018 w 2479963"/>
              <a:gd name="connsiteY37" fmla="*/ 770762 h 1311089"/>
              <a:gd name="connsiteX38" fmla="*/ 1524000 w 2479963"/>
              <a:gd name="connsiteY38" fmla="*/ 881598 h 1311089"/>
              <a:gd name="connsiteX39" fmla="*/ 1565563 w 2479963"/>
              <a:gd name="connsiteY39" fmla="*/ 992435 h 1311089"/>
              <a:gd name="connsiteX40" fmla="*/ 1607127 w 2479963"/>
              <a:gd name="connsiteY40" fmla="*/ 964726 h 1311089"/>
              <a:gd name="connsiteX41" fmla="*/ 1634836 w 2479963"/>
              <a:gd name="connsiteY41" fmla="*/ 895453 h 1311089"/>
              <a:gd name="connsiteX42" fmla="*/ 1648690 w 2479963"/>
              <a:gd name="connsiteY42" fmla="*/ 840035 h 1311089"/>
              <a:gd name="connsiteX43" fmla="*/ 1662545 w 2479963"/>
              <a:gd name="connsiteY43" fmla="*/ 798471 h 1311089"/>
              <a:gd name="connsiteX44" fmla="*/ 1745672 w 2479963"/>
              <a:gd name="connsiteY44" fmla="*/ 840035 h 1311089"/>
              <a:gd name="connsiteX45" fmla="*/ 1773381 w 2479963"/>
              <a:gd name="connsiteY45" fmla="*/ 881598 h 1311089"/>
              <a:gd name="connsiteX46" fmla="*/ 1828800 w 2479963"/>
              <a:gd name="connsiteY46" fmla="*/ 826180 h 1311089"/>
              <a:gd name="connsiteX47" fmla="*/ 1870363 w 2479963"/>
              <a:gd name="connsiteY47" fmla="*/ 812326 h 1311089"/>
              <a:gd name="connsiteX48" fmla="*/ 1911927 w 2479963"/>
              <a:gd name="connsiteY48" fmla="*/ 937017 h 1311089"/>
              <a:gd name="connsiteX49" fmla="*/ 1953490 w 2479963"/>
              <a:gd name="connsiteY49" fmla="*/ 1075562 h 1311089"/>
              <a:gd name="connsiteX50" fmla="*/ 2008909 w 2479963"/>
              <a:gd name="connsiteY50" fmla="*/ 1075562 h 1311089"/>
              <a:gd name="connsiteX51" fmla="*/ 2078181 w 2479963"/>
              <a:gd name="connsiteY51" fmla="*/ 1020144 h 1311089"/>
              <a:gd name="connsiteX52" fmla="*/ 2133600 w 2479963"/>
              <a:gd name="connsiteY52" fmla="*/ 1047853 h 1311089"/>
              <a:gd name="connsiteX53" fmla="*/ 2175163 w 2479963"/>
              <a:gd name="connsiteY53" fmla="*/ 1103271 h 1311089"/>
              <a:gd name="connsiteX54" fmla="*/ 2313709 w 2479963"/>
              <a:gd name="connsiteY54" fmla="*/ 756907 h 1311089"/>
              <a:gd name="connsiteX55" fmla="*/ 2355272 w 2479963"/>
              <a:gd name="connsiteY55" fmla="*/ 743053 h 1311089"/>
              <a:gd name="connsiteX56" fmla="*/ 2410690 w 2479963"/>
              <a:gd name="connsiteY56" fmla="*/ 840035 h 1311089"/>
              <a:gd name="connsiteX57" fmla="*/ 2438400 w 2479963"/>
              <a:gd name="connsiteY57" fmla="*/ 798471 h 1311089"/>
              <a:gd name="connsiteX58" fmla="*/ 2479963 w 2479963"/>
              <a:gd name="connsiteY58" fmla="*/ 784617 h 1311089"/>
              <a:gd name="connsiteX0" fmla="*/ 0 w 2507672"/>
              <a:gd name="connsiteY0" fmla="*/ 1047853 h 1308673"/>
              <a:gd name="connsiteX1" fmla="*/ 41563 w 2507672"/>
              <a:gd name="connsiteY1" fmla="*/ 1214107 h 1308673"/>
              <a:gd name="connsiteX2" fmla="*/ 69272 w 2507672"/>
              <a:gd name="connsiteY2" fmla="*/ 1172544 h 1308673"/>
              <a:gd name="connsiteX3" fmla="*/ 96981 w 2507672"/>
              <a:gd name="connsiteY3" fmla="*/ 1075563 h 1308673"/>
              <a:gd name="connsiteX4" fmla="*/ 124690 w 2507672"/>
              <a:gd name="connsiteY4" fmla="*/ 1089416 h 1308673"/>
              <a:gd name="connsiteX5" fmla="*/ 152399 w 2507672"/>
              <a:gd name="connsiteY5" fmla="*/ 964726 h 1308673"/>
              <a:gd name="connsiteX6" fmla="*/ 193963 w 2507672"/>
              <a:gd name="connsiteY6" fmla="*/ 1006290 h 1308673"/>
              <a:gd name="connsiteX7" fmla="*/ 304799 w 2507672"/>
              <a:gd name="connsiteY7" fmla="*/ 978580 h 1308673"/>
              <a:gd name="connsiteX8" fmla="*/ 332509 w 2507672"/>
              <a:gd name="connsiteY8" fmla="*/ 784617 h 1308673"/>
              <a:gd name="connsiteX9" fmla="*/ 346363 w 2507672"/>
              <a:gd name="connsiteY9" fmla="*/ 715344 h 1308673"/>
              <a:gd name="connsiteX10" fmla="*/ 401781 w 2507672"/>
              <a:gd name="connsiteY10" fmla="*/ 632217 h 1308673"/>
              <a:gd name="connsiteX11" fmla="*/ 443345 w 2507672"/>
              <a:gd name="connsiteY11" fmla="*/ 535235 h 1308673"/>
              <a:gd name="connsiteX12" fmla="*/ 498763 w 2507672"/>
              <a:gd name="connsiteY12" fmla="*/ 341271 h 1308673"/>
              <a:gd name="connsiteX13" fmla="*/ 568036 w 2507672"/>
              <a:gd name="connsiteY13" fmla="*/ 216580 h 1308673"/>
              <a:gd name="connsiteX14" fmla="*/ 581890 w 2507672"/>
              <a:gd name="connsiteY14" fmla="*/ 147307 h 1308673"/>
              <a:gd name="connsiteX15" fmla="*/ 609599 w 2507672"/>
              <a:gd name="connsiteY15" fmla="*/ 175017 h 1308673"/>
              <a:gd name="connsiteX16" fmla="*/ 692727 w 2507672"/>
              <a:gd name="connsiteY16" fmla="*/ 8762 h 1308673"/>
              <a:gd name="connsiteX17" fmla="*/ 706581 w 2507672"/>
              <a:gd name="connsiteY17" fmla="*/ 188871 h 1308673"/>
              <a:gd name="connsiteX18" fmla="*/ 720436 w 2507672"/>
              <a:gd name="connsiteY18" fmla="*/ 327417 h 1308673"/>
              <a:gd name="connsiteX19" fmla="*/ 775854 w 2507672"/>
              <a:gd name="connsiteY19" fmla="*/ 521380 h 1308673"/>
              <a:gd name="connsiteX20" fmla="*/ 789709 w 2507672"/>
              <a:gd name="connsiteY20" fmla="*/ 479817 h 1308673"/>
              <a:gd name="connsiteX21" fmla="*/ 803563 w 2507672"/>
              <a:gd name="connsiteY21" fmla="*/ 632217 h 1308673"/>
              <a:gd name="connsiteX22" fmla="*/ 817418 w 2507672"/>
              <a:gd name="connsiteY22" fmla="*/ 687635 h 1308673"/>
              <a:gd name="connsiteX23" fmla="*/ 845127 w 2507672"/>
              <a:gd name="connsiteY23" fmla="*/ 784617 h 1308673"/>
              <a:gd name="connsiteX24" fmla="*/ 900545 w 2507672"/>
              <a:gd name="connsiteY24" fmla="*/ 826180 h 1308673"/>
              <a:gd name="connsiteX25" fmla="*/ 942109 w 2507672"/>
              <a:gd name="connsiteY25" fmla="*/ 743053 h 1308673"/>
              <a:gd name="connsiteX26" fmla="*/ 969818 w 2507672"/>
              <a:gd name="connsiteY26" fmla="*/ 798471 h 1308673"/>
              <a:gd name="connsiteX27" fmla="*/ 983672 w 2507672"/>
              <a:gd name="connsiteY27" fmla="*/ 881598 h 1308673"/>
              <a:gd name="connsiteX28" fmla="*/ 997527 w 2507672"/>
              <a:gd name="connsiteY28" fmla="*/ 950871 h 1308673"/>
              <a:gd name="connsiteX29" fmla="*/ 1066799 w 2507672"/>
              <a:gd name="connsiteY29" fmla="*/ 909307 h 1308673"/>
              <a:gd name="connsiteX30" fmla="*/ 1136072 w 2507672"/>
              <a:gd name="connsiteY30" fmla="*/ 812326 h 1308673"/>
              <a:gd name="connsiteX31" fmla="*/ 1149927 w 2507672"/>
              <a:gd name="connsiteY31" fmla="*/ 853889 h 1308673"/>
              <a:gd name="connsiteX32" fmla="*/ 1219199 w 2507672"/>
              <a:gd name="connsiteY32" fmla="*/ 826180 h 1308673"/>
              <a:gd name="connsiteX33" fmla="*/ 1260763 w 2507672"/>
              <a:gd name="connsiteY33" fmla="*/ 784617 h 1308673"/>
              <a:gd name="connsiteX34" fmla="*/ 1288472 w 2507672"/>
              <a:gd name="connsiteY34" fmla="*/ 853889 h 1308673"/>
              <a:gd name="connsiteX35" fmla="*/ 1316181 w 2507672"/>
              <a:gd name="connsiteY35" fmla="*/ 895453 h 1308673"/>
              <a:gd name="connsiteX36" fmla="*/ 1399309 w 2507672"/>
              <a:gd name="connsiteY36" fmla="*/ 798471 h 1308673"/>
              <a:gd name="connsiteX37" fmla="*/ 1454727 w 2507672"/>
              <a:gd name="connsiteY37" fmla="*/ 770762 h 1308673"/>
              <a:gd name="connsiteX38" fmla="*/ 1551709 w 2507672"/>
              <a:gd name="connsiteY38" fmla="*/ 881598 h 1308673"/>
              <a:gd name="connsiteX39" fmla="*/ 1593272 w 2507672"/>
              <a:gd name="connsiteY39" fmla="*/ 992435 h 1308673"/>
              <a:gd name="connsiteX40" fmla="*/ 1634836 w 2507672"/>
              <a:gd name="connsiteY40" fmla="*/ 964726 h 1308673"/>
              <a:gd name="connsiteX41" fmla="*/ 1662545 w 2507672"/>
              <a:gd name="connsiteY41" fmla="*/ 895453 h 1308673"/>
              <a:gd name="connsiteX42" fmla="*/ 1676399 w 2507672"/>
              <a:gd name="connsiteY42" fmla="*/ 840035 h 1308673"/>
              <a:gd name="connsiteX43" fmla="*/ 1690254 w 2507672"/>
              <a:gd name="connsiteY43" fmla="*/ 798471 h 1308673"/>
              <a:gd name="connsiteX44" fmla="*/ 1773381 w 2507672"/>
              <a:gd name="connsiteY44" fmla="*/ 840035 h 1308673"/>
              <a:gd name="connsiteX45" fmla="*/ 1801090 w 2507672"/>
              <a:gd name="connsiteY45" fmla="*/ 881598 h 1308673"/>
              <a:gd name="connsiteX46" fmla="*/ 1856509 w 2507672"/>
              <a:gd name="connsiteY46" fmla="*/ 826180 h 1308673"/>
              <a:gd name="connsiteX47" fmla="*/ 1898072 w 2507672"/>
              <a:gd name="connsiteY47" fmla="*/ 812326 h 1308673"/>
              <a:gd name="connsiteX48" fmla="*/ 1939636 w 2507672"/>
              <a:gd name="connsiteY48" fmla="*/ 937017 h 1308673"/>
              <a:gd name="connsiteX49" fmla="*/ 1981199 w 2507672"/>
              <a:gd name="connsiteY49" fmla="*/ 1075562 h 1308673"/>
              <a:gd name="connsiteX50" fmla="*/ 2036618 w 2507672"/>
              <a:gd name="connsiteY50" fmla="*/ 1075562 h 1308673"/>
              <a:gd name="connsiteX51" fmla="*/ 2105890 w 2507672"/>
              <a:gd name="connsiteY51" fmla="*/ 1020144 h 1308673"/>
              <a:gd name="connsiteX52" fmla="*/ 2161309 w 2507672"/>
              <a:gd name="connsiteY52" fmla="*/ 1047853 h 1308673"/>
              <a:gd name="connsiteX53" fmla="*/ 2202872 w 2507672"/>
              <a:gd name="connsiteY53" fmla="*/ 1103271 h 1308673"/>
              <a:gd name="connsiteX54" fmla="*/ 2341418 w 2507672"/>
              <a:gd name="connsiteY54" fmla="*/ 756907 h 1308673"/>
              <a:gd name="connsiteX55" fmla="*/ 2382981 w 2507672"/>
              <a:gd name="connsiteY55" fmla="*/ 743053 h 1308673"/>
              <a:gd name="connsiteX56" fmla="*/ 2438399 w 2507672"/>
              <a:gd name="connsiteY56" fmla="*/ 840035 h 1308673"/>
              <a:gd name="connsiteX57" fmla="*/ 2466109 w 2507672"/>
              <a:gd name="connsiteY57" fmla="*/ 798471 h 1308673"/>
              <a:gd name="connsiteX58" fmla="*/ 2507672 w 2507672"/>
              <a:gd name="connsiteY58" fmla="*/ 784617 h 1308673"/>
              <a:gd name="connsiteX0" fmla="*/ 0 w 2507672"/>
              <a:gd name="connsiteY0" fmla="*/ 1047853 h 1308673"/>
              <a:gd name="connsiteX1" fmla="*/ 96981 w 2507672"/>
              <a:gd name="connsiteY1" fmla="*/ 1075562 h 1308673"/>
              <a:gd name="connsiteX2" fmla="*/ 69272 w 2507672"/>
              <a:gd name="connsiteY2" fmla="*/ 1172544 h 1308673"/>
              <a:gd name="connsiteX3" fmla="*/ 96981 w 2507672"/>
              <a:gd name="connsiteY3" fmla="*/ 1075563 h 1308673"/>
              <a:gd name="connsiteX4" fmla="*/ 124690 w 2507672"/>
              <a:gd name="connsiteY4" fmla="*/ 1089416 h 1308673"/>
              <a:gd name="connsiteX5" fmla="*/ 152399 w 2507672"/>
              <a:gd name="connsiteY5" fmla="*/ 964726 h 1308673"/>
              <a:gd name="connsiteX6" fmla="*/ 193963 w 2507672"/>
              <a:gd name="connsiteY6" fmla="*/ 1006290 h 1308673"/>
              <a:gd name="connsiteX7" fmla="*/ 304799 w 2507672"/>
              <a:gd name="connsiteY7" fmla="*/ 978580 h 1308673"/>
              <a:gd name="connsiteX8" fmla="*/ 332509 w 2507672"/>
              <a:gd name="connsiteY8" fmla="*/ 784617 h 1308673"/>
              <a:gd name="connsiteX9" fmla="*/ 346363 w 2507672"/>
              <a:gd name="connsiteY9" fmla="*/ 715344 h 1308673"/>
              <a:gd name="connsiteX10" fmla="*/ 401781 w 2507672"/>
              <a:gd name="connsiteY10" fmla="*/ 632217 h 1308673"/>
              <a:gd name="connsiteX11" fmla="*/ 443345 w 2507672"/>
              <a:gd name="connsiteY11" fmla="*/ 535235 h 1308673"/>
              <a:gd name="connsiteX12" fmla="*/ 498763 w 2507672"/>
              <a:gd name="connsiteY12" fmla="*/ 341271 h 1308673"/>
              <a:gd name="connsiteX13" fmla="*/ 568036 w 2507672"/>
              <a:gd name="connsiteY13" fmla="*/ 216580 h 1308673"/>
              <a:gd name="connsiteX14" fmla="*/ 581890 w 2507672"/>
              <a:gd name="connsiteY14" fmla="*/ 147307 h 1308673"/>
              <a:gd name="connsiteX15" fmla="*/ 609599 w 2507672"/>
              <a:gd name="connsiteY15" fmla="*/ 175017 h 1308673"/>
              <a:gd name="connsiteX16" fmla="*/ 692727 w 2507672"/>
              <a:gd name="connsiteY16" fmla="*/ 8762 h 1308673"/>
              <a:gd name="connsiteX17" fmla="*/ 706581 w 2507672"/>
              <a:gd name="connsiteY17" fmla="*/ 188871 h 1308673"/>
              <a:gd name="connsiteX18" fmla="*/ 720436 w 2507672"/>
              <a:gd name="connsiteY18" fmla="*/ 327417 h 1308673"/>
              <a:gd name="connsiteX19" fmla="*/ 775854 w 2507672"/>
              <a:gd name="connsiteY19" fmla="*/ 521380 h 1308673"/>
              <a:gd name="connsiteX20" fmla="*/ 789709 w 2507672"/>
              <a:gd name="connsiteY20" fmla="*/ 479817 h 1308673"/>
              <a:gd name="connsiteX21" fmla="*/ 803563 w 2507672"/>
              <a:gd name="connsiteY21" fmla="*/ 632217 h 1308673"/>
              <a:gd name="connsiteX22" fmla="*/ 817418 w 2507672"/>
              <a:gd name="connsiteY22" fmla="*/ 687635 h 1308673"/>
              <a:gd name="connsiteX23" fmla="*/ 845127 w 2507672"/>
              <a:gd name="connsiteY23" fmla="*/ 784617 h 1308673"/>
              <a:gd name="connsiteX24" fmla="*/ 900545 w 2507672"/>
              <a:gd name="connsiteY24" fmla="*/ 826180 h 1308673"/>
              <a:gd name="connsiteX25" fmla="*/ 942109 w 2507672"/>
              <a:gd name="connsiteY25" fmla="*/ 743053 h 1308673"/>
              <a:gd name="connsiteX26" fmla="*/ 969818 w 2507672"/>
              <a:gd name="connsiteY26" fmla="*/ 798471 h 1308673"/>
              <a:gd name="connsiteX27" fmla="*/ 983672 w 2507672"/>
              <a:gd name="connsiteY27" fmla="*/ 881598 h 1308673"/>
              <a:gd name="connsiteX28" fmla="*/ 997527 w 2507672"/>
              <a:gd name="connsiteY28" fmla="*/ 950871 h 1308673"/>
              <a:gd name="connsiteX29" fmla="*/ 1066799 w 2507672"/>
              <a:gd name="connsiteY29" fmla="*/ 909307 h 1308673"/>
              <a:gd name="connsiteX30" fmla="*/ 1136072 w 2507672"/>
              <a:gd name="connsiteY30" fmla="*/ 812326 h 1308673"/>
              <a:gd name="connsiteX31" fmla="*/ 1149927 w 2507672"/>
              <a:gd name="connsiteY31" fmla="*/ 853889 h 1308673"/>
              <a:gd name="connsiteX32" fmla="*/ 1219199 w 2507672"/>
              <a:gd name="connsiteY32" fmla="*/ 826180 h 1308673"/>
              <a:gd name="connsiteX33" fmla="*/ 1260763 w 2507672"/>
              <a:gd name="connsiteY33" fmla="*/ 784617 h 1308673"/>
              <a:gd name="connsiteX34" fmla="*/ 1288472 w 2507672"/>
              <a:gd name="connsiteY34" fmla="*/ 853889 h 1308673"/>
              <a:gd name="connsiteX35" fmla="*/ 1316181 w 2507672"/>
              <a:gd name="connsiteY35" fmla="*/ 895453 h 1308673"/>
              <a:gd name="connsiteX36" fmla="*/ 1399309 w 2507672"/>
              <a:gd name="connsiteY36" fmla="*/ 798471 h 1308673"/>
              <a:gd name="connsiteX37" fmla="*/ 1454727 w 2507672"/>
              <a:gd name="connsiteY37" fmla="*/ 770762 h 1308673"/>
              <a:gd name="connsiteX38" fmla="*/ 1551709 w 2507672"/>
              <a:gd name="connsiteY38" fmla="*/ 881598 h 1308673"/>
              <a:gd name="connsiteX39" fmla="*/ 1593272 w 2507672"/>
              <a:gd name="connsiteY39" fmla="*/ 992435 h 1308673"/>
              <a:gd name="connsiteX40" fmla="*/ 1634836 w 2507672"/>
              <a:gd name="connsiteY40" fmla="*/ 964726 h 1308673"/>
              <a:gd name="connsiteX41" fmla="*/ 1662545 w 2507672"/>
              <a:gd name="connsiteY41" fmla="*/ 895453 h 1308673"/>
              <a:gd name="connsiteX42" fmla="*/ 1676399 w 2507672"/>
              <a:gd name="connsiteY42" fmla="*/ 840035 h 1308673"/>
              <a:gd name="connsiteX43" fmla="*/ 1690254 w 2507672"/>
              <a:gd name="connsiteY43" fmla="*/ 798471 h 1308673"/>
              <a:gd name="connsiteX44" fmla="*/ 1773381 w 2507672"/>
              <a:gd name="connsiteY44" fmla="*/ 840035 h 1308673"/>
              <a:gd name="connsiteX45" fmla="*/ 1801090 w 2507672"/>
              <a:gd name="connsiteY45" fmla="*/ 881598 h 1308673"/>
              <a:gd name="connsiteX46" fmla="*/ 1856509 w 2507672"/>
              <a:gd name="connsiteY46" fmla="*/ 826180 h 1308673"/>
              <a:gd name="connsiteX47" fmla="*/ 1898072 w 2507672"/>
              <a:gd name="connsiteY47" fmla="*/ 812326 h 1308673"/>
              <a:gd name="connsiteX48" fmla="*/ 1939636 w 2507672"/>
              <a:gd name="connsiteY48" fmla="*/ 937017 h 1308673"/>
              <a:gd name="connsiteX49" fmla="*/ 1981199 w 2507672"/>
              <a:gd name="connsiteY49" fmla="*/ 1075562 h 1308673"/>
              <a:gd name="connsiteX50" fmla="*/ 2036618 w 2507672"/>
              <a:gd name="connsiteY50" fmla="*/ 1075562 h 1308673"/>
              <a:gd name="connsiteX51" fmla="*/ 2105890 w 2507672"/>
              <a:gd name="connsiteY51" fmla="*/ 1020144 h 1308673"/>
              <a:gd name="connsiteX52" fmla="*/ 2161309 w 2507672"/>
              <a:gd name="connsiteY52" fmla="*/ 1047853 h 1308673"/>
              <a:gd name="connsiteX53" fmla="*/ 2202872 w 2507672"/>
              <a:gd name="connsiteY53" fmla="*/ 1103271 h 1308673"/>
              <a:gd name="connsiteX54" fmla="*/ 2341418 w 2507672"/>
              <a:gd name="connsiteY54" fmla="*/ 756907 h 1308673"/>
              <a:gd name="connsiteX55" fmla="*/ 2382981 w 2507672"/>
              <a:gd name="connsiteY55" fmla="*/ 743053 h 1308673"/>
              <a:gd name="connsiteX56" fmla="*/ 2438399 w 2507672"/>
              <a:gd name="connsiteY56" fmla="*/ 840035 h 1308673"/>
              <a:gd name="connsiteX57" fmla="*/ 2466109 w 2507672"/>
              <a:gd name="connsiteY57" fmla="*/ 798471 h 1308673"/>
              <a:gd name="connsiteX58" fmla="*/ 2507672 w 2507672"/>
              <a:gd name="connsiteY58" fmla="*/ 784617 h 130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07672" h="1308673">
                <a:moveTo>
                  <a:pt x="0" y="1047853"/>
                </a:moveTo>
                <a:cubicBezTo>
                  <a:pt x="4618" y="1015526"/>
                  <a:pt x="87598" y="1106840"/>
                  <a:pt x="96981" y="1075562"/>
                </a:cubicBezTo>
                <a:cubicBezTo>
                  <a:pt x="101766" y="1059613"/>
                  <a:pt x="60036" y="1158690"/>
                  <a:pt x="69272" y="1172544"/>
                </a:cubicBezTo>
                <a:cubicBezTo>
                  <a:pt x="92890" y="1207971"/>
                  <a:pt x="85284" y="1034624"/>
                  <a:pt x="96981" y="1075563"/>
                </a:cubicBezTo>
                <a:cubicBezTo>
                  <a:pt x="103813" y="1099476"/>
                  <a:pt x="115454" y="1066325"/>
                  <a:pt x="124690" y="1089416"/>
                </a:cubicBezTo>
                <a:cubicBezTo>
                  <a:pt x="138545" y="1070943"/>
                  <a:pt x="143823" y="986165"/>
                  <a:pt x="152399" y="964726"/>
                </a:cubicBezTo>
                <a:cubicBezTo>
                  <a:pt x="191998" y="865730"/>
                  <a:pt x="79437" y="960479"/>
                  <a:pt x="193963" y="1006290"/>
                </a:cubicBezTo>
                <a:cubicBezTo>
                  <a:pt x="230731" y="565090"/>
                  <a:pt x="229778" y="1308673"/>
                  <a:pt x="304799" y="978580"/>
                </a:cubicBezTo>
                <a:cubicBezTo>
                  <a:pt x="319273" y="914893"/>
                  <a:pt x="322323" y="849129"/>
                  <a:pt x="332509" y="784617"/>
                </a:cubicBezTo>
                <a:cubicBezTo>
                  <a:pt x="336182" y="761357"/>
                  <a:pt x="341745" y="738435"/>
                  <a:pt x="346363" y="715344"/>
                </a:cubicBezTo>
                <a:cubicBezTo>
                  <a:pt x="372126" y="818392"/>
                  <a:pt x="354206" y="786837"/>
                  <a:pt x="401781" y="632217"/>
                </a:cubicBezTo>
                <a:cubicBezTo>
                  <a:pt x="418089" y="579217"/>
                  <a:pt x="414873" y="592180"/>
                  <a:pt x="443345" y="535235"/>
                </a:cubicBezTo>
                <a:cubicBezTo>
                  <a:pt x="488582" y="248738"/>
                  <a:pt x="467488" y="184890"/>
                  <a:pt x="498763" y="341271"/>
                </a:cubicBezTo>
                <a:cubicBezTo>
                  <a:pt x="521854" y="299707"/>
                  <a:pt x="549306" y="260283"/>
                  <a:pt x="568036" y="216580"/>
                </a:cubicBezTo>
                <a:cubicBezTo>
                  <a:pt x="577312" y="194936"/>
                  <a:pt x="565239" y="163958"/>
                  <a:pt x="581890" y="147307"/>
                </a:cubicBezTo>
                <a:lnTo>
                  <a:pt x="609599" y="175017"/>
                </a:lnTo>
                <a:cubicBezTo>
                  <a:pt x="637308" y="119599"/>
                  <a:pt x="631390" y="0"/>
                  <a:pt x="692727" y="8762"/>
                </a:cubicBezTo>
                <a:cubicBezTo>
                  <a:pt x="752336" y="17277"/>
                  <a:pt x="701365" y="128884"/>
                  <a:pt x="706581" y="188871"/>
                </a:cubicBezTo>
                <a:cubicBezTo>
                  <a:pt x="710602" y="235109"/>
                  <a:pt x="711752" y="281824"/>
                  <a:pt x="720436" y="327417"/>
                </a:cubicBezTo>
                <a:cubicBezTo>
                  <a:pt x="733892" y="398064"/>
                  <a:pt x="754208" y="456446"/>
                  <a:pt x="775854" y="521380"/>
                </a:cubicBezTo>
                <a:cubicBezTo>
                  <a:pt x="780472" y="507526"/>
                  <a:pt x="786167" y="465649"/>
                  <a:pt x="789709" y="479817"/>
                </a:cubicBezTo>
                <a:cubicBezTo>
                  <a:pt x="802081" y="529303"/>
                  <a:pt x="796821" y="581655"/>
                  <a:pt x="803563" y="632217"/>
                </a:cubicBezTo>
                <a:cubicBezTo>
                  <a:pt x="806080" y="651091"/>
                  <a:pt x="812408" y="669265"/>
                  <a:pt x="817418" y="687635"/>
                </a:cubicBezTo>
                <a:cubicBezTo>
                  <a:pt x="826264" y="720071"/>
                  <a:pt x="827829" y="755787"/>
                  <a:pt x="845127" y="784617"/>
                </a:cubicBezTo>
                <a:cubicBezTo>
                  <a:pt x="857007" y="804417"/>
                  <a:pt x="882072" y="812326"/>
                  <a:pt x="900545" y="826180"/>
                </a:cubicBezTo>
                <a:cubicBezTo>
                  <a:pt x="914400" y="798471"/>
                  <a:pt x="913345" y="754558"/>
                  <a:pt x="942109" y="743053"/>
                </a:cubicBezTo>
                <a:cubicBezTo>
                  <a:pt x="961285" y="735383"/>
                  <a:pt x="963883" y="778689"/>
                  <a:pt x="969818" y="798471"/>
                </a:cubicBezTo>
                <a:cubicBezTo>
                  <a:pt x="977890" y="825378"/>
                  <a:pt x="978647" y="853960"/>
                  <a:pt x="983672" y="881598"/>
                </a:cubicBezTo>
                <a:cubicBezTo>
                  <a:pt x="987884" y="904766"/>
                  <a:pt x="992909" y="927780"/>
                  <a:pt x="997527" y="950871"/>
                </a:cubicBezTo>
                <a:cubicBezTo>
                  <a:pt x="1020618" y="937016"/>
                  <a:pt x="1052237" y="931958"/>
                  <a:pt x="1066799" y="909307"/>
                </a:cubicBezTo>
                <a:cubicBezTo>
                  <a:pt x="1150929" y="778438"/>
                  <a:pt x="1101287" y="690578"/>
                  <a:pt x="1136072" y="812326"/>
                </a:cubicBezTo>
                <a:cubicBezTo>
                  <a:pt x="1140084" y="826368"/>
                  <a:pt x="1145309" y="840035"/>
                  <a:pt x="1149927" y="853889"/>
                </a:cubicBezTo>
                <a:cubicBezTo>
                  <a:pt x="1173018" y="844653"/>
                  <a:pt x="1198110" y="839361"/>
                  <a:pt x="1219199" y="826180"/>
                </a:cubicBezTo>
                <a:cubicBezTo>
                  <a:pt x="1235814" y="815796"/>
                  <a:pt x="1242571" y="777340"/>
                  <a:pt x="1260763" y="784617"/>
                </a:cubicBezTo>
                <a:cubicBezTo>
                  <a:pt x="1283854" y="793853"/>
                  <a:pt x="1277350" y="831645"/>
                  <a:pt x="1288472" y="853889"/>
                </a:cubicBezTo>
                <a:cubicBezTo>
                  <a:pt x="1295919" y="868782"/>
                  <a:pt x="1306945" y="881598"/>
                  <a:pt x="1316181" y="895453"/>
                </a:cubicBezTo>
                <a:cubicBezTo>
                  <a:pt x="1343890" y="863126"/>
                  <a:pt x="1367661" y="826954"/>
                  <a:pt x="1399309" y="798471"/>
                </a:cubicBezTo>
                <a:cubicBezTo>
                  <a:pt x="1414660" y="784655"/>
                  <a:pt x="1436596" y="760872"/>
                  <a:pt x="1454727" y="770762"/>
                </a:cubicBezTo>
                <a:cubicBezTo>
                  <a:pt x="1497825" y="794270"/>
                  <a:pt x="1519382" y="844653"/>
                  <a:pt x="1551709" y="881598"/>
                </a:cubicBezTo>
                <a:cubicBezTo>
                  <a:pt x="1565563" y="918544"/>
                  <a:pt x="1565371" y="964534"/>
                  <a:pt x="1593272" y="992435"/>
                </a:cubicBezTo>
                <a:cubicBezTo>
                  <a:pt x="1605046" y="1004209"/>
                  <a:pt x="1625158" y="978276"/>
                  <a:pt x="1634836" y="964726"/>
                </a:cubicBezTo>
                <a:cubicBezTo>
                  <a:pt x="1649291" y="944489"/>
                  <a:pt x="1654681" y="919047"/>
                  <a:pt x="1662545" y="895453"/>
                </a:cubicBezTo>
                <a:cubicBezTo>
                  <a:pt x="1668566" y="877389"/>
                  <a:pt x="1671168" y="858344"/>
                  <a:pt x="1676399" y="840035"/>
                </a:cubicBezTo>
                <a:cubicBezTo>
                  <a:pt x="1680411" y="825993"/>
                  <a:pt x="1685636" y="812326"/>
                  <a:pt x="1690254" y="798471"/>
                </a:cubicBezTo>
                <a:cubicBezTo>
                  <a:pt x="1717963" y="812326"/>
                  <a:pt x="1748597" y="821447"/>
                  <a:pt x="1773381" y="840035"/>
                </a:cubicBezTo>
                <a:cubicBezTo>
                  <a:pt x="1786702" y="850026"/>
                  <a:pt x="1784666" y="884335"/>
                  <a:pt x="1801090" y="881598"/>
                </a:cubicBezTo>
                <a:cubicBezTo>
                  <a:pt x="1826859" y="877303"/>
                  <a:pt x="1835251" y="841364"/>
                  <a:pt x="1856509" y="826180"/>
                </a:cubicBezTo>
                <a:cubicBezTo>
                  <a:pt x="1868393" y="817692"/>
                  <a:pt x="1884218" y="816944"/>
                  <a:pt x="1898072" y="812326"/>
                </a:cubicBezTo>
                <a:cubicBezTo>
                  <a:pt x="1921288" y="905188"/>
                  <a:pt x="1900507" y="832671"/>
                  <a:pt x="1939636" y="937017"/>
                </a:cubicBezTo>
                <a:cubicBezTo>
                  <a:pt x="1954326" y="976191"/>
                  <a:pt x="1972030" y="1043469"/>
                  <a:pt x="1981199" y="1075562"/>
                </a:cubicBezTo>
                <a:cubicBezTo>
                  <a:pt x="2062871" y="953057"/>
                  <a:pt x="1954948" y="1087229"/>
                  <a:pt x="2036618" y="1075562"/>
                </a:cubicBezTo>
                <a:cubicBezTo>
                  <a:pt x="2065891" y="1071380"/>
                  <a:pt x="2082799" y="1038617"/>
                  <a:pt x="2105890" y="1020144"/>
                </a:cubicBezTo>
                <a:cubicBezTo>
                  <a:pt x="2124363" y="1029380"/>
                  <a:pt x="2145628" y="1034412"/>
                  <a:pt x="2161309" y="1047853"/>
                </a:cubicBezTo>
                <a:cubicBezTo>
                  <a:pt x="2178841" y="1062880"/>
                  <a:pt x="2190475" y="1122752"/>
                  <a:pt x="2202872" y="1103271"/>
                </a:cubicBezTo>
                <a:cubicBezTo>
                  <a:pt x="2501135" y="634568"/>
                  <a:pt x="2049400" y="1113818"/>
                  <a:pt x="2341418" y="756907"/>
                </a:cubicBezTo>
                <a:cubicBezTo>
                  <a:pt x="2350666" y="745604"/>
                  <a:pt x="2369127" y="747671"/>
                  <a:pt x="2382981" y="743053"/>
                </a:cubicBezTo>
                <a:cubicBezTo>
                  <a:pt x="2388218" y="764001"/>
                  <a:pt x="2397130" y="840035"/>
                  <a:pt x="2438399" y="840035"/>
                </a:cubicBezTo>
                <a:cubicBezTo>
                  <a:pt x="2455050" y="840035"/>
                  <a:pt x="2453106" y="808873"/>
                  <a:pt x="2466109" y="798471"/>
                </a:cubicBezTo>
                <a:cubicBezTo>
                  <a:pt x="2477513" y="789348"/>
                  <a:pt x="2507672" y="784617"/>
                  <a:pt x="2507672" y="784617"/>
                </a:cubicBezTo>
              </a:path>
            </a:pathLst>
          </a:custGeom>
        </p:spPr>
        <p:style>
          <a:lnRef idx="3">
            <a:schemeClr val="dk1"/>
          </a:lnRef>
          <a:fillRef idx="0">
            <a:schemeClr val="dk1"/>
          </a:fillRef>
          <a:effectRef idx="2">
            <a:schemeClr val="dk1"/>
          </a:effectRef>
          <a:fontRef idx="minor">
            <a:schemeClr val="tx1"/>
          </a:fontRef>
        </p:style>
        <p:txBody>
          <a:bodyPr anchor="ctr"/>
          <a:lstStyle/>
          <a:p>
            <a:pPr algn="ctr">
              <a:defRPr/>
            </a:pPr>
            <a:endParaRPr lang="en-GB" dirty="0"/>
          </a:p>
        </p:txBody>
      </p:sp>
      <p:sp>
        <p:nvSpPr>
          <p:cNvPr id="16397" name="TextBox 22"/>
          <p:cNvSpPr txBox="1">
            <a:spLocks noChangeArrowheads="1"/>
          </p:cNvSpPr>
          <p:nvPr/>
        </p:nvSpPr>
        <p:spPr bwMode="auto">
          <a:xfrm>
            <a:off x="4862513" y="5597525"/>
            <a:ext cx="469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t>Y</a:t>
            </a:r>
            <a:r>
              <a:rPr lang="en-GB" altLang="en-US" sz="2400" baseline="30000"/>
              <a:t>*</a:t>
            </a:r>
            <a:endParaRPr lang="en-GB" altLang="en-US" sz="2400"/>
          </a:p>
        </p:txBody>
      </p:sp>
      <p:cxnSp>
        <p:nvCxnSpPr>
          <p:cNvPr id="25" name="Straight Arrow Connector 24"/>
          <p:cNvCxnSpPr/>
          <p:nvPr/>
        </p:nvCxnSpPr>
        <p:spPr>
          <a:xfrm rot="5400000">
            <a:off x="7162800" y="5222875"/>
            <a:ext cx="941388" cy="1588"/>
          </a:xfrm>
          <a:prstGeom prst="straightConnector1">
            <a:avLst/>
          </a:prstGeom>
          <a:ln>
            <a:solidFill>
              <a:srgbClr val="FF0000"/>
            </a:solidFill>
            <a:tailEnd type="arrow"/>
          </a:ln>
        </p:spPr>
        <p:style>
          <a:lnRef idx="3">
            <a:schemeClr val="dk1"/>
          </a:lnRef>
          <a:fillRef idx="0">
            <a:schemeClr val="dk1"/>
          </a:fillRef>
          <a:effectRef idx="2">
            <a:schemeClr val="dk1"/>
          </a:effectRef>
          <a:fontRef idx="minor">
            <a:schemeClr val="tx1"/>
          </a:fontRef>
        </p:style>
      </p:cxnSp>
      <p:sp>
        <p:nvSpPr>
          <p:cNvPr id="16399" name="TextBox 25"/>
          <p:cNvSpPr txBox="1">
            <a:spLocks noChangeArrowheads="1"/>
          </p:cNvSpPr>
          <p:nvPr/>
        </p:nvSpPr>
        <p:spPr bwMode="auto">
          <a:xfrm>
            <a:off x="7440613" y="3989388"/>
            <a:ext cx="16049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t>Extinction </a:t>
            </a:r>
          </a:p>
          <a:p>
            <a:pPr eaLnBrk="1" hangingPunct="1">
              <a:spcBef>
                <a:spcPct val="0"/>
              </a:spcBef>
              <a:buFontTx/>
              <a:buNone/>
            </a:pPr>
            <a:r>
              <a:rPr lang="en-GB" altLang="en-US" sz="2400"/>
              <a:t>likely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570038"/>
            <a:ext cx="8953500" cy="447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
          <p:cNvSpPr txBox="1">
            <a:spLocks/>
          </p:cNvSpPr>
          <p:nvPr/>
        </p:nvSpPr>
        <p:spPr bwMode="auto">
          <a:xfrm>
            <a:off x="457200" y="274638"/>
            <a:ext cx="82296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accent2"/>
                </a:solidFill>
                <a:latin typeface="+mj-lt"/>
                <a:ea typeface="+mj-ea"/>
                <a:cs typeface="+mj-cs"/>
              </a:defRPr>
            </a:lvl1pPr>
            <a:lvl2pPr algn="ctr" rtl="0" eaLnBrk="0" fontAlgn="base" hangingPunct="0">
              <a:spcBef>
                <a:spcPct val="0"/>
              </a:spcBef>
              <a:spcAft>
                <a:spcPct val="0"/>
              </a:spcAft>
              <a:defRPr sz="3600" b="1">
                <a:solidFill>
                  <a:schemeClr val="accent2"/>
                </a:solidFill>
                <a:latin typeface="Arial" charset="0"/>
              </a:defRPr>
            </a:lvl2pPr>
            <a:lvl3pPr algn="ctr" rtl="0" eaLnBrk="0" fontAlgn="base" hangingPunct="0">
              <a:spcBef>
                <a:spcPct val="0"/>
              </a:spcBef>
              <a:spcAft>
                <a:spcPct val="0"/>
              </a:spcAft>
              <a:defRPr sz="3600" b="1">
                <a:solidFill>
                  <a:schemeClr val="accent2"/>
                </a:solidFill>
                <a:latin typeface="Arial" charset="0"/>
              </a:defRPr>
            </a:lvl3pPr>
            <a:lvl4pPr algn="ctr" rtl="0" eaLnBrk="0" fontAlgn="base" hangingPunct="0">
              <a:spcBef>
                <a:spcPct val="0"/>
              </a:spcBef>
              <a:spcAft>
                <a:spcPct val="0"/>
              </a:spcAft>
              <a:defRPr sz="3600" b="1">
                <a:solidFill>
                  <a:schemeClr val="accent2"/>
                </a:solidFill>
                <a:latin typeface="Arial" charset="0"/>
              </a:defRPr>
            </a:lvl4pPr>
            <a:lvl5pPr algn="ctr" rtl="0" eaLnBrk="0" fontAlgn="base" hangingPunct="0">
              <a:spcBef>
                <a:spcPct val="0"/>
              </a:spcBef>
              <a:spcAft>
                <a:spcPct val="0"/>
              </a:spcAft>
              <a:defRPr sz="3600" b="1">
                <a:solidFill>
                  <a:schemeClr val="accent2"/>
                </a:solidFill>
                <a:latin typeface="Arial" charset="0"/>
              </a:defRPr>
            </a:lvl5pPr>
            <a:lvl6pPr marL="457200" algn="ctr" rtl="0" fontAlgn="base">
              <a:spcBef>
                <a:spcPct val="0"/>
              </a:spcBef>
              <a:spcAft>
                <a:spcPct val="0"/>
              </a:spcAft>
              <a:defRPr sz="3600" b="1">
                <a:solidFill>
                  <a:schemeClr val="accent2"/>
                </a:solidFill>
                <a:latin typeface="Arial" charset="0"/>
              </a:defRPr>
            </a:lvl6pPr>
            <a:lvl7pPr marL="914400" algn="ctr" rtl="0" fontAlgn="base">
              <a:spcBef>
                <a:spcPct val="0"/>
              </a:spcBef>
              <a:spcAft>
                <a:spcPct val="0"/>
              </a:spcAft>
              <a:defRPr sz="3600" b="1">
                <a:solidFill>
                  <a:schemeClr val="accent2"/>
                </a:solidFill>
                <a:latin typeface="Arial" charset="0"/>
              </a:defRPr>
            </a:lvl7pPr>
            <a:lvl8pPr marL="1371600" algn="ctr" rtl="0" fontAlgn="base">
              <a:spcBef>
                <a:spcPct val="0"/>
              </a:spcBef>
              <a:spcAft>
                <a:spcPct val="0"/>
              </a:spcAft>
              <a:defRPr sz="3600" b="1">
                <a:solidFill>
                  <a:schemeClr val="accent2"/>
                </a:solidFill>
                <a:latin typeface="Arial" charset="0"/>
              </a:defRPr>
            </a:lvl8pPr>
            <a:lvl9pPr marL="1828800" algn="ctr" rtl="0" fontAlgn="base">
              <a:spcBef>
                <a:spcPct val="0"/>
              </a:spcBef>
              <a:spcAft>
                <a:spcPct val="0"/>
              </a:spcAft>
              <a:defRPr sz="3600" b="1">
                <a:solidFill>
                  <a:schemeClr val="accent2"/>
                </a:solidFill>
                <a:latin typeface="Arial" charset="0"/>
              </a:defRPr>
            </a:lvl9pPr>
          </a:lstStyle>
          <a:p>
            <a:pPr eaLnBrk="1" hangingPunct="1">
              <a:defRPr/>
            </a:pPr>
            <a:r>
              <a:rPr lang="en-GB" altLang="en-US" sz="2800" dirty="0">
                <a:solidFill>
                  <a:srgbClr val="0033CC"/>
                </a:solidFill>
                <a:ea typeface="+mn-ea"/>
                <a:cs typeface="+mn-cs"/>
              </a:rPr>
              <a:t>Persistence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noTextEdit="1"/>
          </p:cNvSpPr>
          <p:nvPr/>
        </p:nvSpPr>
        <p:spPr bwMode="auto">
          <a:xfrm>
            <a:off x="180975" y="2308225"/>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sp>
        <p:nvSpPr>
          <p:cNvPr id="18435" name="Text Box 3"/>
          <p:cNvSpPr txBox="1">
            <a:spLocks noChangeArrowheads="1"/>
          </p:cNvSpPr>
          <p:nvPr/>
        </p:nvSpPr>
        <p:spPr bwMode="auto">
          <a:xfrm>
            <a:off x="330200" y="1247775"/>
            <a:ext cx="8408988"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ct val="90000"/>
              </a:spcAft>
              <a:buFontTx/>
              <a:buNone/>
            </a:pPr>
            <a:r>
              <a:rPr lang="en-GB" altLang="en-US" sz="2400" dirty="0">
                <a:latin typeface="Calibri" panose="020F0502020204030204" pitchFamily="34" charset="0"/>
              </a:rPr>
              <a:t>Given random fluctuations are approximately Poisson, their variance is proportional to N.</a:t>
            </a:r>
          </a:p>
          <a:p>
            <a:pPr eaLnBrk="1" hangingPunct="1">
              <a:spcBef>
                <a:spcPct val="0"/>
              </a:spcBef>
              <a:spcAft>
                <a:spcPct val="90000"/>
              </a:spcAft>
              <a:buFontTx/>
              <a:buNone/>
            </a:pPr>
            <a:r>
              <a:rPr lang="en-GB" altLang="en-US" sz="2400" i="1" dirty="0">
                <a:latin typeface="Calibri" panose="020F0502020204030204" pitchFamily="34" charset="0"/>
              </a:rPr>
              <a:t>i.e.</a:t>
            </a:r>
            <a:r>
              <a:rPr lang="en-GB" altLang="en-US" sz="2400" dirty="0">
                <a:latin typeface="Calibri" panose="020F0502020204030204" pitchFamily="34" charset="0"/>
              </a:rPr>
              <a:t> fluctuations have </a:t>
            </a:r>
            <a:r>
              <a:rPr lang="en-GB" altLang="en-US" sz="2400" dirty="0">
                <a:solidFill>
                  <a:srgbClr val="FF0000"/>
                </a:solidFill>
                <a:latin typeface="Calibri" panose="020F0502020204030204" pitchFamily="34" charset="0"/>
              </a:rPr>
              <a:t>SD ~ </a:t>
            </a:r>
            <a:r>
              <a:rPr lang="en-GB" altLang="en-US" sz="2400" dirty="0">
                <a:solidFill>
                  <a:srgbClr val="FF0000"/>
                </a:solidFill>
                <a:latin typeface="Calibri" panose="020F0502020204030204" pitchFamily="34" charset="0"/>
                <a:sym typeface="Symbol" panose="05050102010706020507" pitchFamily="18" charset="2"/>
              </a:rPr>
              <a:t></a:t>
            </a:r>
            <a:r>
              <a:rPr lang="en-GB" altLang="en-US" sz="2400" i="1" dirty="0">
                <a:solidFill>
                  <a:srgbClr val="FF0000"/>
                </a:solidFill>
                <a:latin typeface="Calibri" panose="020F0502020204030204" pitchFamily="34" charset="0"/>
                <a:sym typeface="Symbol" panose="05050102010706020507" pitchFamily="18" charset="2"/>
              </a:rPr>
              <a:t>N</a:t>
            </a:r>
            <a:endParaRPr lang="en-GB" altLang="en-US" sz="2400" dirty="0">
              <a:solidFill>
                <a:srgbClr val="FF0000"/>
              </a:solidFill>
              <a:latin typeface="Calibri" panose="020F0502020204030204" pitchFamily="34" charset="0"/>
              <a:sym typeface="Symbol" panose="05050102010706020507" pitchFamily="18" charset="2"/>
            </a:endParaRPr>
          </a:p>
          <a:p>
            <a:pPr eaLnBrk="1" hangingPunct="1">
              <a:spcBef>
                <a:spcPct val="0"/>
              </a:spcBef>
              <a:spcAft>
                <a:spcPct val="90000"/>
              </a:spcAft>
              <a:buFontTx/>
              <a:buNone/>
            </a:pPr>
            <a:r>
              <a:rPr lang="en-GB" altLang="en-US" sz="2400" dirty="0">
                <a:latin typeface="Calibri" panose="020F0502020204030204" pitchFamily="34" charset="0"/>
              </a:rPr>
              <a:t>A disease goes extinct when the number of </a:t>
            </a:r>
            <a:r>
              <a:rPr lang="en-GB" altLang="en-US" sz="2400" dirty="0" err="1">
                <a:latin typeface="Calibri" panose="020F0502020204030204" pitchFamily="34" charset="0"/>
              </a:rPr>
              <a:t>infectives</a:t>
            </a:r>
            <a:r>
              <a:rPr lang="en-GB" altLang="en-US" sz="2400" dirty="0">
                <a:latin typeface="Calibri" panose="020F0502020204030204" pitchFamily="34" charset="0"/>
              </a:rPr>
              <a:t> (Y) falls to 0.</a:t>
            </a:r>
          </a:p>
          <a:p>
            <a:pPr eaLnBrk="1" hangingPunct="1">
              <a:spcBef>
                <a:spcPct val="0"/>
              </a:spcBef>
              <a:spcAft>
                <a:spcPct val="90000"/>
              </a:spcAft>
              <a:buFontTx/>
              <a:buNone/>
            </a:pPr>
            <a:r>
              <a:rPr lang="en-GB" altLang="en-US" sz="2400" dirty="0">
                <a:latin typeface="Calibri" panose="020F0502020204030204" pitchFamily="34" charset="0"/>
              </a:rPr>
              <a:t>A crude rule of thumb is therefore that extinction will be unlikely if  </a:t>
            </a:r>
            <a:r>
              <a:rPr lang="en-GB" altLang="en-US" sz="2400" dirty="0">
                <a:solidFill>
                  <a:srgbClr val="FF0000"/>
                </a:solidFill>
                <a:latin typeface="Calibri" panose="020F0502020204030204" pitchFamily="34" charset="0"/>
              </a:rPr>
              <a:t>E[</a:t>
            </a:r>
            <a:r>
              <a:rPr lang="en-GB" altLang="en-US" sz="2400" i="1" dirty="0">
                <a:solidFill>
                  <a:srgbClr val="FF0000"/>
                </a:solidFill>
                <a:latin typeface="Calibri" panose="020F0502020204030204" pitchFamily="34" charset="0"/>
              </a:rPr>
              <a:t>Y</a:t>
            </a:r>
            <a:r>
              <a:rPr lang="en-GB" altLang="en-US" sz="2400" dirty="0">
                <a:solidFill>
                  <a:srgbClr val="FF0000"/>
                </a:solidFill>
                <a:latin typeface="Calibri" panose="020F0502020204030204" pitchFamily="34" charset="0"/>
              </a:rPr>
              <a:t>]&gt;</a:t>
            </a:r>
            <a:r>
              <a:rPr lang="en-GB" altLang="en-US" sz="2400" dirty="0">
                <a:solidFill>
                  <a:srgbClr val="FF0000"/>
                </a:solidFill>
                <a:latin typeface="Calibri" panose="020F0502020204030204" pitchFamily="34" charset="0"/>
                <a:sym typeface="Symbol" panose="05050102010706020507" pitchFamily="18" charset="2"/>
              </a:rPr>
              <a:t></a:t>
            </a:r>
            <a:r>
              <a:rPr lang="en-GB" altLang="en-US" sz="2400" i="1" dirty="0">
                <a:solidFill>
                  <a:srgbClr val="FF0000"/>
                </a:solidFill>
                <a:latin typeface="Calibri" panose="020F0502020204030204" pitchFamily="34" charset="0"/>
                <a:sym typeface="Symbol" panose="05050102010706020507" pitchFamily="18" charset="2"/>
              </a:rPr>
              <a:t>N.</a:t>
            </a:r>
          </a:p>
          <a:p>
            <a:pPr eaLnBrk="1" hangingPunct="1">
              <a:spcBef>
                <a:spcPct val="0"/>
              </a:spcBef>
              <a:spcAft>
                <a:spcPct val="90000"/>
              </a:spcAft>
              <a:buFontTx/>
              <a:buNone/>
            </a:pPr>
            <a:r>
              <a:rPr lang="en-GB" altLang="en-US" sz="2400" dirty="0">
                <a:latin typeface="Calibri" panose="020F0502020204030204" pitchFamily="34" charset="0"/>
                <a:sym typeface="Symbol" panose="05050102010706020507" pitchFamily="18" charset="2"/>
              </a:rPr>
              <a:t>Thus diseases have an advantage if they can maintain the highest possible numbers of </a:t>
            </a:r>
            <a:r>
              <a:rPr lang="en-GB" altLang="en-US" sz="2400" dirty="0" err="1">
                <a:latin typeface="Calibri" panose="020F0502020204030204" pitchFamily="34" charset="0"/>
                <a:sym typeface="Symbol" panose="05050102010706020507" pitchFamily="18" charset="2"/>
              </a:rPr>
              <a:t>infectives</a:t>
            </a:r>
            <a:r>
              <a:rPr lang="en-GB" altLang="en-US" sz="2400" dirty="0">
                <a:latin typeface="Calibri" panose="020F0502020204030204" pitchFamily="34" charset="0"/>
                <a:sym typeface="Symbol" panose="05050102010706020507" pitchFamily="18" charset="2"/>
              </a:rPr>
              <a:t> for a given population size.</a:t>
            </a:r>
          </a:p>
          <a:p>
            <a:pPr eaLnBrk="1" hangingPunct="1">
              <a:spcBef>
                <a:spcPct val="0"/>
              </a:spcBef>
              <a:spcAft>
                <a:spcPct val="90000"/>
              </a:spcAft>
              <a:buFontTx/>
              <a:buNone/>
            </a:pPr>
            <a:r>
              <a:rPr lang="en-GB" altLang="en-US" sz="2400" dirty="0">
                <a:latin typeface="Calibri" panose="020F0502020204030204" pitchFamily="34" charset="0"/>
                <a:sym typeface="Symbol" panose="05050102010706020507" pitchFamily="18" charset="2"/>
              </a:rPr>
              <a:t>Infectious period and immunity are therefore key.</a:t>
            </a:r>
            <a:endParaRPr lang="en-US" altLang="en-US" sz="2400" dirty="0">
              <a:latin typeface="Calibri" panose="020F0502020204030204" pitchFamily="34" charset="0"/>
            </a:endParaRPr>
          </a:p>
        </p:txBody>
      </p:sp>
      <p:sp>
        <p:nvSpPr>
          <p:cNvPr id="18436" name="Rectangle 4"/>
          <p:cNvSpPr>
            <a:spLocks noChangeArrowheads="1"/>
          </p:cNvSpPr>
          <p:nvPr/>
        </p:nvSpPr>
        <p:spPr bwMode="auto">
          <a:xfrm>
            <a:off x="793750" y="188913"/>
            <a:ext cx="7780338"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Disease epidemiology and persistence:</a:t>
            </a:r>
            <a:br>
              <a:rPr lang="en-GB" altLang="en-US" sz="2800" b="1">
                <a:solidFill>
                  <a:srgbClr val="0033CC"/>
                </a:solidFill>
              </a:rPr>
            </a:br>
            <a:r>
              <a:rPr lang="en-GB" altLang="en-US" sz="2800" b="1">
                <a:solidFill>
                  <a:srgbClr val="0033CC"/>
                </a:solidFill>
              </a:rPr>
              <a:t>a simple criterion for disease persistence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3"/>
          <p:cNvGraphicFramePr>
            <a:graphicFrameLocks noChangeAspect="1"/>
          </p:cNvGraphicFramePr>
          <p:nvPr/>
        </p:nvGraphicFramePr>
        <p:xfrm>
          <a:off x="5186363" y="2886075"/>
          <a:ext cx="2089150" cy="1516063"/>
        </p:xfrm>
        <a:graphic>
          <a:graphicData uri="http://schemas.openxmlformats.org/presentationml/2006/ole">
            <mc:AlternateContent xmlns:mc="http://schemas.openxmlformats.org/markup-compatibility/2006">
              <mc:Choice xmlns:v="urn:schemas-microsoft-com:vml" Requires="v">
                <p:oleObj spid="_x0000_s19584" name="Equation" r:id="rId3" imgW="1955800" imgH="1447800" progId="Equation.DSMT4">
                  <p:embed/>
                </p:oleObj>
              </mc:Choice>
              <mc:Fallback>
                <p:oleObj name="Equation" r:id="rId3" imgW="1955800" imgH="1447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6363" y="2886075"/>
                        <a:ext cx="2089150" cy="151606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59" name="Object 4"/>
          <p:cNvGraphicFramePr>
            <a:graphicFrameLocks noChangeAspect="1"/>
          </p:cNvGraphicFramePr>
          <p:nvPr/>
        </p:nvGraphicFramePr>
        <p:xfrm>
          <a:off x="1076325" y="2794000"/>
          <a:ext cx="2578100" cy="1092200"/>
        </p:xfrm>
        <a:graphic>
          <a:graphicData uri="http://schemas.openxmlformats.org/presentationml/2006/ole">
            <mc:AlternateContent xmlns:mc="http://schemas.openxmlformats.org/markup-compatibility/2006">
              <mc:Choice xmlns:v="urn:schemas-microsoft-com:vml" Requires="v">
                <p:oleObj spid="_x0000_s19585" name="Equation" r:id="rId5" imgW="2413000" imgH="1041400" progId="Equation.DSMT4">
                  <p:embed/>
                </p:oleObj>
              </mc:Choice>
              <mc:Fallback>
                <p:oleObj name="Equation" r:id="rId5" imgW="2413000" imgH="1041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325" y="2794000"/>
                        <a:ext cx="2578100" cy="10922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5"/>
          <p:cNvGraphicFramePr>
            <a:graphicFrameLocks noChangeAspect="1"/>
          </p:cNvGraphicFramePr>
          <p:nvPr/>
        </p:nvGraphicFramePr>
        <p:xfrm>
          <a:off x="7046913" y="4783138"/>
          <a:ext cx="974725" cy="1177925"/>
        </p:xfrm>
        <a:graphic>
          <a:graphicData uri="http://schemas.openxmlformats.org/presentationml/2006/ole">
            <mc:AlternateContent xmlns:mc="http://schemas.openxmlformats.org/markup-compatibility/2006">
              <mc:Choice xmlns:v="urn:schemas-microsoft-com:vml" Requires="v">
                <p:oleObj spid="_x0000_s19586" name="Equation" r:id="rId7" imgW="698197" imgH="863225" progId="Equation.3">
                  <p:embed/>
                </p:oleObj>
              </mc:Choice>
              <mc:Fallback>
                <p:oleObj name="Equation" r:id="rId7" imgW="698197" imgH="86322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6913" y="4783138"/>
                        <a:ext cx="974725" cy="1177925"/>
                      </a:xfrm>
                      <a:prstGeom prst="rect">
                        <a:avLst/>
                      </a:prstGeom>
                      <a:noFill/>
                      <a:ln w="38100">
                        <a:solidFill>
                          <a:srgbClr val="D6009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1" name="Rectangle 6"/>
          <p:cNvSpPr>
            <a:spLocks noChangeArrowheads="1"/>
          </p:cNvSpPr>
          <p:nvPr/>
        </p:nvSpPr>
        <p:spPr bwMode="auto">
          <a:xfrm>
            <a:off x="819150" y="188913"/>
            <a:ext cx="7780338"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SIR/SIS persistence criteria</a:t>
            </a:r>
          </a:p>
        </p:txBody>
      </p:sp>
      <p:sp>
        <p:nvSpPr>
          <p:cNvPr id="19462" name="Text Box 7"/>
          <p:cNvSpPr txBox="1">
            <a:spLocks noChangeArrowheads="1"/>
          </p:cNvSpPr>
          <p:nvPr/>
        </p:nvSpPr>
        <p:spPr bwMode="auto">
          <a:xfrm>
            <a:off x="5243513" y="2427288"/>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a:solidFill>
                  <a:srgbClr val="FF0000"/>
                </a:solidFill>
              </a:rPr>
              <a:t>SIR (measles etc)</a:t>
            </a:r>
            <a:endParaRPr lang="en-US" altLang="en-US" sz="1800" b="1">
              <a:solidFill>
                <a:srgbClr val="FF0000"/>
              </a:solidFill>
            </a:endParaRPr>
          </a:p>
        </p:txBody>
      </p:sp>
      <p:sp>
        <p:nvSpPr>
          <p:cNvPr id="19463" name="Text Box 8"/>
          <p:cNvSpPr txBox="1">
            <a:spLocks noChangeArrowheads="1"/>
          </p:cNvSpPr>
          <p:nvPr/>
        </p:nvSpPr>
        <p:spPr bwMode="auto">
          <a:xfrm>
            <a:off x="1412875" y="2311400"/>
            <a:ext cx="174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a:solidFill>
                  <a:srgbClr val="FF0000"/>
                </a:solidFill>
              </a:rPr>
              <a:t>SIS (STDs etc)</a:t>
            </a:r>
            <a:endParaRPr lang="en-US" altLang="en-US" sz="1800" b="1">
              <a:solidFill>
                <a:srgbClr val="FF0000"/>
              </a:solidFill>
            </a:endParaRPr>
          </a:p>
        </p:txBody>
      </p:sp>
      <p:graphicFrame>
        <p:nvGraphicFramePr>
          <p:cNvPr id="19464" name="Object 9"/>
          <p:cNvGraphicFramePr>
            <a:graphicFrameLocks noChangeAspect="1"/>
          </p:cNvGraphicFramePr>
          <p:nvPr/>
        </p:nvGraphicFramePr>
        <p:xfrm>
          <a:off x="1778000" y="4700588"/>
          <a:ext cx="1379538" cy="658812"/>
        </p:xfrm>
        <a:graphic>
          <a:graphicData uri="http://schemas.openxmlformats.org/presentationml/2006/ole">
            <mc:AlternateContent xmlns:mc="http://schemas.openxmlformats.org/markup-compatibility/2006">
              <mc:Choice xmlns:v="urn:schemas-microsoft-com:vml" Requires="v">
                <p:oleObj spid="_x0000_s19587" name="Equation" r:id="rId9" imgW="990170" imgH="482391" progId="Equation.3">
                  <p:embed/>
                </p:oleObj>
              </mc:Choice>
              <mc:Fallback>
                <p:oleObj name="Equation" r:id="rId9" imgW="990170" imgH="482391"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8000" y="4700588"/>
                        <a:ext cx="1379538" cy="658812"/>
                      </a:xfrm>
                      <a:prstGeom prst="rect">
                        <a:avLst/>
                      </a:prstGeom>
                      <a:noFill/>
                      <a:ln w="38100">
                        <a:solidFill>
                          <a:srgbClr val="D6009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5" name="Object 10"/>
          <p:cNvGraphicFramePr>
            <a:graphicFrameLocks noChangeAspect="1"/>
          </p:cNvGraphicFramePr>
          <p:nvPr/>
        </p:nvGraphicFramePr>
        <p:xfrm>
          <a:off x="4710113" y="4799013"/>
          <a:ext cx="2051050" cy="658812"/>
        </p:xfrm>
        <a:graphic>
          <a:graphicData uri="http://schemas.openxmlformats.org/presentationml/2006/ole">
            <mc:AlternateContent xmlns:mc="http://schemas.openxmlformats.org/markup-compatibility/2006">
              <mc:Choice xmlns:v="urn:schemas-microsoft-com:vml" Requires="v">
                <p:oleObj spid="_x0000_s19588" name="Equation" r:id="rId11" imgW="1473200" imgH="482600" progId="Equation.3">
                  <p:embed/>
                </p:oleObj>
              </mc:Choice>
              <mc:Fallback>
                <p:oleObj name="Equation" r:id="rId11" imgW="1473200" imgH="4826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0113" y="4799013"/>
                        <a:ext cx="2051050" cy="658812"/>
                      </a:xfrm>
                      <a:prstGeom prst="rect">
                        <a:avLst/>
                      </a:prstGeom>
                      <a:noFill/>
                      <a:ln w="38100">
                        <a:solidFill>
                          <a:srgbClr val="D6009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Text Box 11"/>
          <p:cNvSpPr txBox="1">
            <a:spLocks noChangeArrowheads="1"/>
          </p:cNvSpPr>
          <p:nvPr/>
        </p:nvSpPr>
        <p:spPr bwMode="auto">
          <a:xfrm>
            <a:off x="314325" y="1284288"/>
            <a:ext cx="84089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latin typeface="Calibri" panose="020F0502020204030204" pitchFamily="34" charset="0"/>
              </a:rPr>
              <a:t>A lot can be inferred from just examining the relationship between prevalence and epidemiological parameters. </a:t>
            </a:r>
            <a:endParaRPr lang="en-GB" altLang="en-US" sz="2400" i="1" baseline="-25000">
              <a:solidFill>
                <a:srgbClr val="FF0000"/>
              </a:solidFill>
              <a:latin typeface="Calibri" panose="020F0502020204030204" pitchFamily="34" charset="0"/>
              <a:sym typeface="Symbol" panose="05050102010706020507" pitchFamily="18" charset="2"/>
            </a:endParaRPr>
          </a:p>
        </p:txBody>
      </p:sp>
      <p:sp>
        <p:nvSpPr>
          <p:cNvPr id="2" name="TextBox 1"/>
          <p:cNvSpPr txBox="1"/>
          <p:nvPr/>
        </p:nvSpPr>
        <p:spPr>
          <a:xfrm>
            <a:off x="3908886" y="6357938"/>
            <a:ext cx="3246402" cy="338554"/>
          </a:xfrm>
          <a:prstGeom prst="rect">
            <a:avLst/>
          </a:prstGeom>
          <a:noFill/>
        </p:spPr>
        <p:txBody>
          <a:bodyPr wrap="none" rtlCol="0">
            <a:spAutoFit/>
          </a:bodyPr>
          <a:lstStyle/>
          <a:p>
            <a:r>
              <a:rPr lang="en-US" sz="1600" dirty="0"/>
              <a:t>Herd immunity threshold S&lt; N/R0</a:t>
            </a:r>
          </a:p>
        </p:txBody>
      </p:sp>
      <p:cxnSp>
        <p:nvCxnSpPr>
          <p:cNvPr id="4" name="Straight Arrow Connector 3"/>
          <p:cNvCxnSpPr>
            <a:stCxn id="2" idx="0"/>
          </p:cNvCxnSpPr>
          <p:nvPr/>
        </p:nvCxnSpPr>
        <p:spPr>
          <a:xfrm flipV="1">
            <a:off x="5532087" y="5854700"/>
            <a:ext cx="1787876" cy="5032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a:spLocks noChangeArrowheads="1"/>
          </p:cNvSpPr>
          <p:nvPr/>
        </p:nvSpPr>
        <p:spPr bwMode="auto">
          <a:xfrm>
            <a:off x="328613" y="1381125"/>
            <a:ext cx="8408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dirty="0">
                <a:latin typeface="Calibri" panose="020F0502020204030204" pitchFamily="34" charset="0"/>
              </a:rPr>
              <a:t>What is value of </a:t>
            </a:r>
            <a:r>
              <a:rPr lang="en-GB" altLang="en-US" sz="2400" i="1" dirty="0">
                <a:solidFill>
                  <a:srgbClr val="FF0000"/>
                </a:solidFill>
                <a:latin typeface="Calibri" panose="020F0502020204030204" pitchFamily="34" charset="0"/>
              </a:rPr>
              <a:t>N</a:t>
            </a:r>
            <a:r>
              <a:rPr lang="en-GB" altLang="en-US" sz="2400" dirty="0">
                <a:latin typeface="Calibri" panose="020F0502020204030204" pitchFamily="34" charset="0"/>
              </a:rPr>
              <a:t> above which </a:t>
            </a:r>
            <a:r>
              <a:rPr lang="en-GB" altLang="en-US" sz="2400" dirty="0">
                <a:solidFill>
                  <a:srgbClr val="FF0000"/>
                </a:solidFill>
                <a:latin typeface="Calibri" panose="020F0502020204030204" pitchFamily="34" charset="0"/>
              </a:rPr>
              <a:t>Y</a:t>
            </a:r>
            <a:r>
              <a:rPr lang="en-GB" altLang="en-US" sz="2400" baseline="30000" dirty="0">
                <a:solidFill>
                  <a:srgbClr val="FF0000"/>
                </a:solidFill>
                <a:latin typeface="Calibri" panose="020F0502020204030204" pitchFamily="34" charset="0"/>
              </a:rPr>
              <a:t>*</a:t>
            </a:r>
            <a:r>
              <a:rPr lang="en-GB" altLang="en-US" sz="2400" dirty="0">
                <a:solidFill>
                  <a:srgbClr val="FF0000"/>
                </a:solidFill>
                <a:latin typeface="Calibri" panose="020F0502020204030204" pitchFamily="34" charset="0"/>
              </a:rPr>
              <a:t>&gt;</a:t>
            </a:r>
            <a:r>
              <a:rPr lang="en-GB" altLang="en-US" sz="2400" dirty="0">
                <a:latin typeface="Calibri" panose="020F0502020204030204" pitchFamily="34" charset="0"/>
              </a:rPr>
              <a:t> </a:t>
            </a:r>
            <a:r>
              <a:rPr lang="en-GB" altLang="en-US" sz="2400" dirty="0">
                <a:solidFill>
                  <a:srgbClr val="FF0000"/>
                </a:solidFill>
                <a:latin typeface="Calibri" panose="020F0502020204030204" pitchFamily="34" charset="0"/>
                <a:sym typeface="Symbol" panose="05050102010706020507" pitchFamily="18" charset="2"/>
              </a:rPr>
              <a:t></a:t>
            </a:r>
            <a:r>
              <a:rPr lang="en-GB" altLang="en-US" sz="2400" i="1" dirty="0">
                <a:solidFill>
                  <a:srgbClr val="FF0000"/>
                </a:solidFill>
                <a:latin typeface="Calibri" panose="020F0502020204030204" pitchFamily="34" charset="0"/>
                <a:sym typeface="Symbol" panose="05050102010706020507" pitchFamily="18" charset="2"/>
              </a:rPr>
              <a:t>N </a:t>
            </a:r>
            <a:r>
              <a:rPr lang="en-GB" altLang="en-US" sz="2400" dirty="0">
                <a:latin typeface="Calibri" panose="020F0502020204030204" pitchFamily="34" charset="0"/>
                <a:sym typeface="Symbol" panose="05050102010706020507" pitchFamily="18" charset="2"/>
              </a:rPr>
              <a:t>?   </a:t>
            </a:r>
            <a:r>
              <a:rPr lang="en-GB" altLang="en-US" sz="2400" dirty="0">
                <a:latin typeface="Calibri" panose="020F0502020204030204" pitchFamily="34" charset="0"/>
                <a:sym typeface="Wingdings" panose="05000000000000000000" pitchFamily="2" charset="2"/>
              </a:rPr>
              <a:t></a:t>
            </a:r>
            <a:r>
              <a:rPr lang="en-GB" altLang="en-US" sz="2400" dirty="0">
                <a:latin typeface="Calibri" panose="020F0502020204030204" pitchFamily="34" charset="0"/>
                <a:sym typeface="Symbol" panose="05050102010706020507" pitchFamily="18" charset="2"/>
              </a:rPr>
              <a:t> </a:t>
            </a:r>
            <a:r>
              <a:rPr lang="en-GB" altLang="en-US" sz="2400" i="1" dirty="0" err="1">
                <a:solidFill>
                  <a:srgbClr val="FF0000"/>
                </a:solidFill>
                <a:latin typeface="Calibri" panose="020F0502020204030204" pitchFamily="34" charset="0"/>
                <a:sym typeface="Symbol" panose="05050102010706020507" pitchFamily="18" charset="2"/>
              </a:rPr>
              <a:t>N</a:t>
            </a:r>
            <a:r>
              <a:rPr lang="en-GB" altLang="en-US" sz="2400" i="1" baseline="-25000" dirty="0" err="1">
                <a:solidFill>
                  <a:srgbClr val="FF0000"/>
                </a:solidFill>
                <a:latin typeface="Calibri" panose="020F0502020204030204" pitchFamily="34" charset="0"/>
                <a:sym typeface="Symbol" panose="05050102010706020507" pitchFamily="18" charset="2"/>
              </a:rPr>
              <a:t>crit</a:t>
            </a:r>
            <a:endParaRPr lang="en-GB" altLang="en-US" sz="2400" i="1" baseline="-25000" dirty="0">
              <a:solidFill>
                <a:srgbClr val="FF0000"/>
              </a:solidFill>
              <a:latin typeface="Calibri" panose="020F0502020204030204" pitchFamily="34" charset="0"/>
              <a:sym typeface="Symbol" panose="05050102010706020507" pitchFamily="18" charset="2"/>
            </a:endParaRPr>
          </a:p>
        </p:txBody>
      </p:sp>
      <p:sp>
        <p:nvSpPr>
          <p:cNvPr id="20483" name="Rectangle 5"/>
          <p:cNvSpPr>
            <a:spLocks noChangeArrowheads="1"/>
          </p:cNvSpPr>
          <p:nvPr/>
        </p:nvSpPr>
        <p:spPr bwMode="auto">
          <a:xfrm>
            <a:off x="819150" y="188913"/>
            <a:ext cx="7780338"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SIR/SIS persistence criteria</a:t>
            </a:r>
          </a:p>
        </p:txBody>
      </p:sp>
      <p:graphicFrame>
        <p:nvGraphicFramePr>
          <p:cNvPr id="20484" name="Object 6"/>
          <p:cNvGraphicFramePr>
            <a:graphicFrameLocks noChangeAspect="1"/>
          </p:cNvGraphicFramePr>
          <p:nvPr/>
        </p:nvGraphicFramePr>
        <p:xfrm>
          <a:off x="4475163" y="2740025"/>
          <a:ext cx="4310062" cy="1676400"/>
        </p:xfrm>
        <a:graphic>
          <a:graphicData uri="http://schemas.openxmlformats.org/presentationml/2006/ole">
            <mc:AlternateContent xmlns:mc="http://schemas.openxmlformats.org/markup-compatibility/2006">
              <mc:Choice xmlns:v="urn:schemas-microsoft-com:vml" Requires="v">
                <p:oleObj spid="_x0000_s20532" name="Equation" r:id="rId3" imgW="2463800" imgH="977900" progId="Equation.3">
                  <p:embed/>
                </p:oleObj>
              </mc:Choice>
              <mc:Fallback>
                <p:oleObj name="Equation" r:id="rId3" imgW="2463800" imgH="9779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5163" y="2740025"/>
                        <a:ext cx="4310062" cy="1676400"/>
                      </a:xfrm>
                      <a:prstGeom prst="rect">
                        <a:avLst/>
                      </a:prstGeom>
                      <a:noFill/>
                      <a:ln w="38100">
                        <a:solidFill>
                          <a:srgbClr val="D6009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5" name="Object 7"/>
          <p:cNvGraphicFramePr>
            <a:graphicFrameLocks noChangeAspect="1"/>
          </p:cNvGraphicFramePr>
          <p:nvPr/>
        </p:nvGraphicFramePr>
        <p:xfrm>
          <a:off x="466725" y="2773363"/>
          <a:ext cx="3101975" cy="1663700"/>
        </p:xfrm>
        <a:graphic>
          <a:graphicData uri="http://schemas.openxmlformats.org/presentationml/2006/ole">
            <mc:AlternateContent xmlns:mc="http://schemas.openxmlformats.org/markup-compatibility/2006">
              <mc:Choice xmlns:v="urn:schemas-microsoft-com:vml" Requires="v">
                <p:oleObj spid="_x0000_s20533" name="Equation" r:id="rId5" imgW="1714500" imgH="939800" progId="Equation.3">
                  <p:embed/>
                </p:oleObj>
              </mc:Choice>
              <mc:Fallback>
                <p:oleObj name="Equation" r:id="rId5" imgW="1714500" imgH="939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725" y="2773363"/>
                        <a:ext cx="3101975" cy="1663700"/>
                      </a:xfrm>
                      <a:prstGeom prst="rect">
                        <a:avLst/>
                      </a:prstGeom>
                      <a:noFill/>
                      <a:ln w="38100">
                        <a:solidFill>
                          <a:srgbClr val="D6009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6" name="Text Box 8"/>
          <p:cNvSpPr txBox="1">
            <a:spLocks noChangeArrowheads="1"/>
          </p:cNvSpPr>
          <p:nvPr/>
        </p:nvSpPr>
        <p:spPr bwMode="auto">
          <a:xfrm>
            <a:off x="5578475" y="2208213"/>
            <a:ext cx="2284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b="1">
                <a:solidFill>
                  <a:srgbClr val="FF0000"/>
                </a:solidFill>
              </a:rPr>
              <a:t>SIR (measles etc)</a:t>
            </a:r>
            <a:endParaRPr lang="en-US" altLang="en-US" sz="2000" b="1">
              <a:solidFill>
                <a:srgbClr val="FF0000"/>
              </a:solidFill>
            </a:endParaRPr>
          </a:p>
        </p:txBody>
      </p:sp>
      <p:sp>
        <p:nvSpPr>
          <p:cNvPr id="20487" name="Text Box 9"/>
          <p:cNvSpPr txBox="1">
            <a:spLocks noChangeArrowheads="1"/>
          </p:cNvSpPr>
          <p:nvPr/>
        </p:nvSpPr>
        <p:spPr bwMode="auto">
          <a:xfrm>
            <a:off x="665163" y="2265363"/>
            <a:ext cx="191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b="1">
                <a:solidFill>
                  <a:srgbClr val="FF0000"/>
                </a:solidFill>
              </a:rPr>
              <a:t>SIS (STDs etc)</a:t>
            </a:r>
            <a:endParaRPr lang="en-US" altLang="en-US" sz="2000" b="1">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457200" y="274638"/>
            <a:ext cx="8229600" cy="762000"/>
          </a:xfrm>
        </p:spPr>
        <p:txBody>
          <a:bodyPr/>
          <a:lstStyle/>
          <a:p>
            <a:pPr eaLnBrk="1" hangingPunct="1">
              <a:defRPr/>
            </a:pPr>
            <a:r>
              <a:rPr lang="en-GB" altLang="en-US" sz="2800" kern="1200" dirty="0">
                <a:solidFill>
                  <a:srgbClr val="0033CC"/>
                </a:solidFill>
                <a:ea typeface="+mn-ea"/>
                <a:cs typeface="+mn-cs"/>
              </a:rPr>
              <a:t>Critical community size</a:t>
            </a:r>
          </a:p>
        </p:txBody>
      </p:sp>
      <p:sp>
        <p:nvSpPr>
          <p:cNvPr id="21507" name="Rectangle 3"/>
          <p:cNvSpPr>
            <a:spLocks noChangeArrowheads="1" noTextEdit="1"/>
          </p:cNvSpPr>
          <p:nvPr/>
        </p:nvSpPr>
        <p:spPr bwMode="auto">
          <a:xfrm>
            <a:off x="3857625" y="2271713"/>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grpSp>
        <p:nvGrpSpPr>
          <p:cNvPr id="21508" name="Group 10"/>
          <p:cNvGrpSpPr>
            <a:grpSpLocks/>
          </p:cNvGrpSpPr>
          <p:nvPr/>
        </p:nvGrpSpPr>
        <p:grpSpPr bwMode="auto">
          <a:xfrm>
            <a:off x="685800" y="1752600"/>
            <a:ext cx="7150100" cy="4171950"/>
            <a:chOff x="432" y="1104"/>
            <a:chExt cx="4504" cy="2628"/>
          </a:xfrm>
        </p:grpSpPr>
        <p:sp>
          <p:nvSpPr>
            <p:cNvPr id="21511" name="Text Box 11"/>
            <p:cNvSpPr txBox="1">
              <a:spLocks noChangeArrowheads="1"/>
            </p:cNvSpPr>
            <p:nvPr/>
          </p:nvSpPr>
          <p:spPr bwMode="auto">
            <a:xfrm>
              <a:off x="432" y="1104"/>
              <a:ext cx="45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800" b="1" i="1">
                  <a:solidFill>
                    <a:srgbClr val="990000"/>
                  </a:solidFill>
                </a:rPr>
                <a:t>CCS = minimum population size at which fadeouts become rare.</a:t>
              </a:r>
            </a:p>
          </p:txBody>
        </p:sp>
        <p:graphicFrame>
          <p:nvGraphicFramePr>
            <p:cNvPr id="21512" name="Object 2"/>
            <p:cNvGraphicFramePr>
              <a:graphicFrameLocks noChangeAspect="1"/>
            </p:cNvGraphicFramePr>
            <p:nvPr/>
          </p:nvGraphicFramePr>
          <p:xfrm>
            <a:off x="624" y="1536"/>
            <a:ext cx="3720" cy="2196"/>
          </p:xfrm>
          <a:graphic>
            <a:graphicData uri="http://schemas.openxmlformats.org/presentationml/2006/ole">
              <mc:AlternateContent xmlns:mc="http://schemas.openxmlformats.org/markup-compatibility/2006">
                <mc:Choice xmlns:v="urn:schemas-microsoft-com:vml" Requires="v">
                  <p:oleObj spid="_x0000_s21536" name="Image" r:id="rId3" imgW="5905138" imgH="3486166" progId="Photoshop.Image.5">
                    <p:embed/>
                  </p:oleObj>
                </mc:Choice>
                <mc:Fallback>
                  <p:oleObj name="Image" r:id="rId3" imgW="5905138" imgH="3486166" progId="Photoshop.Image.5">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 y="1536"/>
                          <a:ext cx="3720" cy="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39983" name="Freeform 15"/>
          <p:cNvSpPr>
            <a:spLocks/>
          </p:cNvSpPr>
          <p:nvPr/>
        </p:nvSpPr>
        <p:spPr bwMode="auto">
          <a:xfrm>
            <a:off x="1814513" y="2520950"/>
            <a:ext cx="5030787" cy="2454275"/>
          </a:xfrm>
          <a:custGeom>
            <a:avLst/>
            <a:gdLst>
              <a:gd name="T0" fmla="*/ 0 w 3169"/>
              <a:gd name="T1" fmla="*/ 2147483647 h 1546"/>
              <a:gd name="T2" fmla="*/ 2147483647 w 3169"/>
              <a:gd name="T3" fmla="*/ 2147483647 h 1546"/>
              <a:gd name="T4" fmla="*/ 2147483647 w 3169"/>
              <a:gd name="T5" fmla="*/ 2147483647 h 1546"/>
              <a:gd name="T6" fmla="*/ 2147483647 w 3169"/>
              <a:gd name="T7" fmla="*/ 2147483647 h 1546"/>
              <a:gd name="T8" fmla="*/ 2147483647 w 3169"/>
              <a:gd name="T9" fmla="*/ 2147483647 h 1546"/>
              <a:gd name="T10" fmla="*/ 2147483647 w 3169"/>
              <a:gd name="T11" fmla="*/ 2147483647 h 1546"/>
              <a:gd name="T12" fmla="*/ 0 60000 65536"/>
              <a:gd name="T13" fmla="*/ 0 60000 65536"/>
              <a:gd name="T14" fmla="*/ 0 60000 65536"/>
              <a:gd name="T15" fmla="*/ 0 60000 65536"/>
              <a:gd name="T16" fmla="*/ 0 60000 65536"/>
              <a:gd name="T17" fmla="*/ 0 60000 65536"/>
              <a:gd name="T18" fmla="*/ 0 w 3169"/>
              <a:gd name="T19" fmla="*/ 0 h 1546"/>
              <a:gd name="T20" fmla="*/ 3169 w 3169"/>
              <a:gd name="T21" fmla="*/ 1546 h 1546"/>
            </a:gdLst>
            <a:ahLst/>
            <a:cxnLst>
              <a:cxn ang="T12">
                <a:pos x="T0" y="T1"/>
              </a:cxn>
              <a:cxn ang="T13">
                <a:pos x="T2" y="T3"/>
              </a:cxn>
              <a:cxn ang="T14">
                <a:pos x="T4" y="T5"/>
              </a:cxn>
              <a:cxn ang="T15">
                <a:pos x="T6" y="T7"/>
              </a:cxn>
              <a:cxn ang="T16">
                <a:pos x="T8" y="T9"/>
              </a:cxn>
              <a:cxn ang="T17">
                <a:pos x="T10" y="T11"/>
              </a:cxn>
            </a:cxnLst>
            <a:rect l="T18" t="T19" r="T20" b="T21"/>
            <a:pathLst>
              <a:path w="3169" h="1546">
                <a:moveTo>
                  <a:pt x="0" y="53"/>
                </a:moveTo>
                <a:cubicBezTo>
                  <a:pt x="185" y="78"/>
                  <a:pt x="863" y="0"/>
                  <a:pt x="1109" y="201"/>
                </a:cubicBezTo>
                <a:cubicBezTo>
                  <a:pt x="1355" y="402"/>
                  <a:pt x="1353" y="1040"/>
                  <a:pt x="1475" y="1257"/>
                </a:cubicBezTo>
                <a:cubicBezTo>
                  <a:pt x="1597" y="1474"/>
                  <a:pt x="1644" y="1456"/>
                  <a:pt x="1842" y="1501"/>
                </a:cubicBezTo>
                <a:cubicBezTo>
                  <a:pt x="2040" y="1546"/>
                  <a:pt x="2441" y="1523"/>
                  <a:pt x="2662" y="1527"/>
                </a:cubicBezTo>
                <a:cubicBezTo>
                  <a:pt x="2883" y="1531"/>
                  <a:pt x="3003" y="1531"/>
                  <a:pt x="3169" y="1527"/>
                </a:cubicBezTo>
              </a:path>
            </a:pathLst>
          </a:cu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1510" name="TextBox 9"/>
          <p:cNvSpPr txBox="1">
            <a:spLocks noChangeArrowheads="1"/>
          </p:cNvSpPr>
          <p:nvPr/>
        </p:nvSpPr>
        <p:spPr bwMode="auto">
          <a:xfrm>
            <a:off x="5486400" y="6219825"/>
            <a:ext cx="3640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a:t>Data: Bolker and Grenfell Phil Trans Roy Soc 1995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9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8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noTextEdit="1"/>
          </p:cNvSpPr>
          <p:nvPr/>
        </p:nvSpPr>
        <p:spPr bwMode="auto">
          <a:xfrm>
            <a:off x="180975" y="2308225"/>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sp>
        <p:nvSpPr>
          <p:cNvPr id="22531" name="Text Box 4"/>
          <p:cNvSpPr txBox="1">
            <a:spLocks noChangeArrowheads="1"/>
          </p:cNvSpPr>
          <p:nvPr/>
        </p:nvSpPr>
        <p:spPr bwMode="auto">
          <a:xfrm>
            <a:off x="314325" y="1266825"/>
            <a:ext cx="8408988"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a:latin typeface="Calibri" panose="020F0502020204030204" pitchFamily="34" charset="0"/>
              </a:rPr>
              <a:t>Antigenic variation (or not generating permanent host immunity) clearly gives a large advantage – which is why STDs are found in even very small communities.</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SIR diseases with short infectious periods like measles, rubella etc. need very large (&gt;500,000) populations to be able to persist – otherwise they burn out the susceptible population too quickly.</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A long infectious period (or disease recrudence, like chickenpox) compared with host lifespan is also an effective strategy – it pays to be chronic.</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Disease like influenza fall between the SIR/SIS camps – antigenic drift requires fairly large populations to happen, but does allow disease persistence in smaller populations than measles.</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Not just an abstract issue – critical to evaluations of how realistic disease eradication programmes might be.</a:t>
            </a:r>
            <a:endParaRPr lang="en-US" altLang="en-US" sz="2000">
              <a:latin typeface="Calibri" panose="020F0502020204030204" pitchFamily="34" charset="0"/>
            </a:endParaRPr>
          </a:p>
        </p:txBody>
      </p:sp>
      <p:sp>
        <p:nvSpPr>
          <p:cNvPr id="22532" name="Rectangle 5"/>
          <p:cNvSpPr>
            <a:spLocks noChangeArrowheads="1"/>
          </p:cNvSpPr>
          <p:nvPr/>
        </p:nvSpPr>
        <p:spPr bwMode="auto">
          <a:xfrm>
            <a:off x="765175" y="328613"/>
            <a:ext cx="7780338"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Mechanisms for enhancing persistence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765175" y="328613"/>
            <a:ext cx="778033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Fade out probability</a:t>
            </a:r>
          </a:p>
        </p:txBody>
      </p:sp>
      <p:cxnSp>
        <p:nvCxnSpPr>
          <p:cNvPr id="5" name="Straight Arrow Connector 4"/>
          <p:cNvCxnSpPr/>
          <p:nvPr/>
        </p:nvCxnSpPr>
        <p:spPr>
          <a:xfrm flipV="1">
            <a:off x="423863" y="1627188"/>
            <a:ext cx="0" cy="18049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23863" y="3432175"/>
            <a:ext cx="194786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23863" y="3006725"/>
            <a:ext cx="4206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844550" y="2530475"/>
            <a:ext cx="0" cy="476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39788" y="2538413"/>
            <a:ext cx="4206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1244600" y="2551113"/>
            <a:ext cx="0" cy="476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243013" y="3011488"/>
            <a:ext cx="4206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1660525" y="3021013"/>
            <a:ext cx="3175" cy="4111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587" name="TextBox 17"/>
          <p:cNvSpPr txBox="1">
            <a:spLocks noChangeArrowheads="1"/>
          </p:cNvSpPr>
          <p:nvPr/>
        </p:nvSpPr>
        <p:spPr bwMode="auto">
          <a:xfrm>
            <a:off x="423863" y="3509963"/>
            <a:ext cx="1947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time</a:t>
            </a:r>
          </a:p>
        </p:txBody>
      </p:sp>
      <p:sp>
        <p:nvSpPr>
          <p:cNvPr id="24588" name="TextBox 32"/>
          <p:cNvSpPr txBox="1">
            <a:spLocks noChangeArrowheads="1"/>
          </p:cNvSpPr>
          <p:nvPr/>
        </p:nvSpPr>
        <p:spPr bwMode="auto">
          <a:xfrm rot="-5400000">
            <a:off x="-772318" y="2416969"/>
            <a:ext cx="1947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infecteds</a:t>
            </a:r>
          </a:p>
        </p:txBody>
      </p:sp>
      <p:cxnSp>
        <p:nvCxnSpPr>
          <p:cNvPr id="34" name="Straight Arrow Connector 33"/>
          <p:cNvCxnSpPr/>
          <p:nvPr/>
        </p:nvCxnSpPr>
        <p:spPr>
          <a:xfrm flipV="1">
            <a:off x="3133725" y="1639888"/>
            <a:ext cx="0" cy="18065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133725" y="3446463"/>
            <a:ext cx="194786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133725" y="3019425"/>
            <a:ext cx="4206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554413" y="3019425"/>
            <a:ext cx="0" cy="4095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593" name="TextBox 41"/>
          <p:cNvSpPr txBox="1">
            <a:spLocks noChangeArrowheads="1"/>
          </p:cNvSpPr>
          <p:nvPr/>
        </p:nvSpPr>
        <p:spPr bwMode="auto">
          <a:xfrm>
            <a:off x="3133725" y="3522663"/>
            <a:ext cx="1947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time</a:t>
            </a:r>
          </a:p>
        </p:txBody>
      </p:sp>
      <p:sp>
        <p:nvSpPr>
          <p:cNvPr id="24594" name="TextBox 42"/>
          <p:cNvSpPr txBox="1">
            <a:spLocks noChangeArrowheads="1"/>
          </p:cNvSpPr>
          <p:nvPr/>
        </p:nvSpPr>
        <p:spPr bwMode="auto">
          <a:xfrm rot="-5400000">
            <a:off x="1937544" y="2429669"/>
            <a:ext cx="1947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infecteds</a:t>
            </a:r>
          </a:p>
        </p:txBody>
      </p:sp>
      <p:cxnSp>
        <p:nvCxnSpPr>
          <p:cNvPr id="45" name="Straight Arrow Connector 44"/>
          <p:cNvCxnSpPr/>
          <p:nvPr/>
        </p:nvCxnSpPr>
        <p:spPr>
          <a:xfrm flipV="1">
            <a:off x="6016625" y="1639888"/>
            <a:ext cx="0" cy="18065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016625" y="3446463"/>
            <a:ext cx="194627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016625" y="3019425"/>
            <a:ext cx="4206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6437313" y="2543175"/>
            <a:ext cx="0" cy="476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6432550" y="2552700"/>
            <a:ext cx="4206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835775" y="2054225"/>
            <a:ext cx="1588" cy="509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832600" y="2054225"/>
            <a:ext cx="4206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flipV="1">
            <a:off x="7270750" y="1627188"/>
            <a:ext cx="3175" cy="4127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603" name="TextBox 52"/>
          <p:cNvSpPr txBox="1">
            <a:spLocks noChangeArrowheads="1"/>
          </p:cNvSpPr>
          <p:nvPr/>
        </p:nvSpPr>
        <p:spPr bwMode="auto">
          <a:xfrm>
            <a:off x="6016625" y="3522663"/>
            <a:ext cx="1946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time</a:t>
            </a:r>
          </a:p>
        </p:txBody>
      </p:sp>
      <p:sp>
        <p:nvSpPr>
          <p:cNvPr id="24604" name="TextBox 53"/>
          <p:cNvSpPr txBox="1">
            <a:spLocks noChangeArrowheads="1"/>
          </p:cNvSpPr>
          <p:nvPr/>
        </p:nvSpPr>
        <p:spPr bwMode="auto">
          <a:xfrm rot="-5400000">
            <a:off x="4819651" y="2428875"/>
            <a:ext cx="1947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infecteds</a:t>
            </a:r>
          </a:p>
        </p:txBody>
      </p:sp>
      <p:cxnSp>
        <p:nvCxnSpPr>
          <p:cNvPr id="56" name="Straight Connector 55"/>
          <p:cNvCxnSpPr/>
          <p:nvPr/>
        </p:nvCxnSpPr>
        <p:spPr>
          <a:xfrm>
            <a:off x="7273925" y="1639888"/>
            <a:ext cx="4206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5-Point Star 20"/>
          <p:cNvSpPr/>
          <p:nvPr/>
        </p:nvSpPr>
        <p:spPr>
          <a:xfrm>
            <a:off x="1541463" y="3324225"/>
            <a:ext cx="249237" cy="185738"/>
          </a:xfrm>
          <a:prstGeom prst="star5">
            <a:avLst/>
          </a:prstGeom>
          <a:solidFill>
            <a:srgbClr val="33CC33"/>
          </a:solidFill>
          <a:ln>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58" name="5-Point Star 57"/>
          <p:cNvSpPr/>
          <p:nvPr/>
        </p:nvSpPr>
        <p:spPr>
          <a:xfrm>
            <a:off x="3430588" y="3336925"/>
            <a:ext cx="247650" cy="185738"/>
          </a:xfrm>
          <a:prstGeom prst="star5">
            <a:avLst/>
          </a:prstGeom>
          <a:solidFill>
            <a:srgbClr val="33CC33"/>
          </a:solidFill>
          <a:ln>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4608" name="Text Box 4"/>
          <p:cNvSpPr txBox="1">
            <a:spLocks noChangeArrowheads="1"/>
          </p:cNvSpPr>
          <p:nvPr/>
        </p:nvSpPr>
        <p:spPr bwMode="auto">
          <a:xfrm>
            <a:off x="136525" y="3898900"/>
            <a:ext cx="8408988"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a:latin typeface="Calibri" panose="020F0502020204030204" pitchFamily="34" charset="0"/>
              </a:rPr>
              <a:t>In a deterministic model, if </a:t>
            </a:r>
            <a:r>
              <a:rPr lang="en-GB" altLang="en-US" sz="2000" i="1">
                <a:latin typeface="Calibri" panose="020F0502020204030204" pitchFamily="34" charset="0"/>
              </a:rPr>
              <a:t>R</a:t>
            </a:r>
            <a:r>
              <a:rPr lang="en-GB" altLang="en-US" sz="2000" baseline="-25000">
                <a:latin typeface="Calibri" panose="020F0502020204030204" pitchFamily="34" charset="0"/>
              </a:rPr>
              <a:t>0</a:t>
            </a:r>
            <a:r>
              <a:rPr lang="en-GB" altLang="en-US" sz="2000">
                <a:latin typeface="Calibri" panose="020F0502020204030204" pitchFamily="34" charset="0"/>
              </a:rPr>
              <a:t> &gt; 1 a seeded epidemic will never fade out. In reality, an epidemic may never take off due to chance events, for example the first infected case may never contact other individuals.</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Stochastic models allow epidemic fade out (i.e. I = 0).</a:t>
            </a:r>
          </a:p>
          <a:p>
            <a:pPr eaLnBrk="1" hangingPunct="1">
              <a:spcBef>
                <a:spcPct val="0"/>
              </a:spcBef>
              <a:buFontTx/>
              <a:buNone/>
            </a:pPr>
            <a:endParaRPr lang="en-GB" altLang="en-US" sz="2000">
              <a:latin typeface="Calibri" panose="020F0502020204030204" pitchFamily="34" charset="0"/>
            </a:endParaRPr>
          </a:p>
          <a:p>
            <a:pPr eaLnBrk="1" hangingPunct="1">
              <a:spcBef>
                <a:spcPct val="0"/>
              </a:spcBef>
              <a:buFontTx/>
              <a:buNone/>
            </a:pPr>
            <a:r>
              <a:rPr lang="en-GB" altLang="en-US" sz="2000">
                <a:latin typeface="Calibri" panose="020F0502020204030204" pitchFamily="34" charset="0"/>
              </a:rPr>
              <a:t>For an epidemic (</a:t>
            </a:r>
            <a:r>
              <a:rPr lang="en-GB" altLang="en-US" sz="2000" i="1">
                <a:latin typeface="Calibri" panose="020F0502020204030204" pitchFamily="34" charset="0"/>
              </a:rPr>
              <a:t>R</a:t>
            </a:r>
            <a:r>
              <a:rPr lang="en-GB" altLang="en-US" sz="2000" baseline="-25000">
                <a:latin typeface="Calibri" panose="020F0502020204030204" pitchFamily="34" charset="0"/>
              </a:rPr>
              <a:t>0</a:t>
            </a:r>
            <a:r>
              <a:rPr lang="en-GB" altLang="en-US" sz="2000">
                <a:latin typeface="Calibri" panose="020F0502020204030204" pitchFamily="34" charset="0"/>
              </a:rPr>
              <a:t> &gt; 1) beginning with a single case in a large population, it can be shown that:</a:t>
            </a:r>
          </a:p>
        </p:txBody>
      </p:sp>
      <p:graphicFrame>
        <p:nvGraphicFramePr>
          <p:cNvPr id="24609" name="Object 21"/>
          <p:cNvGraphicFramePr>
            <a:graphicFrameLocks noChangeAspect="1"/>
          </p:cNvGraphicFramePr>
          <p:nvPr/>
        </p:nvGraphicFramePr>
        <p:xfrm>
          <a:off x="2509838" y="6037263"/>
          <a:ext cx="3014662" cy="758825"/>
        </p:xfrm>
        <a:graphic>
          <a:graphicData uri="http://schemas.openxmlformats.org/presentationml/2006/ole">
            <mc:AlternateContent xmlns:mc="http://schemas.openxmlformats.org/markup-compatibility/2006">
              <mc:Choice xmlns:v="urn:schemas-microsoft-com:vml" Requires="v">
                <p:oleObj spid="_x0000_s24633" name="Equation" r:id="rId3" imgW="1714500" imgH="431800" progId="Equation.DSMT4">
                  <p:embed/>
                </p:oleObj>
              </mc:Choice>
              <mc:Fallback>
                <p:oleObj name="Equation" r:id="rId3" imgW="1714500" imgH="431800"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9838" y="6037263"/>
                        <a:ext cx="301466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0163"/>
            <a:ext cx="4586288"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3"/>
          <p:cNvSpPr txBox="1">
            <a:spLocks noChangeArrowheads="1"/>
          </p:cNvSpPr>
          <p:nvPr/>
        </p:nvSpPr>
        <p:spPr bwMode="auto">
          <a:xfrm>
            <a:off x="279400" y="1203325"/>
            <a:ext cx="8421688"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8016" tIns="119147" rIns="238016" bIns="119147">
            <a:spAutoFit/>
          </a:bodyPr>
          <a:lstStyle>
            <a:lvl1pPr defTabSz="2382838" eaLnBrk="0" hangingPunct="0">
              <a:spcBef>
                <a:spcPct val="20000"/>
              </a:spcBef>
              <a:buChar char="•"/>
              <a:defRPr sz="3200">
                <a:solidFill>
                  <a:schemeClr val="tx1"/>
                </a:solidFill>
                <a:latin typeface="Arial" panose="020B0604020202020204" pitchFamily="34" charset="0"/>
              </a:defRPr>
            </a:lvl1pPr>
            <a:lvl2pPr marL="742950" indent="-285750" defTabSz="2382838" eaLnBrk="0" hangingPunct="0">
              <a:spcBef>
                <a:spcPct val="20000"/>
              </a:spcBef>
              <a:buChar char="–"/>
              <a:defRPr sz="2800">
                <a:solidFill>
                  <a:schemeClr val="tx1"/>
                </a:solidFill>
                <a:latin typeface="Arial" panose="020B0604020202020204" pitchFamily="34" charset="0"/>
              </a:defRPr>
            </a:lvl2pPr>
            <a:lvl3pPr marL="1143000" indent="-228600" defTabSz="2382838" eaLnBrk="0" hangingPunct="0">
              <a:spcBef>
                <a:spcPct val="20000"/>
              </a:spcBef>
              <a:buChar char="•"/>
              <a:defRPr sz="2400">
                <a:solidFill>
                  <a:schemeClr val="tx1"/>
                </a:solidFill>
                <a:latin typeface="Arial" panose="020B0604020202020204" pitchFamily="34" charset="0"/>
              </a:defRPr>
            </a:lvl3pPr>
            <a:lvl4pPr marL="1600200" indent="-228600" defTabSz="2382838" eaLnBrk="0" hangingPunct="0">
              <a:spcBef>
                <a:spcPct val="20000"/>
              </a:spcBef>
              <a:buChar char="–"/>
              <a:defRPr sz="2000">
                <a:solidFill>
                  <a:schemeClr val="tx1"/>
                </a:solidFill>
                <a:latin typeface="Arial" panose="020B0604020202020204" pitchFamily="34" charset="0"/>
              </a:defRPr>
            </a:lvl4pPr>
            <a:lvl5pPr marL="2057400" indent="-228600" defTabSz="2382838" eaLnBrk="0" hangingPunct="0">
              <a:spcBef>
                <a:spcPct val="20000"/>
              </a:spcBef>
              <a:buChar char="»"/>
              <a:defRPr sz="2000">
                <a:solidFill>
                  <a:schemeClr val="tx1"/>
                </a:solidFill>
                <a:latin typeface="Arial" panose="020B0604020202020204" pitchFamily="34" charset="0"/>
              </a:defRPr>
            </a:lvl5pPr>
            <a:lvl6pPr marL="2514600" indent="-228600" defTabSz="238283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238283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238283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2382838"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a:latin typeface="Calibri" panose="020F0502020204030204" pitchFamily="34" charset="0"/>
              </a:rPr>
              <a:t>If the initial seeding of a new outbreak only infects very low numbers of people (1 or 2), then the probability of disease extinction by random chance in the establishment phase is significant, and the rate of early spread is quite variable.</a:t>
            </a:r>
          </a:p>
        </p:txBody>
      </p:sp>
      <p:sp>
        <p:nvSpPr>
          <p:cNvPr id="23556" name="Text Box 4"/>
          <p:cNvSpPr txBox="1">
            <a:spLocks noChangeArrowheads="1"/>
          </p:cNvSpPr>
          <p:nvPr/>
        </p:nvSpPr>
        <p:spPr bwMode="auto">
          <a:xfrm>
            <a:off x="655638" y="146050"/>
            <a:ext cx="7397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The importance of</a:t>
            </a:r>
            <a:br>
              <a:rPr lang="en-GB" altLang="en-US" sz="2800" b="1">
                <a:solidFill>
                  <a:srgbClr val="0033CC"/>
                </a:solidFill>
              </a:rPr>
            </a:br>
            <a:r>
              <a:rPr lang="en-GB" altLang="en-US" sz="2800" b="1">
                <a:solidFill>
                  <a:srgbClr val="0033CC"/>
                </a:solidFill>
              </a:rPr>
              <a:t>stochasticity during outbreaks</a:t>
            </a:r>
          </a:p>
        </p:txBody>
      </p:sp>
      <p:sp>
        <p:nvSpPr>
          <p:cNvPr id="23557" name="Rectangle 5"/>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3558" name="Rectangle 6"/>
          <p:cNvSpPr>
            <a:spLocks noChangeArrowheads="1"/>
          </p:cNvSpPr>
          <p:nvPr/>
        </p:nvSpPr>
        <p:spPr bwMode="auto">
          <a:xfrm>
            <a:off x="279400" y="6107113"/>
            <a:ext cx="6816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a:solidFill>
                  <a:srgbClr val="990000"/>
                </a:solidFill>
                <a:latin typeface="Calibri" panose="020F0502020204030204" pitchFamily="34" charset="0"/>
              </a:rPr>
              <a:t>Stochasticity also important in the tail of an epidemic</a:t>
            </a:r>
          </a:p>
        </p:txBody>
      </p:sp>
      <p:pic>
        <p:nvPicPr>
          <p:cNvPr id="2355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8963" y="2595563"/>
            <a:ext cx="45053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noTextEdit="1"/>
          </p:cNvSpPr>
          <p:nvPr/>
        </p:nvSpPr>
        <p:spPr bwMode="auto">
          <a:xfrm>
            <a:off x="180975" y="2308225"/>
            <a:ext cx="0" cy="101600"/>
          </a:xfrm>
          <a:prstGeom prst="rect">
            <a:avLst/>
          </a:prstGeom>
          <a:noFill/>
          <a:ln w="9525">
            <a:noFill/>
            <a:miter lim="800000"/>
            <a:headEnd/>
            <a:tailEnd/>
          </a:ln>
        </p:spPr>
        <p:txBody>
          <a:bodyPr>
            <a:spAutoFit/>
          </a:bodyPr>
          <a:lstStyle/>
          <a:p>
            <a:endParaRPr lang="en-GB"/>
          </a:p>
        </p:txBody>
      </p:sp>
      <p:sp>
        <p:nvSpPr>
          <p:cNvPr id="27651" name="Text Box 5"/>
          <p:cNvSpPr txBox="1">
            <a:spLocks noChangeArrowheads="1"/>
          </p:cNvSpPr>
          <p:nvPr/>
        </p:nvSpPr>
        <p:spPr bwMode="auto">
          <a:xfrm>
            <a:off x="465138" y="1608138"/>
            <a:ext cx="8408987" cy="1585912"/>
          </a:xfrm>
          <a:prstGeom prst="rect">
            <a:avLst/>
          </a:prstGeom>
          <a:noFill/>
          <a:ln w="9525">
            <a:noFill/>
            <a:miter lim="800000"/>
            <a:headEnd/>
            <a:tailEnd/>
          </a:ln>
        </p:spPr>
        <p:txBody>
          <a:bodyPr>
            <a:spAutoFit/>
          </a:bodyPr>
          <a:lstStyle/>
          <a:p>
            <a:pPr>
              <a:spcAft>
                <a:spcPct val="90000"/>
              </a:spcAft>
              <a:buFontTx/>
              <a:buChar char="•"/>
            </a:pPr>
            <a:r>
              <a:rPr lang="en-GB" sz="2000"/>
              <a:t> The current concern about MMR uptake levels makes predicting the likelihood of a large measles outbreak a priority.</a:t>
            </a:r>
          </a:p>
          <a:p>
            <a:pPr>
              <a:spcAft>
                <a:spcPct val="90000"/>
              </a:spcAft>
              <a:buFontTx/>
              <a:buChar char="•"/>
            </a:pPr>
            <a:r>
              <a:rPr lang="en-GB" sz="2000"/>
              <a:t> Can data on the current small outbreaks seen in the last few years tell us anything?</a:t>
            </a:r>
            <a:endParaRPr lang="en-US" sz="2000"/>
          </a:p>
        </p:txBody>
      </p:sp>
      <p:sp>
        <p:nvSpPr>
          <p:cNvPr id="27652" name="Rectangle 6"/>
          <p:cNvSpPr>
            <a:spLocks noChangeArrowheads="1"/>
          </p:cNvSpPr>
          <p:nvPr/>
        </p:nvSpPr>
        <p:spPr bwMode="auto">
          <a:xfrm>
            <a:off x="765175" y="328613"/>
            <a:ext cx="7780338" cy="525462"/>
          </a:xfrm>
          <a:prstGeom prst="rect">
            <a:avLst/>
          </a:prstGeom>
          <a:noFill/>
          <a:ln w="9525">
            <a:noFill/>
            <a:miter lim="800000"/>
            <a:headEnd/>
            <a:tailEnd/>
          </a:ln>
        </p:spPr>
        <p:txBody>
          <a:bodyPr anchor="ctr"/>
          <a:lstStyle/>
          <a:p>
            <a:pPr algn="ctr"/>
            <a:r>
              <a:rPr lang="en-GB" sz="2800">
                <a:solidFill>
                  <a:schemeClr val="tx2"/>
                </a:solidFill>
              </a:rPr>
              <a:t>The impact of reduced MMR uptake:</a:t>
            </a:r>
            <a:br>
              <a:rPr lang="en-GB" sz="2800">
                <a:solidFill>
                  <a:schemeClr val="tx2"/>
                </a:solidFill>
              </a:rPr>
            </a:br>
            <a:r>
              <a:rPr lang="en-GB" sz="2800">
                <a:solidFill>
                  <a:schemeClr val="tx2"/>
                </a:solidFill>
              </a:rPr>
              <a:t>an example of the use of stochastic models</a:t>
            </a:r>
          </a:p>
        </p:txBody>
      </p:sp>
      <p:pic>
        <p:nvPicPr>
          <p:cNvPr id="27653" name="Picture 7"/>
          <p:cNvPicPr>
            <a:picLocks noChangeAspect="1" noChangeArrowheads="1"/>
          </p:cNvPicPr>
          <p:nvPr/>
        </p:nvPicPr>
        <p:blipFill>
          <a:blip r:embed="rId2" cstate="print"/>
          <a:srcRect/>
          <a:stretch>
            <a:fillRect/>
          </a:stretch>
        </p:blipFill>
        <p:spPr bwMode="auto">
          <a:xfrm>
            <a:off x="1285875" y="3424238"/>
            <a:ext cx="6562725" cy="2401887"/>
          </a:xfrm>
          <a:prstGeom prst="rect">
            <a:avLst/>
          </a:prstGeom>
          <a:noFill/>
          <a:ln w="9525">
            <a:noFill/>
            <a:miter lim="800000"/>
            <a:headEnd/>
            <a:tailEnd/>
          </a:ln>
        </p:spPr>
      </p:pic>
      <p:sp>
        <p:nvSpPr>
          <p:cNvPr id="27654" name="Text Box 8"/>
          <p:cNvSpPr txBox="1">
            <a:spLocks noChangeArrowheads="1"/>
          </p:cNvSpPr>
          <p:nvPr/>
        </p:nvSpPr>
        <p:spPr bwMode="auto">
          <a:xfrm>
            <a:off x="854075" y="6251575"/>
            <a:ext cx="4570413" cy="369888"/>
          </a:xfrm>
          <a:prstGeom prst="rect">
            <a:avLst/>
          </a:prstGeom>
          <a:noFill/>
          <a:ln w="9525">
            <a:noFill/>
            <a:miter lim="800000"/>
            <a:headEnd/>
            <a:tailEnd/>
          </a:ln>
        </p:spPr>
        <p:txBody>
          <a:bodyPr wrap="none">
            <a:spAutoFit/>
          </a:bodyPr>
          <a:lstStyle/>
          <a:p>
            <a:r>
              <a:rPr lang="en-GB" sz="1800"/>
              <a:t>[Jansen, V.A.A. et al, Science (2002), 301:804]</a:t>
            </a:r>
          </a:p>
        </p:txBody>
      </p:sp>
    </p:spTree>
    <p:extLst>
      <p:ext uri="{BB962C8B-B14F-4D97-AF65-F5344CB8AC3E}">
        <p14:creationId xmlns:p14="http://schemas.microsoft.com/office/powerpoint/2010/main" val="1894610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noTextEdit="1"/>
          </p:cNvSpPr>
          <p:nvPr/>
        </p:nvSpPr>
        <p:spPr bwMode="auto">
          <a:xfrm>
            <a:off x="180975" y="2308225"/>
            <a:ext cx="0" cy="101600"/>
          </a:xfrm>
          <a:prstGeom prst="rect">
            <a:avLst/>
          </a:prstGeom>
          <a:noFill/>
          <a:ln w="9525">
            <a:noFill/>
            <a:miter lim="800000"/>
            <a:headEnd/>
            <a:tailEnd/>
          </a:ln>
        </p:spPr>
        <p:txBody>
          <a:bodyPr>
            <a:spAutoFit/>
          </a:bodyPr>
          <a:lstStyle/>
          <a:p>
            <a:endParaRPr lang="en-GB"/>
          </a:p>
        </p:txBody>
      </p:sp>
      <p:sp>
        <p:nvSpPr>
          <p:cNvPr id="28675" name="Text Box 4"/>
          <p:cNvSpPr txBox="1">
            <a:spLocks noChangeArrowheads="1"/>
          </p:cNvSpPr>
          <p:nvPr/>
        </p:nvSpPr>
        <p:spPr bwMode="auto">
          <a:xfrm>
            <a:off x="457200" y="1190625"/>
            <a:ext cx="4262438" cy="5183188"/>
          </a:xfrm>
          <a:prstGeom prst="rect">
            <a:avLst/>
          </a:prstGeom>
          <a:noFill/>
          <a:ln w="9525">
            <a:noFill/>
            <a:miter lim="800000"/>
            <a:headEnd/>
            <a:tailEnd/>
          </a:ln>
        </p:spPr>
        <p:txBody>
          <a:bodyPr>
            <a:spAutoFit/>
          </a:bodyPr>
          <a:lstStyle/>
          <a:p>
            <a:pPr>
              <a:spcAft>
                <a:spcPct val="90000"/>
              </a:spcAft>
              <a:buFontTx/>
              <a:buChar char="•"/>
            </a:pPr>
            <a:r>
              <a:rPr lang="en-GB" sz="2000"/>
              <a:t> For sub-critical transmission, possible to estimate </a:t>
            </a:r>
            <a:r>
              <a:rPr lang="en-GB" sz="2000" i="1"/>
              <a:t>R</a:t>
            </a:r>
            <a:r>
              <a:rPr lang="en-GB" sz="2000"/>
              <a:t> from the distribution of outbreak sizes (</a:t>
            </a:r>
            <a:r>
              <a:rPr lang="en-GB" sz="2000" i="1"/>
              <a:t>m</a:t>
            </a:r>
            <a:r>
              <a:rPr lang="en-GB" sz="2000"/>
              <a:t>=2/(1-R), where </a:t>
            </a:r>
            <a:r>
              <a:rPr lang="en-GB" sz="2000" i="1"/>
              <a:t>m</a:t>
            </a:r>
            <a:r>
              <a:rPr lang="en-GB" sz="2000"/>
              <a:t> is mean outbreak size).</a:t>
            </a:r>
          </a:p>
          <a:p>
            <a:pPr>
              <a:spcAft>
                <a:spcPct val="90000"/>
              </a:spcAft>
              <a:buFontTx/>
              <a:buChar char="•"/>
            </a:pPr>
            <a:r>
              <a:rPr lang="en-GB" sz="2000"/>
              <a:t> This analysis shows a significantly increased level of transmission in the period 1999-2002 compared with 1995-98.</a:t>
            </a:r>
          </a:p>
          <a:p>
            <a:pPr>
              <a:spcAft>
                <a:spcPct val="90000"/>
              </a:spcAft>
              <a:buFontTx/>
              <a:buChar char="•"/>
            </a:pPr>
            <a:r>
              <a:rPr lang="en-GB" sz="2000"/>
              <a:t> </a:t>
            </a:r>
            <a:r>
              <a:rPr lang="en-GB" sz="2000" i="1"/>
              <a:t>R</a:t>
            </a:r>
            <a:r>
              <a:rPr lang="en-GB" sz="2000"/>
              <a:t> is now dangerously close to 1 – meaning a major measles outbreak is due any time.</a:t>
            </a:r>
          </a:p>
          <a:p>
            <a:pPr>
              <a:spcAft>
                <a:spcPct val="90000"/>
              </a:spcAft>
              <a:buFontTx/>
              <a:buChar char="•"/>
            </a:pPr>
            <a:r>
              <a:rPr lang="en-GB" sz="2000"/>
              <a:t> This is an intrinsically stochastic analysis – since outbreak size is a random variable.</a:t>
            </a:r>
            <a:endParaRPr lang="en-US" sz="2000"/>
          </a:p>
        </p:txBody>
      </p:sp>
      <p:sp>
        <p:nvSpPr>
          <p:cNvPr id="28676" name="Rectangle 5"/>
          <p:cNvSpPr>
            <a:spLocks noChangeArrowheads="1"/>
          </p:cNvSpPr>
          <p:nvPr/>
        </p:nvSpPr>
        <p:spPr bwMode="auto">
          <a:xfrm>
            <a:off x="765175" y="328613"/>
            <a:ext cx="7780338" cy="525462"/>
          </a:xfrm>
          <a:prstGeom prst="rect">
            <a:avLst/>
          </a:prstGeom>
          <a:noFill/>
          <a:ln w="9525">
            <a:noFill/>
            <a:miter lim="800000"/>
            <a:headEnd/>
            <a:tailEnd/>
          </a:ln>
        </p:spPr>
        <p:txBody>
          <a:bodyPr anchor="ctr"/>
          <a:lstStyle/>
          <a:p>
            <a:pPr algn="ctr"/>
            <a:r>
              <a:rPr lang="en-GB" sz="2800">
                <a:solidFill>
                  <a:schemeClr val="tx2"/>
                </a:solidFill>
              </a:rPr>
              <a:t>Inferring </a:t>
            </a:r>
            <a:r>
              <a:rPr lang="en-GB" sz="2800" i="1">
                <a:solidFill>
                  <a:schemeClr val="tx2"/>
                </a:solidFill>
              </a:rPr>
              <a:t>R</a:t>
            </a:r>
            <a:r>
              <a:rPr lang="en-GB" sz="2800">
                <a:solidFill>
                  <a:schemeClr val="tx2"/>
                </a:solidFill>
              </a:rPr>
              <a:t> from outbreak size distributions</a:t>
            </a:r>
          </a:p>
        </p:txBody>
      </p:sp>
      <p:grpSp>
        <p:nvGrpSpPr>
          <p:cNvPr id="28677" name="Group 12"/>
          <p:cNvGrpSpPr>
            <a:grpSpLocks/>
          </p:cNvGrpSpPr>
          <p:nvPr/>
        </p:nvGrpSpPr>
        <p:grpSpPr bwMode="auto">
          <a:xfrm>
            <a:off x="5170488" y="4019550"/>
            <a:ext cx="3109912" cy="2182813"/>
            <a:chOff x="611" y="2160"/>
            <a:chExt cx="1959" cy="1375"/>
          </a:xfrm>
        </p:grpSpPr>
        <p:pic>
          <p:nvPicPr>
            <p:cNvPr id="28681" name="Picture 8"/>
            <p:cNvPicPr>
              <a:picLocks noChangeAspect="1" noChangeArrowheads="1"/>
            </p:cNvPicPr>
            <p:nvPr/>
          </p:nvPicPr>
          <p:blipFill>
            <a:blip r:embed="rId2" cstate="print"/>
            <a:srcRect/>
            <a:stretch>
              <a:fillRect/>
            </a:stretch>
          </p:blipFill>
          <p:spPr bwMode="auto">
            <a:xfrm>
              <a:off x="611" y="2186"/>
              <a:ext cx="1959" cy="1349"/>
            </a:xfrm>
            <a:prstGeom prst="rect">
              <a:avLst/>
            </a:prstGeom>
            <a:noFill/>
            <a:ln w="9525">
              <a:noFill/>
              <a:miter lim="800000"/>
              <a:headEnd/>
              <a:tailEnd/>
            </a:ln>
          </p:spPr>
        </p:pic>
        <p:sp>
          <p:nvSpPr>
            <p:cNvPr id="28682" name="Rectangle 10"/>
            <p:cNvSpPr>
              <a:spLocks noChangeArrowheads="1"/>
            </p:cNvSpPr>
            <p:nvPr/>
          </p:nvSpPr>
          <p:spPr bwMode="auto">
            <a:xfrm>
              <a:off x="963" y="2160"/>
              <a:ext cx="189" cy="164"/>
            </a:xfrm>
            <a:prstGeom prst="rect">
              <a:avLst/>
            </a:prstGeom>
            <a:solidFill>
              <a:schemeClr val="bg1"/>
            </a:solidFill>
            <a:ln w="9525">
              <a:solidFill>
                <a:schemeClr val="bg1"/>
              </a:solidFill>
              <a:miter lim="800000"/>
              <a:headEnd/>
              <a:tailEnd/>
            </a:ln>
          </p:spPr>
          <p:txBody>
            <a:bodyPr wrap="none" anchor="ctr"/>
            <a:lstStyle/>
            <a:p>
              <a:endParaRPr lang="en-GB"/>
            </a:p>
          </p:txBody>
        </p:sp>
      </p:grpSp>
      <p:grpSp>
        <p:nvGrpSpPr>
          <p:cNvPr id="28678" name="Group 13"/>
          <p:cNvGrpSpPr>
            <a:grpSpLocks/>
          </p:cNvGrpSpPr>
          <p:nvPr/>
        </p:nvGrpSpPr>
        <p:grpSpPr bwMode="auto">
          <a:xfrm>
            <a:off x="5059363" y="1250950"/>
            <a:ext cx="3257550" cy="2259013"/>
            <a:chOff x="3004" y="2068"/>
            <a:chExt cx="2052" cy="1423"/>
          </a:xfrm>
        </p:grpSpPr>
        <p:pic>
          <p:nvPicPr>
            <p:cNvPr id="28679" name="Picture 9"/>
            <p:cNvPicPr>
              <a:picLocks noChangeAspect="1" noChangeArrowheads="1"/>
            </p:cNvPicPr>
            <p:nvPr/>
          </p:nvPicPr>
          <p:blipFill>
            <a:blip r:embed="rId3" cstate="print"/>
            <a:srcRect/>
            <a:stretch>
              <a:fillRect/>
            </a:stretch>
          </p:blipFill>
          <p:spPr bwMode="auto">
            <a:xfrm>
              <a:off x="3004" y="2078"/>
              <a:ext cx="2052" cy="1413"/>
            </a:xfrm>
            <a:prstGeom prst="rect">
              <a:avLst/>
            </a:prstGeom>
            <a:noFill/>
            <a:ln w="9525">
              <a:noFill/>
              <a:miter lim="800000"/>
              <a:headEnd/>
              <a:tailEnd/>
            </a:ln>
          </p:spPr>
        </p:pic>
        <p:sp>
          <p:nvSpPr>
            <p:cNvPr id="28680" name="Rectangle 11"/>
            <p:cNvSpPr>
              <a:spLocks noChangeArrowheads="1"/>
            </p:cNvSpPr>
            <p:nvPr/>
          </p:nvSpPr>
          <p:spPr bwMode="auto">
            <a:xfrm>
              <a:off x="3403" y="2068"/>
              <a:ext cx="189" cy="164"/>
            </a:xfrm>
            <a:prstGeom prst="rect">
              <a:avLst/>
            </a:prstGeom>
            <a:solidFill>
              <a:schemeClr val="bg1"/>
            </a:solidFill>
            <a:ln w="9525">
              <a:solidFill>
                <a:schemeClr val="bg1"/>
              </a:solidFill>
              <a:miter lim="800000"/>
              <a:headEnd/>
              <a:tailEnd/>
            </a:ln>
          </p:spPr>
          <p:txBody>
            <a:bodyPr wrap="none" anchor="ctr"/>
            <a:lstStyle/>
            <a:p>
              <a:endParaRPr lang="en-GB"/>
            </a:p>
          </p:txBody>
        </p:sp>
      </p:grpSp>
    </p:spTree>
    <p:extLst>
      <p:ext uri="{BB962C8B-B14F-4D97-AF65-F5344CB8AC3E}">
        <p14:creationId xmlns:p14="http://schemas.microsoft.com/office/powerpoint/2010/main" val="3514069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ctrTitle"/>
          </p:nvPr>
        </p:nvSpPr>
        <p:spPr/>
        <p:txBody>
          <a:bodyPr/>
          <a:lstStyle/>
          <a:p>
            <a:pPr eaLnBrk="1" hangingPunct="1"/>
            <a:r>
              <a:rPr lang="en-GB" altLang="en-US"/>
              <a:t>Formulating a stochastic model</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274638"/>
            <a:ext cx="8229600" cy="879475"/>
          </a:xfrm>
        </p:spPr>
        <p:txBody>
          <a:bodyPr/>
          <a:lstStyle/>
          <a:p>
            <a:pPr eaLnBrk="1" hangingPunct="1">
              <a:defRPr/>
            </a:pPr>
            <a:r>
              <a:rPr lang="en-GB" altLang="en-US" sz="2800" kern="1200" dirty="0">
                <a:solidFill>
                  <a:srgbClr val="0033CC"/>
                </a:solidFill>
                <a:ea typeface="+mn-ea"/>
                <a:cs typeface="+mn-cs"/>
              </a:rPr>
              <a:t>Formulations of a stochastic model</a:t>
            </a:r>
            <a:endParaRPr lang="en-US" altLang="en-US" sz="2800" kern="1200" dirty="0">
              <a:solidFill>
                <a:srgbClr val="0033CC"/>
              </a:solidFill>
              <a:ea typeface="+mn-ea"/>
              <a:cs typeface="+mn-cs"/>
            </a:endParaRPr>
          </a:p>
        </p:txBody>
      </p:sp>
      <p:sp>
        <p:nvSpPr>
          <p:cNvPr id="3" name="Content Placeholder 2"/>
          <p:cNvSpPr>
            <a:spLocks noGrp="1"/>
          </p:cNvSpPr>
          <p:nvPr>
            <p:ph idx="1"/>
          </p:nvPr>
        </p:nvSpPr>
        <p:spPr>
          <a:xfrm>
            <a:off x="330200" y="1285875"/>
            <a:ext cx="8326438" cy="4525963"/>
          </a:xfrm>
        </p:spPr>
        <p:txBody>
          <a:bodyPr>
            <a:normAutofit fontScale="85000" lnSpcReduction="20000"/>
          </a:bodyPr>
          <a:lstStyle/>
          <a:p>
            <a:pPr eaLnBrk="1" hangingPunct="1">
              <a:defRPr/>
            </a:pPr>
            <a:r>
              <a:rPr lang="en-GB" dirty="0">
                <a:latin typeface="Calibri" panose="020F0502020204030204" pitchFamily="34" charset="0"/>
              </a:rPr>
              <a:t>Individual based/agent based models</a:t>
            </a:r>
          </a:p>
          <a:p>
            <a:pPr lvl="1" eaLnBrk="1" hangingPunct="1">
              <a:defRPr/>
            </a:pPr>
            <a:r>
              <a:rPr lang="en-GB" dirty="0">
                <a:latin typeface="Calibri" panose="020F0502020204030204" pitchFamily="34" charset="0"/>
              </a:rPr>
              <a:t>Simulate each individual and events which happen to each individual</a:t>
            </a:r>
            <a:endParaRPr lang="en-US" dirty="0">
              <a:latin typeface="Calibri" panose="020F0502020204030204" pitchFamily="34" charset="0"/>
            </a:endParaRPr>
          </a:p>
          <a:p>
            <a:pPr lvl="1" eaLnBrk="1" hangingPunct="1">
              <a:defRPr/>
            </a:pPr>
            <a:r>
              <a:rPr lang="en-GB" dirty="0">
                <a:latin typeface="Calibri" panose="020F0502020204030204" pitchFamily="34" charset="0"/>
              </a:rPr>
              <a:t>Can include much realistic detail, but can be slow to simulate</a:t>
            </a:r>
          </a:p>
          <a:p>
            <a:pPr marL="457200" lvl="1" indent="0" eaLnBrk="1" hangingPunct="1">
              <a:buFontTx/>
              <a:buNone/>
              <a:defRPr/>
            </a:pPr>
            <a:endParaRPr lang="en-GB" dirty="0">
              <a:latin typeface="Calibri" panose="020F0502020204030204" pitchFamily="34" charset="0"/>
            </a:endParaRPr>
          </a:p>
          <a:p>
            <a:pPr eaLnBrk="1" hangingPunct="1">
              <a:defRPr/>
            </a:pPr>
            <a:r>
              <a:rPr lang="en-GB" dirty="0">
                <a:latin typeface="Calibri" panose="020F0502020204030204" pitchFamily="34" charset="0"/>
              </a:rPr>
              <a:t>Population or compartmental based models</a:t>
            </a:r>
          </a:p>
          <a:p>
            <a:pPr lvl="1" eaLnBrk="1" hangingPunct="1">
              <a:defRPr/>
            </a:pPr>
            <a:r>
              <a:rPr lang="en-GB" dirty="0">
                <a:latin typeface="Calibri" panose="020F0502020204030204" pitchFamily="34" charset="0"/>
              </a:rPr>
              <a:t>Only keep track of total number of individuals in each compartment </a:t>
            </a:r>
          </a:p>
          <a:p>
            <a:pPr lvl="1" eaLnBrk="1" hangingPunct="1">
              <a:defRPr/>
            </a:pPr>
            <a:r>
              <a:rPr lang="en-GB" dirty="0">
                <a:latin typeface="Calibri" panose="020F0502020204030204" pitchFamily="34" charset="0"/>
              </a:rPr>
              <a:t>Simulate the number of events that will happen to that group of individuals</a:t>
            </a:r>
          </a:p>
          <a:p>
            <a:pPr lvl="1" eaLnBrk="1" hangingPunct="1">
              <a:defRPr/>
            </a:pPr>
            <a:r>
              <a:rPr lang="en-GB" dirty="0">
                <a:latin typeface="Calibri" panose="020F0502020204030204" pitchFamily="34" charset="0"/>
              </a:rPr>
              <a:t>Faster to simulate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61950" y="206375"/>
            <a:ext cx="8229600" cy="909638"/>
          </a:xfrm>
        </p:spPr>
        <p:txBody>
          <a:bodyPr/>
          <a:lstStyle/>
          <a:p>
            <a:pPr eaLnBrk="1" hangingPunct="1">
              <a:defRPr/>
            </a:pPr>
            <a:r>
              <a:rPr lang="en-GB" altLang="en-US" sz="2800" kern="1200" dirty="0">
                <a:solidFill>
                  <a:srgbClr val="0033CC"/>
                </a:solidFill>
                <a:ea typeface="+mn-ea"/>
                <a:cs typeface="+mn-cs"/>
              </a:rPr>
              <a:t>Hazard</a:t>
            </a:r>
          </a:p>
        </p:txBody>
      </p:sp>
      <p:sp>
        <p:nvSpPr>
          <p:cNvPr id="27651" name="Rectangle 3"/>
          <p:cNvSpPr>
            <a:spLocks noGrp="1" noChangeArrowheads="1"/>
          </p:cNvSpPr>
          <p:nvPr>
            <p:ph type="body" idx="1"/>
          </p:nvPr>
        </p:nvSpPr>
        <p:spPr>
          <a:xfrm>
            <a:off x="360363" y="1339850"/>
            <a:ext cx="8229600" cy="2660650"/>
          </a:xfrm>
          <a:noFill/>
        </p:spPr>
        <p:txBody>
          <a:bodyPr/>
          <a:lstStyle/>
          <a:p>
            <a:pPr eaLnBrk="1" hangingPunct="1"/>
            <a:r>
              <a:rPr lang="en-GB" altLang="en-US" sz="2400" dirty="0">
                <a:latin typeface="Calibri" panose="020F0502020204030204" pitchFamily="34" charset="0"/>
              </a:rPr>
              <a:t>The hazard is the probability per unit time of an event happening.</a:t>
            </a:r>
          </a:p>
          <a:p>
            <a:pPr eaLnBrk="1" hangingPunct="1"/>
            <a:r>
              <a:rPr lang="en-GB" altLang="en-US" sz="2400" dirty="0">
                <a:latin typeface="Calibri" panose="020F0502020204030204" pitchFamily="34" charset="0"/>
              </a:rPr>
              <a:t>It is equivalent to the instantaneous per-capita rate used in a deterministic model.</a:t>
            </a:r>
          </a:p>
          <a:p>
            <a:pPr marL="0" indent="0" eaLnBrk="1" hangingPunct="1">
              <a:buNone/>
            </a:pPr>
            <a:endParaRPr lang="en-GB" altLang="en-US" sz="2400" dirty="0">
              <a:latin typeface="Calibri" panose="020F0502020204030204" pitchFamily="34" charset="0"/>
            </a:endParaRPr>
          </a:p>
          <a:p>
            <a:pPr marL="0" indent="0" eaLnBrk="1" hangingPunct="1">
              <a:buNone/>
            </a:pPr>
            <a:r>
              <a:rPr lang="en-GB" altLang="en-US" sz="2400" dirty="0">
                <a:latin typeface="Calibri" panose="020F0502020204030204" pitchFamily="34" charset="0"/>
              </a:rPr>
              <a:t>E.g. If an infected person has a hazard or rate of recovery of </a:t>
            </a:r>
            <a:r>
              <a:rPr lang="el-GR" altLang="en-US" sz="2400" dirty="0">
                <a:latin typeface="Calibri" panose="020F0502020204030204" pitchFamily="34" charset="0"/>
              </a:rPr>
              <a:t>σ</a:t>
            </a:r>
            <a:r>
              <a:rPr lang="en-GB" altLang="en-US" sz="2400" dirty="0">
                <a:latin typeface="Calibri" panose="020F0502020204030204" pitchFamily="34" charset="0"/>
              </a:rPr>
              <a:t>:</a:t>
            </a:r>
          </a:p>
        </p:txBody>
      </p:sp>
      <p:pic>
        <p:nvPicPr>
          <p:cNvPr id="5" name="Picture 3" descr="Man"/>
          <p:cNvPicPr>
            <a:picLocks noChangeAspect="1" noChangeArrowheads="1"/>
          </p:cNvPicPr>
          <p:nvPr/>
        </p:nvPicPr>
        <p:blipFill>
          <a:blip r:embed="rId3" cstate="print"/>
          <a:srcRect/>
          <a:stretch>
            <a:fillRect/>
          </a:stretch>
        </p:blipFill>
        <p:spPr bwMode="auto">
          <a:xfrm>
            <a:off x="5368307" y="4279128"/>
            <a:ext cx="451468" cy="999381"/>
          </a:xfrm>
          <a:prstGeom prst="rect">
            <a:avLst/>
          </a:prstGeom>
          <a:noFill/>
          <a:ln w="9525">
            <a:noFill/>
            <a:miter lim="800000"/>
            <a:headEnd/>
            <a:tailEnd/>
          </a:ln>
        </p:spPr>
      </p:pic>
      <p:pic>
        <p:nvPicPr>
          <p:cNvPr id="6" name="Picture 3" descr="Man"/>
          <p:cNvPicPr>
            <a:picLocks noChangeAspect="1" noChangeArrowheads="1"/>
          </p:cNvPicPr>
          <p:nvPr/>
        </p:nvPicPr>
        <p:blipFill>
          <a:blip r:embed="rId3" cstate="print"/>
          <a:srcRect/>
          <a:stretch>
            <a:fillRect/>
          </a:stretch>
        </p:blipFill>
        <p:spPr bwMode="auto">
          <a:xfrm>
            <a:off x="2720357" y="4279128"/>
            <a:ext cx="451468" cy="999381"/>
          </a:xfrm>
          <a:prstGeom prst="rect">
            <a:avLst/>
          </a:prstGeom>
          <a:noFill/>
          <a:ln w="9525">
            <a:noFill/>
            <a:miter lim="800000"/>
            <a:headEnd/>
            <a:tailEnd/>
          </a:ln>
        </p:spPr>
      </p:pic>
      <p:sp>
        <p:nvSpPr>
          <p:cNvPr id="2" name="Right Arrow 1"/>
          <p:cNvSpPr/>
          <p:nvPr/>
        </p:nvSpPr>
        <p:spPr>
          <a:xfrm>
            <a:off x="3724275" y="4581525"/>
            <a:ext cx="1257300" cy="3333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2295525" y="5353050"/>
            <a:ext cx="1279517" cy="461665"/>
          </a:xfrm>
          <a:prstGeom prst="rect">
            <a:avLst/>
          </a:prstGeom>
          <a:noFill/>
        </p:spPr>
        <p:txBody>
          <a:bodyPr wrap="none" rtlCol="0">
            <a:spAutoFit/>
          </a:bodyPr>
          <a:lstStyle/>
          <a:p>
            <a:r>
              <a:rPr lang="en-GB" dirty="0"/>
              <a:t>Infected</a:t>
            </a:r>
          </a:p>
        </p:txBody>
      </p:sp>
      <p:sp>
        <p:nvSpPr>
          <p:cNvPr id="7" name="TextBox 6"/>
          <p:cNvSpPr txBox="1"/>
          <p:nvPr/>
        </p:nvSpPr>
        <p:spPr>
          <a:xfrm>
            <a:off x="4800600" y="5353050"/>
            <a:ext cx="1675459" cy="461665"/>
          </a:xfrm>
          <a:prstGeom prst="rect">
            <a:avLst/>
          </a:prstGeom>
          <a:noFill/>
        </p:spPr>
        <p:txBody>
          <a:bodyPr wrap="none" rtlCol="0">
            <a:spAutoFit/>
          </a:bodyPr>
          <a:lstStyle/>
          <a:p>
            <a:r>
              <a:rPr lang="en-GB" dirty="0"/>
              <a:t>Recovered</a:t>
            </a:r>
          </a:p>
        </p:txBody>
      </p:sp>
      <p:sp>
        <p:nvSpPr>
          <p:cNvPr id="8" name="TextBox 7"/>
          <p:cNvSpPr txBox="1"/>
          <p:nvPr/>
        </p:nvSpPr>
        <p:spPr>
          <a:xfrm>
            <a:off x="685800" y="5976640"/>
            <a:ext cx="7561685" cy="461665"/>
          </a:xfrm>
          <a:prstGeom prst="rect">
            <a:avLst/>
          </a:prstGeom>
          <a:noFill/>
        </p:spPr>
        <p:txBody>
          <a:bodyPr wrap="none" rtlCol="0">
            <a:spAutoFit/>
          </a:bodyPr>
          <a:lstStyle/>
          <a:p>
            <a:r>
              <a:rPr lang="en-GB" dirty="0"/>
              <a:t>Probability of recovering in time </a:t>
            </a:r>
            <a:r>
              <a:rPr lang="en-GB" dirty="0" err="1"/>
              <a:t>dt</a:t>
            </a:r>
            <a:r>
              <a:rPr lang="en-GB" dirty="0"/>
              <a:t> is </a:t>
            </a:r>
            <a:r>
              <a:rPr lang="el-GR" b="1" dirty="0"/>
              <a:t>σ</a:t>
            </a:r>
            <a:r>
              <a:rPr lang="en-GB" b="1" dirty="0" err="1"/>
              <a:t>dt</a:t>
            </a:r>
            <a:r>
              <a:rPr lang="en-GB" dirty="0"/>
              <a:t>, </a:t>
            </a:r>
            <a:r>
              <a:rPr lang="en-GB" u="sng" dirty="0"/>
              <a:t>for small </a:t>
            </a:r>
            <a:r>
              <a:rPr lang="en-GB" u="sng" dirty="0" err="1"/>
              <a:t>dt</a:t>
            </a:r>
            <a:r>
              <a:rPr lang="en-GB" dirty="0" err="1"/>
              <a:t>.</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61950" y="206375"/>
            <a:ext cx="8229600" cy="909638"/>
          </a:xfrm>
        </p:spPr>
        <p:txBody>
          <a:bodyPr/>
          <a:lstStyle/>
          <a:p>
            <a:pPr eaLnBrk="1" hangingPunct="1">
              <a:defRPr/>
            </a:pPr>
            <a:r>
              <a:rPr lang="en-GB" altLang="en-US" sz="2800" kern="1200" dirty="0">
                <a:solidFill>
                  <a:srgbClr val="0033CC"/>
                </a:solidFill>
                <a:ea typeface="+mn-ea"/>
                <a:cs typeface="+mn-cs"/>
              </a:rPr>
              <a:t>Hazard</a:t>
            </a:r>
          </a:p>
        </p:txBody>
      </p:sp>
      <p:sp>
        <p:nvSpPr>
          <p:cNvPr id="4" name="Rectangle 3"/>
          <p:cNvSpPr/>
          <p:nvPr/>
        </p:nvSpPr>
        <p:spPr>
          <a:xfrm>
            <a:off x="2409825" y="4740275"/>
            <a:ext cx="1533525" cy="11779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GB" dirty="0"/>
              <a:t>Infected</a:t>
            </a:r>
          </a:p>
          <a:p>
            <a:pPr algn="ctr">
              <a:defRPr/>
            </a:pPr>
            <a:r>
              <a:rPr lang="en-GB" dirty="0"/>
              <a:t>N</a:t>
            </a:r>
            <a:endParaRPr lang="en-US" dirty="0"/>
          </a:p>
        </p:txBody>
      </p:sp>
      <p:cxnSp>
        <p:nvCxnSpPr>
          <p:cNvPr id="5" name="Straight Arrow Connector 4"/>
          <p:cNvCxnSpPr>
            <a:stCxn id="4" idx="3"/>
          </p:cNvCxnSpPr>
          <p:nvPr/>
        </p:nvCxnSpPr>
        <p:spPr>
          <a:xfrm>
            <a:off x="3943350" y="5329238"/>
            <a:ext cx="820738" cy="47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677" name="Rectangle 9"/>
          <p:cNvSpPr>
            <a:spLocks noChangeArrowheads="1"/>
          </p:cNvSpPr>
          <p:nvPr/>
        </p:nvSpPr>
        <p:spPr bwMode="auto">
          <a:xfrm>
            <a:off x="4197350" y="4776788"/>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l-GR" altLang="en-US" sz="2400" dirty="0">
                <a:sym typeface="Symbol" panose="05050102010706020507" pitchFamily="18" charset="2"/>
              </a:rPr>
              <a:t>σ</a:t>
            </a:r>
            <a:endParaRPr lang="en-US" altLang="en-US" sz="2400" dirty="0"/>
          </a:p>
        </p:txBody>
      </p:sp>
      <p:sp>
        <p:nvSpPr>
          <p:cNvPr id="28678" name="Rectangle 1"/>
          <p:cNvSpPr>
            <a:spLocks noChangeArrowheads="1"/>
          </p:cNvSpPr>
          <p:nvPr/>
        </p:nvSpPr>
        <p:spPr bwMode="auto">
          <a:xfrm>
            <a:off x="0" y="6069013"/>
            <a:ext cx="7935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FontTx/>
              <a:buNone/>
            </a:pPr>
            <a:r>
              <a:rPr lang="en-GB" altLang="en-US" sz="2400" dirty="0">
                <a:latin typeface="Calibri" panose="020F0502020204030204" pitchFamily="34" charset="0"/>
              </a:rPr>
              <a:t>Number of recoveries in </a:t>
            </a:r>
            <a:r>
              <a:rPr lang="en-GB" altLang="en-US" sz="2400" dirty="0" err="1">
                <a:latin typeface="Calibri" panose="020F0502020204030204" pitchFamily="34" charset="0"/>
              </a:rPr>
              <a:t>dt</a:t>
            </a:r>
            <a:r>
              <a:rPr lang="en-GB" altLang="en-US" sz="2400" dirty="0">
                <a:latin typeface="Calibri" panose="020F0502020204030204" pitchFamily="34" charset="0"/>
              </a:rPr>
              <a:t> is from Binomial(</a:t>
            </a:r>
            <a:r>
              <a:rPr lang="el-GR" altLang="en-US" sz="2400" dirty="0">
                <a:latin typeface="Calibri" panose="020F0502020204030204" pitchFamily="34" charset="0"/>
              </a:rPr>
              <a:t>σ</a:t>
            </a:r>
            <a:r>
              <a:rPr lang="en-GB" altLang="en-US" sz="2400" dirty="0" err="1">
                <a:latin typeface="Calibri" panose="020F0502020204030204" pitchFamily="34" charset="0"/>
                <a:sym typeface="Symbol" panose="05050102010706020507" pitchFamily="18" charset="2"/>
              </a:rPr>
              <a:t>dt</a:t>
            </a:r>
            <a:r>
              <a:rPr lang="en-GB" altLang="en-US" sz="2400" dirty="0">
                <a:latin typeface="Calibri" panose="020F0502020204030204" pitchFamily="34" charset="0"/>
              </a:rPr>
              <a:t>, N)</a:t>
            </a:r>
          </a:p>
        </p:txBody>
      </p:sp>
      <p:sp>
        <p:nvSpPr>
          <p:cNvPr id="9" name="Rectangle 3"/>
          <p:cNvSpPr txBox="1">
            <a:spLocks noChangeArrowheads="1"/>
          </p:cNvSpPr>
          <p:nvPr/>
        </p:nvSpPr>
        <p:spPr bwMode="auto">
          <a:xfrm>
            <a:off x="360363" y="1339849"/>
            <a:ext cx="8229600" cy="197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defRPr/>
            </a:pPr>
            <a:r>
              <a:rPr lang="en-GB" altLang="en-US" sz="2400" kern="0" dirty="0">
                <a:latin typeface="Calibri" panose="020F0502020204030204" pitchFamily="34" charset="0"/>
              </a:rPr>
              <a:t>If we have N individuals who are all identical (with respect to the process we’re talking about), the </a:t>
            </a:r>
            <a:r>
              <a:rPr lang="en-GB" altLang="en-US" sz="2400" b="1" kern="0" dirty="0">
                <a:latin typeface="Calibri" panose="020F0502020204030204" pitchFamily="34" charset="0"/>
              </a:rPr>
              <a:t>binomial distribution</a:t>
            </a:r>
            <a:r>
              <a:rPr lang="en-GB" altLang="en-US" sz="2400" kern="0" dirty="0">
                <a:latin typeface="Calibri" panose="020F0502020204030204" pitchFamily="34" charset="0"/>
              </a:rPr>
              <a:t> describes the distribution of the number of events in a given time. </a:t>
            </a:r>
          </a:p>
          <a:p>
            <a:pPr eaLnBrk="1" hangingPunct="1">
              <a:defRPr/>
            </a:pPr>
            <a:r>
              <a:rPr lang="en-GB" altLang="en-US" sz="2400" kern="0" dirty="0">
                <a:latin typeface="Calibri" panose="020F0502020204030204" pitchFamily="34" charset="0"/>
              </a:rPr>
              <a:t>N trials of something with probability p, number of successes is a binomially-distributed random number:</a:t>
            </a:r>
          </a:p>
          <a:p>
            <a:pPr lvl="1" eaLnBrk="1" hangingPunct="1">
              <a:buFontTx/>
              <a:buNone/>
              <a:defRPr/>
            </a:pPr>
            <a:endParaRPr lang="en-GB" altLang="en-US" sz="2400" kern="0" dirty="0">
              <a:latin typeface="Calibri" panose="020F0502020204030204" pitchFamily="34" charset="0"/>
            </a:endParaRPr>
          </a:p>
        </p:txBody>
      </p:sp>
      <p:sp>
        <p:nvSpPr>
          <p:cNvPr id="8" name="Rectangle 7"/>
          <p:cNvSpPr/>
          <p:nvPr/>
        </p:nvSpPr>
        <p:spPr>
          <a:xfrm>
            <a:off x="4764088" y="4740274"/>
            <a:ext cx="1712912" cy="11779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GB" dirty="0"/>
              <a:t>Recovered</a:t>
            </a:r>
            <a:endParaRPr lang="en-US" dirty="0"/>
          </a:p>
        </p:txBody>
      </p:sp>
      <p:sp>
        <p:nvSpPr>
          <p:cNvPr id="3" name="TextBox 2"/>
          <p:cNvSpPr txBox="1"/>
          <p:nvPr/>
        </p:nvSpPr>
        <p:spPr>
          <a:xfrm>
            <a:off x="3409950" y="3638550"/>
            <a:ext cx="2052165" cy="461665"/>
          </a:xfrm>
          <a:prstGeom prst="rect">
            <a:avLst/>
          </a:prstGeom>
          <a:noFill/>
        </p:spPr>
        <p:txBody>
          <a:bodyPr wrap="none" rtlCol="0">
            <a:spAutoFit/>
          </a:bodyPr>
          <a:lstStyle/>
          <a:p>
            <a:r>
              <a:rPr lang="en-GB" dirty="0"/>
              <a:t>Binomial(</a:t>
            </a:r>
            <a:r>
              <a:rPr lang="en-GB" dirty="0" err="1"/>
              <a:t>p,N</a:t>
            </a:r>
            <a:r>
              <a:rPr lang="en-GB"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274638"/>
            <a:ext cx="8229600" cy="817562"/>
          </a:xfrm>
        </p:spPr>
        <p:txBody>
          <a:bodyPr/>
          <a:lstStyle/>
          <a:p>
            <a:pPr>
              <a:defRPr/>
            </a:pPr>
            <a:r>
              <a:rPr lang="en-GB" altLang="en-US" sz="2800" kern="1200" dirty="0">
                <a:solidFill>
                  <a:srgbClr val="0033CC"/>
                </a:solidFill>
                <a:ea typeface="+mn-ea"/>
                <a:cs typeface="+mn-cs"/>
              </a:rPr>
              <a:t>Competing hazards</a:t>
            </a:r>
            <a:endParaRPr lang="en-US" altLang="en-US" sz="2800" kern="1200" dirty="0">
              <a:solidFill>
                <a:srgbClr val="0033CC"/>
              </a:solidFill>
              <a:ea typeface="+mn-ea"/>
              <a:cs typeface="+mn-cs"/>
            </a:endParaRPr>
          </a:p>
        </p:txBody>
      </p:sp>
      <p:sp>
        <p:nvSpPr>
          <p:cNvPr id="10" name="Content Placeholder 2"/>
          <p:cNvSpPr txBox="1">
            <a:spLocks/>
          </p:cNvSpPr>
          <p:nvPr/>
        </p:nvSpPr>
        <p:spPr bwMode="auto">
          <a:xfrm>
            <a:off x="357188" y="1306512"/>
            <a:ext cx="8229600" cy="2635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FontTx/>
              <a:buNone/>
              <a:defRPr/>
            </a:pPr>
            <a:r>
              <a:rPr lang="en-GB" altLang="en-US" sz="2400" kern="0" dirty="0">
                <a:latin typeface="Calibri" panose="020F0502020204030204" pitchFamily="34" charset="0"/>
              </a:rPr>
              <a:t>Consider a population of </a:t>
            </a:r>
            <a:r>
              <a:rPr lang="en-GB" altLang="en-US" sz="2400" kern="0" dirty="0" err="1">
                <a:latin typeface="Calibri" panose="020F0502020204030204" pitchFamily="34" charset="0"/>
              </a:rPr>
              <a:t>susceptibles</a:t>
            </a:r>
            <a:r>
              <a:rPr lang="en-GB" altLang="en-US" sz="2400" kern="0" dirty="0">
                <a:latin typeface="Calibri" panose="020F0502020204030204" pitchFamily="34" charset="0"/>
              </a:rPr>
              <a:t> which can become infected (rate: </a:t>
            </a:r>
            <a:r>
              <a:rPr lang="el-GR" altLang="en-US" sz="2400" kern="0" dirty="0">
                <a:latin typeface="Calibri" panose="020F0502020204030204" pitchFamily="34" charset="0"/>
              </a:rPr>
              <a:t>λ</a:t>
            </a:r>
            <a:r>
              <a:rPr lang="en-GB" altLang="en-US" sz="2400" kern="0" dirty="0">
                <a:latin typeface="Calibri" panose="020F0502020204030204" pitchFamily="34" charset="0"/>
              </a:rPr>
              <a:t>) but can also die (rate: </a:t>
            </a:r>
            <a:r>
              <a:rPr lang="el-GR" altLang="en-US" sz="2400" kern="0" dirty="0">
                <a:latin typeface="Calibri" panose="020F0502020204030204" pitchFamily="34" charset="0"/>
              </a:rPr>
              <a:t>μ</a:t>
            </a:r>
            <a:r>
              <a:rPr lang="en-GB" altLang="en-US" sz="2400" kern="0" dirty="0">
                <a:latin typeface="Calibri" panose="020F0502020204030204" pitchFamily="34" charset="0"/>
              </a:rPr>
              <a:t>). But they can’t do both at the same time!</a:t>
            </a:r>
          </a:p>
          <a:p>
            <a:pPr marL="0" indent="0">
              <a:buFontTx/>
              <a:buNone/>
              <a:defRPr/>
            </a:pPr>
            <a:endParaRPr lang="en-GB" altLang="en-US" sz="2400" kern="0" dirty="0">
              <a:latin typeface="Calibri" panose="020F0502020204030204" pitchFamily="34" charset="0"/>
            </a:endParaRPr>
          </a:p>
          <a:p>
            <a:pPr marL="0" indent="0">
              <a:buFontTx/>
              <a:buNone/>
              <a:defRPr/>
            </a:pPr>
            <a:r>
              <a:rPr lang="en-GB" altLang="en-US" sz="2400" kern="0" dirty="0">
                <a:latin typeface="Calibri" panose="020F0502020204030204" pitchFamily="34" charset="0"/>
              </a:rPr>
              <a:t>In a time period, </a:t>
            </a:r>
            <a:r>
              <a:rPr lang="en-GB" altLang="en-US" sz="2400" kern="0" dirty="0" err="1">
                <a:latin typeface="Calibri" panose="020F0502020204030204" pitchFamily="34" charset="0"/>
              </a:rPr>
              <a:t>dt</a:t>
            </a:r>
            <a:r>
              <a:rPr lang="en-GB" altLang="en-US" sz="2400" kern="0" dirty="0">
                <a:latin typeface="Calibri" panose="020F0502020204030204" pitchFamily="34" charset="0"/>
              </a:rPr>
              <a:t>, how many die and how many become infected? </a:t>
            </a:r>
          </a:p>
          <a:p>
            <a:pPr marL="0" indent="0">
              <a:buFontTx/>
              <a:buNone/>
              <a:defRPr/>
            </a:pPr>
            <a:endParaRPr lang="en-GB" altLang="en-US" kern="0" dirty="0">
              <a:latin typeface="Calibri" panose="020F0502020204030204" pitchFamily="34" charset="0"/>
            </a:endParaRPr>
          </a:p>
        </p:txBody>
      </p:sp>
      <p:grpSp>
        <p:nvGrpSpPr>
          <p:cNvPr id="7" name="Group 6"/>
          <p:cNvGrpSpPr/>
          <p:nvPr/>
        </p:nvGrpSpPr>
        <p:grpSpPr>
          <a:xfrm>
            <a:off x="3432175" y="4235450"/>
            <a:ext cx="3419467" cy="2350790"/>
            <a:chOff x="3432175" y="4235450"/>
            <a:chExt cx="3419467" cy="2350790"/>
          </a:xfrm>
        </p:grpSpPr>
        <p:sp>
          <p:nvSpPr>
            <p:cNvPr id="4" name="Rectangle 3"/>
            <p:cNvSpPr/>
            <p:nvPr/>
          </p:nvSpPr>
          <p:spPr>
            <a:xfrm>
              <a:off x="3432175" y="4235450"/>
              <a:ext cx="1309688" cy="11779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GB" dirty="0"/>
                <a:t>X</a:t>
              </a:r>
            </a:p>
          </p:txBody>
        </p:sp>
        <p:cxnSp>
          <p:nvCxnSpPr>
            <p:cNvPr id="6" name="Straight Arrow Connector 5"/>
            <p:cNvCxnSpPr>
              <a:stCxn id="4" idx="3"/>
            </p:cNvCxnSpPr>
            <p:nvPr/>
          </p:nvCxnSpPr>
          <p:spPr>
            <a:xfrm>
              <a:off x="4741863" y="4824413"/>
              <a:ext cx="820737" cy="47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4" idx="2"/>
            </p:cNvCxnSpPr>
            <p:nvPr/>
          </p:nvCxnSpPr>
          <p:spPr>
            <a:xfrm rot="16200000" flipH="1">
              <a:off x="3764756" y="5736432"/>
              <a:ext cx="650875" cy="47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991100" y="4381500"/>
              <a:ext cx="327334" cy="461665"/>
            </a:xfrm>
            <a:prstGeom prst="rect">
              <a:avLst/>
            </a:prstGeom>
            <a:noFill/>
          </p:spPr>
          <p:txBody>
            <a:bodyPr wrap="none" rtlCol="0">
              <a:spAutoFit/>
            </a:bodyPr>
            <a:lstStyle/>
            <a:p>
              <a:r>
                <a:rPr lang="el-GR" altLang="en-US" kern="0" dirty="0">
                  <a:latin typeface="Calibri" panose="020F0502020204030204" pitchFamily="34" charset="0"/>
                </a:rPr>
                <a:t>λ</a:t>
              </a:r>
              <a:endParaRPr lang="en-GB" dirty="0"/>
            </a:p>
          </p:txBody>
        </p:sp>
        <p:sp>
          <p:nvSpPr>
            <p:cNvPr id="3" name="TextBox 2"/>
            <p:cNvSpPr txBox="1"/>
            <p:nvPr/>
          </p:nvSpPr>
          <p:spPr>
            <a:xfrm>
              <a:off x="5572125" y="4610100"/>
              <a:ext cx="1279517" cy="461665"/>
            </a:xfrm>
            <a:prstGeom prst="rect">
              <a:avLst/>
            </a:prstGeom>
            <a:noFill/>
          </p:spPr>
          <p:txBody>
            <a:bodyPr wrap="none" rtlCol="0">
              <a:spAutoFit/>
            </a:bodyPr>
            <a:lstStyle/>
            <a:p>
              <a:r>
                <a:rPr lang="en-GB" dirty="0"/>
                <a:t>Infected</a:t>
              </a:r>
            </a:p>
          </p:txBody>
        </p:sp>
        <p:sp>
          <p:nvSpPr>
            <p:cNvPr id="11" name="TextBox 10"/>
            <p:cNvSpPr txBox="1"/>
            <p:nvPr/>
          </p:nvSpPr>
          <p:spPr>
            <a:xfrm>
              <a:off x="3733529" y="5476231"/>
              <a:ext cx="423514" cy="461665"/>
            </a:xfrm>
            <a:prstGeom prst="rect">
              <a:avLst/>
            </a:prstGeom>
            <a:noFill/>
          </p:spPr>
          <p:txBody>
            <a:bodyPr wrap="none" rtlCol="0">
              <a:spAutoFit/>
            </a:bodyPr>
            <a:lstStyle/>
            <a:p>
              <a:r>
                <a:rPr lang="el-GR" altLang="en-US" kern="0" dirty="0">
                  <a:latin typeface="Calibri" panose="020F0502020204030204" pitchFamily="34" charset="0"/>
                </a:rPr>
                <a:t>μ </a:t>
              </a:r>
              <a:endParaRPr lang="en-GB" dirty="0"/>
            </a:p>
          </p:txBody>
        </p:sp>
        <p:sp>
          <p:nvSpPr>
            <p:cNvPr id="5" name="TextBox 4"/>
            <p:cNvSpPr txBox="1"/>
            <p:nvPr/>
          </p:nvSpPr>
          <p:spPr>
            <a:xfrm>
              <a:off x="3581400" y="6124575"/>
              <a:ext cx="1007007" cy="461665"/>
            </a:xfrm>
            <a:prstGeom prst="rect">
              <a:avLst/>
            </a:prstGeom>
            <a:noFill/>
          </p:spPr>
          <p:txBody>
            <a:bodyPr wrap="none" rtlCol="0">
              <a:spAutoFit/>
            </a:bodyPr>
            <a:lstStyle/>
            <a:p>
              <a:r>
                <a:rPr lang="en-GB" dirty="0"/>
                <a:t>Death</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274638"/>
            <a:ext cx="8229600" cy="817562"/>
          </a:xfrm>
        </p:spPr>
        <p:txBody>
          <a:bodyPr/>
          <a:lstStyle/>
          <a:p>
            <a:pPr>
              <a:defRPr/>
            </a:pPr>
            <a:r>
              <a:rPr lang="en-GB" altLang="en-US" sz="2800" kern="1200" dirty="0">
                <a:solidFill>
                  <a:srgbClr val="0033CC"/>
                </a:solidFill>
                <a:ea typeface="+mn-ea"/>
                <a:cs typeface="+mn-cs"/>
              </a:rPr>
              <a:t>Competing hazards</a:t>
            </a:r>
            <a:endParaRPr lang="en-US" altLang="en-US" sz="2800" kern="1200" dirty="0">
              <a:solidFill>
                <a:srgbClr val="0033CC"/>
              </a:solidFill>
              <a:ea typeface="+mn-ea"/>
              <a:cs typeface="+mn-cs"/>
            </a:endParaRPr>
          </a:p>
        </p:txBody>
      </p:sp>
      <p:sp>
        <p:nvSpPr>
          <p:cNvPr id="30729" name="Rectangle 9"/>
          <p:cNvSpPr>
            <a:spLocks noChangeArrowheads="1"/>
          </p:cNvSpPr>
          <p:nvPr/>
        </p:nvSpPr>
        <p:spPr bwMode="auto">
          <a:xfrm>
            <a:off x="0" y="5083175"/>
            <a:ext cx="89423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FontTx/>
              <a:buNone/>
            </a:pPr>
            <a:r>
              <a:rPr lang="en-GB" altLang="en-US" sz="2400">
                <a:latin typeface="Calibri" panose="020F0502020204030204" pitchFamily="34" charset="0"/>
              </a:rPr>
              <a:t>Total number of events:</a:t>
            </a:r>
          </a:p>
          <a:p>
            <a:pPr lvl="1" eaLnBrk="1" hangingPunct="1">
              <a:spcBef>
                <a:spcPct val="0"/>
              </a:spcBef>
              <a:buFontTx/>
              <a:buNone/>
            </a:pPr>
            <a:endParaRPr lang="en-GB" altLang="en-US" sz="2400">
              <a:latin typeface="Calibri" panose="020F0502020204030204" pitchFamily="34" charset="0"/>
            </a:endParaRPr>
          </a:p>
          <a:p>
            <a:pPr lvl="1" eaLnBrk="1" hangingPunct="1">
              <a:spcBef>
                <a:spcPct val="0"/>
              </a:spcBef>
              <a:buFontTx/>
              <a:buNone/>
            </a:pPr>
            <a:r>
              <a:rPr lang="en-GB" altLang="en-US" sz="2400">
                <a:latin typeface="Calibri" panose="020F0502020204030204" pitchFamily="34" charset="0"/>
              </a:rPr>
              <a:t>Split into </a:t>
            </a:r>
            <a:r>
              <a:rPr lang="en-GB" altLang="en-US" sz="2400" i="1">
                <a:latin typeface="Calibri" panose="020F0502020204030204" pitchFamily="34" charset="0"/>
              </a:rPr>
              <a:t>H</a:t>
            </a:r>
            <a:r>
              <a:rPr lang="en-GB" altLang="en-US" sz="2400" i="1" baseline="-25000">
                <a:latin typeface="Calibri" panose="020F0502020204030204" pitchFamily="34" charset="0"/>
              </a:rPr>
              <a:t>1</a:t>
            </a:r>
            <a:r>
              <a:rPr lang="en-GB" altLang="en-US" sz="2400">
                <a:latin typeface="Calibri" panose="020F0502020204030204" pitchFamily="34" charset="0"/>
              </a:rPr>
              <a:t> and </a:t>
            </a:r>
            <a:r>
              <a:rPr lang="en-GB" altLang="en-US" sz="2400" i="1">
                <a:latin typeface="Calibri" panose="020F0502020204030204" pitchFamily="34" charset="0"/>
              </a:rPr>
              <a:t>H</a:t>
            </a:r>
            <a:r>
              <a:rPr lang="en-GB" altLang="en-US" sz="2400" i="1" baseline="-25000">
                <a:latin typeface="Calibri" panose="020F0502020204030204" pitchFamily="34" charset="0"/>
              </a:rPr>
              <a:t>2</a:t>
            </a:r>
            <a:r>
              <a:rPr lang="en-GB" altLang="en-US" sz="2400" i="1">
                <a:latin typeface="Calibri" panose="020F0502020204030204" pitchFamily="34" charset="0"/>
              </a:rPr>
              <a:t>:</a:t>
            </a:r>
            <a:r>
              <a:rPr lang="en-GB" altLang="en-US" sz="2400">
                <a:latin typeface="Calibri" panose="020F0502020204030204" pitchFamily="34" charset="0"/>
              </a:rPr>
              <a:t> </a:t>
            </a:r>
          </a:p>
        </p:txBody>
      </p:sp>
      <p:graphicFrame>
        <p:nvGraphicFramePr>
          <p:cNvPr id="30730" name="Object 1"/>
          <p:cNvGraphicFramePr>
            <a:graphicFrameLocks noChangeAspect="1"/>
          </p:cNvGraphicFramePr>
          <p:nvPr>
            <p:extLst>
              <p:ext uri="{D42A27DB-BD31-4B8C-83A1-F6EECF244321}">
                <p14:modId xmlns:p14="http://schemas.microsoft.com/office/powerpoint/2010/main" val="26327050"/>
              </p:ext>
            </p:extLst>
          </p:nvPr>
        </p:nvGraphicFramePr>
        <p:xfrm>
          <a:off x="3851275" y="5083175"/>
          <a:ext cx="4635500" cy="542925"/>
        </p:xfrm>
        <a:graphic>
          <a:graphicData uri="http://schemas.openxmlformats.org/presentationml/2006/ole">
            <mc:AlternateContent xmlns:mc="http://schemas.openxmlformats.org/markup-compatibility/2006">
              <mc:Choice xmlns:v="urn:schemas-microsoft-com:vml" Requires="v">
                <p:oleObj spid="_x0000_s30778" name="Equation" r:id="rId3" imgW="2171520" imgH="253800" progId="Equation.DSMT4">
                  <p:embed/>
                </p:oleObj>
              </mc:Choice>
              <mc:Fallback>
                <p:oleObj name="Equation" r:id="rId3" imgW="2171520" imgH="253800" progId="Equation.DSMT4">
                  <p:embed/>
                  <p:pic>
                    <p:nvPicPr>
                      <p:cNvPr id="0" name="Object 1"/>
                      <p:cNvPicPr>
                        <a:picLocks noChangeAspect="1" noChangeArrowheads="1"/>
                      </p:cNvPicPr>
                      <p:nvPr/>
                    </p:nvPicPr>
                    <p:blipFill>
                      <a:blip r:embed="rId4"/>
                      <a:srcRect/>
                      <a:stretch>
                        <a:fillRect/>
                      </a:stretch>
                    </p:blipFill>
                    <p:spPr bwMode="auto">
                      <a:xfrm>
                        <a:off x="3851275" y="5083175"/>
                        <a:ext cx="46355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1" name="Object 2"/>
          <p:cNvGraphicFramePr>
            <a:graphicFrameLocks noChangeAspect="1"/>
          </p:cNvGraphicFramePr>
          <p:nvPr>
            <p:extLst>
              <p:ext uri="{D42A27DB-BD31-4B8C-83A1-F6EECF244321}">
                <p14:modId xmlns:p14="http://schemas.microsoft.com/office/powerpoint/2010/main" val="1275487258"/>
              </p:ext>
            </p:extLst>
          </p:nvPr>
        </p:nvGraphicFramePr>
        <p:xfrm>
          <a:off x="4002088" y="5575300"/>
          <a:ext cx="4310062" cy="977900"/>
        </p:xfrm>
        <a:graphic>
          <a:graphicData uri="http://schemas.openxmlformats.org/presentationml/2006/ole">
            <mc:AlternateContent xmlns:mc="http://schemas.openxmlformats.org/markup-compatibility/2006">
              <mc:Choice xmlns:v="urn:schemas-microsoft-com:vml" Requires="v">
                <p:oleObj spid="_x0000_s30779" name="Equation" r:id="rId5" imgW="2019240" imgH="457200" progId="Equation.DSMT4">
                  <p:embed/>
                </p:oleObj>
              </mc:Choice>
              <mc:Fallback>
                <p:oleObj name="Equation" r:id="rId5" imgW="2019240" imgH="457200" progId="Equation.DSMT4">
                  <p:embed/>
                  <p:pic>
                    <p:nvPicPr>
                      <p:cNvPr id="0" name="Object 2"/>
                      <p:cNvPicPr>
                        <a:picLocks noChangeAspect="1" noChangeArrowheads="1"/>
                      </p:cNvPicPr>
                      <p:nvPr/>
                    </p:nvPicPr>
                    <p:blipFill>
                      <a:blip r:embed="rId6"/>
                      <a:srcRect/>
                      <a:stretch>
                        <a:fillRect/>
                      </a:stretch>
                    </p:blipFill>
                    <p:spPr bwMode="auto">
                      <a:xfrm>
                        <a:off x="4002088" y="5575300"/>
                        <a:ext cx="43100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p:cNvSpPr txBox="1"/>
          <p:nvPr/>
        </p:nvSpPr>
        <p:spPr>
          <a:xfrm>
            <a:off x="457200" y="1262916"/>
            <a:ext cx="8082084" cy="1569660"/>
          </a:xfrm>
          <a:prstGeom prst="rect">
            <a:avLst/>
          </a:prstGeom>
          <a:noFill/>
        </p:spPr>
        <p:txBody>
          <a:bodyPr wrap="none" rtlCol="0">
            <a:spAutoFit/>
          </a:bodyPr>
          <a:lstStyle/>
          <a:p>
            <a:r>
              <a:rPr lang="en-GB" altLang="en-US" dirty="0">
                <a:latin typeface="Calibri" panose="020F0502020204030204" pitchFamily="34" charset="0"/>
              </a:rPr>
              <a:t>It turns out that we can add the rates of the different events to </a:t>
            </a:r>
          </a:p>
          <a:p>
            <a:r>
              <a:rPr lang="en-GB" altLang="en-US" dirty="0">
                <a:latin typeface="Calibri" panose="020F0502020204030204" pitchFamily="34" charset="0"/>
              </a:rPr>
              <a:t>get the total number to which </a:t>
            </a:r>
            <a:r>
              <a:rPr lang="en-GB" altLang="en-US" i="1" dirty="0">
                <a:latin typeface="Calibri" panose="020F0502020204030204" pitchFamily="34" charset="0"/>
              </a:rPr>
              <a:t>anything</a:t>
            </a:r>
            <a:r>
              <a:rPr lang="en-GB" altLang="en-US" dirty="0">
                <a:latin typeface="Calibri" panose="020F0502020204030204" pitchFamily="34" charset="0"/>
              </a:rPr>
              <a:t> happened. </a:t>
            </a:r>
          </a:p>
          <a:p>
            <a:endParaRPr lang="en-GB" dirty="0">
              <a:latin typeface="Calibri" panose="020F0502020204030204" pitchFamily="34" charset="0"/>
            </a:endParaRPr>
          </a:p>
          <a:p>
            <a:r>
              <a:rPr lang="en-GB" dirty="0">
                <a:latin typeface="Calibri" panose="020F0502020204030204" pitchFamily="34" charset="0"/>
              </a:rPr>
              <a:t>Then we can decide which of the two things happened to each.</a:t>
            </a:r>
            <a:endParaRPr lang="en-GB" dirty="0"/>
          </a:p>
        </p:txBody>
      </p:sp>
      <p:grpSp>
        <p:nvGrpSpPr>
          <p:cNvPr id="12" name="Group 11"/>
          <p:cNvGrpSpPr/>
          <p:nvPr/>
        </p:nvGrpSpPr>
        <p:grpSpPr>
          <a:xfrm>
            <a:off x="3275221" y="2979562"/>
            <a:ext cx="2881898" cy="2064385"/>
            <a:chOff x="3432175" y="4235450"/>
            <a:chExt cx="3419467" cy="2350790"/>
          </a:xfrm>
        </p:grpSpPr>
        <p:sp>
          <p:nvSpPr>
            <p:cNvPr id="13" name="Rectangle 12"/>
            <p:cNvSpPr/>
            <p:nvPr/>
          </p:nvSpPr>
          <p:spPr>
            <a:xfrm>
              <a:off x="3432175" y="4235450"/>
              <a:ext cx="1309688" cy="11779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GB" dirty="0"/>
                <a:t>X</a:t>
              </a:r>
            </a:p>
          </p:txBody>
        </p:sp>
        <p:cxnSp>
          <p:nvCxnSpPr>
            <p:cNvPr id="14" name="Straight Arrow Connector 13"/>
            <p:cNvCxnSpPr>
              <a:stCxn id="14" idx="3"/>
            </p:cNvCxnSpPr>
            <p:nvPr/>
          </p:nvCxnSpPr>
          <p:spPr>
            <a:xfrm>
              <a:off x="4741863" y="4824413"/>
              <a:ext cx="820737" cy="47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4" idx="2"/>
            </p:cNvCxnSpPr>
            <p:nvPr/>
          </p:nvCxnSpPr>
          <p:spPr>
            <a:xfrm rot="16200000" flipH="1">
              <a:off x="3764756" y="5736432"/>
              <a:ext cx="650875" cy="47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991100" y="4381500"/>
              <a:ext cx="327334" cy="461665"/>
            </a:xfrm>
            <a:prstGeom prst="rect">
              <a:avLst/>
            </a:prstGeom>
            <a:noFill/>
          </p:spPr>
          <p:txBody>
            <a:bodyPr wrap="none" rtlCol="0">
              <a:spAutoFit/>
            </a:bodyPr>
            <a:lstStyle/>
            <a:p>
              <a:r>
                <a:rPr lang="el-GR" altLang="en-US" kern="0" dirty="0">
                  <a:latin typeface="Calibri" panose="020F0502020204030204" pitchFamily="34" charset="0"/>
                </a:rPr>
                <a:t>λ</a:t>
              </a:r>
              <a:endParaRPr lang="en-GB" dirty="0"/>
            </a:p>
          </p:txBody>
        </p:sp>
        <p:sp>
          <p:nvSpPr>
            <p:cNvPr id="17" name="TextBox 16"/>
            <p:cNvSpPr txBox="1"/>
            <p:nvPr/>
          </p:nvSpPr>
          <p:spPr>
            <a:xfrm>
              <a:off x="5572125" y="4610100"/>
              <a:ext cx="1279517" cy="461665"/>
            </a:xfrm>
            <a:prstGeom prst="rect">
              <a:avLst/>
            </a:prstGeom>
            <a:noFill/>
          </p:spPr>
          <p:txBody>
            <a:bodyPr wrap="none" rtlCol="0">
              <a:spAutoFit/>
            </a:bodyPr>
            <a:lstStyle/>
            <a:p>
              <a:r>
                <a:rPr lang="en-GB" dirty="0"/>
                <a:t>Infected</a:t>
              </a:r>
            </a:p>
          </p:txBody>
        </p:sp>
        <p:sp>
          <p:nvSpPr>
            <p:cNvPr id="18" name="TextBox 17"/>
            <p:cNvSpPr txBox="1"/>
            <p:nvPr/>
          </p:nvSpPr>
          <p:spPr>
            <a:xfrm>
              <a:off x="3733529" y="5476231"/>
              <a:ext cx="423514" cy="461665"/>
            </a:xfrm>
            <a:prstGeom prst="rect">
              <a:avLst/>
            </a:prstGeom>
            <a:noFill/>
          </p:spPr>
          <p:txBody>
            <a:bodyPr wrap="none" rtlCol="0">
              <a:spAutoFit/>
            </a:bodyPr>
            <a:lstStyle/>
            <a:p>
              <a:r>
                <a:rPr lang="el-GR" altLang="en-US" kern="0" dirty="0">
                  <a:latin typeface="Calibri" panose="020F0502020204030204" pitchFamily="34" charset="0"/>
                </a:rPr>
                <a:t>μ </a:t>
              </a:r>
              <a:endParaRPr lang="en-GB" dirty="0"/>
            </a:p>
          </p:txBody>
        </p:sp>
        <p:sp>
          <p:nvSpPr>
            <p:cNvPr id="19" name="TextBox 18"/>
            <p:cNvSpPr txBox="1"/>
            <p:nvPr/>
          </p:nvSpPr>
          <p:spPr>
            <a:xfrm>
              <a:off x="3581400" y="6124575"/>
              <a:ext cx="1007007" cy="461665"/>
            </a:xfrm>
            <a:prstGeom prst="rect">
              <a:avLst/>
            </a:prstGeom>
            <a:noFill/>
          </p:spPr>
          <p:txBody>
            <a:bodyPr wrap="none" rtlCol="0">
              <a:spAutoFit/>
            </a:bodyPr>
            <a:lstStyle/>
            <a:p>
              <a:r>
                <a:rPr lang="en-GB" dirty="0"/>
                <a:t>Death</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457200" y="33655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Simple infection process </a:t>
            </a:r>
          </a:p>
        </p:txBody>
      </p:sp>
      <p:sp>
        <p:nvSpPr>
          <p:cNvPr id="31747" name="Text Box 3"/>
          <p:cNvSpPr txBox="1">
            <a:spLocks noChangeArrowheads="1"/>
          </p:cNvSpPr>
          <p:nvPr/>
        </p:nvSpPr>
        <p:spPr bwMode="auto">
          <a:xfrm>
            <a:off x="241300" y="1231900"/>
            <a:ext cx="864428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dirty="0">
                <a:latin typeface="Calibri" panose="020F0502020204030204" pitchFamily="34" charset="0"/>
              </a:rPr>
              <a:t>A stochastic model is completely described by two things:</a:t>
            </a:r>
          </a:p>
          <a:p>
            <a:pPr marL="342900" indent="-342900" eaLnBrk="1" hangingPunct="1">
              <a:spcBef>
                <a:spcPct val="0"/>
              </a:spcBef>
            </a:pPr>
            <a:r>
              <a:rPr lang="en-GB" altLang="en-US" sz="2400" dirty="0">
                <a:latin typeface="Calibri" panose="020F0502020204030204" pitchFamily="34" charset="0"/>
              </a:rPr>
              <a:t>The state of the population. E.g. the number of individuals in </a:t>
            </a:r>
          </a:p>
          <a:p>
            <a:pPr eaLnBrk="1" hangingPunct="1">
              <a:spcBef>
                <a:spcPct val="0"/>
              </a:spcBef>
              <a:buNone/>
            </a:pPr>
            <a:r>
              <a:rPr lang="en-GB" altLang="en-US" sz="2400" dirty="0">
                <a:latin typeface="Calibri" panose="020F0502020204030204" pitchFamily="34" charset="0"/>
              </a:rPr>
              <a:t>     susceptible, infected, recovered states, etc. </a:t>
            </a:r>
          </a:p>
          <a:p>
            <a:pPr marL="342900" indent="-342900" eaLnBrk="1" hangingPunct="1">
              <a:spcBef>
                <a:spcPct val="0"/>
              </a:spcBef>
            </a:pPr>
            <a:r>
              <a:rPr lang="en-GB" altLang="en-US" sz="2400" dirty="0">
                <a:latin typeface="Calibri" panose="020F0502020204030204" pitchFamily="34" charset="0"/>
              </a:rPr>
              <a:t>All possible events and their rates. E.g. infection rate, death rate, </a:t>
            </a:r>
          </a:p>
          <a:p>
            <a:pPr eaLnBrk="1" hangingPunct="1">
              <a:spcBef>
                <a:spcPct val="0"/>
              </a:spcBef>
              <a:buNone/>
            </a:pPr>
            <a:r>
              <a:rPr lang="en-GB" altLang="en-US" sz="2400" dirty="0">
                <a:latin typeface="Calibri" panose="020F0502020204030204" pitchFamily="34" charset="0"/>
              </a:rPr>
              <a:t>     recovery rate, etc.</a:t>
            </a:r>
          </a:p>
          <a:p>
            <a:pPr eaLnBrk="1" hangingPunct="1">
              <a:spcBef>
                <a:spcPct val="0"/>
              </a:spcBef>
              <a:buNone/>
            </a:pPr>
            <a:endParaRPr lang="en-GB" altLang="en-US" sz="2400" dirty="0">
              <a:latin typeface="Calibri" panose="020F0502020204030204" pitchFamily="34" charset="0"/>
            </a:endParaRPr>
          </a:p>
          <a:p>
            <a:pPr eaLnBrk="1" hangingPunct="1">
              <a:spcBef>
                <a:spcPct val="0"/>
              </a:spcBef>
              <a:buNone/>
            </a:pPr>
            <a:r>
              <a:rPr lang="en-GB" altLang="en-US" sz="2400" dirty="0">
                <a:latin typeface="Calibri" panose="020F0502020204030204" pitchFamily="34" charset="0"/>
              </a:rPr>
              <a:t>For the present case:</a:t>
            </a:r>
          </a:p>
          <a:p>
            <a:pPr eaLnBrk="1" hangingPunct="1">
              <a:spcBef>
                <a:spcPct val="0"/>
              </a:spcBef>
              <a:buFontTx/>
              <a:buNone/>
            </a:pPr>
            <a:r>
              <a:rPr lang="en-GB" altLang="en-US" sz="2400" dirty="0">
                <a:latin typeface="Calibri" panose="020F0502020204030204" pitchFamily="34" charset="0"/>
              </a:rPr>
              <a:t>Population: S identical susceptible individuals,</a:t>
            </a:r>
          </a:p>
          <a:p>
            <a:pPr eaLnBrk="1" hangingPunct="1">
              <a:spcBef>
                <a:spcPct val="0"/>
              </a:spcBef>
              <a:buFontTx/>
              <a:buNone/>
            </a:pPr>
            <a:r>
              <a:rPr lang="en-GB" altLang="en-US" sz="2400" dirty="0">
                <a:latin typeface="Calibri" panose="020F0502020204030204" pitchFamily="34" charset="0"/>
              </a:rPr>
              <a:t>	         I identical infected individuals.</a:t>
            </a:r>
            <a:endParaRPr lang="en-US" altLang="en-US" sz="2400" dirty="0">
              <a:latin typeface="Calibri" panose="020F0502020204030204" pitchFamily="34" charset="0"/>
            </a:endParaRPr>
          </a:p>
          <a:p>
            <a:pPr eaLnBrk="1" hangingPunct="1">
              <a:spcBef>
                <a:spcPct val="0"/>
              </a:spcBef>
              <a:buFontTx/>
              <a:buNone/>
            </a:pPr>
            <a:endParaRPr lang="en-US" altLang="en-US" sz="2400" dirty="0">
              <a:latin typeface="Times New Roman" panose="02020603050405020304" pitchFamily="18" charset="0"/>
            </a:endParaRPr>
          </a:p>
        </p:txBody>
      </p:sp>
      <p:graphicFrame>
        <p:nvGraphicFramePr>
          <p:cNvPr id="395289" name="Group 25"/>
          <p:cNvGraphicFramePr>
            <a:graphicFrameLocks noGrp="1"/>
          </p:cNvGraphicFramePr>
          <p:nvPr>
            <p:extLst>
              <p:ext uri="{D42A27DB-BD31-4B8C-83A1-F6EECF244321}">
                <p14:modId xmlns:p14="http://schemas.microsoft.com/office/powerpoint/2010/main" val="83371694"/>
              </p:ext>
            </p:extLst>
          </p:nvPr>
        </p:nvGraphicFramePr>
        <p:xfrm>
          <a:off x="990600" y="4741327"/>
          <a:ext cx="6700838" cy="1562102"/>
        </p:xfrm>
        <a:graphic>
          <a:graphicData uri="http://schemas.openxmlformats.org/drawingml/2006/table">
            <a:tbl>
              <a:tblPr/>
              <a:tblGrid>
                <a:gridCol w="1414463">
                  <a:extLst>
                    <a:ext uri="{9D8B030D-6E8A-4147-A177-3AD203B41FA5}">
                      <a16:colId xmlns:a16="http://schemas.microsoft.com/office/drawing/2014/main" xmlns="" val="20000"/>
                    </a:ext>
                  </a:extLst>
                </a:gridCol>
                <a:gridCol w="3368675">
                  <a:extLst>
                    <a:ext uri="{9D8B030D-6E8A-4147-A177-3AD203B41FA5}">
                      <a16:colId xmlns:a16="http://schemas.microsoft.com/office/drawing/2014/main" xmlns="" val="20001"/>
                    </a:ext>
                  </a:extLst>
                </a:gridCol>
                <a:gridCol w="1917700">
                  <a:extLst>
                    <a:ext uri="{9D8B030D-6E8A-4147-A177-3AD203B41FA5}">
                      <a16:colId xmlns:a16="http://schemas.microsoft.com/office/drawing/2014/main" xmlns="" val="20002"/>
                    </a:ext>
                  </a:extLst>
                </a:gridCol>
              </a:tblGrid>
              <a:tr h="4934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Name</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What happens to population</a:t>
                      </a:r>
                      <a:endParaRPr kumimoji="0" lang="en-US" sz="2000" b="0" i="0" u="none" strike="noStrike" cap="none" normalizeH="0" baseline="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a:ln>
                            <a:noFill/>
                          </a:ln>
                          <a:solidFill>
                            <a:schemeClr val="tx1"/>
                          </a:solidFill>
                          <a:effectLst/>
                          <a:latin typeface="Arial" charset="0"/>
                        </a:rPr>
                        <a:t>Rate/individual</a:t>
                      </a:r>
                      <a:endParaRPr kumimoji="0" lang="en-US" sz="2000" b="0" i="0" u="none" strike="noStrike" cap="none" normalizeH="0" baseline="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181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Infection</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S </a:t>
                      </a:r>
                      <a:r>
                        <a:rPr kumimoji="0" lang="en-GB" sz="2000" b="0" i="0" u="none" strike="noStrike" cap="none" normalizeH="0" baseline="0" dirty="0">
                          <a:ln>
                            <a:noFill/>
                          </a:ln>
                          <a:solidFill>
                            <a:schemeClr val="tx1"/>
                          </a:solidFill>
                          <a:effectLst/>
                          <a:latin typeface="Arial" charset="0"/>
                          <a:sym typeface="Wingdings" pitchFamily="2" charset="2"/>
                        </a:rPr>
                        <a:t>S – 1, II + 1</a:t>
                      </a:r>
                      <a:r>
                        <a:rPr kumimoji="0" lang="en-GB" sz="2000" b="0" i="0" u="none" strike="noStrike" cap="none" normalizeH="0" baseline="0" dirty="0">
                          <a:ln>
                            <a:noFill/>
                          </a:ln>
                          <a:solidFill>
                            <a:schemeClr val="tx1"/>
                          </a:solidFill>
                          <a:effectLst/>
                          <a:latin typeface="Arial" charset="0"/>
                        </a:rPr>
                        <a:t>  </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sym typeface="Symbol" pitchFamily="18" charset="2"/>
                        </a:rPr>
                        <a:t></a:t>
                      </a: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505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recovery</a:t>
                      </a:r>
                      <a:endParaRPr kumimoji="0" lang="en-US" sz="2000" b="0" i="0" u="none" strike="noStrike" cap="none" normalizeH="0" baseline="0" dirty="0">
                        <a:ln>
                          <a:noFill/>
                        </a:ln>
                        <a:solidFill>
                          <a:schemeClr val="tx1"/>
                        </a:solidFill>
                        <a:effectLst/>
                        <a:latin typeface="Arial" charset="0"/>
                      </a:endParaRP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rPr>
                        <a:t>I </a:t>
                      </a:r>
                      <a:r>
                        <a:rPr kumimoji="0" lang="en-GB" sz="2000" b="0" i="0" u="none" strike="noStrike" cap="none" normalizeH="0" baseline="0" dirty="0">
                          <a:ln>
                            <a:noFill/>
                          </a:ln>
                          <a:solidFill>
                            <a:schemeClr val="tx1"/>
                          </a:solidFill>
                          <a:effectLst/>
                          <a:latin typeface="Arial" charset="0"/>
                          <a:sym typeface="Wingdings" pitchFamily="2" charset="2"/>
                        </a:rPr>
                        <a:t>I - 1</a:t>
                      </a:r>
                      <a:endParaRPr kumimoji="0" lang="en-US" sz="2000" b="0" i="0" u="none" strike="noStrike" cap="none" normalizeH="0" baseline="0" dirty="0">
                        <a:ln>
                          <a:noFill/>
                        </a:ln>
                        <a:solidFill>
                          <a:schemeClr val="tx1"/>
                        </a:solidFill>
                        <a:effectLst/>
                        <a:latin typeface="Arial" charset="0"/>
                        <a:sym typeface="Wingdings" pitchFamily="2" charset="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l-GR" sz="2400" b="0" i="0" u="none" strike="noStrike" cap="none" normalizeH="0" baseline="0" dirty="0">
                          <a:ln>
                            <a:noFill/>
                          </a:ln>
                          <a:solidFill>
                            <a:schemeClr val="tx1"/>
                          </a:solidFill>
                          <a:effectLst/>
                          <a:latin typeface="Calibri" panose="020F0502020204030204" pitchFamily="34" charset="0"/>
                        </a:rPr>
                        <a:t>σ</a:t>
                      </a:r>
                      <a:endParaRPr kumimoji="0" lang="en-US" sz="2400" b="0" i="0" u="none" strike="noStrike" cap="none" normalizeH="0" baseline="0" dirty="0">
                        <a:ln>
                          <a:noFill/>
                        </a:ln>
                        <a:solidFill>
                          <a:schemeClr val="tx1"/>
                        </a:solidFill>
                        <a:effectLst/>
                        <a:latin typeface="Symbol" pitchFamily="18" charset="2"/>
                      </a:endParaRPr>
                    </a:p>
                  </a:txBody>
                  <a:tcPr marT="45695" marB="456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5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57200" y="3127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Individually-based simulations</a:t>
            </a:r>
          </a:p>
        </p:txBody>
      </p:sp>
      <p:sp>
        <p:nvSpPr>
          <p:cNvPr id="32771" name="Rectangle 3"/>
          <p:cNvSpPr>
            <a:spLocks noChangeArrowheads="1"/>
          </p:cNvSpPr>
          <p:nvPr/>
        </p:nvSpPr>
        <p:spPr bwMode="auto">
          <a:xfrm>
            <a:off x="0"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2" name="Rectangle 4"/>
          <p:cNvSpPr>
            <a:spLocks noChangeArrowheads="1"/>
          </p:cNvSpPr>
          <p:nvPr/>
        </p:nvSpPr>
        <p:spPr bwMode="auto">
          <a:xfrm>
            <a:off x="0" y="1690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3" name="Rectangle 5"/>
          <p:cNvSpPr>
            <a:spLocks noChangeArrowheads="1"/>
          </p:cNvSpPr>
          <p:nvPr/>
        </p:nvSpPr>
        <p:spPr bwMode="auto">
          <a:xfrm>
            <a:off x="319088" y="1241425"/>
            <a:ext cx="7888287"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eaLnBrk="0" hangingPunct="0">
              <a:spcBef>
                <a:spcPct val="20000"/>
              </a:spcBef>
              <a:buChar char="•"/>
              <a:defRPr sz="3200">
                <a:solidFill>
                  <a:schemeClr val="tx1"/>
                </a:solidFill>
                <a:latin typeface="Arial" panose="020B0604020202020204" pitchFamily="34" charset="0"/>
              </a:defRPr>
            </a:lvl1pPr>
            <a:lvl2pPr marL="1087438" indent="-45720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spcAft>
                <a:spcPts val="600"/>
              </a:spcAft>
              <a:buSzPct val="130000"/>
            </a:pPr>
            <a:r>
              <a:rPr lang="en-US" altLang="en-US" sz="2000" dirty="0">
                <a:latin typeface="Calibri" panose="020F0502020204030204" pitchFamily="34" charset="0"/>
              </a:rPr>
              <a:t> Treat every individual separately.</a:t>
            </a:r>
          </a:p>
          <a:p>
            <a:pPr eaLnBrk="1" hangingPunct="1">
              <a:spcBef>
                <a:spcPct val="50000"/>
              </a:spcBef>
              <a:spcAft>
                <a:spcPts val="600"/>
              </a:spcAft>
              <a:buSzPct val="130000"/>
            </a:pPr>
            <a:r>
              <a:rPr lang="en-US" altLang="en-US" sz="2000" dirty="0">
                <a:latin typeface="Calibri" panose="020F0502020204030204" pitchFamily="34" charset="0"/>
              </a:rPr>
              <a:t> For </a:t>
            </a:r>
            <a:r>
              <a:rPr lang="en-US" altLang="en-US" sz="2000" i="1" dirty="0">
                <a:latin typeface="Calibri" panose="020F0502020204030204" pitchFamily="34" charset="0"/>
              </a:rPr>
              <a:t>synchronous</a:t>
            </a:r>
            <a:r>
              <a:rPr lang="en-US" altLang="en-US" sz="2000" dirty="0">
                <a:latin typeface="Calibri" panose="020F0502020204030204" pitchFamily="34" charset="0"/>
              </a:rPr>
              <a:t> update case, choose small update time-step, </a:t>
            </a:r>
            <a:r>
              <a:rPr lang="en-US" altLang="en-US" sz="2000" dirty="0" err="1">
                <a:latin typeface="Calibri" panose="020F0502020204030204" pitchFamily="34" charset="0"/>
              </a:rPr>
              <a:t>dt.</a:t>
            </a:r>
            <a:endParaRPr lang="en-US" altLang="en-US" sz="2000" dirty="0">
              <a:latin typeface="Calibri" panose="020F0502020204030204" pitchFamily="34" charset="0"/>
            </a:endParaRPr>
          </a:p>
          <a:p>
            <a:pPr eaLnBrk="1" hangingPunct="1">
              <a:spcBef>
                <a:spcPct val="50000"/>
              </a:spcBef>
              <a:spcAft>
                <a:spcPts val="600"/>
              </a:spcAft>
              <a:buSzPct val="130000"/>
            </a:pPr>
            <a:r>
              <a:rPr lang="en-GB" altLang="en-US" sz="2000" dirty="0">
                <a:latin typeface="Calibri" panose="020F0502020204030204" pitchFamily="34" charset="0"/>
              </a:rPr>
              <a:t>Only one event could happen to the individual – get infected (rate </a:t>
            </a:r>
            <a:r>
              <a:rPr lang="en-US" altLang="en-US" sz="2000" i="1" dirty="0">
                <a:solidFill>
                  <a:srgbClr val="7030A0"/>
                </a:solidFill>
                <a:latin typeface="Calibri" panose="020F0502020204030204" pitchFamily="34" charset="0"/>
                <a:sym typeface="Symbol" panose="05050102010706020507" pitchFamily="18" charset="2"/>
              </a:rPr>
              <a:t>λ</a:t>
            </a:r>
            <a:r>
              <a:rPr lang="en-US" altLang="en-US" sz="2000" dirty="0">
                <a:latin typeface="Calibri" panose="020F0502020204030204" pitchFamily="34" charset="0"/>
                <a:sym typeface="Symbol" panose="05050102010706020507" pitchFamily="18" charset="2"/>
              </a:rPr>
              <a:t>)</a:t>
            </a:r>
            <a:endParaRPr lang="en-US" altLang="en-US" sz="2000" dirty="0">
              <a:latin typeface="Calibri" panose="020F0502020204030204" pitchFamily="34" charset="0"/>
            </a:endParaRPr>
          </a:p>
          <a:p>
            <a:pPr eaLnBrk="1" hangingPunct="1">
              <a:spcBef>
                <a:spcPct val="50000"/>
              </a:spcBef>
              <a:spcAft>
                <a:spcPts val="600"/>
              </a:spcAft>
              <a:buSzPct val="130000"/>
            </a:pPr>
            <a:r>
              <a:rPr lang="en-US" altLang="en-US" sz="2000" dirty="0">
                <a:latin typeface="Calibri" panose="020F0502020204030204" pitchFamily="34" charset="0"/>
              </a:rPr>
              <a:t> Every time-step, for each individual pick random number </a:t>
            </a:r>
            <a:r>
              <a:rPr lang="en-US" altLang="en-US" sz="2000" i="1" dirty="0">
                <a:latin typeface="Calibri" panose="020F0502020204030204" pitchFamily="34" charset="0"/>
              </a:rPr>
              <a:t>p</a:t>
            </a:r>
            <a:r>
              <a:rPr lang="en-US" altLang="en-US" sz="2000" dirty="0">
                <a:latin typeface="Calibri" panose="020F0502020204030204" pitchFamily="34" charset="0"/>
              </a:rPr>
              <a:t> (uniformly distributed between 0 and 1). If</a:t>
            </a:r>
            <a:endParaRPr lang="en-US" altLang="en-US" sz="2000" dirty="0">
              <a:solidFill>
                <a:srgbClr val="7030A0"/>
              </a:solidFill>
              <a:latin typeface="Calibri" panose="020F0502020204030204" pitchFamily="34" charset="0"/>
            </a:endParaRPr>
          </a:p>
          <a:p>
            <a:pPr lvl="1" eaLnBrk="1" hangingPunct="1">
              <a:spcBef>
                <a:spcPct val="50000"/>
              </a:spcBef>
              <a:spcAft>
                <a:spcPts val="600"/>
              </a:spcAft>
              <a:buFont typeface="Wingdings" panose="05000000000000000000" pitchFamily="2" charset="2"/>
              <a:buChar char="Ø"/>
            </a:pPr>
            <a:r>
              <a:rPr lang="en-US" altLang="en-US" sz="2000" i="1" dirty="0">
                <a:solidFill>
                  <a:srgbClr val="7030A0"/>
                </a:solidFill>
                <a:latin typeface="Calibri" panose="020F0502020204030204" pitchFamily="34" charset="0"/>
              </a:rPr>
              <a:t>p&lt;</a:t>
            </a:r>
            <a:r>
              <a:rPr lang="en-US" altLang="en-US" sz="2000" i="1" dirty="0" err="1">
                <a:solidFill>
                  <a:srgbClr val="7030A0"/>
                </a:solidFill>
                <a:latin typeface="Calibri" panose="020F0502020204030204" pitchFamily="34" charset="0"/>
                <a:sym typeface="Symbol" panose="05050102010706020507" pitchFamily="18" charset="2"/>
              </a:rPr>
              <a:t>λ</a:t>
            </a:r>
            <a:r>
              <a:rPr lang="en-US" altLang="en-US" sz="2000" dirty="0" err="1">
                <a:solidFill>
                  <a:srgbClr val="7030A0"/>
                </a:solidFill>
                <a:latin typeface="Calibri" panose="020F0502020204030204" pitchFamily="34" charset="0"/>
                <a:sym typeface="Symbol" panose="05050102010706020507" pitchFamily="18" charset="2"/>
              </a:rPr>
              <a:t>d</a:t>
            </a:r>
            <a:r>
              <a:rPr lang="en-US" altLang="en-US" sz="2000" dirty="0" err="1">
                <a:solidFill>
                  <a:srgbClr val="7030A0"/>
                </a:solidFill>
                <a:latin typeface="Calibri" panose="020F0502020204030204" pitchFamily="34" charset="0"/>
              </a:rPr>
              <a:t>t</a:t>
            </a:r>
            <a:r>
              <a:rPr lang="en-US" altLang="en-US" sz="2000" dirty="0">
                <a:solidFill>
                  <a:srgbClr val="7030A0"/>
                </a:solidFill>
                <a:latin typeface="Calibri" panose="020F0502020204030204" pitchFamily="34" charset="0"/>
              </a:rPr>
              <a:t>   </a:t>
            </a:r>
            <a:r>
              <a:rPr lang="en-US" altLang="en-US" sz="2000" dirty="0">
                <a:latin typeface="Calibri" panose="020F0502020204030204" pitchFamily="34" charset="0"/>
              </a:rPr>
              <a:t>-  the individual has given become infected, so S</a:t>
            </a:r>
            <a:r>
              <a:rPr lang="en-US" altLang="en-US" sz="2000" dirty="0">
                <a:latin typeface="Calibri" panose="020F0502020204030204" pitchFamily="34" charset="0"/>
                <a:sym typeface="Symbol" panose="05050102010706020507" pitchFamily="18" charset="2"/>
              </a:rPr>
              <a:t></a:t>
            </a:r>
            <a:r>
              <a:rPr lang="en-US" altLang="en-US" sz="2000" dirty="0">
                <a:latin typeface="Calibri" panose="020F0502020204030204" pitchFamily="34" charset="0"/>
              </a:rPr>
              <a:t>S-1, I</a:t>
            </a:r>
            <a:r>
              <a:rPr lang="en-US" altLang="en-US" sz="2000" dirty="0">
                <a:latin typeface="Calibri" panose="020F0502020204030204" pitchFamily="34" charset="0"/>
                <a:sym typeface="Symbol" panose="05050102010706020507" pitchFamily="18" charset="2"/>
              </a:rPr>
              <a:t>  </a:t>
            </a:r>
            <a:r>
              <a:rPr lang="en-US" altLang="en-US" sz="2000" dirty="0">
                <a:latin typeface="Calibri" panose="020F0502020204030204" pitchFamily="34" charset="0"/>
              </a:rPr>
              <a:t>I+1.</a:t>
            </a:r>
          </a:p>
          <a:p>
            <a:pPr lvl="1" eaLnBrk="1" hangingPunct="1">
              <a:spcBef>
                <a:spcPct val="50000"/>
              </a:spcBef>
              <a:spcAft>
                <a:spcPts val="600"/>
              </a:spcAft>
              <a:buFont typeface="Wingdings" panose="05000000000000000000" pitchFamily="2" charset="2"/>
              <a:buChar char="Ø"/>
            </a:pPr>
            <a:r>
              <a:rPr lang="en-US" altLang="en-US" sz="2000" i="1" dirty="0">
                <a:solidFill>
                  <a:srgbClr val="7030A0"/>
                </a:solidFill>
                <a:latin typeface="Calibri" panose="020F0502020204030204" pitchFamily="34" charset="0"/>
              </a:rPr>
              <a:t>p&gt;</a:t>
            </a:r>
            <a:r>
              <a:rPr lang="en-US" altLang="en-US" sz="2000" i="1" dirty="0" err="1">
                <a:solidFill>
                  <a:srgbClr val="7030A0"/>
                </a:solidFill>
                <a:latin typeface="Calibri" panose="020F0502020204030204" pitchFamily="34" charset="0"/>
                <a:sym typeface="Symbol" panose="05050102010706020507" pitchFamily="18" charset="2"/>
              </a:rPr>
              <a:t>λ</a:t>
            </a:r>
            <a:r>
              <a:rPr lang="en-US" altLang="en-US" sz="2000" dirty="0" err="1">
                <a:solidFill>
                  <a:srgbClr val="7030A0"/>
                </a:solidFill>
                <a:latin typeface="Calibri" panose="020F0502020204030204" pitchFamily="34" charset="0"/>
                <a:sym typeface="Symbol" panose="05050102010706020507" pitchFamily="18" charset="2"/>
              </a:rPr>
              <a:t>d</a:t>
            </a:r>
            <a:r>
              <a:rPr lang="en-US" altLang="en-US" sz="2000" dirty="0" err="1">
                <a:solidFill>
                  <a:srgbClr val="7030A0"/>
                </a:solidFill>
                <a:latin typeface="Calibri" panose="020F0502020204030204" pitchFamily="34" charset="0"/>
              </a:rPr>
              <a:t>t</a:t>
            </a:r>
            <a:r>
              <a:rPr lang="en-US" altLang="en-US" sz="2000" dirty="0">
                <a:solidFill>
                  <a:srgbClr val="7030A0"/>
                </a:solidFill>
                <a:latin typeface="Calibri" panose="020F0502020204030204" pitchFamily="34" charset="0"/>
              </a:rPr>
              <a:t>   </a:t>
            </a:r>
            <a:r>
              <a:rPr lang="en-US" altLang="en-US" sz="2000" dirty="0">
                <a:latin typeface="Calibri" panose="020F0502020204030204" pitchFamily="34" charset="0"/>
              </a:rPr>
              <a:t>- nothing happens. </a:t>
            </a:r>
            <a:endParaRPr lang="en-US" altLang="en-US" sz="2000" dirty="0">
              <a:solidFill>
                <a:srgbClr val="0033CC"/>
              </a:solidFill>
              <a:latin typeface="Calibri" panose="020F0502020204030204" pitchFamily="34" charset="0"/>
            </a:endParaRPr>
          </a:p>
        </p:txBody>
      </p:sp>
      <p:sp>
        <p:nvSpPr>
          <p:cNvPr id="32777" name="Line 8"/>
          <p:cNvSpPr>
            <a:spLocks noChangeShapeType="1"/>
          </p:cNvSpPr>
          <p:nvPr/>
        </p:nvSpPr>
        <p:spPr bwMode="auto">
          <a:xfrm>
            <a:off x="1698625" y="5502275"/>
            <a:ext cx="53292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78" name="Line 9"/>
          <p:cNvSpPr>
            <a:spLocks noChangeShapeType="1"/>
          </p:cNvSpPr>
          <p:nvPr/>
        </p:nvSpPr>
        <p:spPr bwMode="auto">
          <a:xfrm>
            <a:off x="1698625" y="5410200"/>
            <a:ext cx="0"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79" name="Line 10"/>
          <p:cNvSpPr>
            <a:spLocks noChangeShapeType="1"/>
          </p:cNvSpPr>
          <p:nvPr/>
        </p:nvSpPr>
        <p:spPr bwMode="auto">
          <a:xfrm>
            <a:off x="2965450" y="5410200"/>
            <a:ext cx="0"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81" name="Line 12"/>
          <p:cNvSpPr>
            <a:spLocks noChangeShapeType="1"/>
          </p:cNvSpPr>
          <p:nvPr/>
        </p:nvSpPr>
        <p:spPr bwMode="auto">
          <a:xfrm>
            <a:off x="7027863" y="5410200"/>
            <a:ext cx="0"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82" name="Line 13"/>
          <p:cNvSpPr>
            <a:spLocks noChangeShapeType="1"/>
          </p:cNvSpPr>
          <p:nvPr/>
        </p:nvSpPr>
        <p:spPr bwMode="auto">
          <a:xfrm>
            <a:off x="2843213" y="5502275"/>
            <a:ext cx="0" cy="457200"/>
          </a:xfrm>
          <a:prstGeom prst="line">
            <a:avLst/>
          </a:prstGeom>
          <a:noFill/>
          <a:ln w="952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32783" name="Line 14"/>
          <p:cNvSpPr>
            <a:spLocks noChangeShapeType="1"/>
          </p:cNvSpPr>
          <p:nvPr/>
        </p:nvSpPr>
        <p:spPr bwMode="auto">
          <a:xfrm>
            <a:off x="1698625" y="5684838"/>
            <a:ext cx="593725" cy="355491"/>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84" name="Line 15"/>
          <p:cNvSpPr>
            <a:spLocks noChangeShapeType="1"/>
          </p:cNvSpPr>
          <p:nvPr/>
        </p:nvSpPr>
        <p:spPr bwMode="auto">
          <a:xfrm flipH="1">
            <a:off x="2325686" y="5626100"/>
            <a:ext cx="639763" cy="414229"/>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87" name="Line 18"/>
          <p:cNvSpPr>
            <a:spLocks noChangeShapeType="1"/>
          </p:cNvSpPr>
          <p:nvPr/>
        </p:nvSpPr>
        <p:spPr bwMode="auto">
          <a:xfrm>
            <a:off x="2998786" y="5626099"/>
            <a:ext cx="1830389" cy="41423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88" name="Line 19"/>
          <p:cNvSpPr>
            <a:spLocks noChangeShapeType="1"/>
          </p:cNvSpPr>
          <p:nvPr/>
        </p:nvSpPr>
        <p:spPr bwMode="auto">
          <a:xfrm flipV="1">
            <a:off x="4862512" y="5594349"/>
            <a:ext cx="2165351" cy="445979"/>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76" name="Text Box 20"/>
          <p:cNvSpPr txBox="1">
            <a:spLocks noChangeArrowheads="1"/>
          </p:cNvSpPr>
          <p:nvPr/>
        </p:nvSpPr>
        <p:spPr bwMode="auto">
          <a:xfrm>
            <a:off x="2601913" y="5626100"/>
            <a:ext cx="274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1" i="1">
                <a:solidFill>
                  <a:srgbClr val="FF0000"/>
                </a:solidFill>
              </a:rPr>
              <a:t>p</a:t>
            </a:r>
            <a:endParaRPr lang="en-US" altLang="en-US" sz="1800" b="1">
              <a:solidFill>
                <a:srgbClr val="FF0000"/>
              </a:solidFill>
            </a:endParaRPr>
          </a:p>
        </p:txBody>
      </p:sp>
      <p:sp>
        <p:nvSpPr>
          <p:cNvPr id="2" name="TextBox 1"/>
          <p:cNvSpPr txBox="1"/>
          <p:nvPr/>
        </p:nvSpPr>
        <p:spPr>
          <a:xfrm>
            <a:off x="2665411" y="5019675"/>
            <a:ext cx="591829" cy="461665"/>
          </a:xfrm>
          <a:prstGeom prst="rect">
            <a:avLst/>
          </a:prstGeom>
          <a:noFill/>
        </p:spPr>
        <p:txBody>
          <a:bodyPr wrap="none" rtlCol="0">
            <a:spAutoFit/>
          </a:bodyPr>
          <a:lstStyle/>
          <a:p>
            <a:r>
              <a:rPr lang="el-GR" dirty="0">
                <a:latin typeface="Calibri" panose="020F0502020204030204" pitchFamily="34" charset="0"/>
              </a:rPr>
              <a:t>λ</a:t>
            </a:r>
            <a:r>
              <a:rPr lang="en-GB" dirty="0" err="1">
                <a:latin typeface="Calibri" panose="020F0502020204030204" pitchFamily="34" charset="0"/>
              </a:rPr>
              <a:t>dt</a:t>
            </a:r>
            <a:endParaRPr lang="en-GB" dirty="0"/>
          </a:p>
        </p:txBody>
      </p:sp>
      <p:sp>
        <p:nvSpPr>
          <p:cNvPr id="3" name="TextBox 2"/>
          <p:cNvSpPr txBox="1"/>
          <p:nvPr/>
        </p:nvSpPr>
        <p:spPr>
          <a:xfrm>
            <a:off x="1520531" y="5019674"/>
            <a:ext cx="356188" cy="461665"/>
          </a:xfrm>
          <a:prstGeom prst="rect">
            <a:avLst/>
          </a:prstGeom>
          <a:noFill/>
        </p:spPr>
        <p:txBody>
          <a:bodyPr wrap="none" rtlCol="0">
            <a:spAutoFit/>
          </a:bodyPr>
          <a:lstStyle/>
          <a:p>
            <a:r>
              <a:rPr lang="en-GB" dirty="0"/>
              <a:t>0</a:t>
            </a:r>
          </a:p>
        </p:txBody>
      </p:sp>
      <p:sp>
        <p:nvSpPr>
          <p:cNvPr id="4" name="TextBox 3"/>
          <p:cNvSpPr txBox="1"/>
          <p:nvPr/>
        </p:nvSpPr>
        <p:spPr>
          <a:xfrm>
            <a:off x="6849769" y="5027919"/>
            <a:ext cx="356188" cy="461665"/>
          </a:xfrm>
          <a:prstGeom prst="rect">
            <a:avLst/>
          </a:prstGeom>
          <a:noFill/>
        </p:spPr>
        <p:txBody>
          <a:bodyPr wrap="none" rtlCol="0">
            <a:spAutoFit/>
          </a:bodyPr>
          <a:lstStyle/>
          <a:p>
            <a:r>
              <a:rPr lang="en-GB" dirty="0"/>
              <a:t>1</a:t>
            </a:r>
          </a:p>
        </p:txBody>
      </p:sp>
      <p:sp>
        <p:nvSpPr>
          <p:cNvPr id="5" name="TextBox 4"/>
          <p:cNvSpPr txBox="1"/>
          <p:nvPr/>
        </p:nvSpPr>
        <p:spPr>
          <a:xfrm>
            <a:off x="3857625" y="6067425"/>
            <a:ext cx="1928733" cy="369332"/>
          </a:xfrm>
          <a:prstGeom prst="rect">
            <a:avLst/>
          </a:prstGeom>
          <a:noFill/>
        </p:spPr>
        <p:txBody>
          <a:bodyPr wrap="none" rtlCol="0">
            <a:spAutoFit/>
          </a:bodyPr>
          <a:lstStyle/>
          <a:p>
            <a:r>
              <a:rPr lang="en-GB" sz="1800" dirty="0"/>
              <a:t>Nothing happens</a:t>
            </a:r>
          </a:p>
        </p:txBody>
      </p:sp>
      <p:sp>
        <p:nvSpPr>
          <p:cNvPr id="25" name="TextBox 24"/>
          <p:cNvSpPr txBox="1"/>
          <p:nvPr/>
        </p:nvSpPr>
        <p:spPr>
          <a:xfrm>
            <a:off x="1781254" y="6076284"/>
            <a:ext cx="1056700" cy="369332"/>
          </a:xfrm>
          <a:prstGeom prst="rect">
            <a:avLst/>
          </a:prstGeom>
          <a:noFill/>
        </p:spPr>
        <p:txBody>
          <a:bodyPr wrap="none" rtlCol="0">
            <a:spAutoFit/>
          </a:bodyPr>
          <a:lstStyle/>
          <a:p>
            <a:r>
              <a:rPr lang="en-GB" sz="1800" dirty="0"/>
              <a:t>Infection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p:cNvSpPr>
            <a:spLocks noChangeArrowheads="1"/>
          </p:cNvSpPr>
          <p:nvPr/>
        </p:nvSpPr>
        <p:spPr bwMode="auto">
          <a:xfrm>
            <a:off x="1203325" y="1544638"/>
            <a:ext cx="626427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noProof="1"/>
              <a:t> 0    </a:t>
            </a:r>
            <a:r>
              <a:rPr lang="en-US" altLang="en-US" sz="1800" i="1">
                <a:solidFill>
                  <a:srgbClr val="7030A0"/>
                </a:solidFill>
                <a:sym typeface="Symbol" panose="05050102010706020507" pitchFamily="18" charset="2"/>
              </a:rPr>
              <a:t>λ</a:t>
            </a:r>
            <a:r>
              <a:rPr lang="en-US" altLang="en-US" sz="1800">
                <a:solidFill>
                  <a:srgbClr val="7030A0"/>
                </a:solidFill>
                <a:latin typeface="Symbol" panose="05050102010706020507" pitchFamily="18" charset="2"/>
              </a:rPr>
              <a:t>D</a:t>
            </a:r>
            <a:r>
              <a:rPr lang="en-US" altLang="en-US" sz="1800">
                <a:solidFill>
                  <a:srgbClr val="7030A0"/>
                </a:solidFill>
              </a:rPr>
              <a:t>t</a:t>
            </a:r>
            <a:r>
              <a:rPr lang="en-US" altLang="en-US" sz="1800" noProof="1"/>
              <a:t>                             </a:t>
            </a:r>
            <a:r>
              <a:rPr lang="en-US" altLang="en-US" sz="1800" noProof="1">
                <a:solidFill>
                  <a:srgbClr val="33CC33"/>
                </a:solidFill>
              </a:rPr>
              <a:t>1-</a:t>
            </a:r>
            <a:r>
              <a:rPr lang="en-US" altLang="en-US" sz="1800" i="1">
                <a:solidFill>
                  <a:srgbClr val="33CC33"/>
                </a:solidFill>
                <a:sym typeface="Symbol" panose="05050102010706020507" pitchFamily="18" charset="2"/>
              </a:rPr>
              <a:t>λ</a:t>
            </a:r>
            <a:r>
              <a:rPr lang="en-US" altLang="en-US" sz="1800">
                <a:solidFill>
                  <a:srgbClr val="33CC33"/>
                </a:solidFill>
                <a:latin typeface="Symbol" panose="05050102010706020507" pitchFamily="18" charset="2"/>
              </a:rPr>
              <a:t>D</a:t>
            </a:r>
            <a:r>
              <a:rPr lang="en-US" altLang="en-US" sz="1800">
                <a:solidFill>
                  <a:srgbClr val="33CC33"/>
                </a:solidFill>
              </a:rPr>
              <a:t>t                      </a:t>
            </a:r>
            <a:r>
              <a:rPr lang="en-US" altLang="en-US" sz="1800" noProof="1">
                <a:solidFill>
                  <a:srgbClr val="33CC33"/>
                </a:solidFill>
              </a:rPr>
              <a:t>           </a:t>
            </a:r>
            <a:r>
              <a:rPr lang="en-GB" altLang="en-US" sz="1800">
                <a:solidFill>
                  <a:srgbClr val="33CC33"/>
                </a:solidFill>
              </a:rPr>
              <a:t>   </a:t>
            </a:r>
            <a:r>
              <a:rPr lang="en-GB" altLang="en-US" sz="1800" noProof="1"/>
              <a:t>1</a:t>
            </a:r>
          </a:p>
          <a:p>
            <a:pPr eaLnBrk="1" hangingPunct="1">
              <a:spcBef>
                <a:spcPct val="50000"/>
              </a:spcBef>
              <a:buFontTx/>
              <a:buNone/>
            </a:pPr>
            <a:endParaRPr lang="en-GB" altLang="en-US" sz="1800"/>
          </a:p>
          <a:p>
            <a:pPr eaLnBrk="1" hangingPunct="1">
              <a:spcBef>
                <a:spcPct val="50000"/>
              </a:spcBef>
              <a:buFontTx/>
              <a:buNone/>
            </a:pPr>
            <a:endParaRPr lang="en-GB" altLang="en-US" sz="900" noProof="1"/>
          </a:p>
        </p:txBody>
      </p:sp>
      <p:sp>
        <p:nvSpPr>
          <p:cNvPr id="33795" name="Line 8"/>
          <p:cNvSpPr>
            <a:spLocks noChangeShapeType="1"/>
          </p:cNvSpPr>
          <p:nvPr/>
        </p:nvSpPr>
        <p:spPr bwMode="auto">
          <a:xfrm>
            <a:off x="1419225" y="1874838"/>
            <a:ext cx="53292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796" name="Line 9"/>
          <p:cNvSpPr>
            <a:spLocks noChangeShapeType="1"/>
          </p:cNvSpPr>
          <p:nvPr/>
        </p:nvSpPr>
        <p:spPr bwMode="auto">
          <a:xfrm>
            <a:off x="1419225"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797" name="Line 10"/>
          <p:cNvSpPr>
            <a:spLocks noChangeShapeType="1"/>
          </p:cNvSpPr>
          <p:nvPr/>
        </p:nvSpPr>
        <p:spPr bwMode="auto">
          <a:xfrm>
            <a:off x="2247900"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798" name="Line 12"/>
          <p:cNvSpPr>
            <a:spLocks noChangeShapeType="1"/>
          </p:cNvSpPr>
          <p:nvPr/>
        </p:nvSpPr>
        <p:spPr bwMode="auto">
          <a:xfrm>
            <a:off x="6748463"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799" name="Line 14"/>
          <p:cNvSpPr>
            <a:spLocks noChangeShapeType="1"/>
          </p:cNvSpPr>
          <p:nvPr/>
        </p:nvSpPr>
        <p:spPr bwMode="auto">
          <a:xfrm flipV="1">
            <a:off x="1419225" y="1511300"/>
            <a:ext cx="447675" cy="346075"/>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800" name="Line 15"/>
          <p:cNvSpPr>
            <a:spLocks noChangeShapeType="1"/>
          </p:cNvSpPr>
          <p:nvPr/>
        </p:nvSpPr>
        <p:spPr bwMode="auto">
          <a:xfrm flipH="1" flipV="1">
            <a:off x="1858963" y="1481138"/>
            <a:ext cx="385762" cy="363537"/>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801" name="Line 18"/>
          <p:cNvSpPr>
            <a:spLocks noChangeShapeType="1"/>
          </p:cNvSpPr>
          <p:nvPr/>
        </p:nvSpPr>
        <p:spPr bwMode="auto">
          <a:xfrm flipV="1">
            <a:off x="2236788" y="1404938"/>
            <a:ext cx="2690812" cy="446087"/>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802" name="Line 19"/>
          <p:cNvSpPr>
            <a:spLocks noChangeShapeType="1"/>
          </p:cNvSpPr>
          <p:nvPr/>
        </p:nvSpPr>
        <p:spPr bwMode="auto">
          <a:xfrm>
            <a:off x="4919663" y="1404938"/>
            <a:ext cx="1828800" cy="461962"/>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803" name="Rectangle 16"/>
          <p:cNvSpPr>
            <a:spLocks noChangeArrowheads="1"/>
          </p:cNvSpPr>
          <p:nvPr/>
        </p:nvSpPr>
        <p:spPr bwMode="auto">
          <a:xfrm>
            <a:off x="1457325" y="1120775"/>
            <a:ext cx="1055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7030A0"/>
                </a:solidFill>
              </a:rPr>
              <a:t>Infection</a:t>
            </a:r>
            <a:endParaRPr lang="en-GB" altLang="en-US" sz="1800"/>
          </a:p>
        </p:txBody>
      </p:sp>
      <p:sp>
        <p:nvSpPr>
          <p:cNvPr id="33804" name="Rectangle 18"/>
          <p:cNvSpPr>
            <a:spLocks noChangeArrowheads="1"/>
          </p:cNvSpPr>
          <p:nvPr/>
        </p:nvSpPr>
        <p:spPr bwMode="auto">
          <a:xfrm>
            <a:off x="3670300" y="1112838"/>
            <a:ext cx="2314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noProof="1">
                <a:solidFill>
                  <a:srgbClr val="33CC33"/>
                </a:solidFill>
              </a:rPr>
              <a:t>No </a:t>
            </a:r>
            <a:r>
              <a:rPr lang="en-GB" altLang="en-US" sz="1800">
                <a:solidFill>
                  <a:srgbClr val="33CC33"/>
                </a:solidFill>
              </a:rPr>
              <a:t>infection</a:t>
            </a:r>
            <a:r>
              <a:rPr lang="en-GB" altLang="en-US" sz="1800" noProof="1">
                <a:solidFill>
                  <a:srgbClr val="33CC33"/>
                </a:solidFill>
              </a:rPr>
              <a:t> or death</a:t>
            </a:r>
            <a:endParaRPr lang="en-GB" altLang="en-US" sz="1800"/>
          </a:p>
        </p:txBody>
      </p:sp>
      <p:cxnSp>
        <p:nvCxnSpPr>
          <p:cNvPr id="21" name="Straight Connector 20"/>
          <p:cNvCxnSpPr/>
          <p:nvPr/>
        </p:nvCxnSpPr>
        <p:spPr>
          <a:xfrm rot="5400000" flipH="1" flipV="1">
            <a:off x="1833563" y="14763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flipH="1" flipV="1">
            <a:off x="2721769" y="1416844"/>
            <a:ext cx="0" cy="947738"/>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flipH="1" flipV="1">
            <a:off x="4972051" y="1143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flipH="1" flipV="1">
            <a:off x="1841501" y="24733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2729707" y="24137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4979988" y="11112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flipH="1" flipV="1">
            <a:off x="1841501" y="16287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2729707" y="15692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4979988" y="2667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1841501" y="17970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2729707" y="17375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flipH="1" flipV="1">
            <a:off x="4979988" y="4349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flipH="1" flipV="1">
            <a:off x="1841501" y="21351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2729707" y="20756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flipH="1" flipV="1">
            <a:off x="4979988" y="7731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flipH="1" flipV="1">
            <a:off x="1841501" y="26431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flipH="1" flipV="1">
            <a:off x="2729707" y="25836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flipH="1" flipV="1">
            <a:off x="4979988" y="12811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flipH="1" flipV="1">
            <a:off x="1841501" y="314960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flipH="1" flipV="1">
            <a:off x="2729707" y="309006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flipH="1" flipV="1">
            <a:off x="4979988" y="178752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flipH="1" flipV="1">
            <a:off x="1841501" y="348773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flipH="1" flipV="1">
            <a:off x="2729707" y="342820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flipH="1" flipV="1">
            <a:off x="4979988" y="212566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flipH="1" flipV="1">
            <a:off x="1841501" y="38258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flipH="1" flipV="1">
            <a:off x="2729707" y="37663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5400000" flipH="1" flipV="1">
            <a:off x="4979988" y="24638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flipH="1" flipV="1">
            <a:off x="1841501" y="41640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flipH="1" flipV="1">
            <a:off x="2729707" y="41044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5400000" flipH="1" flipV="1">
            <a:off x="4979988" y="28019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5400000" flipH="1" flipV="1">
            <a:off x="1841501" y="45021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flipH="1" flipV="1">
            <a:off x="2729707" y="44426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flipH="1" flipV="1">
            <a:off x="4979988" y="31400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flipH="1" flipV="1">
            <a:off x="1841501" y="500856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flipH="1" flipV="1">
            <a:off x="2729707" y="494903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flipH="1" flipV="1">
            <a:off x="4979988" y="364648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5400000" flipH="1" flipV="1">
            <a:off x="1841501" y="29813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flipH="1" flipV="1">
            <a:off x="2729707" y="29217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flipH="1" flipV="1">
            <a:off x="4979988" y="16192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flipH="1" flipV="1">
            <a:off x="1841501" y="19669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flipH="1" flipV="1">
            <a:off x="2729707" y="19073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flipH="1" flipV="1">
            <a:off x="4979988" y="6048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flipH="1" flipV="1">
            <a:off x="1841501" y="23050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flipH="1" flipV="1">
            <a:off x="2729707" y="22455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5400000" flipH="1" flipV="1">
            <a:off x="4979988" y="9429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flipH="1" flipV="1">
            <a:off x="1841501" y="281146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flipH="1" flipV="1">
            <a:off x="2729707" y="275193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flipH="1" flipV="1">
            <a:off x="4979988" y="144938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5400000" flipH="1" flipV="1">
            <a:off x="1841501" y="33178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rot="5400000" flipH="1" flipV="1">
            <a:off x="2729707" y="32583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flipH="1" flipV="1">
            <a:off x="4979988" y="19558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flipH="1" flipV="1">
            <a:off x="1841501" y="36560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rot="5400000" flipH="1" flipV="1">
            <a:off x="2729707" y="35964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flipH="1" flipV="1">
            <a:off x="4979988" y="22939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rot="5400000" flipH="1" flipV="1">
            <a:off x="1841501" y="39941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flipH="1" flipV="1">
            <a:off x="2729707" y="39346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flipH="1" flipV="1">
            <a:off x="4979988" y="26320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5400000" flipH="1" flipV="1">
            <a:off x="1841501" y="43322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flipH="1" flipV="1">
            <a:off x="2729707" y="42727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rot="5400000" flipH="1" flipV="1">
            <a:off x="4979988" y="29702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rot="5400000" flipH="1" flipV="1">
            <a:off x="1841501" y="46704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rot="5400000" flipH="1" flipV="1">
            <a:off x="2729707" y="46108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5400000" flipH="1" flipV="1">
            <a:off x="4979988" y="33083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rot="5400000" flipH="1" flipV="1">
            <a:off x="1841501" y="48402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rot="5400000" flipH="1" flipV="1">
            <a:off x="2729707" y="47807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flipH="1" flipV="1">
            <a:off x="4979988" y="34782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3871" name="Rectangle 2"/>
          <p:cNvSpPr>
            <a:spLocks noChangeArrowheads="1"/>
          </p:cNvSpPr>
          <p:nvPr/>
        </p:nvSpPr>
        <p:spPr bwMode="auto">
          <a:xfrm>
            <a:off x="457200" y="30638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solidFill>
                  <a:srgbClr val="0033CC"/>
                </a:solidFill>
              </a:rPr>
              <a:t>Multiple individuals-IBM</a:t>
            </a:r>
          </a:p>
        </p:txBody>
      </p:sp>
      <p:sp>
        <p:nvSpPr>
          <p:cNvPr id="33872" name="TextBox 117"/>
          <p:cNvSpPr txBox="1">
            <a:spLocks noChangeArrowheads="1"/>
          </p:cNvSpPr>
          <p:nvPr/>
        </p:nvSpPr>
        <p:spPr bwMode="auto">
          <a:xfrm>
            <a:off x="142875" y="5726113"/>
            <a:ext cx="6283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Calibri" panose="020F0502020204030204" pitchFamily="34" charset="0"/>
              </a:rPr>
              <a:t>Each susceptible individual is ‘identical’</a:t>
            </a:r>
          </a:p>
          <a:p>
            <a:pPr eaLnBrk="1" hangingPunct="1">
              <a:spcBef>
                <a:spcPct val="0"/>
              </a:spcBef>
              <a:buFontTx/>
              <a:buNone/>
            </a:pPr>
            <a:r>
              <a:rPr lang="en-GB" altLang="en-US" sz="1800">
                <a:latin typeface="Calibri" panose="020F0502020204030204" pitchFamily="34" charset="0"/>
              </a:rPr>
              <a:t>Could generate a random number for each (22 random numbers)</a:t>
            </a:r>
          </a:p>
          <a:p>
            <a:pPr eaLnBrk="1" hangingPunct="1">
              <a:spcBef>
                <a:spcPct val="0"/>
              </a:spcBef>
              <a:buFontTx/>
              <a:buNone/>
            </a:pPr>
            <a:r>
              <a:rPr lang="en-GB" altLang="en-US" sz="1800">
                <a:latin typeface="Calibri" panose="020F0502020204030204" pitchFamily="34" charset="0"/>
              </a:rPr>
              <a:t> and discover if infection or death</a:t>
            </a:r>
          </a:p>
          <a:p>
            <a:pPr eaLnBrk="1" hangingPunct="1">
              <a:spcBef>
                <a:spcPct val="0"/>
              </a:spcBef>
              <a:buFontTx/>
              <a:buNone/>
            </a:pPr>
            <a:r>
              <a:rPr lang="en-GB" altLang="en-US" sz="1800">
                <a:solidFill>
                  <a:srgbClr val="7030A0"/>
                </a:solidFill>
                <a:latin typeface="Calibri" panose="020F0502020204030204" pitchFamily="34" charset="0"/>
              </a:rPr>
              <a:t>e.g. 5 new infections, </a:t>
            </a:r>
            <a:r>
              <a:rPr lang="en-GB" altLang="en-US" sz="1800">
                <a:solidFill>
                  <a:srgbClr val="33CC33"/>
                </a:solidFill>
                <a:latin typeface="Calibri" panose="020F0502020204030204" pitchFamily="34" charset="0"/>
              </a:rPr>
              <a:t>17 no change</a:t>
            </a:r>
          </a:p>
        </p:txBody>
      </p:sp>
      <p:grpSp>
        <p:nvGrpSpPr>
          <p:cNvPr id="2" name="Group 144"/>
          <p:cNvGrpSpPr>
            <a:grpSpLocks/>
          </p:cNvGrpSpPr>
          <p:nvPr/>
        </p:nvGrpSpPr>
        <p:grpSpPr bwMode="auto">
          <a:xfrm>
            <a:off x="1420813" y="1857375"/>
            <a:ext cx="5178425" cy="3579813"/>
            <a:chOff x="1421547" y="1856975"/>
            <a:chExt cx="5177758" cy="3580760"/>
          </a:xfrm>
        </p:grpSpPr>
        <p:sp>
          <p:nvSpPr>
            <p:cNvPr id="119" name="Oval 118"/>
            <p:cNvSpPr/>
            <p:nvPr/>
          </p:nvSpPr>
          <p:spPr>
            <a:xfrm>
              <a:off x="2351702" y="1990360"/>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0" name="Oval 119"/>
            <p:cNvSpPr/>
            <p:nvPr/>
          </p:nvSpPr>
          <p:spPr>
            <a:xfrm>
              <a:off x="6061211" y="2165031"/>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1" name="Oval 120"/>
            <p:cNvSpPr/>
            <p:nvPr/>
          </p:nvSpPr>
          <p:spPr>
            <a:xfrm>
              <a:off x="3386619" y="2325412"/>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2" name="Oval 121"/>
            <p:cNvSpPr/>
            <p:nvPr/>
          </p:nvSpPr>
          <p:spPr>
            <a:xfrm>
              <a:off x="1540594" y="2515962"/>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3" name="Oval 122"/>
            <p:cNvSpPr/>
            <p:nvPr/>
          </p:nvSpPr>
          <p:spPr>
            <a:xfrm>
              <a:off x="3943759" y="2654111"/>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4" name="Oval 123"/>
            <p:cNvSpPr/>
            <p:nvPr/>
          </p:nvSpPr>
          <p:spPr>
            <a:xfrm>
              <a:off x="2321543" y="2866892"/>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5" name="Oval 124"/>
            <p:cNvSpPr/>
            <p:nvPr/>
          </p:nvSpPr>
          <p:spPr>
            <a:xfrm>
              <a:off x="1705672" y="2997102"/>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6" name="Oval 125"/>
            <p:cNvSpPr/>
            <p:nvPr/>
          </p:nvSpPr>
          <p:spPr>
            <a:xfrm>
              <a:off x="5085025" y="3195592"/>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7" name="Oval 126"/>
            <p:cNvSpPr/>
            <p:nvPr/>
          </p:nvSpPr>
          <p:spPr>
            <a:xfrm>
              <a:off x="2002497" y="1856975"/>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8" name="Oval 127"/>
            <p:cNvSpPr/>
            <p:nvPr/>
          </p:nvSpPr>
          <p:spPr>
            <a:xfrm>
              <a:off x="3723126" y="3362323"/>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29" name="Oval 128"/>
            <p:cNvSpPr/>
            <p:nvPr/>
          </p:nvSpPr>
          <p:spPr>
            <a:xfrm>
              <a:off x="3875506" y="3514763"/>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0" name="Oval 129"/>
            <p:cNvSpPr/>
            <p:nvPr/>
          </p:nvSpPr>
          <p:spPr>
            <a:xfrm>
              <a:off x="2943763" y="3667204"/>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1" name="Oval 130"/>
            <p:cNvSpPr/>
            <p:nvPr/>
          </p:nvSpPr>
          <p:spPr>
            <a:xfrm>
              <a:off x="1421547" y="3849815"/>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2" name="Oval 131"/>
            <p:cNvSpPr/>
            <p:nvPr/>
          </p:nvSpPr>
          <p:spPr>
            <a:xfrm>
              <a:off x="6399306" y="4040365"/>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3" name="Oval 132"/>
            <p:cNvSpPr/>
            <p:nvPr/>
          </p:nvSpPr>
          <p:spPr>
            <a:xfrm>
              <a:off x="2272337" y="4176927"/>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4" name="Oval 133"/>
            <p:cNvSpPr/>
            <p:nvPr/>
          </p:nvSpPr>
          <p:spPr>
            <a:xfrm>
              <a:off x="3331063" y="4345246"/>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5" name="Oval 134"/>
            <p:cNvSpPr/>
            <p:nvPr/>
          </p:nvSpPr>
          <p:spPr>
            <a:xfrm>
              <a:off x="3975505" y="4535796"/>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6" name="Oval 135"/>
            <p:cNvSpPr/>
            <p:nvPr/>
          </p:nvSpPr>
          <p:spPr>
            <a:xfrm>
              <a:off x="2805669" y="4704116"/>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7" name="Oval 136"/>
            <p:cNvSpPr/>
            <p:nvPr/>
          </p:nvSpPr>
          <p:spPr>
            <a:xfrm>
              <a:off x="2597732" y="4872435"/>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8" name="Oval 137"/>
            <p:cNvSpPr/>
            <p:nvPr/>
          </p:nvSpPr>
          <p:spPr>
            <a:xfrm>
              <a:off x="2788208" y="5055046"/>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9" name="Oval 138"/>
            <p:cNvSpPr/>
            <p:nvPr/>
          </p:nvSpPr>
          <p:spPr>
            <a:xfrm>
              <a:off x="1818371" y="5345636"/>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40" name="Oval 139"/>
            <p:cNvSpPr/>
            <p:nvPr/>
          </p:nvSpPr>
          <p:spPr>
            <a:xfrm>
              <a:off x="4715185" y="5204310"/>
              <a:ext cx="199999" cy="9209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ChangeArrowheads="1"/>
          </p:cNvSpPr>
          <p:nvPr/>
        </p:nvSpPr>
        <p:spPr bwMode="auto">
          <a:xfrm>
            <a:off x="1203325" y="1544638"/>
            <a:ext cx="626427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noProof="1"/>
              <a:t> 0    </a:t>
            </a:r>
            <a:r>
              <a:rPr lang="en-US" altLang="en-US" sz="1800" i="1">
                <a:solidFill>
                  <a:srgbClr val="7030A0"/>
                </a:solidFill>
                <a:sym typeface="Symbol" panose="05050102010706020507" pitchFamily="18" charset="2"/>
              </a:rPr>
              <a:t>λ</a:t>
            </a:r>
            <a:r>
              <a:rPr lang="en-US" altLang="en-US" sz="1800">
                <a:solidFill>
                  <a:srgbClr val="7030A0"/>
                </a:solidFill>
                <a:latin typeface="Symbol" panose="05050102010706020507" pitchFamily="18" charset="2"/>
              </a:rPr>
              <a:t>D</a:t>
            </a:r>
            <a:r>
              <a:rPr lang="en-US" altLang="en-US" sz="1800">
                <a:solidFill>
                  <a:srgbClr val="7030A0"/>
                </a:solidFill>
              </a:rPr>
              <a:t>t</a:t>
            </a:r>
            <a:r>
              <a:rPr lang="en-US" altLang="en-US" sz="1800" noProof="1"/>
              <a:t>                             </a:t>
            </a:r>
            <a:r>
              <a:rPr lang="en-US" altLang="en-US" sz="1800" noProof="1">
                <a:solidFill>
                  <a:srgbClr val="33CC33"/>
                </a:solidFill>
              </a:rPr>
              <a:t>1-</a:t>
            </a:r>
            <a:r>
              <a:rPr lang="en-US" altLang="en-US" sz="1800" i="1">
                <a:solidFill>
                  <a:srgbClr val="33CC33"/>
                </a:solidFill>
                <a:sym typeface="Symbol" panose="05050102010706020507" pitchFamily="18" charset="2"/>
              </a:rPr>
              <a:t>λ</a:t>
            </a:r>
            <a:r>
              <a:rPr lang="en-US" altLang="en-US" sz="1800">
                <a:solidFill>
                  <a:srgbClr val="33CC33"/>
                </a:solidFill>
                <a:latin typeface="Symbol" panose="05050102010706020507" pitchFamily="18" charset="2"/>
              </a:rPr>
              <a:t>D</a:t>
            </a:r>
            <a:r>
              <a:rPr lang="en-US" altLang="en-US" sz="1800">
                <a:solidFill>
                  <a:srgbClr val="33CC33"/>
                </a:solidFill>
              </a:rPr>
              <a:t>t                      </a:t>
            </a:r>
            <a:r>
              <a:rPr lang="en-US" altLang="en-US" sz="1800" noProof="1">
                <a:solidFill>
                  <a:srgbClr val="33CC33"/>
                </a:solidFill>
              </a:rPr>
              <a:t>           </a:t>
            </a:r>
            <a:r>
              <a:rPr lang="en-GB" altLang="en-US" sz="1800">
                <a:solidFill>
                  <a:srgbClr val="33CC33"/>
                </a:solidFill>
              </a:rPr>
              <a:t>   </a:t>
            </a:r>
            <a:r>
              <a:rPr lang="en-GB" altLang="en-US" sz="1800" noProof="1"/>
              <a:t>1</a:t>
            </a:r>
          </a:p>
          <a:p>
            <a:pPr eaLnBrk="1" hangingPunct="1">
              <a:spcBef>
                <a:spcPct val="50000"/>
              </a:spcBef>
              <a:buFontTx/>
              <a:buNone/>
            </a:pPr>
            <a:endParaRPr lang="en-GB" altLang="en-US" sz="1800"/>
          </a:p>
          <a:p>
            <a:pPr eaLnBrk="1" hangingPunct="1">
              <a:spcBef>
                <a:spcPct val="50000"/>
              </a:spcBef>
              <a:buFontTx/>
              <a:buNone/>
            </a:pPr>
            <a:endParaRPr lang="en-GB" altLang="en-US" sz="900" noProof="1"/>
          </a:p>
        </p:txBody>
      </p:sp>
      <p:sp>
        <p:nvSpPr>
          <p:cNvPr id="34819" name="Line 8"/>
          <p:cNvSpPr>
            <a:spLocks noChangeShapeType="1"/>
          </p:cNvSpPr>
          <p:nvPr/>
        </p:nvSpPr>
        <p:spPr bwMode="auto">
          <a:xfrm>
            <a:off x="1419225" y="1874838"/>
            <a:ext cx="53292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0" name="Line 9"/>
          <p:cNvSpPr>
            <a:spLocks noChangeShapeType="1"/>
          </p:cNvSpPr>
          <p:nvPr/>
        </p:nvSpPr>
        <p:spPr bwMode="auto">
          <a:xfrm>
            <a:off x="1419225"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1" name="Line 10"/>
          <p:cNvSpPr>
            <a:spLocks noChangeShapeType="1"/>
          </p:cNvSpPr>
          <p:nvPr/>
        </p:nvSpPr>
        <p:spPr bwMode="auto">
          <a:xfrm>
            <a:off x="2247900"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2" name="Line 12"/>
          <p:cNvSpPr>
            <a:spLocks noChangeShapeType="1"/>
          </p:cNvSpPr>
          <p:nvPr/>
        </p:nvSpPr>
        <p:spPr bwMode="auto">
          <a:xfrm>
            <a:off x="6748463" y="1782763"/>
            <a:ext cx="0"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3" name="Line 14"/>
          <p:cNvSpPr>
            <a:spLocks noChangeShapeType="1"/>
          </p:cNvSpPr>
          <p:nvPr/>
        </p:nvSpPr>
        <p:spPr bwMode="auto">
          <a:xfrm flipV="1">
            <a:off x="1419225" y="1511300"/>
            <a:ext cx="447675" cy="346075"/>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4" name="Line 15"/>
          <p:cNvSpPr>
            <a:spLocks noChangeShapeType="1"/>
          </p:cNvSpPr>
          <p:nvPr/>
        </p:nvSpPr>
        <p:spPr bwMode="auto">
          <a:xfrm flipH="1" flipV="1">
            <a:off x="1858963" y="1481138"/>
            <a:ext cx="385762" cy="363537"/>
          </a:xfrm>
          <a:prstGeom prst="line">
            <a:avLst/>
          </a:prstGeom>
          <a:noFill/>
          <a:ln w="25400">
            <a:solidFill>
              <a:srgbClr val="7030A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5" name="Line 18"/>
          <p:cNvSpPr>
            <a:spLocks noChangeShapeType="1"/>
          </p:cNvSpPr>
          <p:nvPr/>
        </p:nvSpPr>
        <p:spPr bwMode="auto">
          <a:xfrm flipV="1">
            <a:off x="2236788" y="1404938"/>
            <a:ext cx="2690812" cy="446087"/>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6" name="Line 19"/>
          <p:cNvSpPr>
            <a:spLocks noChangeShapeType="1"/>
          </p:cNvSpPr>
          <p:nvPr/>
        </p:nvSpPr>
        <p:spPr bwMode="auto">
          <a:xfrm>
            <a:off x="4919663" y="1404938"/>
            <a:ext cx="1828800" cy="461962"/>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27" name="Rectangle 16"/>
          <p:cNvSpPr>
            <a:spLocks noChangeArrowheads="1"/>
          </p:cNvSpPr>
          <p:nvPr/>
        </p:nvSpPr>
        <p:spPr bwMode="auto">
          <a:xfrm>
            <a:off x="1457325" y="1120775"/>
            <a:ext cx="1055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7030A0"/>
                </a:solidFill>
              </a:rPr>
              <a:t>Infection</a:t>
            </a:r>
            <a:endParaRPr lang="en-GB" altLang="en-US" sz="1800"/>
          </a:p>
        </p:txBody>
      </p:sp>
      <p:sp>
        <p:nvSpPr>
          <p:cNvPr id="34828" name="Rectangle 18"/>
          <p:cNvSpPr>
            <a:spLocks noChangeArrowheads="1"/>
          </p:cNvSpPr>
          <p:nvPr/>
        </p:nvSpPr>
        <p:spPr bwMode="auto">
          <a:xfrm>
            <a:off x="3670300" y="1112838"/>
            <a:ext cx="2314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noProof="1">
                <a:solidFill>
                  <a:srgbClr val="33CC33"/>
                </a:solidFill>
              </a:rPr>
              <a:t>No </a:t>
            </a:r>
            <a:r>
              <a:rPr lang="en-GB" altLang="en-US" sz="1800">
                <a:solidFill>
                  <a:srgbClr val="33CC33"/>
                </a:solidFill>
              </a:rPr>
              <a:t>infection</a:t>
            </a:r>
            <a:r>
              <a:rPr lang="en-GB" altLang="en-US" sz="1800" noProof="1">
                <a:solidFill>
                  <a:srgbClr val="33CC33"/>
                </a:solidFill>
              </a:rPr>
              <a:t> or death</a:t>
            </a:r>
            <a:endParaRPr lang="en-GB" altLang="en-US" sz="1800"/>
          </a:p>
        </p:txBody>
      </p:sp>
      <p:cxnSp>
        <p:nvCxnSpPr>
          <p:cNvPr id="21" name="Straight Connector 20"/>
          <p:cNvCxnSpPr/>
          <p:nvPr/>
        </p:nvCxnSpPr>
        <p:spPr>
          <a:xfrm rot="5400000" flipH="1" flipV="1">
            <a:off x="1833563" y="14763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flipH="1" flipV="1">
            <a:off x="2721769" y="1416844"/>
            <a:ext cx="0" cy="947738"/>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flipH="1" flipV="1">
            <a:off x="4972051" y="1143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flipH="1" flipV="1">
            <a:off x="1841501" y="24733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2729707" y="24137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4979988" y="11112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flipH="1" flipV="1">
            <a:off x="1841501" y="16287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2729707" y="15692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4979988" y="2667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1841501" y="17970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2729707" y="17375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flipH="1" flipV="1">
            <a:off x="4979988" y="4349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flipH="1" flipV="1">
            <a:off x="1841501" y="21351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2729707" y="20756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flipH="1" flipV="1">
            <a:off x="4979988" y="7731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flipH="1" flipV="1">
            <a:off x="1841501" y="26431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flipH="1" flipV="1">
            <a:off x="2729707" y="25836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flipH="1" flipV="1">
            <a:off x="4979988" y="12811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flipH="1" flipV="1">
            <a:off x="1841501" y="314960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flipH="1" flipV="1">
            <a:off x="2729707" y="309006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flipH="1" flipV="1">
            <a:off x="4979988" y="178752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flipH="1" flipV="1">
            <a:off x="1841501" y="348773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flipH="1" flipV="1">
            <a:off x="2729707" y="342820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flipH="1" flipV="1">
            <a:off x="4979988" y="212566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flipH="1" flipV="1">
            <a:off x="1841501" y="38258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flipH="1" flipV="1">
            <a:off x="2729707" y="37663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5400000" flipH="1" flipV="1">
            <a:off x="4979988" y="24638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flipH="1" flipV="1">
            <a:off x="1841501" y="41640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flipH="1" flipV="1">
            <a:off x="2729707" y="41044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5400000" flipH="1" flipV="1">
            <a:off x="4979988" y="28019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5400000" flipH="1" flipV="1">
            <a:off x="1841501" y="45021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flipH="1" flipV="1">
            <a:off x="2729707" y="44426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flipH="1" flipV="1">
            <a:off x="4979988" y="31400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flipH="1" flipV="1">
            <a:off x="1841501" y="500856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flipH="1" flipV="1">
            <a:off x="2729707" y="494903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flipH="1" flipV="1">
            <a:off x="4979988" y="364648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5400000" flipH="1" flipV="1">
            <a:off x="1841501" y="29813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flipH="1" flipV="1">
            <a:off x="2729707" y="29217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flipH="1" flipV="1">
            <a:off x="4979988" y="16192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flipH="1" flipV="1">
            <a:off x="1841501" y="19669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flipH="1" flipV="1">
            <a:off x="2729707" y="19073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flipH="1" flipV="1">
            <a:off x="4979988" y="6048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flipH="1" flipV="1">
            <a:off x="1841501" y="23050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flipH="1" flipV="1">
            <a:off x="2729707" y="22455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5400000" flipH="1" flipV="1">
            <a:off x="4979988" y="9429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flipH="1" flipV="1">
            <a:off x="1841501" y="281146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flipH="1" flipV="1">
            <a:off x="2729707" y="275193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flipH="1" flipV="1">
            <a:off x="4979988" y="144938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5400000" flipH="1" flipV="1">
            <a:off x="1841501" y="331787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rot="5400000" flipH="1" flipV="1">
            <a:off x="2729707" y="325834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flipH="1" flipV="1">
            <a:off x="4979988" y="195580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flipH="1" flipV="1">
            <a:off x="1841501" y="3656012"/>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rot="5400000" flipH="1" flipV="1">
            <a:off x="2729707" y="3596481"/>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flipH="1" flipV="1">
            <a:off x="4979988" y="2293937"/>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rot="5400000" flipH="1" flipV="1">
            <a:off x="1841501" y="3994150"/>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flipH="1" flipV="1">
            <a:off x="2729707" y="3934619"/>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flipH="1" flipV="1">
            <a:off x="4979988" y="2632075"/>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5400000" flipH="1" flipV="1">
            <a:off x="1841501" y="43322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flipH="1" flipV="1">
            <a:off x="2729707" y="42727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rot="5400000" flipH="1" flipV="1">
            <a:off x="4979988" y="29702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rot="5400000" flipH="1" flipV="1">
            <a:off x="1841501" y="4670425"/>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rot="5400000" flipH="1" flipV="1">
            <a:off x="2729707" y="4610894"/>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5400000" flipH="1" flipV="1">
            <a:off x="4979988" y="3308350"/>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rot="5400000" flipH="1" flipV="1">
            <a:off x="1841501" y="4840287"/>
            <a:ext cx="0" cy="8286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rot="5400000" flipH="1" flipV="1">
            <a:off x="2729707" y="4780756"/>
            <a:ext cx="0" cy="94773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flipH="1" flipV="1">
            <a:off x="4979988" y="3478212"/>
            <a:ext cx="0" cy="355282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4895" name="TextBox 104"/>
          <p:cNvSpPr txBox="1">
            <a:spLocks noChangeArrowheads="1"/>
          </p:cNvSpPr>
          <p:nvPr/>
        </p:nvSpPr>
        <p:spPr bwMode="auto">
          <a:xfrm>
            <a:off x="377825" y="5675313"/>
            <a:ext cx="60150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000">
                <a:latin typeface="Calibri" panose="020F0502020204030204" pitchFamily="34" charset="0"/>
              </a:rPr>
              <a:t>22 individuals, probability of infection per individual </a:t>
            </a:r>
            <a:r>
              <a:rPr lang="en-US" altLang="en-US" sz="2000" i="1">
                <a:solidFill>
                  <a:srgbClr val="7030A0"/>
                </a:solidFill>
                <a:latin typeface="Calibri" panose="020F0502020204030204" pitchFamily="34" charset="0"/>
                <a:sym typeface="Symbol" panose="05050102010706020507" pitchFamily="18" charset="2"/>
              </a:rPr>
              <a:t>λ</a:t>
            </a:r>
            <a:r>
              <a:rPr lang="en-US" altLang="en-US" sz="2000">
                <a:solidFill>
                  <a:srgbClr val="7030A0"/>
                </a:solidFill>
                <a:latin typeface="Calibri" panose="020F0502020204030204" pitchFamily="34" charset="0"/>
              </a:rPr>
              <a:t>Dt</a:t>
            </a:r>
          </a:p>
          <a:p>
            <a:pPr eaLnBrk="1" hangingPunct="1">
              <a:spcBef>
                <a:spcPct val="0"/>
              </a:spcBef>
              <a:buFontTx/>
              <a:buNone/>
            </a:pPr>
            <a:r>
              <a:rPr lang="en-US" altLang="en-US" sz="2000">
                <a:latin typeface="Calibri" panose="020F0502020204030204" pitchFamily="34" charset="0"/>
              </a:rPr>
              <a:t>Use Binomial to generate number of ‘sucesses’,</a:t>
            </a:r>
          </a:p>
          <a:p>
            <a:pPr eaLnBrk="1" hangingPunct="1">
              <a:spcBef>
                <a:spcPct val="0"/>
              </a:spcBef>
              <a:buFontTx/>
              <a:buNone/>
            </a:pPr>
            <a:r>
              <a:rPr lang="en-US" altLang="en-US" sz="2000">
                <a:latin typeface="Calibri" panose="020F0502020204030204" pitchFamily="34" charset="0"/>
              </a:rPr>
              <a:t>Infections = Binomial(</a:t>
            </a:r>
            <a:r>
              <a:rPr lang="en-US" altLang="en-US" sz="2000" i="1">
                <a:solidFill>
                  <a:srgbClr val="7030A0"/>
                </a:solidFill>
                <a:latin typeface="Calibri" panose="020F0502020204030204" pitchFamily="34" charset="0"/>
                <a:sym typeface="Symbol" panose="05050102010706020507" pitchFamily="18" charset="2"/>
              </a:rPr>
              <a:t>λ</a:t>
            </a:r>
            <a:r>
              <a:rPr lang="en-US" altLang="en-US" sz="2000">
                <a:solidFill>
                  <a:srgbClr val="7030A0"/>
                </a:solidFill>
                <a:latin typeface="Calibri" panose="020F0502020204030204" pitchFamily="34" charset="0"/>
              </a:rPr>
              <a:t>Dt</a:t>
            </a:r>
            <a:r>
              <a:rPr lang="en-US" altLang="en-US" sz="2000">
                <a:latin typeface="Calibri" panose="020F0502020204030204" pitchFamily="34" charset="0"/>
              </a:rPr>
              <a:t>,S) = 7 infections</a:t>
            </a:r>
            <a:r>
              <a:rPr lang="en-GB" altLang="en-US" sz="2000">
                <a:latin typeface="Calibri" panose="020F0502020204030204" pitchFamily="34" charset="0"/>
              </a:rPr>
              <a:t> (for example)</a:t>
            </a:r>
          </a:p>
        </p:txBody>
      </p:sp>
      <p:sp>
        <p:nvSpPr>
          <p:cNvPr id="109" name="Rectangle 108"/>
          <p:cNvSpPr/>
          <p:nvPr/>
        </p:nvSpPr>
        <p:spPr>
          <a:xfrm>
            <a:off x="1270000" y="4306888"/>
            <a:ext cx="5773738" cy="1195387"/>
          </a:xfrm>
          <a:prstGeom prst="rect">
            <a:avLst/>
          </a:prstGeom>
          <a:solidFill>
            <a:srgbClr val="000000">
              <a:alpha val="52941"/>
            </a:srgbClr>
          </a:solidFill>
        </p:spPr>
        <p:style>
          <a:lnRef idx="1">
            <a:schemeClr val="dk1"/>
          </a:lnRef>
          <a:fillRef idx="2">
            <a:schemeClr val="dk1"/>
          </a:fillRef>
          <a:effectRef idx="1">
            <a:schemeClr val="dk1"/>
          </a:effectRef>
          <a:fontRef idx="minor">
            <a:schemeClr val="dk1"/>
          </a:fontRef>
        </p:style>
        <p:txBody>
          <a:bodyPr anchor="ctr"/>
          <a:lstStyle/>
          <a:p>
            <a:pPr algn="ctr">
              <a:defRPr/>
            </a:pPr>
            <a:endParaRPr lang="en-GB"/>
          </a:p>
        </p:txBody>
      </p:sp>
      <p:sp>
        <p:nvSpPr>
          <p:cNvPr id="34897" name="Rectangle 2"/>
          <p:cNvSpPr>
            <a:spLocks noChangeArrowheads="1"/>
          </p:cNvSpPr>
          <p:nvPr/>
        </p:nvSpPr>
        <p:spPr bwMode="auto">
          <a:xfrm>
            <a:off x="457200" y="30638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solidFill>
                  <a:srgbClr val="0033CC"/>
                </a:solidFill>
              </a:rPr>
              <a:t>Multiple individuals-Compartment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825500"/>
          </a:xfrm>
        </p:spPr>
        <p:txBody>
          <a:bodyPr/>
          <a:lstStyle/>
          <a:p>
            <a:pPr>
              <a:defRPr/>
            </a:pPr>
            <a:r>
              <a:rPr lang="en-GB" altLang="en-US" sz="2800" kern="1200" dirty="0">
                <a:solidFill>
                  <a:srgbClr val="0033CC"/>
                </a:solidFill>
                <a:ea typeface="+mn-ea"/>
                <a:cs typeface="+mn-cs"/>
              </a:rPr>
              <a:t>SEIR model</a:t>
            </a:r>
          </a:p>
        </p:txBody>
      </p:sp>
      <p:pic>
        <p:nvPicPr>
          <p:cNvPr id="368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238250"/>
            <a:ext cx="41719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Box 5"/>
          <p:cNvSpPr txBox="1">
            <a:spLocks noChangeArrowheads="1"/>
          </p:cNvSpPr>
          <p:nvPr/>
        </p:nvSpPr>
        <p:spPr bwMode="auto">
          <a:xfrm>
            <a:off x="20638" y="6508750"/>
            <a:ext cx="43656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t>Hollingsworth </a:t>
            </a:r>
            <a:r>
              <a:rPr lang="en-GB" altLang="en-US" sz="1400" i="1"/>
              <a:t>et al</a:t>
            </a:r>
            <a:r>
              <a:rPr lang="en-GB" altLang="en-US" sz="1400"/>
              <a:t> (2006) Nature Medicine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825500"/>
          </a:xfrm>
        </p:spPr>
        <p:txBody>
          <a:bodyPr/>
          <a:lstStyle/>
          <a:p>
            <a:pPr>
              <a:defRPr/>
            </a:pPr>
            <a:r>
              <a:rPr lang="en-GB" altLang="en-US" sz="2800" kern="1200" dirty="0">
                <a:solidFill>
                  <a:srgbClr val="0033CC"/>
                </a:solidFill>
                <a:ea typeface="+mn-ea"/>
                <a:cs typeface="+mn-cs"/>
              </a:rPr>
              <a:t>SEIR model</a:t>
            </a:r>
          </a:p>
        </p:txBody>
      </p:sp>
      <p:pic>
        <p:nvPicPr>
          <p:cNvPr id="378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238250"/>
            <a:ext cx="41719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Box 5"/>
          <p:cNvSpPr txBox="1">
            <a:spLocks noChangeArrowheads="1"/>
          </p:cNvSpPr>
          <p:nvPr/>
        </p:nvSpPr>
        <p:spPr bwMode="auto">
          <a:xfrm>
            <a:off x="20638" y="6508750"/>
            <a:ext cx="43656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t>Hollingsworth </a:t>
            </a:r>
            <a:r>
              <a:rPr lang="en-GB" altLang="en-US" sz="1400" i="1"/>
              <a:t>et al</a:t>
            </a:r>
            <a:r>
              <a:rPr lang="en-GB" altLang="en-US" sz="1400"/>
              <a:t> (2006) Nature Medicine</a:t>
            </a:r>
          </a:p>
        </p:txBody>
      </p:sp>
      <p:grpSp>
        <p:nvGrpSpPr>
          <p:cNvPr id="37893" name="Group 9"/>
          <p:cNvGrpSpPr>
            <a:grpSpLocks/>
          </p:cNvGrpSpPr>
          <p:nvPr/>
        </p:nvGrpSpPr>
        <p:grpSpPr bwMode="auto">
          <a:xfrm>
            <a:off x="1906588" y="3544888"/>
            <a:ext cx="5667375" cy="2963862"/>
            <a:chOff x="2486418" y="2949168"/>
            <a:chExt cx="6838950" cy="3876675"/>
          </a:xfrm>
        </p:grpSpPr>
        <p:pic>
          <p:nvPicPr>
            <p:cNvPr id="3789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418" y="2949168"/>
              <a:ext cx="68389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390539" y="3430897"/>
              <a:ext cx="846727" cy="431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9" name="Rectangle 8"/>
            <p:cNvSpPr/>
            <p:nvPr/>
          </p:nvSpPr>
          <p:spPr>
            <a:xfrm>
              <a:off x="2593696" y="5509393"/>
              <a:ext cx="6672286" cy="8077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825500"/>
          </a:xfrm>
        </p:spPr>
        <p:txBody>
          <a:bodyPr/>
          <a:lstStyle/>
          <a:p>
            <a:pPr>
              <a:defRPr/>
            </a:pPr>
            <a:r>
              <a:rPr lang="en-GB" altLang="en-US" sz="2800" kern="1200" dirty="0">
                <a:solidFill>
                  <a:srgbClr val="0033CC"/>
                </a:solidFill>
                <a:ea typeface="+mn-ea"/>
                <a:cs typeface="+mn-cs"/>
              </a:rPr>
              <a:t>SEIR model</a:t>
            </a:r>
          </a:p>
        </p:txBody>
      </p:sp>
      <p:pic>
        <p:nvPicPr>
          <p:cNvPr id="389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238250"/>
            <a:ext cx="41719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Box 5"/>
          <p:cNvSpPr txBox="1">
            <a:spLocks noChangeArrowheads="1"/>
          </p:cNvSpPr>
          <p:nvPr/>
        </p:nvSpPr>
        <p:spPr bwMode="auto">
          <a:xfrm>
            <a:off x="20638" y="6508750"/>
            <a:ext cx="43656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t>Hollingsworth </a:t>
            </a:r>
            <a:r>
              <a:rPr lang="en-GB" altLang="en-US" sz="1400" i="1"/>
              <a:t>et al</a:t>
            </a:r>
            <a:r>
              <a:rPr lang="en-GB" altLang="en-US" sz="1400"/>
              <a:t> (2006) Nature Medicine</a:t>
            </a:r>
          </a:p>
        </p:txBody>
      </p:sp>
      <p:grpSp>
        <p:nvGrpSpPr>
          <p:cNvPr id="38917" name="Group 9"/>
          <p:cNvGrpSpPr>
            <a:grpSpLocks/>
          </p:cNvGrpSpPr>
          <p:nvPr/>
        </p:nvGrpSpPr>
        <p:grpSpPr bwMode="auto">
          <a:xfrm>
            <a:off x="1906588" y="3544888"/>
            <a:ext cx="5667375" cy="2963862"/>
            <a:chOff x="2486418" y="2949168"/>
            <a:chExt cx="6838950" cy="3876675"/>
          </a:xfrm>
        </p:grpSpPr>
        <p:pic>
          <p:nvPicPr>
            <p:cNvPr id="389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418" y="2949168"/>
              <a:ext cx="68389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390539" y="3430897"/>
              <a:ext cx="846727" cy="431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9" name="Rectangle 8"/>
            <p:cNvSpPr/>
            <p:nvPr/>
          </p:nvSpPr>
          <p:spPr>
            <a:xfrm>
              <a:off x="2593696" y="5509393"/>
              <a:ext cx="6672286" cy="8077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sp>
        <p:nvSpPr>
          <p:cNvPr id="38918" name="TextBox 1"/>
          <p:cNvSpPr txBox="1">
            <a:spLocks noChangeArrowheads="1"/>
          </p:cNvSpPr>
          <p:nvPr/>
        </p:nvSpPr>
        <p:spPr bwMode="auto">
          <a:xfrm>
            <a:off x="20638" y="2960688"/>
            <a:ext cx="1885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a:solidFill>
                  <a:srgbClr val="00B050"/>
                </a:solidFill>
              </a:rPr>
              <a:t>Number moving from susceptible to exposed </a:t>
            </a:r>
          </a:p>
        </p:txBody>
      </p:sp>
      <p:cxnSp>
        <p:nvCxnSpPr>
          <p:cNvPr id="4" name="Straight Arrow Connector 3"/>
          <p:cNvCxnSpPr>
            <a:stCxn id="38918" idx="2"/>
          </p:cNvCxnSpPr>
          <p:nvPr/>
        </p:nvCxnSpPr>
        <p:spPr>
          <a:xfrm>
            <a:off x="963613" y="3790950"/>
            <a:ext cx="1031875" cy="1036638"/>
          </a:xfrm>
          <a:prstGeom prst="straightConnector1">
            <a:avLst/>
          </a:prstGeom>
          <a:ln w="28575">
            <a:solidFill>
              <a:srgbClr val="33CC33"/>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825500"/>
          </a:xfrm>
        </p:spPr>
        <p:txBody>
          <a:bodyPr/>
          <a:lstStyle/>
          <a:p>
            <a:pPr>
              <a:defRPr/>
            </a:pPr>
            <a:r>
              <a:rPr lang="en-GB" altLang="en-US" sz="2800" kern="1200" dirty="0">
                <a:solidFill>
                  <a:srgbClr val="0033CC"/>
                </a:solidFill>
                <a:ea typeface="+mn-ea"/>
                <a:cs typeface="+mn-cs"/>
              </a:rPr>
              <a:t>SEIR model</a:t>
            </a:r>
          </a:p>
        </p:txBody>
      </p:sp>
      <p:pic>
        <p:nvPicPr>
          <p:cNvPr id="399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238250"/>
            <a:ext cx="41719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extBox 5"/>
          <p:cNvSpPr txBox="1">
            <a:spLocks noChangeArrowheads="1"/>
          </p:cNvSpPr>
          <p:nvPr/>
        </p:nvSpPr>
        <p:spPr bwMode="auto">
          <a:xfrm>
            <a:off x="20638" y="6508750"/>
            <a:ext cx="43656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t>Hollingsworth </a:t>
            </a:r>
            <a:r>
              <a:rPr lang="en-GB" altLang="en-US" sz="1400" i="1"/>
              <a:t>et al</a:t>
            </a:r>
            <a:r>
              <a:rPr lang="en-GB" altLang="en-US" sz="1400"/>
              <a:t> (2006) Nature Medicine</a:t>
            </a:r>
          </a:p>
        </p:txBody>
      </p:sp>
      <p:grpSp>
        <p:nvGrpSpPr>
          <p:cNvPr id="39941" name="Group 9"/>
          <p:cNvGrpSpPr>
            <a:grpSpLocks/>
          </p:cNvGrpSpPr>
          <p:nvPr/>
        </p:nvGrpSpPr>
        <p:grpSpPr bwMode="auto">
          <a:xfrm>
            <a:off x="1906588" y="3544888"/>
            <a:ext cx="5667375" cy="2963862"/>
            <a:chOff x="2486418" y="2949168"/>
            <a:chExt cx="6838950" cy="3876675"/>
          </a:xfrm>
        </p:grpSpPr>
        <p:pic>
          <p:nvPicPr>
            <p:cNvPr id="399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418" y="2949168"/>
              <a:ext cx="68389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390539" y="3430897"/>
              <a:ext cx="846727" cy="431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9" name="Rectangle 8"/>
            <p:cNvSpPr/>
            <p:nvPr/>
          </p:nvSpPr>
          <p:spPr>
            <a:xfrm>
              <a:off x="2593696" y="5509393"/>
              <a:ext cx="6672286" cy="8077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sp>
        <p:nvSpPr>
          <p:cNvPr id="39942" name="TextBox 1"/>
          <p:cNvSpPr txBox="1">
            <a:spLocks noChangeArrowheads="1"/>
          </p:cNvSpPr>
          <p:nvPr/>
        </p:nvSpPr>
        <p:spPr bwMode="auto">
          <a:xfrm>
            <a:off x="20638" y="2960688"/>
            <a:ext cx="1885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a:solidFill>
                  <a:srgbClr val="00B050"/>
                </a:solidFill>
              </a:rPr>
              <a:t>Number moving from susceptible to exposed </a:t>
            </a:r>
          </a:p>
        </p:txBody>
      </p:sp>
      <p:cxnSp>
        <p:nvCxnSpPr>
          <p:cNvPr id="4" name="Straight Arrow Connector 3"/>
          <p:cNvCxnSpPr>
            <a:stCxn id="39942" idx="2"/>
          </p:cNvCxnSpPr>
          <p:nvPr/>
        </p:nvCxnSpPr>
        <p:spPr>
          <a:xfrm>
            <a:off x="963613" y="3790950"/>
            <a:ext cx="1031875" cy="1036638"/>
          </a:xfrm>
          <a:prstGeom prst="straightConnector1">
            <a:avLst/>
          </a:prstGeom>
          <a:ln w="28575">
            <a:solidFill>
              <a:srgbClr val="33CC33"/>
            </a:solidFill>
            <a:tailEnd type="arrow"/>
          </a:ln>
        </p:spPr>
        <p:style>
          <a:lnRef idx="1">
            <a:schemeClr val="accent1"/>
          </a:lnRef>
          <a:fillRef idx="0">
            <a:schemeClr val="accent1"/>
          </a:fillRef>
          <a:effectRef idx="0">
            <a:schemeClr val="accent1"/>
          </a:effectRef>
          <a:fontRef idx="minor">
            <a:schemeClr val="tx1"/>
          </a:fontRef>
        </p:style>
      </p:cxnSp>
      <p:sp>
        <p:nvSpPr>
          <p:cNvPr id="39944" name="TextBox 10"/>
          <p:cNvSpPr txBox="1">
            <a:spLocks noChangeArrowheads="1"/>
          </p:cNvSpPr>
          <p:nvPr/>
        </p:nvSpPr>
        <p:spPr bwMode="auto">
          <a:xfrm>
            <a:off x="6630988" y="3262313"/>
            <a:ext cx="18859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a:solidFill>
                  <a:srgbClr val="00B050"/>
                </a:solidFill>
              </a:rPr>
              <a:t>rate</a:t>
            </a:r>
          </a:p>
        </p:txBody>
      </p:sp>
      <p:cxnSp>
        <p:nvCxnSpPr>
          <p:cNvPr id="12" name="Straight Arrow Connector 11"/>
          <p:cNvCxnSpPr/>
          <p:nvPr/>
        </p:nvCxnSpPr>
        <p:spPr>
          <a:xfrm flipH="1">
            <a:off x="6059488" y="3600450"/>
            <a:ext cx="790575" cy="995363"/>
          </a:xfrm>
          <a:prstGeom prst="straightConnector1">
            <a:avLst/>
          </a:prstGeom>
          <a:ln w="28575">
            <a:solidFill>
              <a:srgbClr val="33CC33"/>
            </a:solidFill>
            <a:tailEnd type="arrow"/>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338763" y="4533900"/>
            <a:ext cx="1036637" cy="573088"/>
          </a:xfrm>
          <a:prstGeom prst="roundRect">
            <a:avLst/>
          </a:prstGeom>
          <a:noFill/>
          <a:ln>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935038" y="388938"/>
            <a:ext cx="68500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800" b="1">
                <a:solidFill>
                  <a:srgbClr val="0033CC"/>
                </a:solidFill>
              </a:rPr>
              <a:t>Summary</a:t>
            </a:r>
          </a:p>
        </p:txBody>
      </p:sp>
      <p:sp>
        <p:nvSpPr>
          <p:cNvPr id="40963" name="Rectangle 6"/>
          <p:cNvSpPr>
            <a:spLocks noChangeArrowheads="1"/>
          </p:cNvSpPr>
          <p:nvPr/>
        </p:nvSpPr>
        <p:spPr bwMode="auto">
          <a:xfrm>
            <a:off x="320675" y="1223963"/>
            <a:ext cx="8370888" cy="360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ct val="30000"/>
              </a:spcAft>
            </a:pPr>
            <a:r>
              <a:rPr lang="en-GB" altLang="en-US" sz="2000" dirty="0">
                <a:latin typeface="Calibri" panose="020F0502020204030204" pitchFamily="34" charset="0"/>
              </a:rPr>
              <a:t> Stochastic effects important when considering </a:t>
            </a:r>
          </a:p>
          <a:p>
            <a:pPr lvl="1">
              <a:spcBef>
                <a:spcPct val="0"/>
              </a:spcBef>
              <a:spcAft>
                <a:spcPct val="30000"/>
              </a:spcAft>
              <a:buFontTx/>
              <a:buChar char="•"/>
            </a:pPr>
            <a:r>
              <a:rPr lang="en-GB" altLang="en-US" sz="2000" dirty="0">
                <a:latin typeface="Calibri" panose="020F0502020204030204" pitchFamily="34" charset="0"/>
              </a:rPr>
              <a:t> persistence </a:t>
            </a:r>
          </a:p>
          <a:p>
            <a:pPr lvl="1">
              <a:spcBef>
                <a:spcPct val="0"/>
              </a:spcBef>
              <a:spcAft>
                <a:spcPct val="30000"/>
              </a:spcAft>
              <a:buFontTx/>
              <a:buChar char="•"/>
            </a:pPr>
            <a:r>
              <a:rPr lang="en-GB" altLang="en-US" sz="2000" dirty="0">
                <a:latin typeface="Calibri" panose="020F0502020204030204" pitchFamily="34" charset="0"/>
              </a:rPr>
              <a:t> dealing with small populations (start and tail of epidemics)</a:t>
            </a:r>
          </a:p>
          <a:p>
            <a:pPr lvl="1">
              <a:spcBef>
                <a:spcPct val="0"/>
              </a:spcBef>
              <a:spcAft>
                <a:spcPct val="30000"/>
              </a:spcAft>
              <a:buFontTx/>
              <a:buChar char="•"/>
            </a:pPr>
            <a:r>
              <a:rPr lang="en-GB" altLang="en-US" sz="2000" dirty="0">
                <a:latin typeface="Calibri" panose="020F0502020204030204" pitchFamily="34" charset="0"/>
              </a:rPr>
              <a:t> or spatial spread.</a:t>
            </a:r>
          </a:p>
          <a:p>
            <a:pPr lvl="1">
              <a:spcBef>
                <a:spcPct val="0"/>
              </a:spcBef>
              <a:spcAft>
                <a:spcPct val="30000"/>
              </a:spcAft>
              <a:buFontTx/>
              <a:buChar char="•"/>
            </a:pPr>
            <a:endParaRPr lang="en-GB" altLang="en-US" sz="2000" dirty="0">
              <a:latin typeface="Calibri" panose="020F0502020204030204" pitchFamily="34" charset="0"/>
            </a:endParaRPr>
          </a:p>
          <a:p>
            <a:pPr>
              <a:spcBef>
                <a:spcPct val="0"/>
              </a:spcBef>
              <a:spcAft>
                <a:spcPct val="30000"/>
              </a:spcAft>
            </a:pPr>
            <a:r>
              <a:rPr lang="en-GB" altLang="en-US" sz="2000" dirty="0">
                <a:latin typeface="Calibri" panose="020F0502020204030204" pitchFamily="34" charset="0"/>
              </a:rPr>
              <a:t>By chance can have outbreaks, even when R</a:t>
            </a:r>
            <a:r>
              <a:rPr lang="en-GB" altLang="en-US" sz="2000" baseline="-25000" dirty="0">
                <a:latin typeface="Calibri" panose="020F0502020204030204" pitchFamily="34" charset="0"/>
              </a:rPr>
              <a:t>0</a:t>
            </a:r>
            <a:r>
              <a:rPr lang="en-GB" altLang="en-US" sz="2000" dirty="0">
                <a:latin typeface="Calibri" panose="020F0502020204030204" pitchFamily="34" charset="0"/>
              </a:rPr>
              <a:t>&lt;1 </a:t>
            </a:r>
          </a:p>
          <a:p>
            <a:pPr>
              <a:spcBef>
                <a:spcPct val="0"/>
              </a:spcBef>
              <a:spcAft>
                <a:spcPct val="30000"/>
              </a:spcAft>
            </a:pPr>
            <a:r>
              <a:rPr lang="en-GB" altLang="en-US" sz="2000" dirty="0">
                <a:latin typeface="Calibri" panose="020F0502020204030204" pitchFamily="34" charset="0"/>
              </a:rPr>
              <a:t>By chance can have no outbreak when R</a:t>
            </a:r>
            <a:r>
              <a:rPr lang="en-GB" altLang="en-US" sz="2000" baseline="-25000" dirty="0">
                <a:latin typeface="Calibri" panose="020F0502020204030204" pitchFamily="34" charset="0"/>
              </a:rPr>
              <a:t>0</a:t>
            </a:r>
            <a:r>
              <a:rPr lang="en-GB" altLang="en-US" sz="2000" dirty="0">
                <a:latin typeface="Calibri" panose="020F0502020204030204" pitchFamily="34" charset="0"/>
              </a:rPr>
              <a:t>&gt;1</a:t>
            </a:r>
          </a:p>
          <a:p>
            <a:pPr>
              <a:spcBef>
                <a:spcPct val="0"/>
              </a:spcBef>
              <a:spcAft>
                <a:spcPct val="30000"/>
              </a:spcAft>
            </a:pPr>
            <a:endParaRPr lang="en-GB" altLang="en-US" sz="2000" dirty="0">
              <a:latin typeface="Calibri" panose="020F0502020204030204" pitchFamily="34" charset="0"/>
            </a:endParaRPr>
          </a:p>
          <a:p>
            <a:pPr>
              <a:spcBef>
                <a:spcPct val="0"/>
              </a:spcBef>
              <a:spcAft>
                <a:spcPct val="30000"/>
              </a:spcAft>
            </a:pPr>
            <a:r>
              <a:rPr lang="en-GB" altLang="en-US" sz="2000" dirty="0">
                <a:latin typeface="Calibri" panose="020F0502020204030204" pitchFamily="34" charset="0"/>
              </a:rPr>
              <a:t>Stochastic models can be relatively simple to program, difficult to analyse.</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noTextEdit="1"/>
          </p:cNvSpPr>
          <p:nvPr/>
        </p:nvSpPr>
        <p:spPr bwMode="auto">
          <a:xfrm>
            <a:off x="180975" y="2308225"/>
            <a:ext cx="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GB"/>
          </a:p>
        </p:txBody>
      </p:sp>
      <p:sp>
        <p:nvSpPr>
          <p:cNvPr id="41987" name="Rectangle 4"/>
          <p:cNvSpPr>
            <a:spLocks noChangeArrowheads="1"/>
          </p:cNvSpPr>
          <p:nvPr/>
        </p:nvSpPr>
        <p:spPr bwMode="auto">
          <a:xfrm>
            <a:off x="765175" y="328613"/>
            <a:ext cx="7780338"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800" b="1">
                <a:solidFill>
                  <a:srgbClr val="0033CC"/>
                </a:solidFill>
              </a:rPr>
              <a:t>Further reading</a:t>
            </a:r>
          </a:p>
        </p:txBody>
      </p:sp>
      <p:sp>
        <p:nvSpPr>
          <p:cNvPr id="41988" name="Rectangle 5"/>
          <p:cNvSpPr>
            <a:spLocks noChangeArrowheads="1"/>
          </p:cNvSpPr>
          <p:nvPr/>
        </p:nvSpPr>
        <p:spPr bwMode="auto">
          <a:xfrm>
            <a:off x="349250" y="1443038"/>
            <a:ext cx="8410575" cy="47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spcAft>
                <a:spcPct val="25000"/>
              </a:spcAft>
              <a:buFontTx/>
              <a:buNone/>
            </a:pPr>
            <a:r>
              <a:rPr lang="en-GB" altLang="en-US" sz="1800" b="1" i="1">
                <a:latin typeface="Calibri" panose="020F0502020204030204" pitchFamily="34" charset="0"/>
              </a:rPr>
              <a:t>Books:</a:t>
            </a:r>
            <a:endParaRPr lang="en-GB" altLang="en-US" sz="1800">
              <a:latin typeface="Calibri" panose="020F0502020204030204" pitchFamily="34" charset="0"/>
            </a:endParaRPr>
          </a:p>
          <a:p>
            <a:pPr eaLnBrk="1" hangingPunct="1">
              <a:spcBef>
                <a:spcPct val="0"/>
              </a:spcBef>
              <a:spcAft>
                <a:spcPct val="25000"/>
              </a:spcAft>
              <a:buFontTx/>
              <a:buNone/>
            </a:pPr>
            <a:r>
              <a:rPr lang="en-GB" altLang="en-US" sz="1800">
                <a:latin typeface="Calibri" panose="020F0502020204030204" pitchFamily="34" charset="0"/>
              </a:rPr>
              <a:t>Renshaw, E., </a:t>
            </a:r>
            <a:r>
              <a:rPr lang="en-GB" altLang="en-US" sz="1800" i="1">
                <a:latin typeface="Calibri" panose="020F0502020204030204" pitchFamily="34" charset="0"/>
              </a:rPr>
              <a:t>Modelling biological populations in space and time</a:t>
            </a:r>
            <a:r>
              <a:rPr lang="en-GB" altLang="en-US" sz="1800">
                <a:latin typeface="Calibri" panose="020F0502020204030204" pitchFamily="34" charset="0"/>
              </a:rPr>
              <a:t>, Cambridge Univ. press, 1991</a:t>
            </a:r>
          </a:p>
          <a:p>
            <a:pPr eaLnBrk="1" hangingPunct="1">
              <a:spcBef>
                <a:spcPct val="0"/>
              </a:spcBef>
              <a:spcAft>
                <a:spcPct val="25000"/>
              </a:spcAft>
              <a:buFontTx/>
              <a:buNone/>
            </a:pPr>
            <a:r>
              <a:rPr lang="en-GB" altLang="en-US" sz="1800">
                <a:latin typeface="Calibri" panose="020F0502020204030204" pitchFamily="34" charset="0"/>
              </a:rPr>
              <a:t>Bailey, N.T.J., </a:t>
            </a:r>
            <a:r>
              <a:rPr lang="en-GB" altLang="en-US" sz="1800" i="1">
                <a:latin typeface="Calibri" panose="020F0502020204030204" pitchFamily="34" charset="0"/>
              </a:rPr>
              <a:t>The mathematical theory of infectious diseases and its applications</a:t>
            </a:r>
            <a:r>
              <a:rPr lang="en-GB" altLang="en-US" sz="1800">
                <a:latin typeface="Calibri" panose="020F0502020204030204" pitchFamily="34" charset="0"/>
              </a:rPr>
              <a:t>, 2nd edition, Griffin, 1975</a:t>
            </a:r>
          </a:p>
          <a:p>
            <a:pPr eaLnBrk="1" hangingPunct="1">
              <a:spcBef>
                <a:spcPct val="0"/>
              </a:spcBef>
              <a:spcAft>
                <a:spcPct val="25000"/>
              </a:spcAft>
              <a:buFontTx/>
              <a:buNone/>
            </a:pPr>
            <a:endParaRPr lang="en-GB" altLang="en-US" sz="1800">
              <a:latin typeface="Calibri" panose="020F0502020204030204" pitchFamily="34" charset="0"/>
            </a:endParaRPr>
          </a:p>
          <a:p>
            <a:pPr eaLnBrk="1" hangingPunct="1">
              <a:spcBef>
                <a:spcPct val="0"/>
              </a:spcBef>
              <a:spcAft>
                <a:spcPct val="25000"/>
              </a:spcAft>
              <a:buFontTx/>
              <a:buNone/>
            </a:pPr>
            <a:r>
              <a:rPr lang="en-GB" altLang="en-US" sz="1800" b="1" i="1">
                <a:latin typeface="Calibri" panose="020F0502020204030204" pitchFamily="34" charset="0"/>
              </a:rPr>
              <a:t>Papers:</a:t>
            </a:r>
            <a:endParaRPr lang="en-GB" altLang="en-US" sz="1800">
              <a:latin typeface="Calibri" panose="020F0502020204030204" pitchFamily="34" charset="0"/>
            </a:endParaRPr>
          </a:p>
          <a:p>
            <a:pPr eaLnBrk="1" hangingPunct="1">
              <a:spcBef>
                <a:spcPct val="0"/>
              </a:spcBef>
              <a:spcAft>
                <a:spcPct val="25000"/>
              </a:spcAft>
              <a:buFontTx/>
              <a:buNone/>
            </a:pPr>
            <a:r>
              <a:rPr lang="en-US" altLang="en-US" sz="1800">
                <a:latin typeface="Calibri" panose="020F0502020204030204" pitchFamily="34" charset="0"/>
              </a:rPr>
              <a:t>Bartlett, M. S. (1957). "Measles periodicity and community size." </a:t>
            </a:r>
            <a:r>
              <a:rPr lang="en-US" altLang="en-US" sz="1800" u="sng">
                <a:latin typeface="Calibri" panose="020F0502020204030204" pitchFamily="34" charset="0"/>
              </a:rPr>
              <a:t>J. Roy. Stat. Soc. A</a:t>
            </a:r>
            <a:r>
              <a:rPr lang="en-US" altLang="en-US" sz="1800">
                <a:latin typeface="Calibri" panose="020F0502020204030204" pitchFamily="34" charset="0"/>
              </a:rPr>
              <a:t> </a:t>
            </a:r>
            <a:r>
              <a:rPr lang="en-US" altLang="en-US" sz="1800" b="1">
                <a:latin typeface="Calibri" panose="020F0502020204030204" pitchFamily="34" charset="0"/>
              </a:rPr>
              <a:t>120</a:t>
            </a:r>
            <a:r>
              <a:rPr lang="en-US" altLang="en-US" sz="1800">
                <a:latin typeface="Calibri" panose="020F0502020204030204" pitchFamily="34" charset="0"/>
              </a:rPr>
              <a:t>: 48-70.</a:t>
            </a:r>
          </a:p>
          <a:p>
            <a:pPr eaLnBrk="1" hangingPunct="1">
              <a:spcBef>
                <a:spcPct val="0"/>
              </a:spcBef>
              <a:spcAft>
                <a:spcPct val="25000"/>
              </a:spcAft>
              <a:buFontTx/>
              <a:buNone/>
            </a:pPr>
            <a:r>
              <a:rPr lang="en-US" altLang="en-US" sz="1800">
                <a:latin typeface="Calibri" panose="020F0502020204030204" pitchFamily="34" charset="0"/>
              </a:rPr>
              <a:t>Bolker, B. M. and B. T. Grenfell (1995). "Space, persistence and dynamics of measles epidemics." </a:t>
            </a:r>
            <a:r>
              <a:rPr lang="en-US" altLang="en-US" sz="1800" u="sng">
                <a:latin typeface="Calibri" panose="020F0502020204030204" pitchFamily="34" charset="0"/>
              </a:rPr>
              <a:t>Proc. Roy. Soc. Lond. B</a:t>
            </a:r>
            <a:r>
              <a:rPr lang="en-US" altLang="en-US" sz="1800">
                <a:latin typeface="Calibri" panose="020F0502020204030204" pitchFamily="34" charset="0"/>
              </a:rPr>
              <a:t> </a:t>
            </a:r>
            <a:r>
              <a:rPr lang="en-US" altLang="en-US" sz="1800" b="1">
                <a:latin typeface="Calibri" panose="020F0502020204030204" pitchFamily="34" charset="0"/>
              </a:rPr>
              <a:t>348</a:t>
            </a:r>
            <a:r>
              <a:rPr lang="en-US" altLang="en-US" sz="1800">
                <a:latin typeface="Calibri" panose="020F0502020204030204" pitchFamily="34" charset="0"/>
              </a:rPr>
              <a:t>: 308-320.</a:t>
            </a:r>
          </a:p>
          <a:p>
            <a:pPr eaLnBrk="1" hangingPunct="1">
              <a:spcBef>
                <a:spcPct val="0"/>
              </a:spcBef>
              <a:spcAft>
                <a:spcPct val="25000"/>
              </a:spcAft>
              <a:buFontTx/>
              <a:buNone/>
            </a:pPr>
            <a:r>
              <a:rPr lang="en-US" altLang="en-US" sz="1800">
                <a:latin typeface="Calibri" panose="020F0502020204030204" pitchFamily="34" charset="0"/>
              </a:rPr>
              <a:t>Jansen, V. A. A., N. Stollenwerk, et al. (2003). “Measles outbreaks in a population with declining vaccine uptake." Science 301(5634): 804-804.</a:t>
            </a:r>
          </a:p>
          <a:p>
            <a:pPr eaLnBrk="1" hangingPunct="1">
              <a:spcBef>
                <a:spcPct val="0"/>
              </a:spcBef>
              <a:spcAft>
                <a:spcPct val="25000"/>
              </a:spcAft>
              <a:buFontTx/>
              <a:buNone/>
            </a:pPr>
            <a:r>
              <a:rPr lang="en-US" altLang="en-US" sz="1800">
                <a:latin typeface="Calibri" panose="020F0502020204030204" pitchFamily="34" charset="0"/>
              </a:rPr>
              <a:t>Farrington, C. P., M. N. Kanaan, et al. (2003). "Branching process models for surveillance of infectious diseases controlled by mass vaccination." </a:t>
            </a:r>
            <a:r>
              <a:rPr lang="en-US" altLang="en-US" sz="1800" u="sng">
                <a:latin typeface="Calibri" panose="020F0502020204030204" pitchFamily="34" charset="0"/>
              </a:rPr>
              <a:t>Biostatistics</a:t>
            </a:r>
            <a:r>
              <a:rPr lang="en-US" altLang="en-US" sz="1800">
                <a:latin typeface="Calibri" panose="020F0502020204030204" pitchFamily="34" charset="0"/>
              </a:rPr>
              <a:t> </a:t>
            </a:r>
            <a:r>
              <a:rPr lang="en-US" altLang="en-US" sz="1800" b="1">
                <a:latin typeface="Calibri" panose="020F0502020204030204" pitchFamily="34" charset="0"/>
              </a:rPr>
              <a:t>4</a:t>
            </a:r>
            <a:r>
              <a:rPr lang="en-US" altLang="en-US" sz="1800">
                <a:latin typeface="Calibri" panose="020F0502020204030204" pitchFamily="34" charset="0"/>
              </a:rPr>
              <a:t>(2): 279-295.</a:t>
            </a:r>
            <a:endParaRPr lang="en-GB" altLang="en-US" sz="1800">
              <a:latin typeface="Calibri" panose="020F0502020204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935038" y="228600"/>
            <a:ext cx="6850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800" b="1">
                <a:solidFill>
                  <a:srgbClr val="0033CC"/>
                </a:solidFill>
              </a:rPr>
              <a:t>The end</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57200" y="3127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a:solidFill>
                  <a:srgbClr val="0033CC"/>
                </a:solidFill>
              </a:rPr>
              <a:t>Population simulations </a:t>
            </a:r>
          </a:p>
        </p:txBody>
      </p:sp>
      <p:sp>
        <p:nvSpPr>
          <p:cNvPr id="35843" name="Rectangle 3"/>
          <p:cNvSpPr>
            <a:spLocks noChangeArrowheads="1"/>
          </p:cNvSpPr>
          <p:nvPr/>
        </p:nvSpPr>
        <p:spPr bwMode="auto">
          <a:xfrm>
            <a:off x="0"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5844" name="Rectangle 4"/>
          <p:cNvSpPr>
            <a:spLocks noChangeArrowheads="1"/>
          </p:cNvSpPr>
          <p:nvPr/>
        </p:nvSpPr>
        <p:spPr bwMode="auto">
          <a:xfrm>
            <a:off x="0" y="1690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5845" name="Rectangle 5"/>
          <p:cNvSpPr>
            <a:spLocks noChangeArrowheads="1"/>
          </p:cNvSpPr>
          <p:nvPr/>
        </p:nvSpPr>
        <p:spPr bwMode="auto">
          <a:xfrm>
            <a:off x="328613" y="1206500"/>
            <a:ext cx="835818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a:latin typeface="Calibri" panose="020F0502020204030204" pitchFamily="34" charset="0"/>
              </a:rPr>
              <a:t>Individual based models can be very slow, and computing time increases as </a:t>
            </a:r>
            <a:r>
              <a:rPr lang="en-US" altLang="en-US" sz="2000" i="1">
                <a:latin typeface="Calibri" panose="020F0502020204030204" pitchFamily="34" charset="0"/>
              </a:rPr>
              <a:t>N</a:t>
            </a:r>
            <a:r>
              <a:rPr lang="en-US" altLang="en-US" sz="2000">
                <a:latin typeface="Calibri" panose="020F0502020204030204" pitchFamily="34" charset="0"/>
              </a:rPr>
              <a:t>. </a:t>
            </a:r>
          </a:p>
          <a:p>
            <a:pPr eaLnBrk="1" hangingPunct="1">
              <a:spcBef>
                <a:spcPct val="50000"/>
              </a:spcBef>
              <a:buFontTx/>
              <a:buNone/>
            </a:pPr>
            <a:endParaRPr lang="en-US" altLang="en-US" sz="2000">
              <a:latin typeface="Calibri" panose="020F0502020204030204" pitchFamily="34" charset="0"/>
            </a:endParaRPr>
          </a:p>
          <a:p>
            <a:pPr eaLnBrk="1" hangingPunct="1">
              <a:spcBef>
                <a:spcPct val="50000"/>
              </a:spcBef>
              <a:buFontTx/>
              <a:buNone/>
            </a:pPr>
            <a:r>
              <a:rPr lang="en-US" altLang="en-US" sz="2000">
                <a:latin typeface="Calibri" panose="020F0502020204030204" pitchFamily="34" charset="0"/>
              </a:rPr>
              <a:t>If events are independent, the number of events of type </a:t>
            </a:r>
            <a:r>
              <a:rPr lang="en-US" altLang="en-US" sz="2000" i="1">
                <a:latin typeface="Calibri" panose="020F0502020204030204" pitchFamily="34" charset="0"/>
              </a:rPr>
              <a:t>i</a:t>
            </a:r>
            <a:r>
              <a:rPr lang="en-US" altLang="en-US" sz="2000">
                <a:latin typeface="Calibri" panose="020F0502020204030204" pitchFamily="34" charset="0"/>
              </a:rPr>
              <a:t> in a fixed time, D</a:t>
            </a:r>
            <a:r>
              <a:rPr lang="en-US" altLang="en-US" sz="2000" i="1">
                <a:latin typeface="Calibri" panose="020F0502020204030204" pitchFamily="34" charset="0"/>
              </a:rPr>
              <a:t>t</a:t>
            </a:r>
            <a:r>
              <a:rPr lang="en-US" altLang="en-US" sz="2000">
                <a:latin typeface="Calibri" panose="020F0502020204030204" pitchFamily="34" charset="0"/>
              </a:rPr>
              <a:t>, can be simulated by sampling from a binomial distribution (it can also be simulated by sampling from a Poisson distribution). Hence in a population of size S, the number of events of type </a:t>
            </a:r>
            <a:r>
              <a:rPr lang="en-US" altLang="en-US" sz="2000" i="1">
                <a:latin typeface="Calibri" panose="020F0502020204030204" pitchFamily="34" charset="0"/>
              </a:rPr>
              <a:t>i</a:t>
            </a:r>
            <a:r>
              <a:rPr lang="en-US" altLang="en-US" sz="2000">
                <a:latin typeface="Calibri" panose="020F0502020204030204" pitchFamily="34" charset="0"/>
              </a:rPr>
              <a:t>, is given by</a:t>
            </a:r>
          </a:p>
          <a:p>
            <a:pPr eaLnBrk="1" hangingPunct="1">
              <a:spcBef>
                <a:spcPct val="50000"/>
              </a:spcBef>
              <a:buFontTx/>
              <a:buNone/>
            </a:pPr>
            <a:endParaRPr lang="en-GB" altLang="en-US" sz="2000">
              <a:latin typeface="Calibri" panose="020F0502020204030204" pitchFamily="34" charset="0"/>
            </a:endParaRPr>
          </a:p>
          <a:p>
            <a:pPr eaLnBrk="1" hangingPunct="1">
              <a:spcBef>
                <a:spcPct val="50000"/>
              </a:spcBef>
              <a:buFontTx/>
              <a:buNone/>
            </a:pPr>
            <a:endParaRPr lang="en-US" altLang="en-US" sz="2000">
              <a:latin typeface="Calibri" panose="020F0502020204030204" pitchFamily="34" charset="0"/>
            </a:endParaRPr>
          </a:p>
          <a:p>
            <a:pPr eaLnBrk="1" hangingPunct="1">
              <a:spcBef>
                <a:spcPct val="50000"/>
              </a:spcBef>
              <a:buFontTx/>
              <a:buNone/>
            </a:pPr>
            <a:r>
              <a:rPr lang="en-US" altLang="en-US" sz="2000">
                <a:latin typeface="Calibri" panose="020F0502020204030204" pitchFamily="34" charset="0"/>
              </a:rPr>
              <a:t>When there are multiple events competing with each other, binomial or multinomial approximations perform better than using sampling from several Poisson distributions, and allow more consistent model formulation.</a:t>
            </a:r>
          </a:p>
          <a:p>
            <a:pPr eaLnBrk="1" hangingPunct="1">
              <a:spcBef>
                <a:spcPct val="50000"/>
              </a:spcBef>
              <a:buFontTx/>
              <a:buNone/>
            </a:pPr>
            <a:endParaRPr lang="en-US" altLang="en-US" sz="2000">
              <a:latin typeface="Calibri" panose="020F0502020204030204" pitchFamily="34" charset="0"/>
            </a:endParaRPr>
          </a:p>
        </p:txBody>
      </p:sp>
      <p:graphicFrame>
        <p:nvGraphicFramePr>
          <p:cNvPr id="35846" name="Object 6"/>
          <p:cNvGraphicFramePr>
            <a:graphicFrameLocks noChangeAspect="1"/>
          </p:cNvGraphicFramePr>
          <p:nvPr/>
        </p:nvGraphicFramePr>
        <p:xfrm>
          <a:off x="2511425" y="3678238"/>
          <a:ext cx="3567113" cy="652462"/>
        </p:xfrm>
        <a:graphic>
          <a:graphicData uri="http://schemas.openxmlformats.org/presentationml/2006/ole">
            <mc:AlternateContent xmlns:mc="http://schemas.openxmlformats.org/markup-compatibility/2006">
              <mc:Choice xmlns:v="urn:schemas-microsoft-com:vml" Requires="v">
                <p:oleObj spid="_x0000_s35870" name="Equation" r:id="rId3" imgW="1371600" imgH="254000" progId="Equation.DSMT4">
                  <p:embed/>
                </p:oleObj>
              </mc:Choice>
              <mc:Fallback>
                <p:oleObj name="Equation" r:id="rId3" imgW="1371600" imgH="2540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1425" y="3678238"/>
                        <a:ext cx="3567113" cy="652462"/>
                      </a:xfrm>
                      <a:prstGeom prst="rect">
                        <a:avLst/>
                      </a:prstGeom>
                      <a:noFill/>
                      <a:ln w="25400">
                        <a:solidFill>
                          <a:srgbClr val="800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GB" altLang="en-US" sz="2800"/>
              <a:t>Advanced: Binomial versus Poisson</a:t>
            </a:r>
          </a:p>
        </p:txBody>
      </p:sp>
      <p:sp>
        <p:nvSpPr>
          <p:cNvPr id="44035" name="Rectangle 3"/>
          <p:cNvSpPr>
            <a:spLocks noGrp="1" noChangeArrowheads="1"/>
          </p:cNvSpPr>
          <p:nvPr>
            <p:ph type="body" idx="1"/>
          </p:nvPr>
        </p:nvSpPr>
        <p:spPr>
          <a:xfrm>
            <a:off x="330200" y="1300163"/>
            <a:ext cx="8277225" cy="3803650"/>
          </a:xfrm>
        </p:spPr>
        <p:txBody>
          <a:bodyPr/>
          <a:lstStyle/>
          <a:p>
            <a:pPr eaLnBrk="1" hangingPunct="1">
              <a:lnSpc>
                <a:spcPct val="80000"/>
              </a:lnSpc>
            </a:pPr>
            <a:r>
              <a:rPr lang="en-GB" altLang="en-US" sz="2800">
                <a:latin typeface="Calibri" panose="020F0502020204030204" pitchFamily="34" charset="0"/>
              </a:rPr>
              <a:t>Poisson distribution simulates the number of events that will happen in a small timestep = Poisson(</a:t>
            </a:r>
            <a:r>
              <a:rPr lang="en-GB" altLang="en-US" sz="2800">
                <a:latin typeface="Calibri" panose="020F0502020204030204" pitchFamily="34" charset="0"/>
                <a:sym typeface="Symbol" panose="05050102010706020507" pitchFamily="18" charset="2"/>
              </a:rPr>
              <a:t>tN(t))</a:t>
            </a:r>
            <a:endParaRPr lang="en-GB" altLang="en-US" sz="2800">
              <a:latin typeface="Calibri" panose="020F0502020204030204" pitchFamily="34" charset="0"/>
            </a:endParaRPr>
          </a:p>
          <a:p>
            <a:pPr eaLnBrk="1" hangingPunct="1">
              <a:lnSpc>
                <a:spcPct val="80000"/>
              </a:lnSpc>
            </a:pPr>
            <a:endParaRPr lang="en-GB" altLang="en-US" sz="2800">
              <a:latin typeface="Calibri" panose="020F0502020204030204" pitchFamily="34" charset="0"/>
            </a:endParaRPr>
          </a:p>
          <a:p>
            <a:pPr eaLnBrk="1" hangingPunct="1">
              <a:lnSpc>
                <a:spcPct val="80000"/>
              </a:lnSpc>
            </a:pPr>
            <a:r>
              <a:rPr lang="en-GB" altLang="en-US" sz="2800">
                <a:latin typeface="Calibri" panose="020F0502020204030204" pitchFamily="34" charset="0"/>
              </a:rPr>
              <a:t>Binomial formulation Binomial(</a:t>
            </a:r>
            <a:r>
              <a:rPr lang="en-GB" altLang="en-US" sz="2800">
                <a:latin typeface="Calibri" panose="020F0502020204030204" pitchFamily="34" charset="0"/>
                <a:sym typeface="Symbol" panose="05050102010706020507" pitchFamily="18" charset="2"/>
              </a:rPr>
              <a:t>t,N(t)) says there are N(t) tries, each with </a:t>
            </a:r>
            <a:r>
              <a:rPr lang="en-GB" altLang="en-US" sz="2800">
                <a:solidFill>
                  <a:srgbClr val="FF0000"/>
                </a:solidFill>
                <a:latin typeface="Calibri" panose="020F0502020204030204" pitchFamily="34" charset="0"/>
                <a:sym typeface="Symbol" panose="05050102010706020507" pitchFamily="18" charset="2"/>
              </a:rPr>
              <a:t>probability</a:t>
            </a:r>
            <a:r>
              <a:rPr lang="en-GB" altLang="en-US" sz="2800">
                <a:latin typeface="Calibri" panose="020F0502020204030204" pitchFamily="34" charset="0"/>
                <a:sym typeface="Symbol" panose="05050102010706020507" pitchFamily="18" charset="2"/>
              </a:rPr>
              <a:t> of success approximated by t, how many are successful?</a:t>
            </a:r>
          </a:p>
          <a:p>
            <a:pPr lvl="1" eaLnBrk="1" hangingPunct="1">
              <a:lnSpc>
                <a:spcPct val="80000"/>
              </a:lnSpc>
            </a:pPr>
            <a:r>
              <a:rPr lang="en-GB" altLang="en-US" sz="2400">
                <a:latin typeface="Calibri" panose="020F0502020204030204" pitchFamily="34" charset="0"/>
                <a:sym typeface="Symbol" panose="05050102010706020507" pitchFamily="18" charset="2"/>
              </a:rPr>
              <a:t>Can’t have more events than there are people</a:t>
            </a:r>
          </a:p>
          <a:p>
            <a:pPr lvl="1" eaLnBrk="1" hangingPunct="1">
              <a:lnSpc>
                <a:spcPct val="80000"/>
              </a:lnSpc>
            </a:pPr>
            <a:r>
              <a:rPr lang="en-GB" altLang="en-US" sz="2400">
                <a:latin typeface="Calibri" panose="020F0502020204030204" pitchFamily="34" charset="0"/>
                <a:sym typeface="Symbol" panose="05050102010706020507" pitchFamily="18" charset="2"/>
              </a:rPr>
              <a:t>For small timesteps won’t matter, since there won’t be many events</a:t>
            </a:r>
          </a:p>
          <a:p>
            <a:pPr lvl="1" eaLnBrk="1" hangingPunct="1">
              <a:lnSpc>
                <a:spcPct val="80000"/>
              </a:lnSpc>
            </a:pPr>
            <a:r>
              <a:rPr lang="en-GB" altLang="en-US" sz="2400">
                <a:latin typeface="Calibri" panose="020F0502020204030204" pitchFamily="34" charset="0"/>
                <a:sym typeface="Symbol" panose="05050102010706020507" pitchFamily="18" charset="2"/>
              </a:rPr>
              <a:t>Have to calculate multinomials when there are multiple competing hazards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GB" altLang="en-US" sz="2800"/>
              <a:t>Advanced: Synchronous versus asynchronous</a:t>
            </a:r>
          </a:p>
        </p:txBody>
      </p:sp>
      <p:sp>
        <p:nvSpPr>
          <p:cNvPr id="45059" name="Rectangle 3"/>
          <p:cNvSpPr>
            <a:spLocks noGrp="1" noChangeArrowheads="1"/>
          </p:cNvSpPr>
          <p:nvPr>
            <p:ph type="body" idx="1"/>
          </p:nvPr>
        </p:nvSpPr>
        <p:spPr>
          <a:xfrm>
            <a:off x="314325" y="1255713"/>
            <a:ext cx="8358188" cy="2792412"/>
          </a:xfrm>
        </p:spPr>
        <p:txBody>
          <a:bodyPr/>
          <a:lstStyle/>
          <a:p>
            <a:pPr eaLnBrk="1" hangingPunct="1">
              <a:lnSpc>
                <a:spcPct val="80000"/>
              </a:lnSpc>
            </a:pPr>
            <a:r>
              <a:rPr lang="en-GB" altLang="en-US" sz="2400" i="1">
                <a:latin typeface="Calibri" panose="020F0502020204030204" pitchFamily="34" charset="0"/>
              </a:rPr>
              <a:t>Synchronous:</a:t>
            </a:r>
            <a:r>
              <a:rPr lang="en-GB" altLang="en-US" sz="2400">
                <a:latin typeface="Calibri" panose="020F0502020204030204" pitchFamily="34" charset="0"/>
              </a:rPr>
              <a:t> at each timestep simulate all the events that could have occurred. </a:t>
            </a:r>
          </a:p>
          <a:p>
            <a:pPr eaLnBrk="1" hangingPunct="1">
              <a:lnSpc>
                <a:spcPct val="80000"/>
              </a:lnSpc>
            </a:pPr>
            <a:endParaRPr lang="en-GB" altLang="en-US" sz="2400">
              <a:latin typeface="Calibri" panose="020F0502020204030204" pitchFamily="34" charset="0"/>
            </a:endParaRPr>
          </a:p>
          <a:p>
            <a:pPr eaLnBrk="1" hangingPunct="1">
              <a:lnSpc>
                <a:spcPct val="80000"/>
              </a:lnSpc>
            </a:pPr>
            <a:r>
              <a:rPr lang="en-GB" altLang="en-US" sz="2400" i="1">
                <a:latin typeface="Calibri" panose="020F0502020204030204" pitchFamily="34" charset="0"/>
              </a:rPr>
              <a:t>Asynchronous</a:t>
            </a:r>
            <a:r>
              <a:rPr lang="en-GB" altLang="en-US" sz="2400">
                <a:latin typeface="Calibri" panose="020F0502020204030204" pitchFamily="34" charset="0"/>
              </a:rPr>
              <a:t>: simulate when the next event is, and move forward to that time point, </a:t>
            </a:r>
          </a:p>
          <a:p>
            <a:pPr eaLnBrk="1" hangingPunct="1">
              <a:lnSpc>
                <a:spcPct val="80000"/>
              </a:lnSpc>
            </a:pPr>
            <a:endParaRPr lang="en-GB" altLang="en-US" sz="2400">
              <a:latin typeface="Calibri" panose="020F0502020204030204" pitchFamily="34" charset="0"/>
            </a:endParaRPr>
          </a:p>
          <a:p>
            <a:pPr eaLnBrk="1" hangingPunct="1">
              <a:lnSpc>
                <a:spcPct val="80000"/>
              </a:lnSpc>
            </a:pPr>
            <a:r>
              <a:rPr lang="en-GB" altLang="en-US" sz="2400">
                <a:latin typeface="Calibri" panose="020F0502020204030204" pitchFamily="34" charset="0"/>
              </a:rPr>
              <a:t>If there are many possible events each with a low probability of occurring, particularly in individual based simulations, its may be more efficient to have an asynchronous model</a:t>
            </a:r>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18299</TotalTime>
  <Words>2593</Words>
  <Application>Microsoft Office PowerPoint</Application>
  <PresentationFormat>On-screen Show (4:3)</PresentationFormat>
  <Paragraphs>324</Paragraphs>
  <Slides>46</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46</vt:i4>
      </vt:variant>
    </vt:vector>
  </HeadingPairs>
  <TitlesOfParts>
    <vt:vector size="56" baseType="lpstr">
      <vt:lpstr>Arial</vt:lpstr>
      <vt:lpstr>Calibri</vt:lpstr>
      <vt:lpstr>Symbol</vt:lpstr>
      <vt:lpstr>Times New Roman</vt:lpstr>
      <vt:lpstr>Wingdings</vt:lpstr>
      <vt:lpstr>Custom Design</vt:lpstr>
      <vt:lpstr>Equation</vt:lpstr>
      <vt:lpstr>Worksheet</vt:lpstr>
      <vt:lpstr>Chart</vt:lpstr>
      <vt:lpstr>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Population size and stochasticity</vt:lpstr>
      <vt:lpstr>PowerPoint Presentation</vt:lpstr>
      <vt:lpstr>Measles dynamics</vt:lpstr>
      <vt:lpstr>PowerPoint Presentation</vt:lpstr>
      <vt:lpstr>Effect of stochasticity</vt:lpstr>
      <vt:lpstr>Effect of stochasticity on SEIR dynamics</vt:lpstr>
      <vt:lpstr>Critical community size</vt:lpstr>
      <vt:lpstr>Modelling measles persistence</vt:lpstr>
      <vt:lpstr>Persistence</vt:lpstr>
      <vt:lpstr>PowerPoint Presentation</vt:lpstr>
      <vt:lpstr>PowerPoint Presentation</vt:lpstr>
      <vt:lpstr>PowerPoint Presentation</vt:lpstr>
      <vt:lpstr>PowerPoint Presentation</vt:lpstr>
      <vt:lpstr>Critical community size</vt:lpstr>
      <vt:lpstr>PowerPoint Presentation</vt:lpstr>
      <vt:lpstr>PowerPoint Presentation</vt:lpstr>
      <vt:lpstr>PowerPoint Presentation</vt:lpstr>
      <vt:lpstr>PowerPoint Presentation</vt:lpstr>
      <vt:lpstr>PowerPoint Presentation</vt:lpstr>
      <vt:lpstr>Formulating a stochastic model</vt:lpstr>
      <vt:lpstr>Formulations of a stochastic model</vt:lpstr>
      <vt:lpstr>Hazard</vt:lpstr>
      <vt:lpstr>Hazard</vt:lpstr>
      <vt:lpstr>Competing hazards</vt:lpstr>
      <vt:lpstr>Competing hazards</vt:lpstr>
      <vt:lpstr>PowerPoint Presentation</vt:lpstr>
      <vt:lpstr>PowerPoint Presentation</vt:lpstr>
      <vt:lpstr>PowerPoint Presentation</vt:lpstr>
      <vt:lpstr>PowerPoint Presentation</vt:lpstr>
      <vt:lpstr>SEIR model</vt:lpstr>
      <vt:lpstr>SEIR model</vt:lpstr>
      <vt:lpstr>SEIR model</vt:lpstr>
      <vt:lpstr>SEIR model</vt:lpstr>
      <vt:lpstr>PowerPoint Presentation</vt:lpstr>
      <vt:lpstr>PowerPoint Presentation</vt:lpstr>
      <vt:lpstr>PowerPoint Presentation</vt:lpstr>
      <vt:lpstr>PowerPoint Presentation</vt:lpstr>
      <vt:lpstr>Advanced: Binomial versus Poisson</vt:lpstr>
      <vt:lpstr>Advanced: Synchronous versus asynchronous</vt:lpstr>
    </vt:vector>
  </TitlesOfParts>
  <Company>Imperial College Faculty of Medicine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Stochastic models</dc:title>
  <dc:creator>Neil Ferguson, Deirdre Hollingsworth</dc:creator>
  <cp:lastModifiedBy>SPH Teaching</cp:lastModifiedBy>
  <cp:revision>338</cp:revision>
  <dcterms:created xsi:type="dcterms:W3CDTF">2001-03-21T10:54:00Z</dcterms:created>
  <dcterms:modified xsi:type="dcterms:W3CDTF">2018-11-15T16:57:05Z</dcterms:modified>
</cp:coreProperties>
</file>