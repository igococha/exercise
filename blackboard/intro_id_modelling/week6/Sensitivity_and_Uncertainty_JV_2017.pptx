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56"/>
  </p:notesMasterIdLst>
  <p:handoutMasterIdLst>
    <p:handoutMasterId r:id="rId57"/>
  </p:handoutMasterIdLst>
  <p:sldIdLst>
    <p:sldId id="428" r:id="rId2"/>
    <p:sldId id="497" r:id="rId3"/>
    <p:sldId id="498" r:id="rId4"/>
    <p:sldId id="499" r:id="rId5"/>
    <p:sldId id="500" r:id="rId6"/>
    <p:sldId id="501" r:id="rId7"/>
    <p:sldId id="540" r:id="rId8"/>
    <p:sldId id="502" r:id="rId9"/>
    <p:sldId id="503" r:id="rId10"/>
    <p:sldId id="504" r:id="rId11"/>
    <p:sldId id="539" r:id="rId12"/>
    <p:sldId id="505" r:id="rId13"/>
    <p:sldId id="506" r:id="rId14"/>
    <p:sldId id="507" r:id="rId15"/>
    <p:sldId id="508" r:id="rId16"/>
    <p:sldId id="509" r:id="rId17"/>
    <p:sldId id="510" r:id="rId18"/>
    <p:sldId id="511" r:id="rId19"/>
    <p:sldId id="512" r:id="rId20"/>
    <p:sldId id="513" r:id="rId21"/>
    <p:sldId id="519" r:id="rId22"/>
    <p:sldId id="521" r:id="rId23"/>
    <p:sldId id="526" r:id="rId24"/>
    <p:sldId id="556" r:id="rId25"/>
    <p:sldId id="522" r:id="rId26"/>
    <p:sldId id="523" r:id="rId27"/>
    <p:sldId id="520" r:id="rId28"/>
    <p:sldId id="557" r:id="rId29"/>
    <p:sldId id="553" r:id="rId30"/>
    <p:sldId id="554" r:id="rId31"/>
    <p:sldId id="555" r:id="rId32"/>
    <p:sldId id="527" r:id="rId33"/>
    <p:sldId id="528" r:id="rId34"/>
    <p:sldId id="534" r:id="rId35"/>
    <p:sldId id="529" r:id="rId36"/>
    <p:sldId id="530" r:id="rId37"/>
    <p:sldId id="531" r:id="rId38"/>
    <p:sldId id="538" r:id="rId39"/>
    <p:sldId id="535" r:id="rId40"/>
    <p:sldId id="536" r:id="rId41"/>
    <p:sldId id="537" r:id="rId42"/>
    <p:sldId id="532" r:id="rId43"/>
    <p:sldId id="558" r:id="rId44"/>
    <p:sldId id="541" r:id="rId45"/>
    <p:sldId id="549" r:id="rId46"/>
    <p:sldId id="551" r:id="rId47"/>
    <p:sldId id="550" r:id="rId48"/>
    <p:sldId id="552" r:id="rId49"/>
    <p:sldId id="543" r:id="rId50"/>
    <p:sldId id="544" r:id="rId51"/>
    <p:sldId id="545" r:id="rId52"/>
    <p:sldId id="546" r:id="rId53"/>
    <p:sldId id="547" r:id="rId54"/>
    <p:sldId id="548" r:id="rId55"/>
  </p:sldIdLst>
  <p:sldSz cx="9144000" cy="6858000" type="screen4x3"/>
  <p:notesSz cx="6794500" cy="9906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33CC33"/>
    <a:srgbClr val="000000"/>
    <a:srgbClr val="DDDDDD"/>
    <a:srgbClr val="006600"/>
    <a:srgbClr val="99CCFF"/>
    <a:srgbClr val="00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9" autoAdjust="0"/>
    <p:restoredTop sz="93011" autoAdjust="0"/>
  </p:normalViewPr>
  <p:slideViewPr>
    <p:cSldViewPr snapToGrid="0">
      <p:cViewPr varScale="1">
        <p:scale>
          <a:sx n="102" d="100"/>
          <a:sy n="102" d="100"/>
        </p:scale>
        <p:origin x="17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4" Type="http://schemas.openxmlformats.org/officeDocument/2006/relationships/image" Target="../media/image8.wmf"/><Relationship Id="rId1" Type="http://schemas.openxmlformats.org/officeDocument/2006/relationships/image" Target="../media/image5.wmf"/><Relationship Id="rId2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4" Type="http://schemas.openxmlformats.org/officeDocument/2006/relationships/image" Target="../media/image17.wmf"/><Relationship Id="rId5" Type="http://schemas.openxmlformats.org/officeDocument/2006/relationships/image" Target="../media/image18.wmf"/><Relationship Id="rId6" Type="http://schemas.openxmlformats.org/officeDocument/2006/relationships/image" Target="../media/image19.wmf"/><Relationship Id="rId1" Type="http://schemas.openxmlformats.org/officeDocument/2006/relationships/image" Target="../media/image14.wmf"/><Relationship Id="rId2" Type="http://schemas.openxmlformats.org/officeDocument/2006/relationships/image" Target="../media/image1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4" Type="http://schemas.openxmlformats.org/officeDocument/2006/relationships/image" Target="../media/image23.wmf"/><Relationship Id="rId5" Type="http://schemas.openxmlformats.org/officeDocument/2006/relationships/image" Target="../media/image24.wmf"/><Relationship Id="rId6" Type="http://schemas.openxmlformats.org/officeDocument/2006/relationships/image" Target="../media/image19.wmf"/><Relationship Id="rId1" Type="http://schemas.openxmlformats.org/officeDocument/2006/relationships/image" Target="../media/image16.wmf"/><Relationship Id="rId2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Relationship Id="rId2" Type="http://schemas.openxmlformats.org/officeDocument/2006/relationships/image" Target="../media/image2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Relationship Id="rId2" Type="http://schemas.openxmlformats.org/officeDocument/2006/relationships/image" Target="../media/image2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Relationship Id="rId2" Type="http://schemas.openxmlformats.org/officeDocument/2006/relationships/image" Target="../media/image3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Relationship Id="rId2" Type="http://schemas.openxmlformats.org/officeDocument/2006/relationships/image" Target="../media/image37.wmf"/><Relationship Id="rId3" Type="http://schemas.openxmlformats.org/officeDocument/2006/relationships/image" Target="../media/image3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Relationship Id="rId2" Type="http://schemas.openxmlformats.org/officeDocument/2006/relationships/image" Target="../media/image4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Relationship Id="rId2" Type="http://schemas.openxmlformats.org/officeDocument/2006/relationships/image" Target="../media/image42.wmf"/><Relationship Id="rId3" Type="http://schemas.openxmlformats.org/officeDocument/2006/relationships/image" Target="../media/image4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4" Type="http://schemas.openxmlformats.org/officeDocument/2006/relationships/image" Target="../media/image48.wmf"/><Relationship Id="rId1" Type="http://schemas.openxmlformats.org/officeDocument/2006/relationships/image" Target="../media/image44.wmf"/><Relationship Id="rId2" Type="http://schemas.openxmlformats.org/officeDocument/2006/relationships/image" Target="../media/image46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Relationship Id="rId2" Type="http://schemas.openxmlformats.org/officeDocument/2006/relationships/image" Target="../media/image52.wmf"/><Relationship Id="rId3" Type="http://schemas.openxmlformats.org/officeDocument/2006/relationships/image" Target="../media/image4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Relationship Id="rId2" Type="http://schemas.openxmlformats.org/officeDocument/2006/relationships/image" Target="../media/image61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Relationship Id="rId2" Type="http://schemas.openxmlformats.org/officeDocument/2006/relationships/image" Target="../media/image61.wmf"/><Relationship Id="rId3" Type="http://schemas.openxmlformats.org/officeDocument/2006/relationships/image" Target="../media/image6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4" Type="http://schemas.openxmlformats.org/officeDocument/2006/relationships/image" Target="../media/image63.wmf"/><Relationship Id="rId1" Type="http://schemas.openxmlformats.org/officeDocument/2006/relationships/image" Target="../media/image60.wmf"/><Relationship Id="rId2" Type="http://schemas.openxmlformats.org/officeDocument/2006/relationships/image" Target="../media/image6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3" tIns="47712" rIns="95423" bIns="47712" numCol="1" anchor="t" anchorCtr="0" compatLnSpc="1">
            <a:prstTxWarp prst="textNoShape">
              <a:avLst/>
            </a:prstTxWarp>
          </a:bodyPr>
          <a:lstStyle>
            <a:lvl1pPr defTabSz="9540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32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3" tIns="47712" rIns="95423" bIns="47712" numCol="1" anchor="t" anchorCtr="0" compatLnSpc="1">
            <a:prstTxWarp prst="textNoShape">
              <a:avLst/>
            </a:prstTxWarp>
          </a:bodyPr>
          <a:lstStyle>
            <a:lvl1pPr algn="r" defTabSz="9540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3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9432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3" tIns="47712" rIns="95423" bIns="47712" numCol="1" anchor="b" anchorCtr="0" compatLnSpc="1">
            <a:prstTxWarp prst="textNoShape">
              <a:avLst/>
            </a:prstTxWarp>
          </a:bodyPr>
          <a:lstStyle>
            <a:lvl1pPr defTabSz="9540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3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09113"/>
            <a:ext cx="29432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3" tIns="47712" rIns="95423" bIns="47712" numCol="1" anchor="b" anchorCtr="0" compatLnSpc="1">
            <a:prstTxWarp prst="textNoShape">
              <a:avLst/>
            </a:prstTxWarp>
          </a:bodyPr>
          <a:lstStyle>
            <a:lvl1pPr algn="r" defTabSz="954088">
              <a:defRPr sz="1300">
                <a:latin typeface="Times New Roman" panose="02020603050405020304" pitchFamily="18" charset="0"/>
              </a:defRPr>
            </a:lvl1pPr>
          </a:lstStyle>
          <a:p>
            <a:fld id="{29CDAA0C-DBD6-4A0E-B74D-66093253ED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57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64" tIns="44632" rIns="89264" bIns="44632" numCol="1" anchor="t" anchorCtr="0" compatLnSpc="1">
            <a:prstTxWarp prst="textNoShape">
              <a:avLst/>
            </a:prstTxWarp>
          </a:bodyPr>
          <a:lstStyle>
            <a:lvl1pPr defTabSz="8921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32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64" tIns="44632" rIns="89264" bIns="44632" numCol="1" anchor="t" anchorCtr="0" compatLnSpc="1">
            <a:prstTxWarp prst="textNoShape">
              <a:avLst/>
            </a:prstTxWarp>
          </a:bodyPr>
          <a:lstStyle>
            <a:lvl1pPr algn="r" defTabSz="8921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05350"/>
            <a:ext cx="54356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64" tIns="44632" rIns="89264" bIns="446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68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9113"/>
            <a:ext cx="29432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64" tIns="44632" rIns="89264" bIns="44632" numCol="1" anchor="b" anchorCtr="0" compatLnSpc="1">
            <a:prstTxWarp prst="textNoShape">
              <a:avLst/>
            </a:prstTxWarp>
          </a:bodyPr>
          <a:lstStyle>
            <a:lvl1pPr defTabSz="8921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68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09113"/>
            <a:ext cx="29432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64" tIns="44632" rIns="89264" bIns="44632" numCol="1" anchor="b" anchorCtr="0" compatLnSpc="1">
            <a:prstTxWarp prst="textNoShape">
              <a:avLst/>
            </a:prstTxWarp>
          </a:bodyPr>
          <a:lstStyle>
            <a:lvl1pPr algn="r" defTabSz="892175">
              <a:defRPr sz="1200">
                <a:latin typeface="Times New Roman" panose="02020603050405020304" pitchFamily="18" charset="0"/>
              </a:defRPr>
            </a:lvl1pPr>
          </a:lstStyle>
          <a:p>
            <a:fld id="{EC185636-4F6C-4443-B128-A1605B4D287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2593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A8E35-0C01-4DAA-98E8-1B30B8D85BD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663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53616-88FF-465D-A509-24C145D24CB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5122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CDAC44-8E62-4EC6-8DC0-D3E83F6B25F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1245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06F93-74FA-4032-AA0C-9656591F9E3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14668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16B210-7085-42E5-9CF1-9E20D984234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37792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A6E1D8-830F-4DE8-826E-90C08506D8C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610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4F6598-3F0B-49B4-91DC-96F5A10DEFF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7358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E2982C-1065-4A05-8967-5665792C294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09825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C8DBD-A15D-491A-ADA0-B21E6E29CAA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6134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EF22A2-D5D7-465D-9536-267F0B43C07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6993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C50DE-DD29-42DB-B630-EF5428C777F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2383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3B9246-1812-47A9-AD51-4BA74F3401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5256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A18AF8-C4D5-45AE-9C5B-40B8C28EE7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866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781C49-7081-4520-9D53-EF566191A8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686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405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55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55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BF019480-3374-4A0F-A0E1-2191E41E946F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325438" y="1141413"/>
            <a:ext cx="8364537" cy="0"/>
          </a:xfrm>
          <a:prstGeom prst="line">
            <a:avLst/>
          </a:prstGeom>
          <a:noFill/>
          <a:ln w="57150" cmpd="thinThick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95250"/>
            <a:ext cx="16922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Relationship Id="rId5" Type="http://schemas.openxmlformats.org/officeDocument/2006/relationships/image" Target="../media/image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4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6.wmf"/><Relationship Id="rId7" Type="http://schemas.openxmlformats.org/officeDocument/2006/relationships/oleObject" Target="../embeddings/oleObject5.bin"/><Relationship Id="rId8" Type="http://schemas.openxmlformats.org/officeDocument/2006/relationships/image" Target="../media/image7.wmf"/><Relationship Id="rId9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9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5" Type="http://schemas.openxmlformats.org/officeDocument/2006/relationships/image" Target="../media/image10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9.wmf"/><Relationship Id="rId5" Type="http://schemas.openxmlformats.org/officeDocument/2006/relationships/image" Target="../media/image11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9.wmf"/><Relationship Id="rId5" Type="http://schemas.openxmlformats.org/officeDocument/2006/relationships/image" Target="../media/image12.png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4" Type="http://schemas.openxmlformats.org/officeDocument/2006/relationships/image" Target="../media/image13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4" Type="http://schemas.openxmlformats.org/officeDocument/2006/relationships/image" Target="../media/image13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4" Type="http://schemas.openxmlformats.org/officeDocument/2006/relationships/image" Target="../media/image13.w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7.wmf"/><Relationship Id="rId13" Type="http://schemas.openxmlformats.org/officeDocument/2006/relationships/oleObject" Target="../embeddings/oleObject18.bin"/><Relationship Id="rId14" Type="http://schemas.openxmlformats.org/officeDocument/2006/relationships/image" Target="../media/image18.wmf"/><Relationship Id="rId15" Type="http://schemas.openxmlformats.org/officeDocument/2006/relationships/oleObject" Target="../embeddings/oleObject19.bin"/><Relationship Id="rId16" Type="http://schemas.openxmlformats.org/officeDocument/2006/relationships/image" Target="../media/image19.w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0.emf"/><Relationship Id="rId4" Type="http://schemas.openxmlformats.org/officeDocument/2006/relationships/image" Target="../media/image21.emf"/><Relationship Id="rId5" Type="http://schemas.openxmlformats.org/officeDocument/2006/relationships/oleObject" Target="../embeddings/oleObject14.bin"/><Relationship Id="rId6" Type="http://schemas.openxmlformats.org/officeDocument/2006/relationships/image" Target="../media/image14.wmf"/><Relationship Id="rId7" Type="http://schemas.openxmlformats.org/officeDocument/2006/relationships/oleObject" Target="../embeddings/oleObject15.bin"/><Relationship Id="rId8" Type="http://schemas.openxmlformats.org/officeDocument/2006/relationships/image" Target="../media/image15.wmf"/><Relationship Id="rId9" Type="http://schemas.openxmlformats.org/officeDocument/2006/relationships/oleObject" Target="../embeddings/oleObject16.bin"/><Relationship Id="rId10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23.bin"/><Relationship Id="rId12" Type="http://schemas.openxmlformats.org/officeDocument/2006/relationships/image" Target="../media/image23.wmf"/><Relationship Id="rId13" Type="http://schemas.openxmlformats.org/officeDocument/2006/relationships/oleObject" Target="../embeddings/oleObject24.bin"/><Relationship Id="rId14" Type="http://schemas.openxmlformats.org/officeDocument/2006/relationships/image" Target="../media/image24.wmf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9.w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0.emf"/><Relationship Id="rId4" Type="http://schemas.openxmlformats.org/officeDocument/2006/relationships/image" Target="../media/image21.emf"/><Relationship Id="rId5" Type="http://schemas.openxmlformats.org/officeDocument/2006/relationships/oleObject" Target="../embeddings/oleObject20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21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22.bin"/><Relationship Id="rId10" Type="http://schemas.openxmlformats.org/officeDocument/2006/relationships/image" Target="../media/image2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4" Type="http://schemas.openxmlformats.org/officeDocument/2006/relationships/image" Target="../media/image25.wmf"/><Relationship Id="rId5" Type="http://schemas.openxmlformats.org/officeDocument/2006/relationships/oleObject" Target="../embeddings/oleObject27.bin"/><Relationship Id="rId6" Type="http://schemas.openxmlformats.org/officeDocument/2006/relationships/image" Target="../media/image26.wmf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4" Type="http://schemas.openxmlformats.org/officeDocument/2006/relationships/image" Target="../media/image27.wmf"/><Relationship Id="rId5" Type="http://schemas.openxmlformats.org/officeDocument/2006/relationships/image" Target="../media/image29.emf"/><Relationship Id="rId6" Type="http://schemas.openxmlformats.org/officeDocument/2006/relationships/image" Target="../media/image30.emf"/><Relationship Id="rId7" Type="http://schemas.openxmlformats.org/officeDocument/2006/relationships/oleObject" Target="../embeddings/oleObject29.bin"/><Relationship Id="rId8" Type="http://schemas.openxmlformats.org/officeDocument/2006/relationships/image" Target="../media/image28.w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1.emf"/><Relationship Id="rId3" Type="http://schemas.openxmlformats.org/officeDocument/2006/relationships/image" Target="../media/image3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4" Type="http://schemas.openxmlformats.org/officeDocument/2006/relationships/image" Target="../media/image33.wmf"/><Relationship Id="rId5" Type="http://schemas.openxmlformats.org/officeDocument/2006/relationships/oleObject" Target="../embeddings/oleObject31.bin"/><Relationship Id="rId6" Type="http://schemas.openxmlformats.org/officeDocument/2006/relationships/image" Target="../media/image34.wmf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4" Type="http://schemas.openxmlformats.org/officeDocument/2006/relationships/image" Target="../media/image36.wmf"/><Relationship Id="rId5" Type="http://schemas.openxmlformats.org/officeDocument/2006/relationships/oleObject" Target="../embeddings/oleObject33.bin"/><Relationship Id="rId6" Type="http://schemas.openxmlformats.org/officeDocument/2006/relationships/image" Target="../media/image37.wmf"/><Relationship Id="rId7" Type="http://schemas.openxmlformats.org/officeDocument/2006/relationships/oleObject" Target="../embeddings/oleObject34.bin"/><Relationship Id="rId8" Type="http://schemas.openxmlformats.org/officeDocument/2006/relationships/image" Target="../media/image38.wmf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4" Type="http://schemas.openxmlformats.org/officeDocument/2006/relationships/image" Target="../media/image39.wmf"/><Relationship Id="rId5" Type="http://schemas.openxmlformats.org/officeDocument/2006/relationships/oleObject" Target="../embeddings/oleObject36.bin"/><Relationship Id="rId6" Type="http://schemas.openxmlformats.org/officeDocument/2006/relationships/image" Target="../media/image40.wmf"/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4" Type="http://schemas.openxmlformats.org/officeDocument/2006/relationships/image" Target="../media/image41.wmf"/><Relationship Id="rId5" Type="http://schemas.openxmlformats.org/officeDocument/2006/relationships/oleObject" Target="../embeddings/oleObject38.bin"/><Relationship Id="rId6" Type="http://schemas.openxmlformats.org/officeDocument/2006/relationships/image" Target="../media/image42.wmf"/><Relationship Id="rId7" Type="http://schemas.openxmlformats.org/officeDocument/2006/relationships/oleObject" Target="../embeddings/oleObject39.bin"/><Relationship Id="rId8" Type="http://schemas.openxmlformats.org/officeDocument/2006/relationships/image" Target="../media/image43.wmf"/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4" Type="http://schemas.openxmlformats.org/officeDocument/2006/relationships/image" Target="../media/image44.wmf"/><Relationship Id="rId5" Type="http://schemas.openxmlformats.org/officeDocument/2006/relationships/image" Target="../media/image45.wmf"/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44.bin"/><Relationship Id="rId12" Type="http://schemas.openxmlformats.org/officeDocument/2006/relationships/oleObject" Target="../embeddings/oleObject45.bin"/><Relationship Id="rId13" Type="http://schemas.openxmlformats.org/officeDocument/2006/relationships/image" Target="../media/image48.wmf"/><Relationship Id="rId1" Type="http://schemas.openxmlformats.org/officeDocument/2006/relationships/vmlDrawing" Target="../drawings/vmlDrawing20.vml"/><Relationship Id="rId2" Type="http://schemas.openxmlformats.org/officeDocument/2006/relationships/slideLayout" Target="../slideLayouts/slideLayout13.xml"/><Relationship Id="rId3" Type="http://schemas.openxmlformats.org/officeDocument/2006/relationships/oleObject" Target="../embeddings/oleObject41.bin"/><Relationship Id="rId4" Type="http://schemas.openxmlformats.org/officeDocument/2006/relationships/image" Target="../media/image44.wmf"/><Relationship Id="rId5" Type="http://schemas.openxmlformats.org/officeDocument/2006/relationships/image" Target="../media/image49.wmf"/><Relationship Id="rId6" Type="http://schemas.openxmlformats.org/officeDocument/2006/relationships/oleObject" Target="../embeddings/oleObject42.bin"/><Relationship Id="rId7" Type="http://schemas.openxmlformats.org/officeDocument/2006/relationships/image" Target="../media/image46.wmf"/><Relationship Id="rId8" Type="http://schemas.openxmlformats.org/officeDocument/2006/relationships/image" Target="../media/image50.wmf"/><Relationship Id="rId9" Type="http://schemas.openxmlformats.org/officeDocument/2006/relationships/oleObject" Target="../embeddings/oleObject43.bin"/><Relationship Id="rId10" Type="http://schemas.openxmlformats.org/officeDocument/2006/relationships/image" Target="../media/image47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4" Type="http://schemas.openxmlformats.org/officeDocument/2006/relationships/oleObject" Target="../embeddings/oleObject46.bin"/><Relationship Id="rId5" Type="http://schemas.openxmlformats.org/officeDocument/2006/relationships/image" Target="../media/image51.wmf"/><Relationship Id="rId6" Type="http://schemas.openxmlformats.org/officeDocument/2006/relationships/oleObject" Target="../embeddings/oleObject47.bin"/><Relationship Id="rId7" Type="http://schemas.openxmlformats.org/officeDocument/2006/relationships/image" Target="../media/image52.wmf"/><Relationship Id="rId8" Type="http://schemas.openxmlformats.org/officeDocument/2006/relationships/oleObject" Target="../embeddings/oleObject48.bin"/><Relationship Id="rId9" Type="http://schemas.openxmlformats.org/officeDocument/2006/relationships/image" Target="../media/image44.wmf"/><Relationship Id="rId1" Type="http://schemas.openxmlformats.org/officeDocument/2006/relationships/vmlDrawing" Target="../drawings/vmlDrawing21.vml"/><Relationship Id="rId2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4" Type="http://schemas.openxmlformats.org/officeDocument/2006/relationships/image" Target="../media/image54.wmf"/><Relationship Id="rId1" Type="http://schemas.openxmlformats.org/officeDocument/2006/relationships/vmlDrawing" Target="../drawings/vmlDrawing22.vml"/><Relationship Id="rId2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9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4" Type="http://schemas.openxmlformats.org/officeDocument/2006/relationships/image" Target="../media/image60.wmf"/><Relationship Id="rId5" Type="http://schemas.openxmlformats.org/officeDocument/2006/relationships/oleObject" Target="../embeddings/oleObject51.bin"/><Relationship Id="rId6" Type="http://schemas.openxmlformats.org/officeDocument/2006/relationships/image" Target="../media/image61.wmf"/><Relationship Id="rId1" Type="http://schemas.openxmlformats.org/officeDocument/2006/relationships/vmlDrawing" Target="../drawings/vmlDrawing23.vml"/><Relationship Id="rId2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4" Type="http://schemas.openxmlformats.org/officeDocument/2006/relationships/image" Target="../media/image60.wmf"/><Relationship Id="rId5" Type="http://schemas.openxmlformats.org/officeDocument/2006/relationships/oleObject" Target="../embeddings/oleObject53.bin"/><Relationship Id="rId6" Type="http://schemas.openxmlformats.org/officeDocument/2006/relationships/image" Target="../media/image61.wmf"/><Relationship Id="rId7" Type="http://schemas.openxmlformats.org/officeDocument/2006/relationships/oleObject" Target="../embeddings/oleObject54.bin"/><Relationship Id="rId8" Type="http://schemas.openxmlformats.org/officeDocument/2006/relationships/image" Target="../media/image62.wmf"/><Relationship Id="rId1" Type="http://schemas.openxmlformats.org/officeDocument/2006/relationships/vmlDrawing" Target="../drawings/vmlDrawing24.vml"/><Relationship Id="rId2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4" Type="http://schemas.openxmlformats.org/officeDocument/2006/relationships/image" Target="../media/image60.wmf"/><Relationship Id="rId5" Type="http://schemas.openxmlformats.org/officeDocument/2006/relationships/oleObject" Target="../embeddings/oleObject56.bin"/><Relationship Id="rId6" Type="http://schemas.openxmlformats.org/officeDocument/2006/relationships/image" Target="../media/image61.wmf"/><Relationship Id="rId7" Type="http://schemas.openxmlformats.org/officeDocument/2006/relationships/oleObject" Target="../embeddings/oleObject57.bin"/><Relationship Id="rId8" Type="http://schemas.openxmlformats.org/officeDocument/2006/relationships/image" Target="../media/image62.wmf"/><Relationship Id="rId9" Type="http://schemas.openxmlformats.org/officeDocument/2006/relationships/oleObject" Target="../embeddings/oleObject58.bin"/><Relationship Id="rId10" Type="http://schemas.openxmlformats.org/officeDocument/2006/relationships/image" Target="../media/image63.wmf"/><Relationship Id="rId1" Type="http://schemas.openxmlformats.org/officeDocument/2006/relationships/vmlDrawing" Target="../drawings/vmlDrawing25.vml"/><Relationship Id="rId2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4" Type="http://schemas.openxmlformats.org/officeDocument/2006/relationships/oleObject" Target="../embeddings/oleObject59.bin"/><Relationship Id="rId5" Type="http://schemas.openxmlformats.org/officeDocument/2006/relationships/image" Target="../media/image63.wmf"/><Relationship Id="rId1" Type="http://schemas.openxmlformats.org/officeDocument/2006/relationships/vmlDrawing" Target="../drawings/vmlDrawing26.vml"/><Relationship Id="rId2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4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5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6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7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8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652463" y="1657350"/>
            <a:ext cx="78073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en-US" sz="4000" b="1" dirty="0">
                <a:solidFill>
                  <a:srgbClr val="0033CC"/>
                </a:solidFill>
              </a:rPr>
              <a:t>Sensitivity and Uncertainty Analysis in Models</a:t>
            </a:r>
          </a:p>
        </p:txBody>
      </p: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508000" y="3244850"/>
            <a:ext cx="81280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 smtClean="0">
                <a:solidFill>
                  <a:srgbClr val="990000"/>
                </a:solidFill>
              </a:rPr>
              <a:t>Juan Vesga</a:t>
            </a:r>
            <a:endParaRPr lang="en-US" altLang="en-US" sz="2800" dirty="0">
              <a:solidFill>
                <a:srgbClr val="990000"/>
              </a:solidFill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990000"/>
                </a:solidFill>
              </a:rPr>
              <a:t> </a:t>
            </a:r>
            <a:r>
              <a:rPr lang="en-US" altLang="en-US" sz="2000" dirty="0">
                <a:solidFill>
                  <a:srgbClr val="990000"/>
                </a:solidFill>
              </a:rPr>
              <a:t>with thanks to </a:t>
            </a:r>
            <a:r>
              <a:rPr lang="en-US" altLang="en-US" sz="2000" dirty="0" smtClean="0">
                <a:solidFill>
                  <a:srgbClr val="990000"/>
                </a:solidFill>
              </a:rPr>
              <a:t>Michael </a:t>
            </a:r>
            <a:r>
              <a:rPr lang="en-US" altLang="en-US" sz="2000" dirty="0" smtClean="0">
                <a:solidFill>
                  <a:srgbClr val="990000"/>
                </a:solidFill>
              </a:rPr>
              <a:t>White &amp; James Truscott</a:t>
            </a:r>
            <a:endParaRPr lang="en-US" altLang="en-US" sz="2800" dirty="0">
              <a:solidFill>
                <a:srgbClr val="990000"/>
              </a:solidFill>
            </a:endParaRPr>
          </a:p>
          <a:p>
            <a:pPr algn="ctr" eaLnBrk="1" hangingPunct="1">
              <a:spcBef>
                <a:spcPct val="50000"/>
              </a:spcBef>
              <a:spcAft>
                <a:spcPct val="50000"/>
              </a:spcAft>
              <a:buFontTx/>
              <a:buNone/>
            </a:pPr>
            <a:endParaRPr lang="en-US" altLang="en-US" sz="1800" dirty="0"/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altLang="en-US" sz="1000" dirty="0"/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2000" i="1" dirty="0"/>
              <a:t>Dept. of Infectious Disease Epidemiology</a:t>
            </a:r>
            <a:br>
              <a:rPr lang="en-GB" altLang="en-US" sz="2000" i="1" dirty="0"/>
            </a:br>
            <a:r>
              <a:rPr lang="en-GB" altLang="en-US" sz="2000" i="1" dirty="0"/>
              <a:t>Faculty of Medicine</a:t>
            </a:r>
            <a:br>
              <a:rPr lang="en-GB" altLang="en-US" sz="2000" i="1" dirty="0"/>
            </a:br>
            <a:r>
              <a:rPr lang="en-US" altLang="en-US" sz="2000" i="1" dirty="0"/>
              <a:t>Imperial College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The nature of the problem</a:t>
            </a:r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684213" y="2133600"/>
            <a:ext cx="1584325" cy="14398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Data</a:t>
            </a:r>
            <a:endParaRPr lang="en-US" altLang="en-US"/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3563938" y="2205038"/>
            <a:ext cx="1871662" cy="12969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Model</a:t>
            </a:r>
            <a:endParaRPr lang="en-US" altLang="en-US"/>
          </a:p>
        </p:txBody>
      </p:sp>
      <p:sp>
        <p:nvSpPr>
          <p:cNvPr id="6149" name="Rectangle 6"/>
          <p:cNvSpPr>
            <a:spLocks noChangeArrowheads="1"/>
          </p:cNvSpPr>
          <p:nvPr/>
        </p:nvSpPr>
        <p:spPr bwMode="auto">
          <a:xfrm>
            <a:off x="6804025" y="2276475"/>
            <a:ext cx="1800225" cy="1152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Result</a:t>
            </a:r>
            <a:endParaRPr lang="en-US" altLang="en-US"/>
          </a:p>
        </p:txBody>
      </p:sp>
      <p:sp>
        <p:nvSpPr>
          <p:cNvPr id="6150" name="AutoShape 10"/>
          <p:cNvSpPr>
            <a:spLocks noChangeArrowheads="1"/>
          </p:cNvSpPr>
          <p:nvPr/>
        </p:nvSpPr>
        <p:spPr bwMode="auto">
          <a:xfrm>
            <a:off x="5651500" y="2611438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6151" name="Text Box 11"/>
          <p:cNvSpPr txBox="1">
            <a:spLocks noChangeArrowheads="1"/>
          </p:cNvSpPr>
          <p:nvPr/>
        </p:nvSpPr>
        <p:spPr bwMode="auto">
          <a:xfrm>
            <a:off x="331788" y="4149725"/>
            <a:ext cx="237807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Raw data: incidence,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serological data, etc.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or parameter values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from other studies.</a:t>
            </a:r>
            <a:endParaRPr lang="en-US" altLang="en-US" sz="1800"/>
          </a:p>
        </p:txBody>
      </p:sp>
      <p:sp>
        <p:nvSpPr>
          <p:cNvPr id="6152" name="Text Box 12"/>
          <p:cNvSpPr txBox="1">
            <a:spLocks noChangeArrowheads="1"/>
          </p:cNvSpPr>
          <p:nvPr/>
        </p:nvSpPr>
        <p:spPr bwMode="auto">
          <a:xfrm>
            <a:off x="3563938" y="4365625"/>
            <a:ext cx="18446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Deterministic or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stochastic</a:t>
            </a:r>
            <a:endParaRPr lang="en-US" altLang="en-US" sz="1800"/>
          </a:p>
        </p:txBody>
      </p:sp>
      <p:sp>
        <p:nvSpPr>
          <p:cNvPr id="6153" name="Text Box 13"/>
          <p:cNvSpPr txBox="1">
            <a:spLocks noChangeArrowheads="1"/>
          </p:cNvSpPr>
          <p:nvPr/>
        </p:nvSpPr>
        <p:spPr bwMode="auto">
          <a:xfrm>
            <a:off x="6218238" y="4221163"/>
            <a:ext cx="274637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Property or statistic of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the system (Contact rate,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R</a:t>
            </a:r>
            <a:r>
              <a:rPr lang="en-GB" altLang="en-US" sz="1800" baseline="-25000"/>
              <a:t>0</a:t>
            </a:r>
            <a:r>
              <a:rPr lang="en-GB" altLang="en-US" sz="1800"/>
              <a:t>, etc.)</a:t>
            </a:r>
            <a:endParaRPr lang="en-US" altLang="en-US" sz="1800"/>
          </a:p>
        </p:txBody>
      </p:sp>
      <p:sp>
        <p:nvSpPr>
          <p:cNvPr id="11" name="Plus 10"/>
          <p:cNvSpPr/>
          <p:nvPr/>
        </p:nvSpPr>
        <p:spPr bwMode="auto">
          <a:xfrm>
            <a:off x="2484438" y="2492375"/>
            <a:ext cx="792162" cy="720725"/>
          </a:xfrm>
          <a:prstGeom prst="mathPlus">
            <a:avLst/>
          </a:prstGeom>
          <a:solidFill>
            <a:srgbClr val="8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684213" y="2133600"/>
            <a:ext cx="1584325" cy="14398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Data</a:t>
            </a:r>
            <a:endParaRPr lang="en-US" altLang="en-US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3563938" y="2205038"/>
            <a:ext cx="1871662" cy="12969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Model</a:t>
            </a:r>
            <a:endParaRPr lang="en-US" altLang="en-US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04025" y="2276475"/>
            <a:ext cx="1800225" cy="1152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Result</a:t>
            </a:r>
            <a:endParaRPr lang="en-US" altLang="en-US"/>
          </a:p>
        </p:txBody>
      </p:sp>
      <p:sp>
        <p:nvSpPr>
          <p:cNvPr id="7173" name="AutoShape 7"/>
          <p:cNvSpPr>
            <a:spLocks noChangeArrowheads="1"/>
          </p:cNvSpPr>
          <p:nvPr/>
        </p:nvSpPr>
        <p:spPr bwMode="auto">
          <a:xfrm>
            <a:off x="5651500" y="2611438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graphicFrame>
        <p:nvGraphicFramePr>
          <p:cNvPr id="7174" name="Object 16"/>
          <p:cNvGraphicFramePr>
            <a:graphicFrameLocks noChangeAspect="1"/>
          </p:cNvGraphicFramePr>
          <p:nvPr/>
        </p:nvGraphicFramePr>
        <p:xfrm>
          <a:off x="323850" y="4005263"/>
          <a:ext cx="2303463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name="Chart" r:id="rId3" imgW="2552700" imgH="1685849" progId="Excel.Chart.8">
                  <p:embed/>
                </p:oleObj>
              </mc:Choice>
              <mc:Fallback>
                <p:oleObj name="Chart" r:id="rId3" imgW="2552700" imgH="1685849" progId="Excel.Char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005263"/>
                        <a:ext cx="2303463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18"/>
          <p:cNvSpPr txBox="1">
            <a:spLocks noChangeArrowheads="1"/>
          </p:cNvSpPr>
          <p:nvPr/>
        </p:nvSpPr>
        <p:spPr bwMode="auto">
          <a:xfrm>
            <a:off x="592138" y="58245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Data error</a:t>
            </a:r>
            <a:endParaRPr lang="en-US" altLang="en-US" sz="1800"/>
          </a:p>
        </p:txBody>
      </p:sp>
      <p:sp>
        <p:nvSpPr>
          <p:cNvPr id="7176" name="Text Box 19"/>
          <p:cNvSpPr txBox="1">
            <a:spLocks noChangeArrowheads="1"/>
          </p:cNvSpPr>
          <p:nvPr/>
        </p:nvSpPr>
        <p:spPr bwMode="auto">
          <a:xfrm>
            <a:off x="3203575" y="4437063"/>
            <a:ext cx="2343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Stochastic </a:t>
            </a:r>
            <a:r>
              <a:rPr lang="en-GB" altLang="en-US" sz="1800" i="1"/>
              <a:t>or</a:t>
            </a:r>
            <a:r>
              <a:rPr lang="en-GB" altLang="en-US" sz="1800"/>
              <a:t>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deterministic model</a:t>
            </a:r>
            <a:endParaRPr lang="en-US" altLang="en-US" sz="1800"/>
          </a:p>
        </p:txBody>
      </p:sp>
      <p:pic>
        <p:nvPicPr>
          <p:cNvPr id="7177" name="Picture 2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4005263"/>
            <a:ext cx="2160588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" name="Text Box 27"/>
          <p:cNvSpPr txBox="1">
            <a:spLocks noChangeArrowheads="1"/>
          </p:cNvSpPr>
          <p:nvPr/>
        </p:nvSpPr>
        <p:spPr bwMode="auto">
          <a:xfrm>
            <a:off x="6516688" y="5876925"/>
            <a:ext cx="239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Uncertainty in result</a:t>
            </a:r>
            <a:endParaRPr lang="en-US" altLang="en-US" sz="1800"/>
          </a:p>
        </p:txBody>
      </p:sp>
      <p:sp>
        <p:nvSpPr>
          <p:cNvPr id="7179" name="Text Box 28"/>
          <p:cNvSpPr txBox="1">
            <a:spLocks noChangeArrowheads="1"/>
          </p:cNvSpPr>
          <p:nvPr/>
        </p:nvSpPr>
        <p:spPr bwMode="auto">
          <a:xfrm>
            <a:off x="8172450" y="4221163"/>
            <a:ext cx="411163" cy="528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/>
              <a:t>?</a:t>
            </a:r>
          </a:p>
        </p:txBody>
      </p:sp>
      <p:sp>
        <p:nvSpPr>
          <p:cNvPr id="12" name="Plus 11"/>
          <p:cNvSpPr/>
          <p:nvPr/>
        </p:nvSpPr>
        <p:spPr bwMode="auto">
          <a:xfrm>
            <a:off x="2484438" y="2492375"/>
            <a:ext cx="792162" cy="720725"/>
          </a:xfrm>
          <a:prstGeom prst="mathPlus">
            <a:avLst/>
          </a:prstGeom>
          <a:solidFill>
            <a:srgbClr val="8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7181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684213" y="1700213"/>
            <a:ext cx="1584325" cy="1439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Data</a:t>
            </a:r>
            <a:endParaRPr lang="en-US" altLang="en-US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3563938" y="1771650"/>
            <a:ext cx="1871662" cy="12969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Model</a:t>
            </a:r>
            <a:endParaRPr lang="en-US" alt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804025" y="1843088"/>
            <a:ext cx="1800225" cy="1152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Result</a:t>
            </a:r>
            <a:endParaRPr lang="en-US" altLang="en-US"/>
          </a:p>
        </p:txBody>
      </p:sp>
      <p:sp>
        <p:nvSpPr>
          <p:cNvPr id="8197" name="AutoShape 7"/>
          <p:cNvSpPr>
            <a:spLocks noChangeArrowheads="1"/>
          </p:cNvSpPr>
          <p:nvPr/>
        </p:nvSpPr>
        <p:spPr bwMode="auto">
          <a:xfrm>
            <a:off x="5651500" y="217805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8199" name="AutoShape 15"/>
          <p:cNvSpPr>
            <a:spLocks noChangeArrowheads="1"/>
          </p:cNvSpPr>
          <p:nvPr/>
        </p:nvSpPr>
        <p:spPr bwMode="auto">
          <a:xfrm>
            <a:off x="7524750" y="3284538"/>
            <a:ext cx="269875" cy="1143000"/>
          </a:xfrm>
          <a:prstGeom prst="upDownArrow">
            <a:avLst>
              <a:gd name="adj1" fmla="val 50000"/>
              <a:gd name="adj2" fmla="val 84706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8201" name="Text Box 19"/>
          <p:cNvSpPr txBox="1">
            <a:spLocks noChangeArrowheads="1"/>
          </p:cNvSpPr>
          <p:nvPr/>
        </p:nvSpPr>
        <p:spPr bwMode="auto">
          <a:xfrm>
            <a:off x="900113" y="5084763"/>
            <a:ext cx="73247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For a deterministic model, two types: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Local sensitivity: change in result for given change in parameter.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Global sensitivity: how uncertainty in result is related to that of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		    any input parameter. </a:t>
            </a:r>
            <a:endParaRPr lang="en-US" altLang="en-US" sz="1800"/>
          </a:p>
        </p:txBody>
      </p:sp>
      <p:sp>
        <p:nvSpPr>
          <p:cNvPr id="10" name="Plus 9"/>
          <p:cNvSpPr/>
          <p:nvPr/>
        </p:nvSpPr>
        <p:spPr bwMode="auto">
          <a:xfrm>
            <a:off x="2484438" y="2060575"/>
            <a:ext cx="792162" cy="720725"/>
          </a:xfrm>
          <a:prstGeom prst="mathPlus">
            <a:avLst/>
          </a:prstGeom>
          <a:solidFill>
            <a:srgbClr val="8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8203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Sensitivity</a:t>
            </a: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1690688" y="3427413"/>
            <a:ext cx="217487" cy="1008062"/>
          </a:xfrm>
          <a:prstGeom prst="upDownArrow">
            <a:avLst>
              <a:gd name="adj1" fmla="val 50000"/>
              <a:gd name="adj2" fmla="val 92701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3" name="AutoShape 12"/>
          <p:cNvSpPr>
            <a:spLocks noChangeArrowheads="1"/>
          </p:cNvSpPr>
          <p:nvPr/>
        </p:nvSpPr>
        <p:spPr bwMode="auto">
          <a:xfrm>
            <a:off x="3636963" y="3735388"/>
            <a:ext cx="1727200" cy="341312"/>
          </a:xfrm>
          <a:prstGeom prst="rightArrow">
            <a:avLst>
              <a:gd name="adj1" fmla="val 50000"/>
              <a:gd name="adj2" fmla="val 12651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aphicFrame>
        <p:nvGraphicFramePr>
          <p:cNvPr id="14" name="Object 17"/>
          <p:cNvGraphicFramePr>
            <a:graphicFrameLocks noChangeAspect="1"/>
          </p:cNvGraphicFramePr>
          <p:nvPr/>
        </p:nvGraphicFramePr>
        <p:xfrm>
          <a:off x="971550" y="3284538"/>
          <a:ext cx="815975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3" imgW="152280" imgH="228600" progId="Equation.DSMT4">
                  <p:embed/>
                </p:oleObj>
              </mc:Choice>
              <mc:Fallback>
                <p:oleObj name="Equation" r:id="rId3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284538"/>
                        <a:ext cx="815975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Model for illustration of parameter sensitivity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315913" y="1204913"/>
            <a:ext cx="834548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Outbreak of an SIR type in finite population, e.g. influenza, measles, Rubella,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Hepatitis 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Scenario: introduce I</a:t>
            </a:r>
            <a:r>
              <a:rPr lang="en-GB" altLang="en-US" sz="1800" baseline="-25000"/>
              <a:t>0</a:t>
            </a:r>
            <a:r>
              <a:rPr lang="en-GB" altLang="en-US" sz="1800"/>
              <a:t> infectives into a population of N-I</a:t>
            </a:r>
            <a:r>
              <a:rPr lang="en-GB" altLang="en-US" sz="1800" baseline="-25000"/>
              <a:t>0</a:t>
            </a:r>
            <a:r>
              <a:rPr lang="en-GB" altLang="en-US" sz="1800"/>
              <a:t> susceptibles.</a:t>
            </a:r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2949216" y="2816501"/>
            <a:ext cx="2860071" cy="1160463"/>
            <a:chOff x="1416" y="1842"/>
            <a:chExt cx="1849" cy="731"/>
          </a:xfrm>
        </p:grpSpPr>
        <p:sp>
          <p:nvSpPr>
            <p:cNvPr id="9224" name="Text Box 5"/>
            <p:cNvSpPr txBox="1">
              <a:spLocks noChangeArrowheads="1"/>
            </p:cNvSpPr>
            <p:nvPr/>
          </p:nvSpPr>
          <p:spPr bwMode="auto">
            <a:xfrm>
              <a:off x="1416" y="1991"/>
              <a:ext cx="1849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/>
                <a:t>         : rate          </a:t>
              </a:r>
              <a:r>
                <a:rPr lang="en-GB" altLang="en-US" sz="1800" dirty="0" smtClean="0"/>
                <a:t>       /day</a:t>
              </a:r>
              <a:r>
                <a:rPr lang="en-GB" altLang="en-US" sz="1800" dirty="0"/>
                <a:t>,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 dirty="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/>
                <a:t>         : rate </a:t>
              </a:r>
              <a:r>
                <a:rPr lang="en-GB" altLang="en-US" sz="1800" dirty="0">
                  <a:latin typeface="Symbol" panose="05050102010706020507" pitchFamily="18" charset="2"/>
                </a:rPr>
                <a:t>m</a:t>
              </a:r>
              <a:r>
                <a:rPr lang="en-GB" altLang="en-US" sz="1800" dirty="0"/>
                <a:t> /day </a:t>
              </a:r>
            </a:p>
          </p:txBody>
        </p:sp>
        <p:graphicFrame>
          <p:nvGraphicFramePr>
            <p:cNvPr id="922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9519260"/>
                </p:ext>
              </p:extLst>
            </p:nvPr>
          </p:nvGraphicFramePr>
          <p:xfrm>
            <a:off x="2172" y="1842"/>
            <a:ext cx="685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5" name="Equation" r:id="rId3" imgW="495000" imgH="393480" progId="Equation.DSMT4">
                    <p:embed/>
                  </p:oleObj>
                </mc:Choice>
                <mc:Fallback>
                  <p:oleObj name="Equation" r:id="rId3" imgW="495000" imgH="39348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2" y="1842"/>
                          <a:ext cx="685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053090"/>
              </p:ext>
            </p:extLst>
          </p:nvPr>
        </p:nvGraphicFramePr>
        <p:xfrm>
          <a:off x="2949216" y="4477026"/>
          <a:ext cx="162718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6" name="Equation" r:id="rId5" imgW="647700" imgH="228600" progId="Equation.DSMT4">
                  <p:embed/>
                </p:oleObj>
              </mc:Choice>
              <mc:Fallback>
                <p:oleObj name="Equation" r:id="rId5" imgW="6477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216" y="4477026"/>
                        <a:ext cx="1627188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144577"/>
              </p:ext>
            </p:extLst>
          </p:nvPr>
        </p:nvGraphicFramePr>
        <p:xfrm>
          <a:off x="2663466" y="3075264"/>
          <a:ext cx="85248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7" name="Equation" r:id="rId7" imgW="431425" imgH="177646" progId="Equation.DSMT4">
                  <p:embed/>
                </p:oleObj>
              </mc:Choice>
              <mc:Fallback>
                <p:oleObj name="Equation" r:id="rId7" imgW="431425" imgH="177646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466" y="3075264"/>
                        <a:ext cx="85248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335166"/>
              </p:ext>
            </p:extLst>
          </p:nvPr>
        </p:nvGraphicFramePr>
        <p:xfrm>
          <a:off x="2672991" y="3580089"/>
          <a:ext cx="85248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8" name="Equation" r:id="rId9" imgW="431425" imgH="177646" progId="Equation.DSMT4">
                  <p:embed/>
                </p:oleObj>
              </mc:Choice>
              <mc:Fallback>
                <p:oleObj name="Equation" r:id="rId9" imgW="431425" imgH="17764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991" y="3580089"/>
                        <a:ext cx="85248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Model for illustration of parameter sensitivity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315913" y="1204913"/>
            <a:ext cx="8345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The model can be described by the following system of equations:</a:t>
            </a:r>
          </a:p>
        </p:txBody>
      </p:sp>
      <p:graphicFrame>
        <p:nvGraphicFramePr>
          <p:cNvPr id="1024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904240"/>
              </p:ext>
            </p:extLst>
          </p:nvPr>
        </p:nvGraphicFramePr>
        <p:xfrm>
          <a:off x="3439319" y="1993900"/>
          <a:ext cx="2214562" cy="259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3" imgW="1066800" imgH="1219200" progId="Equation.DSMT4">
                  <p:embed/>
                </p:oleObj>
              </mc:Choice>
              <mc:Fallback>
                <p:oleObj name="Equation" r:id="rId3" imgW="1066800" imgH="1219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319" y="1993900"/>
                        <a:ext cx="2214562" cy="259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Box 10"/>
          <p:cNvSpPr txBox="1">
            <a:spLocks noChangeArrowheads="1"/>
          </p:cNvSpPr>
          <p:nvPr/>
        </p:nvSpPr>
        <p:spPr bwMode="auto">
          <a:xfrm>
            <a:off x="3659981" y="5329238"/>
            <a:ext cx="19939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solidFill>
                  <a:srgbClr val="FF0000"/>
                </a:solidFill>
              </a:rPr>
              <a:t>R</a:t>
            </a:r>
            <a:r>
              <a:rPr lang="en-GB" altLang="en-US" sz="2400" i="1" baseline="-25000">
                <a:solidFill>
                  <a:srgbClr val="FF0000"/>
                </a:solidFill>
              </a:rPr>
              <a:t>0</a:t>
            </a:r>
            <a:r>
              <a:rPr lang="en-GB" altLang="en-US" sz="2400" i="1">
                <a:solidFill>
                  <a:srgbClr val="FF0000"/>
                </a:solidFill>
              </a:rPr>
              <a:t> </a:t>
            </a:r>
            <a:r>
              <a:rPr lang="en-GB" altLang="en-US" sz="2400">
                <a:solidFill>
                  <a:srgbClr val="FF0000"/>
                </a:solidFill>
              </a:rPr>
              <a:t>=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solidFill>
                  <a:srgbClr val="FF0000"/>
                </a:solidFill>
              </a:rPr>
              <a:t>I</a:t>
            </a:r>
            <a:r>
              <a:rPr lang="en-GB" altLang="en-US" sz="2400" i="1" baseline="-25000">
                <a:solidFill>
                  <a:srgbClr val="FF0000"/>
                </a:solidFill>
              </a:rPr>
              <a:t>0</a:t>
            </a:r>
            <a:r>
              <a:rPr lang="en-GB" altLang="en-US" sz="2400" i="1">
                <a:solidFill>
                  <a:srgbClr val="FF0000"/>
                </a:solidFill>
              </a:rPr>
              <a:t> =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Model for illustration of parameter sensitivity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15913" y="1204913"/>
            <a:ext cx="8345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The model can be described by the following system of equations:</a:t>
            </a:r>
          </a:p>
        </p:txBody>
      </p:sp>
      <p:graphicFrame>
        <p:nvGraphicFramePr>
          <p:cNvPr id="11268" name="Object 9"/>
          <p:cNvGraphicFramePr>
            <a:graphicFrameLocks noChangeAspect="1"/>
          </p:cNvGraphicFramePr>
          <p:nvPr/>
        </p:nvGraphicFramePr>
        <p:xfrm>
          <a:off x="446088" y="1784350"/>
          <a:ext cx="2214562" cy="259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Equation" r:id="rId3" imgW="1066800" imgH="1219200" progId="Equation.DSMT4">
                  <p:embed/>
                </p:oleObj>
              </mc:Choice>
              <mc:Fallback>
                <p:oleObj name="Equation" r:id="rId3" imgW="1066800" imgH="1219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1784350"/>
                        <a:ext cx="2214562" cy="259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Box 10"/>
          <p:cNvSpPr txBox="1">
            <a:spLocks noChangeArrowheads="1"/>
          </p:cNvSpPr>
          <p:nvPr/>
        </p:nvSpPr>
        <p:spPr bwMode="auto">
          <a:xfrm>
            <a:off x="569913" y="4833938"/>
            <a:ext cx="19939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solidFill>
                  <a:srgbClr val="FF0000"/>
                </a:solidFill>
              </a:rPr>
              <a:t>R</a:t>
            </a:r>
            <a:r>
              <a:rPr lang="en-GB" altLang="en-US" sz="2400" i="1" baseline="-25000">
                <a:solidFill>
                  <a:srgbClr val="FF0000"/>
                </a:solidFill>
              </a:rPr>
              <a:t>0</a:t>
            </a:r>
            <a:r>
              <a:rPr lang="en-GB" altLang="en-US" sz="2400" i="1">
                <a:solidFill>
                  <a:srgbClr val="FF0000"/>
                </a:solidFill>
              </a:rPr>
              <a:t> </a:t>
            </a:r>
            <a:r>
              <a:rPr lang="en-GB" altLang="en-US" sz="2400">
                <a:solidFill>
                  <a:srgbClr val="FF0000"/>
                </a:solidFill>
              </a:rPr>
              <a:t>=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solidFill>
                  <a:srgbClr val="FF0000"/>
                </a:solidFill>
              </a:rPr>
              <a:t>I</a:t>
            </a:r>
            <a:r>
              <a:rPr lang="en-GB" altLang="en-US" sz="2400" i="1" baseline="-25000">
                <a:solidFill>
                  <a:srgbClr val="FF0000"/>
                </a:solidFill>
              </a:rPr>
              <a:t>0</a:t>
            </a:r>
            <a:r>
              <a:rPr lang="en-GB" altLang="en-US" sz="2400" i="1">
                <a:solidFill>
                  <a:srgbClr val="FF0000"/>
                </a:solidFill>
              </a:rPr>
              <a:t> = 100</a:t>
            </a:r>
          </a:p>
        </p:txBody>
      </p:sp>
      <p:pic>
        <p:nvPicPr>
          <p:cNvPr id="11270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088" y="1543050"/>
            <a:ext cx="4699000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Model for illustration of parameter sensitivity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15913" y="1204913"/>
            <a:ext cx="8345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The model can be described by the following system of equations:</a:t>
            </a:r>
          </a:p>
        </p:txBody>
      </p:sp>
      <p:graphicFrame>
        <p:nvGraphicFramePr>
          <p:cNvPr id="12292" name="Object 9"/>
          <p:cNvGraphicFramePr>
            <a:graphicFrameLocks noChangeAspect="1"/>
          </p:cNvGraphicFramePr>
          <p:nvPr/>
        </p:nvGraphicFramePr>
        <p:xfrm>
          <a:off x="446088" y="1784350"/>
          <a:ext cx="2214562" cy="259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name="Equation" r:id="rId3" imgW="1066800" imgH="1219200" progId="Equation.DSMT4">
                  <p:embed/>
                </p:oleObj>
              </mc:Choice>
              <mc:Fallback>
                <p:oleObj name="Equation" r:id="rId3" imgW="1066800" imgH="1219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1784350"/>
                        <a:ext cx="2214562" cy="259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Box 10"/>
          <p:cNvSpPr txBox="1">
            <a:spLocks noChangeArrowheads="1"/>
          </p:cNvSpPr>
          <p:nvPr/>
        </p:nvSpPr>
        <p:spPr bwMode="auto">
          <a:xfrm>
            <a:off x="569913" y="4833938"/>
            <a:ext cx="19939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solidFill>
                  <a:srgbClr val="FF0000"/>
                </a:solidFill>
              </a:rPr>
              <a:t>R</a:t>
            </a:r>
            <a:r>
              <a:rPr lang="en-GB" altLang="en-US" sz="2400" i="1" baseline="-25000">
                <a:solidFill>
                  <a:srgbClr val="FF0000"/>
                </a:solidFill>
              </a:rPr>
              <a:t>0</a:t>
            </a:r>
            <a:r>
              <a:rPr lang="en-GB" altLang="en-US" sz="2400" i="1">
                <a:solidFill>
                  <a:srgbClr val="FF0000"/>
                </a:solidFill>
              </a:rPr>
              <a:t> </a:t>
            </a:r>
            <a:r>
              <a:rPr lang="en-GB" altLang="en-US" sz="2400">
                <a:solidFill>
                  <a:srgbClr val="FF0000"/>
                </a:solidFill>
              </a:rPr>
              <a:t>= </a:t>
            </a:r>
            <a:r>
              <a:rPr lang="en-GB" altLang="en-US" sz="2400" b="1">
                <a:solidFill>
                  <a:srgbClr val="FF0000"/>
                </a:solidFill>
              </a:rPr>
              <a:t>1.5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solidFill>
                  <a:srgbClr val="FF0000"/>
                </a:solidFill>
              </a:rPr>
              <a:t>I</a:t>
            </a:r>
            <a:r>
              <a:rPr lang="en-GB" altLang="en-US" sz="2400" i="1" baseline="-25000">
                <a:solidFill>
                  <a:srgbClr val="FF0000"/>
                </a:solidFill>
              </a:rPr>
              <a:t>0</a:t>
            </a:r>
            <a:r>
              <a:rPr lang="en-GB" altLang="en-US" sz="2400" i="1">
                <a:solidFill>
                  <a:srgbClr val="FF0000"/>
                </a:solidFill>
              </a:rPr>
              <a:t> = 100</a:t>
            </a:r>
          </a:p>
        </p:txBody>
      </p:sp>
      <p:pic>
        <p:nvPicPr>
          <p:cNvPr id="1229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263" y="1535113"/>
            <a:ext cx="4695825" cy="527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Model for illustration of parameter sensitivity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315913" y="1204913"/>
            <a:ext cx="8345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The model can be described by the following system of equations:</a:t>
            </a:r>
          </a:p>
        </p:txBody>
      </p:sp>
      <p:graphicFrame>
        <p:nvGraphicFramePr>
          <p:cNvPr id="13316" name="Object 9"/>
          <p:cNvGraphicFramePr>
            <a:graphicFrameLocks noChangeAspect="1"/>
          </p:cNvGraphicFramePr>
          <p:nvPr/>
        </p:nvGraphicFramePr>
        <p:xfrm>
          <a:off x="446088" y="1784350"/>
          <a:ext cx="2214562" cy="259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Equation" r:id="rId3" imgW="1066800" imgH="1219200" progId="Equation.DSMT4">
                  <p:embed/>
                </p:oleObj>
              </mc:Choice>
              <mc:Fallback>
                <p:oleObj name="Equation" r:id="rId3" imgW="1066800" imgH="1219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1784350"/>
                        <a:ext cx="2214562" cy="259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Box 10"/>
          <p:cNvSpPr txBox="1">
            <a:spLocks noChangeArrowheads="1"/>
          </p:cNvSpPr>
          <p:nvPr/>
        </p:nvSpPr>
        <p:spPr bwMode="auto">
          <a:xfrm>
            <a:off x="569913" y="4833938"/>
            <a:ext cx="19939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solidFill>
                  <a:srgbClr val="FF0000"/>
                </a:solidFill>
              </a:rPr>
              <a:t>R</a:t>
            </a:r>
            <a:r>
              <a:rPr lang="en-GB" altLang="en-US" sz="2400" i="1" baseline="-25000">
                <a:solidFill>
                  <a:srgbClr val="FF0000"/>
                </a:solidFill>
              </a:rPr>
              <a:t>0</a:t>
            </a:r>
            <a:r>
              <a:rPr lang="en-GB" altLang="en-US" sz="2400" i="1">
                <a:solidFill>
                  <a:srgbClr val="FF0000"/>
                </a:solidFill>
              </a:rPr>
              <a:t> </a:t>
            </a:r>
            <a:r>
              <a:rPr lang="en-GB" altLang="en-US" sz="2400">
                <a:solidFill>
                  <a:srgbClr val="FF0000"/>
                </a:solidFill>
              </a:rPr>
              <a:t>=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i="1">
                <a:solidFill>
                  <a:srgbClr val="FF0000"/>
                </a:solidFill>
              </a:rPr>
              <a:t>I</a:t>
            </a:r>
            <a:r>
              <a:rPr lang="en-GB" altLang="en-US" sz="2400" i="1" baseline="-25000">
                <a:solidFill>
                  <a:srgbClr val="FF0000"/>
                </a:solidFill>
              </a:rPr>
              <a:t>0</a:t>
            </a:r>
            <a:r>
              <a:rPr lang="en-GB" altLang="en-US" sz="2400" i="1">
                <a:solidFill>
                  <a:srgbClr val="FF0000"/>
                </a:solidFill>
              </a:rPr>
              <a:t> = </a:t>
            </a:r>
            <a:r>
              <a:rPr lang="en-GB" altLang="en-US" sz="2400" b="1" i="1">
                <a:solidFill>
                  <a:srgbClr val="FF0000"/>
                </a:solidFill>
              </a:rPr>
              <a:t>10</a:t>
            </a:r>
          </a:p>
        </p:txBody>
      </p:sp>
      <p:pic>
        <p:nvPicPr>
          <p:cNvPr id="1331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025" y="1554163"/>
            <a:ext cx="4705350" cy="528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Model for illustration of parameter sensitivity</a:t>
            </a:r>
          </a:p>
        </p:txBody>
      </p:sp>
      <p:sp>
        <p:nvSpPr>
          <p:cNvPr id="14339" name="Text Box 7"/>
          <p:cNvSpPr txBox="1">
            <a:spLocks noChangeArrowheads="1"/>
          </p:cNvSpPr>
          <p:nvPr/>
        </p:nvSpPr>
        <p:spPr bwMode="auto">
          <a:xfrm>
            <a:off x="219075" y="1320800"/>
            <a:ext cx="835555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We are interested in the number of individuals infected over the course of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epidemic, a.k.a. the final size, f, or attack rate, as it depends on I</a:t>
            </a:r>
            <a:r>
              <a:rPr lang="en-GB" altLang="en-US" sz="2000" baseline="-25000" dirty="0">
                <a:latin typeface="Calibri" panose="020F0502020204030204" pitchFamily="34" charset="0"/>
              </a:rPr>
              <a:t>0</a:t>
            </a:r>
            <a:r>
              <a:rPr lang="en-GB" altLang="en-US" sz="2000" dirty="0">
                <a:latin typeface="Calibri" panose="020F0502020204030204" pitchFamily="34" charset="0"/>
              </a:rPr>
              <a:t> and R</a:t>
            </a:r>
            <a:r>
              <a:rPr lang="en-GB" altLang="en-US" sz="2000" baseline="-25000" dirty="0">
                <a:latin typeface="Calibri" panose="020F0502020204030204" pitchFamily="34" charset="0"/>
              </a:rPr>
              <a:t>0</a:t>
            </a:r>
            <a:r>
              <a:rPr lang="en-GB" altLang="en-US" sz="2000" dirty="0">
                <a:latin typeface="Calibri" panose="020F0502020204030204" pitchFamily="34" charset="0"/>
              </a:rPr>
              <a:t>. </a:t>
            </a:r>
            <a:endParaRPr lang="en-GB" altLang="en-US" sz="2000" dirty="0" smtClean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0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dirty="0">
                <a:latin typeface="Calibri" panose="020F0502020204030204" pitchFamily="34" charset="0"/>
              </a:rPr>
              <a:t>For a deterministic model, </a:t>
            </a:r>
          </a:p>
        </p:txBody>
      </p:sp>
      <p:graphicFrame>
        <p:nvGraphicFramePr>
          <p:cNvPr id="143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671976"/>
              </p:ext>
            </p:extLst>
          </p:nvPr>
        </p:nvGraphicFramePr>
        <p:xfrm>
          <a:off x="2498996" y="3179763"/>
          <a:ext cx="37957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Equation" r:id="rId3" imgW="1803400" imgH="228600" progId="Equation.DSMT4">
                  <p:embed/>
                </p:oleObj>
              </mc:Choice>
              <mc:Fallback>
                <p:oleObj name="Equation" r:id="rId3" imgW="18034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996" y="3179763"/>
                        <a:ext cx="379571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Model for illustration of parameter sensitivity</a:t>
            </a:r>
          </a:p>
        </p:txBody>
      </p:sp>
      <p:sp>
        <p:nvSpPr>
          <p:cNvPr id="15363" name="Text Box 7"/>
          <p:cNvSpPr txBox="1">
            <a:spLocks noChangeArrowheads="1"/>
          </p:cNvSpPr>
          <p:nvPr/>
        </p:nvSpPr>
        <p:spPr bwMode="auto">
          <a:xfrm>
            <a:off x="219075" y="1320800"/>
            <a:ext cx="83550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latin typeface="Calibri" panose="020F0502020204030204" pitchFamily="34" charset="0"/>
              </a:rPr>
              <a:t>We are interested in the number of individuals infected over the course of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latin typeface="Calibri" panose="020F0502020204030204" pitchFamily="34" charset="0"/>
              </a:rPr>
              <a:t>epidemic, a.k.a. the final size, f, or attack rate, as it depends on I</a:t>
            </a:r>
            <a:r>
              <a:rPr lang="en-GB" altLang="en-US" sz="2000" baseline="-25000">
                <a:latin typeface="Calibri" panose="020F0502020204030204" pitchFamily="34" charset="0"/>
              </a:rPr>
              <a:t>0</a:t>
            </a:r>
            <a:r>
              <a:rPr lang="en-GB" altLang="en-US" sz="2000">
                <a:latin typeface="Calibri" panose="020F0502020204030204" pitchFamily="34" charset="0"/>
              </a:rPr>
              <a:t> and R</a:t>
            </a:r>
            <a:r>
              <a:rPr lang="en-GB" altLang="en-US" sz="2000" baseline="-25000">
                <a:latin typeface="Calibri" panose="020F0502020204030204" pitchFamily="34" charset="0"/>
              </a:rPr>
              <a:t>0</a:t>
            </a:r>
            <a:r>
              <a:rPr lang="en-GB" altLang="en-US" sz="2000">
                <a:latin typeface="Calibri" panose="020F0502020204030204" pitchFamily="34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latin typeface="Calibri" panose="020F0502020204030204" pitchFamily="34" charset="0"/>
              </a:rPr>
              <a:t>For a deterministic model, </a:t>
            </a:r>
          </a:p>
        </p:txBody>
      </p:sp>
      <p:graphicFrame>
        <p:nvGraphicFramePr>
          <p:cNvPr id="15364" name="Object 8"/>
          <p:cNvGraphicFramePr>
            <a:graphicFrameLocks noChangeAspect="1"/>
          </p:cNvGraphicFramePr>
          <p:nvPr/>
        </p:nvGraphicFramePr>
        <p:xfrm>
          <a:off x="2540000" y="2541588"/>
          <a:ext cx="37957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6" name="Equation" r:id="rId3" imgW="1803400" imgH="228600" progId="Equation.DSMT4">
                  <p:embed/>
                </p:oleObj>
              </mc:Choice>
              <mc:Fallback>
                <p:oleObj name="Equation" r:id="rId3" imgW="18034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2541588"/>
                        <a:ext cx="379571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6925" y="3862388"/>
          <a:ext cx="6096000" cy="237807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2000"/>
                <a:gridCol w="2032000"/>
                <a:gridCol w="2032000"/>
              </a:tblGrid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I</a:t>
                      </a:r>
                      <a:r>
                        <a:rPr lang="en-GB" sz="2000" baseline="-25000" dirty="0" smtClean="0"/>
                        <a:t>0</a:t>
                      </a:r>
                      <a:endParaRPr lang="en-GB" sz="2000" i="1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R</a:t>
                      </a:r>
                      <a:r>
                        <a:rPr lang="en-GB" sz="2000" baseline="-25000" dirty="0" smtClean="0"/>
                        <a:t>0</a:t>
                      </a:r>
                      <a:endParaRPr lang="en-GB" sz="2000" i="1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f</a:t>
                      </a:r>
                      <a:endParaRPr lang="en-GB" sz="2000" i="1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100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1.25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544</a:t>
                      </a:r>
                      <a:endParaRPr lang="en-GB" sz="2000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100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1.5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671</a:t>
                      </a:r>
                      <a:endParaRPr lang="en-GB" sz="2000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100</a:t>
                      </a:r>
                      <a:endParaRPr lang="en-GB" sz="2000" b="1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2</a:t>
                      </a:r>
                      <a:endParaRPr lang="en-GB" sz="2000" b="1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828</a:t>
                      </a:r>
                      <a:endParaRPr lang="en-GB" sz="2000" b="1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100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3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948</a:t>
                      </a:r>
                      <a:endParaRPr lang="en-GB" sz="2000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100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4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982</a:t>
                      </a:r>
                      <a:endParaRPr lang="en-GB" sz="2000" dirty="0"/>
                    </a:p>
                  </a:txBody>
                  <a:tcPr marT="45732" marB="45732"/>
                </a:tc>
              </a:tr>
            </a:tbl>
          </a:graphicData>
        </a:graphic>
      </p:graphicFrame>
      <p:sp>
        <p:nvSpPr>
          <p:cNvPr id="15387" name="Text Box 7"/>
          <p:cNvSpPr txBox="1">
            <a:spLocks noChangeArrowheads="1"/>
          </p:cNvSpPr>
          <p:nvPr/>
        </p:nvSpPr>
        <p:spPr bwMode="auto">
          <a:xfrm>
            <a:off x="790575" y="3322638"/>
            <a:ext cx="44021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latin typeface="Calibri" panose="020F0502020204030204" pitchFamily="34" charset="0"/>
              </a:rPr>
              <a:t>Sensitivity to variation in </a:t>
            </a:r>
            <a:r>
              <a:rPr lang="en-GB" altLang="en-US" sz="2800" b="1" i="1">
                <a:latin typeface="Calibri" panose="020F0502020204030204" pitchFamily="34" charset="0"/>
              </a:rPr>
              <a:t>R</a:t>
            </a:r>
            <a:r>
              <a:rPr lang="en-GB" altLang="en-US" sz="2800" b="1" i="1" baseline="-25000">
                <a:latin typeface="Calibri" panose="020F0502020204030204" pitchFamily="34" charset="0"/>
              </a:rPr>
              <a:t>0</a:t>
            </a:r>
            <a:r>
              <a:rPr lang="en-GB" altLang="en-US" sz="2800" b="1">
                <a:latin typeface="Calibri" panose="020F0502020204030204" pitchFamily="34" charset="0"/>
              </a:rPr>
              <a:t>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Model for illustration of parameter sensitivity</a:t>
            </a:r>
          </a:p>
        </p:txBody>
      </p:sp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219075" y="1320800"/>
            <a:ext cx="83550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latin typeface="Calibri" panose="020F0502020204030204" pitchFamily="34" charset="0"/>
              </a:rPr>
              <a:t>We are interested in the number of individuals infected over the course of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latin typeface="Calibri" panose="020F0502020204030204" pitchFamily="34" charset="0"/>
              </a:rPr>
              <a:t>epidemic, a.k.a. the final size, f, or attack rate, as it depends on I</a:t>
            </a:r>
            <a:r>
              <a:rPr lang="en-GB" altLang="en-US" sz="2000" baseline="-25000">
                <a:latin typeface="Calibri" panose="020F0502020204030204" pitchFamily="34" charset="0"/>
              </a:rPr>
              <a:t>0</a:t>
            </a:r>
            <a:r>
              <a:rPr lang="en-GB" altLang="en-US" sz="2000">
                <a:latin typeface="Calibri" panose="020F0502020204030204" pitchFamily="34" charset="0"/>
              </a:rPr>
              <a:t> and R</a:t>
            </a:r>
            <a:r>
              <a:rPr lang="en-GB" altLang="en-US" sz="2000" baseline="-25000">
                <a:latin typeface="Calibri" panose="020F0502020204030204" pitchFamily="34" charset="0"/>
              </a:rPr>
              <a:t>0</a:t>
            </a:r>
            <a:r>
              <a:rPr lang="en-GB" altLang="en-US" sz="2000">
                <a:latin typeface="Calibri" panose="020F0502020204030204" pitchFamily="34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latin typeface="Calibri" panose="020F0502020204030204" pitchFamily="34" charset="0"/>
              </a:rPr>
              <a:t>For a deterministic model, </a:t>
            </a:r>
          </a:p>
        </p:txBody>
      </p:sp>
      <p:graphicFrame>
        <p:nvGraphicFramePr>
          <p:cNvPr id="16388" name="Object 8"/>
          <p:cNvGraphicFramePr>
            <a:graphicFrameLocks noChangeAspect="1"/>
          </p:cNvGraphicFramePr>
          <p:nvPr/>
        </p:nvGraphicFramePr>
        <p:xfrm>
          <a:off x="2540000" y="2541588"/>
          <a:ext cx="37957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0" name="Equation" r:id="rId3" imgW="1803400" imgH="228600" progId="Equation.DSMT4">
                  <p:embed/>
                </p:oleObj>
              </mc:Choice>
              <mc:Fallback>
                <p:oleObj name="Equation" r:id="rId3" imgW="18034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2541588"/>
                        <a:ext cx="379571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6925" y="3862388"/>
          <a:ext cx="6096000" cy="237807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2000"/>
                <a:gridCol w="2032000"/>
                <a:gridCol w="2032000"/>
              </a:tblGrid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I</a:t>
                      </a:r>
                      <a:r>
                        <a:rPr lang="en-GB" sz="2000" baseline="-25000" dirty="0" smtClean="0"/>
                        <a:t>0</a:t>
                      </a:r>
                      <a:endParaRPr lang="en-GB" sz="2000" i="1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R</a:t>
                      </a:r>
                      <a:r>
                        <a:rPr lang="en-GB" sz="2000" baseline="-25000" dirty="0" smtClean="0"/>
                        <a:t>0</a:t>
                      </a:r>
                      <a:endParaRPr lang="en-GB" sz="2000" i="1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f</a:t>
                      </a:r>
                      <a:endParaRPr lang="en-GB" sz="2000" i="1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1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2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797</a:t>
                      </a:r>
                      <a:endParaRPr lang="en-GB" sz="2000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10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2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800</a:t>
                      </a:r>
                      <a:endParaRPr lang="en-GB" sz="2000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100</a:t>
                      </a:r>
                      <a:endParaRPr lang="en-GB" sz="2000" b="1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2</a:t>
                      </a:r>
                      <a:endParaRPr lang="en-GB" sz="2000" b="1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828</a:t>
                      </a:r>
                      <a:endParaRPr lang="en-GB" sz="2000" b="1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200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2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855</a:t>
                      </a:r>
                      <a:endParaRPr lang="en-GB" sz="2000" dirty="0"/>
                    </a:p>
                  </a:txBody>
                  <a:tcPr marT="45732" marB="45732"/>
                </a:tc>
              </a:tr>
              <a:tr h="396346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300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2</a:t>
                      </a:r>
                      <a:endParaRPr lang="en-GB" sz="2000" dirty="0"/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879</a:t>
                      </a:r>
                      <a:endParaRPr lang="en-GB" sz="2000" dirty="0"/>
                    </a:p>
                  </a:txBody>
                  <a:tcPr marT="45732" marB="45732"/>
                </a:tc>
              </a:tr>
            </a:tbl>
          </a:graphicData>
        </a:graphic>
      </p:graphicFrame>
      <p:sp>
        <p:nvSpPr>
          <p:cNvPr id="16411" name="Text Box 7"/>
          <p:cNvSpPr txBox="1">
            <a:spLocks noChangeArrowheads="1"/>
          </p:cNvSpPr>
          <p:nvPr/>
        </p:nvSpPr>
        <p:spPr bwMode="auto">
          <a:xfrm>
            <a:off x="790575" y="3322638"/>
            <a:ext cx="44021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latin typeface="Calibri" panose="020F0502020204030204" pitchFamily="34" charset="0"/>
              </a:rPr>
              <a:t>Sensitivity to variation in </a:t>
            </a:r>
            <a:r>
              <a:rPr lang="en-GB" altLang="en-US" sz="2800" b="1" i="1">
                <a:latin typeface="Calibri" panose="020F0502020204030204" pitchFamily="34" charset="0"/>
              </a:rPr>
              <a:t>I</a:t>
            </a:r>
            <a:r>
              <a:rPr lang="en-GB" altLang="en-US" sz="2800" b="1" i="1" baseline="-25000">
                <a:latin typeface="Calibri" panose="020F0502020204030204" pitchFamily="34" charset="0"/>
              </a:rPr>
              <a:t>0</a:t>
            </a:r>
            <a:r>
              <a:rPr lang="en-GB" altLang="en-US" sz="2800" b="1">
                <a:latin typeface="Calibri" panose="020F0502020204030204" pitchFamily="34" charset="0"/>
              </a:rPr>
              <a:t>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Model for illustration of parameter sensitivity</a:t>
            </a: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3271838"/>
            <a:ext cx="3748088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3271838"/>
            <a:ext cx="36576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25450" y="1176338"/>
            <a:ext cx="82899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Local sensitivity looks at the change in the outcome of interest as params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 are varied one at a time. 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In our model, final size depends on reproduction number, R</a:t>
            </a:r>
            <a:r>
              <a:rPr lang="en-GB" altLang="en-US" sz="1800" baseline="-25000"/>
              <a:t>0</a:t>
            </a:r>
            <a:r>
              <a:rPr lang="en-GB" altLang="en-US" sz="1800"/>
              <a:t>, and initial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 infectives, </a:t>
            </a:r>
            <a:r>
              <a:rPr lang="en-GB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/>
              <a:t>0</a:t>
            </a:r>
            <a:r>
              <a:rPr lang="en-GB" altLang="en-US" sz="1800"/>
              <a:t>.</a:t>
            </a:r>
            <a:endParaRPr lang="en-US" altLang="en-US" sz="1800" baseline="-25000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522288" y="2560638"/>
            <a:ext cx="6207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We can look at the sensitivity around </a:t>
            </a:r>
            <a:r>
              <a:rPr lang="en-GB" altLang="en-US" sz="1800" i="1"/>
              <a:t>R</a:t>
            </a:r>
            <a:r>
              <a:rPr lang="en-GB" altLang="en-US" sz="1800" i="1" baseline="-25000"/>
              <a:t>0</a:t>
            </a:r>
            <a:r>
              <a:rPr lang="en-GB" altLang="en-US" sz="1800"/>
              <a:t>=2, </a:t>
            </a:r>
            <a:r>
              <a:rPr lang="en-GB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i="1" baseline="-25000"/>
              <a:t>0</a:t>
            </a:r>
            <a:r>
              <a:rPr lang="en-GB" altLang="en-US" sz="1800"/>
              <a:t>=100, say.</a:t>
            </a:r>
            <a:endParaRPr lang="en-US" altLang="en-US" sz="1800"/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288925" y="2935288"/>
          <a:ext cx="86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7" name="Equation" r:id="rId5" imgW="431613" imgH="228501" progId="Equation.DSMT4">
                  <p:embed/>
                </p:oleObj>
              </mc:Choice>
              <mc:Fallback>
                <p:oleObj name="Equation" r:id="rId5" imgW="431613" imgH="22850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2935288"/>
                        <a:ext cx="863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7626350" y="2873375"/>
          <a:ext cx="1008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8" name="Equation" r:id="rId7" imgW="533169" imgH="228501" progId="Equation.DSMT4">
                  <p:embed/>
                </p:oleObj>
              </mc:Choice>
              <mc:Fallback>
                <p:oleObj name="Equation" r:id="rId7" imgW="533169" imgH="22850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6350" y="2873375"/>
                        <a:ext cx="10080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2195513" y="3503613"/>
            <a:ext cx="0" cy="15224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>
            <a:off x="6105525" y="3463925"/>
            <a:ext cx="0" cy="15986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663575" y="5927725"/>
            <a:ext cx="7651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Doesn’t tell us how different parameters </a:t>
            </a:r>
            <a:r>
              <a:rPr lang="en-GB" altLang="en-US" sz="1800" i="1"/>
              <a:t>combine</a:t>
            </a:r>
            <a:r>
              <a:rPr lang="en-GB" altLang="en-US" sz="1800"/>
              <a:t> to affect the result.</a:t>
            </a:r>
            <a:endParaRPr lang="en-US" altLang="en-US" sz="1800"/>
          </a:p>
        </p:txBody>
      </p:sp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2201863" y="5248275"/>
          <a:ext cx="2952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9" name="Equation" r:id="rId9" imgW="152334" imgH="228501" progId="Equation.DSMT4">
                  <p:embed/>
                </p:oleObj>
              </mc:Choice>
              <mc:Fallback>
                <p:oleObj name="Equation" r:id="rId9" imgW="152334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5248275"/>
                        <a:ext cx="2952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5962650" y="5362575"/>
          <a:ext cx="368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0" name="Equation" r:id="rId11" imgW="190500" imgH="228600" progId="Equation.DSMT4">
                  <p:embed/>
                </p:oleObj>
              </mc:Choice>
              <mc:Fallback>
                <p:oleObj name="Equation" r:id="rId11" imgW="1905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5362575"/>
                        <a:ext cx="3683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285750" y="4041775"/>
          <a:ext cx="3127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1" name="Equation" r:id="rId13" imgW="152268" imgH="203024" progId="Equation.DSMT4">
                  <p:embed/>
                </p:oleObj>
              </mc:Choice>
              <mc:Fallback>
                <p:oleObj name="Equation" r:id="rId13" imgW="152268" imgH="203024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4041775"/>
                        <a:ext cx="3127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4232275" y="4041775"/>
          <a:ext cx="3127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2" name="Equation" r:id="rId15" imgW="152268" imgH="203024" progId="Equation.DSMT4">
                  <p:embed/>
                </p:oleObj>
              </mc:Choice>
              <mc:Fallback>
                <p:oleObj name="Equation" r:id="rId15" imgW="152268" imgH="203024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4041775"/>
                        <a:ext cx="3127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rgbClr val="0033CC"/>
                </a:solidFill>
              </a:rPr>
              <a:t>Local </a:t>
            </a:r>
            <a:r>
              <a:rPr lang="en-GB" altLang="en-US" sz="2800" b="1" dirty="0" smtClean="0">
                <a:solidFill>
                  <a:srgbClr val="0033CC"/>
                </a:solidFill>
              </a:rPr>
              <a:t>uncertainty: </a:t>
            </a:r>
            <a:r>
              <a:rPr lang="en-GB" altLang="en-US" sz="2800" b="1" dirty="0">
                <a:solidFill>
                  <a:srgbClr val="0033CC"/>
                </a:solidFill>
              </a:rPr>
              <a:t>delta method</a:t>
            </a:r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1857375"/>
            <a:ext cx="3748087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857375"/>
            <a:ext cx="36576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425450" y="1146175"/>
            <a:ext cx="82407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Can translate variance in parameters into variance in outcome using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 slope of the graph. </a:t>
            </a:r>
          </a:p>
        </p:txBody>
      </p:sp>
      <p:sp>
        <p:nvSpPr>
          <p:cNvPr id="18438" name="Line 9"/>
          <p:cNvSpPr>
            <a:spLocks noChangeShapeType="1"/>
          </p:cNvSpPr>
          <p:nvPr/>
        </p:nvSpPr>
        <p:spPr bwMode="auto">
          <a:xfrm>
            <a:off x="2352675" y="2089150"/>
            <a:ext cx="0" cy="15224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39" name="Line 10"/>
          <p:cNvSpPr>
            <a:spLocks noChangeShapeType="1"/>
          </p:cNvSpPr>
          <p:nvPr/>
        </p:nvSpPr>
        <p:spPr bwMode="auto">
          <a:xfrm>
            <a:off x="6262688" y="2049463"/>
            <a:ext cx="0" cy="15986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18440" name="Object 12"/>
          <p:cNvGraphicFramePr>
            <a:graphicFrameLocks noChangeAspect="1"/>
          </p:cNvGraphicFramePr>
          <p:nvPr/>
        </p:nvGraphicFramePr>
        <p:xfrm>
          <a:off x="2359025" y="3998913"/>
          <a:ext cx="2952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5" name="Equation" r:id="rId5" imgW="152334" imgH="228501" progId="Equation.DSMT4">
                  <p:embed/>
                </p:oleObj>
              </mc:Choice>
              <mc:Fallback>
                <p:oleObj name="Equation" r:id="rId5" imgW="152334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3998913"/>
                        <a:ext cx="29527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13"/>
          <p:cNvGraphicFramePr>
            <a:graphicFrameLocks noChangeAspect="1"/>
          </p:cNvGraphicFramePr>
          <p:nvPr/>
        </p:nvGraphicFramePr>
        <p:xfrm>
          <a:off x="6119813" y="4013200"/>
          <a:ext cx="368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6" name="Equation" r:id="rId7" imgW="190500" imgH="228600" progId="Equation.DSMT4">
                  <p:embed/>
                </p:oleObj>
              </mc:Choice>
              <mc:Fallback>
                <p:oleObj name="Equation" r:id="rId7" imgW="1905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813" y="4013200"/>
                        <a:ext cx="3683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442" name="Straight Arrow Connector 17"/>
          <p:cNvCxnSpPr>
            <a:cxnSpLocks noChangeShapeType="1"/>
          </p:cNvCxnSpPr>
          <p:nvPr/>
        </p:nvCxnSpPr>
        <p:spPr bwMode="auto">
          <a:xfrm>
            <a:off x="2106613" y="3941763"/>
            <a:ext cx="571500" cy="1587"/>
          </a:xfrm>
          <a:prstGeom prst="straightConnector1">
            <a:avLst/>
          </a:prstGeom>
          <a:noFill/>
          <a:ln w="19050" algn="ctr">
            <a:solidFill>
              <a:srgbClr val="0099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3" name="Straight Arrow Connector 18"/>
          <p:cNvCxnSpPr>
            <a:cxnSpLocks noChangeShapeType="1"/>
          </p:cNvCxnSpPr>
          <p:nvPr/>
        </p:nvCxnSpPr>
        <p:spPr bwMode="auto">
          <a:xfrm rot="16200000" flipH="1">
            <a:off x="4463257" y="2656681"/>
            <a:ext cx="439738" cy="9525"/>
          </a:xfrm>
          <a:prstGeom prst="straightConnector1">
            <a:avLst/>
          </a:prstGeom>
          <a:noFill/>
          <a:ln w="19050" algn="ctr">
            <a:solidFill>
              <a:srgbClr val="CC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4" name="Straight Arrow Connector 20"/>
          <p:cNvCxnSpPr>
            <a:cxnSpLocks noChangeShapeType="1"/>
          </p:cNvCxnSpPr>
          <p:nvPr/>
        </p:nvCxnSpPr>
        <p:spPr bwMode="auto">
          <a:xfrm>
            <a:off x="5964238" y="4013200"/>
            <a:ext cx="571500" cy="1588"/>
          </a:xfrm>
          <a:prstGeom prst="straightConnector1">
            <a:avLst/>
          </a:prstGeom>
          <a:noFill/>
          <a:ln w="19050" algn="ctr">
            <a:solidFill>
              <a:srgbClr val="0099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5" name="Straight Arrow Connector 22"/>
          <p:cNvCxnSpPr>
            <a:cxnSpLocks noChangeShapeType="1"/>
          </p:cNvCxnSpPr>
          <p:nvPr/>
        </p:nvCxnSpPr>
        <p:spPr bwMode="auto">
          <a:xfrm rot="5400000">
            <a:off x="677069" y="2655094"/>
            <a:ext cx="285750" cy="1588"/>
          </a:xfrm>
          <a:prstGeom prst="straightConnector1">
            <a:avLst/>
          </a:prstGeom>
          <a:noFill/>
          <a:ln w="19050" algn="ctr">
            <a:solidFill>
              <a:srgbClr val="CC00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8446" name="Object 6"/>
          <p:cNvGraphicFramePr>
            <a:graphicFrameLocks noChangeAspect="1"/>
          </p:cNvGraphicFramePr>
          <p:nvPr/>
        </p:nvGraphicFramePr>
        <p:xfrm>
          <a:off x="2214563" y="4857750"/>
          <a:ext cx="42021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7" name="Equation" r:id="rId9" imgW="2451100" imgH="279400" progId="Equation.DSMT4">
                  <p:embed/>
                </p:oleObj>
              </mc:Choice>
              <mc:Fallback>
                <p:oleObj name="Equation" r:id="rId9" imgW="2451100" imgH="279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857750"/>
                        <a:ext cx="420211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7" name="Object 15"/>
          <p:cNvGraphicFramePr>
            <a:graphicFrameLocks noChangeAspect="1"/>
          </p:cNvGraphicFramePr>
          <p:nvPr/>
        </p:nvGraphicFramePr>
        <p:xfrm>
          <a:off x="6253163" y="2957513"/>
          <a:ext cx="914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8" name="Equation" r:id="rId11" imgW="435285" imgH="677109" progId="Equation.DSMT4">
                  <p:embed/>
                </p:oleObj>
              </mc:Choice>
              <mc:Fallback>
                <p:oleObj name="Equation" r:id="rId11" imgW="435285" imgH="67710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163" y="2957513"/>
                        <a:ext cx="9144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TextBox 16"/>
          <p:cNvSpPr txBox="1">
            <a:spLocks noChangeArrowheads="1"/>
          </p:cNvSpPr>
          <p:nvPr/>
        </p:nvSpPr>
        <p:spPr bwMode="auto">
          <a:xfrm>
            <a:off x="571500" y="4357688"/>
            <a:ext cx="382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For this case, delta method gives</a:t>
            </a:r>
          </a:p>
        </p:txBody>
      </p:sp>
      <p:sp>
        <p:nvSpPr>
          <p:cNvPr id="18449" name="TextBox 17"/>
          <p:cNvSpPr txBox="1">
            <a:spLocks noChangeArrowheads="1"/>
          </p:cNvSpPr>
          <p:nvPr/>
        </p:nvSpPr>
        <p:spPr bwMode="auto">
          <a:xfrm>
            <a:off x="714375" y="5643563"/>
            <a:ext cx="68389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Method is easily expandable to many parameters.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Takes into account correlations between parameters as well.</a:t>
            </a:r>
          </a:p>
        </p:txBody>
      </p:sp>
      <p:graphicFrame>
        <p:nvGraphicFramePr>
          <p:cNvPr id="18450" name="Object 18"/>
          <p:cNvGraphicFramePr>
            <a:graphicFrameLocks noChangeAspect="1"/>
          </p:cNvGraphicFramePr>
          <p:nvPr/>
        </p:nvGraphicFramePr>
        <p:xfrm>
          <a:off x="339725" y="2606675"/>
          <a:ext cx="3127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9" name="Equation" r:id="rId13" imgW="152268" imgH="203024" progId="Equation.DSMT4">
                  <p:embed/>
                </p:oleObj>
              </mc:Choice>
              <mc:Fallback>
                <p:oleObj name="Equation" r:id="rId13" imgW="152268" imgH="203024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" y="2606675"/>
                        <a:ext cx="3127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1" name="Object 19"/>
          <p:cNvGraphicFramePr>
            <a:graphicFrameLocks noChangeAspect="1"/>
          </p:cNvGraphicFramePr>
          <p:nvPr/>
        </p:nvGraphicFramePr>
        <p:xfrm>
          <a:off x="4286250" y="2606675"/>
          <a:ext cx="3127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0" name="Equation" r:id="rId15" imgW="152268" imgH="203024" progId="Equation.DSMT4">
                  <p:embed/>
                </p:oleObj>
              </mc:Choice>
              <mc:Fallback>
                <p:oleObj name="Equation" r:id="rId15" imgW="152268" imgH="203024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2606675"/>
                        <a:ext cx="3127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rgbClr val="0033CC"/>
                </a:solidFill>
              </a:rPr>
              <a:t>Local </a:t>
            </a:r>
            <a:r>
              <a:rPr lang="en-GB" altLang="en-US" sz="2800" b="1" dirty="0" smtClean="0">
                <a:solidFill>
                  <a:srgbClr val="0033CC"/>
                </a:solidFill>
              </a:rPr>
              <a:t>uncertainty : </a:t>
            </a:r>
            <a:r>
              <a:rPr lang="en-GB" altLang="en-US" sz="2800" b="1" dirty="0">
                <a:solidFill>
                  <a:srgbClr val="0033CC"/>
                </a:solidFill>
              </a:rPr>
              <a:t>delta method</a:t>
            </a:r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642938" y="1196975"/>
            <a:ext cx="6689725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/>
              <a:t>What about the sensitivity of </a:t>
            </a:r>
            <a:r>
              <a:rPr lang="en-GB" altLang="en-US" sz="1800" i="1" dirty="0"/>
              <a:t>f</a:t>
            </a:r>
            <a:r>
              <a:rPr lang="en-GB" altLang="en-US" sz="1800" dirty="0"/>
              <a:t> on both </a:t>
            </a:r>
            <a:r>
              <a:rPr lang="en-GB" altLang="en-US" sz="1800" i="1" dirty="0"/>
              <a:t>R</a:t>
            </a:r>
            <a:r>
              <a:rPr lang="en-GB" altLang="en-US" sz="1800" i="1" baseline="-25000" dirty="0"/>
              <a:t>0</a:t>
            </a:r>
            <a:r>
              <a:rPr lang="en-GB" altLang="en-US" sz="1800" i="1" dirty="0"/>
              <a:t> and </a:t>
            </a:r>
            <a:r>
              <a:rPr lang="en-GB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 dirty="0"/>
              <a:t>0</a:t>
            </a:r>
            <a:r>
              <a:rPr lang="en-GB" altLang="en-US" sz="1800" dirty="0"/>
              <a:t>?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/>
              <a:t>We know </a:t>
            </a:r>
            <a:r>
              <a:rPr lang="en-GB" altLang="en-US" sz="1800" dirty="0" err="1"/>
              <a:t>var</a:t>
            </a:r>
            <a:r>
              <a:rPr lang="en-GB" altLang="en-US" sz="1800" dirty="0"/>
              <a:t>(</a:t>
            </a:r>
            <a:r>
              <a:rPr lang="en-GB" altLang="en-US" sz="1800" i="1" dirty="0"/>
              <a:t>R</a:t>
            </a:r>
            <a:r>
              <a:rPr lang="en-GB" altLang="en-US" sz="1800" i="1" baseline="-25000" dirty="0"/>
              <a:t>0</a:t>
            </a:r>
            <a:r>
              <a:rPr lang="en-GB" altLang="en-US" sz="1800" dirty="0"/>
              <a:t>) and </a:t>
            </a:r>
            <a:r>
              <a:rPr lang="en-GB" altLang="en-US" sz="1800" dirty="0" err="1"/>
              <a:t>var</a:t>
            </a:r>
            <a:r>
              <a:rPr lang="en-GB" altLang="en-US" sz="1800" dirty="0"/>
              <a:t>(</a:t>
            </a:r>
            <a:r>
              <a:rPr lang="en-GB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 dirty="0"/>
              <a:t>0</a:t>
            </a:r>
            <a:r>
              <a:rPr lang="en-GB" altLang="en-US" sz="1800" dirty="0"/>
              <a:t>). What is </a:t>
            </a:r>
            <a:r>
              <a:rPr lang="en-GB" altLang="en-US" sz="1800" dirty="0" err="1"/>
              <a:t>var</a:t>
            </a:r>
            <a:r>
              <a:rPr lang="en-GB" altLang="en-US" sz="1800" dirty="0"/>
              <a:t>(</a:t>
            </a:r>
            <a:r>
              <a:rPr lang="en-GB" altLang="en-US" sz="1800" i="1" dirty="0"/>
              <a:t>f</a:t>
            </a:r>
            <a:r>
              <a:rPr lang="en-GB" altLang="en-US" sz="1800" dirty="0"/>
              <a:t>), approximately?</a:t>
            </a:r>
          </a:p>
        </p:txBody>
      </p:sp>
      <p:graphicFrame>
        <p:nvGraphicFramePr>
          <p:cNvPr id="19460" name="Object 3"/>
          <p:cNvGraphicFramePr>
            <a:graphicFrameLocks noChangeAspect="1"/>
          </p:cNvGraphicFramePr>
          <p:nvPr/>
        </p:nvGraphicFramePr>
        <p:xfrm>
          <a:off x="1193800" y="2819400"/>
          <a:ext cx="63103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0" name="Equation" r:id="rId3" imgW="3924300" imgH="508000" progId="Equation.DSMT4">
                  <p:embed/>
                </p:oleObj>
              </mc:Choice>
              <mc:Fallback>
                <p:oleObj name="Equation" r:id="rId3" imgW="3924300" imgH="508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2819400"/>
                        <a:ext cx="63103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Box 6"/>
          <p:cNvSpPr txBox="1">
            <a:spLocks noChangeArrowheads="1"/>
          </p:cNvSpPr>
          <p:nvPr/>
        </p:nvSpPr>
        <p:spPr bwMode="auto">
          <a:xfrm>
            <a:off x="642938" y="2349500"/>
            <a:ext cx="2300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Delta method gives</a:t>
            </a:r>
          </a:p>
        </p:txBody>
      </p:sp>
      <p:graphicFrame>
        <p:nvGraphicFramePr>
          <p:cNvPr id="19462" name="Object 4"/>
          <p:cNvGraphicFramePr>
            <a:graphicFrameLocks noChangeAspect="1"/>
          </p:cNvGraphicFramePr>
          <p:nvPr/>
        </p:nvGraphicFramePr>
        <p:xfrm>
          <a:off x="2276475" y="4394200"/>
          <a:ext cx="417353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1" name="Equation" r:id="rId5" imgW="2540000" imgH="508000" progId="Equation.DSMT4">
                  <p:embed/>
                </p:oleObj>
              </mc:Choice>
              <mc:Fallback>
                <p:oleObj name="Equation" r:id="rId5" imgW="2540000" imgH="508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4394200"/>
                        <a:ext cx="417353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Box 8"/>
          <p:cNvSpPr txBox="1">
            <a:spLocks noChangeArrowheads="1"/>
          </p:cNvSpPr>
          <p:nvPr/>
        </p:nvSpPr>
        <p:spPr bwMode="auto">
          <a:xfrm>
            <a:off x="642938" y="3921125"/>
            <a:ext cx="45735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Given no correlation between </a:t>
            </a:r>
            <a:r>
              <a:rPr lang="en-GB" altLang="en-US" sz="1800" i="1"/>
              <a:t>R</a:t>
            </a:r>
            <a:r>
              <a:rPr lang="en-GB" altLang="en-US" sz="1800" i="1" baseline="-25000"/>
              <a:t>0</a:t>
            </a:r>
            <a:r>
              <a:rPr lang="en-GB" altLang="en-US" sz="1800" i="1"/>
              <a:t> and </a:t>
            </a:r>
            <a:r>
              <a:rPr lang="en-GB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/>
              <a:t>0</a:t>
            </a:r>
            <a:r>
              <a:rPr lang="en-GB" altLang="en-US" sz="1800"/>
              <a:t>, </a:t>
            </a:r>
          </a:p>
        </p:txBody>
      </p:sp>
      <p:sp>
        <p:nvSpPr>
          <p:cNvPr id="19464" name="TextBox 9"/>
          <p:cNvSpPr txBox="1">
            <a:spLocks noChangeArrowheads="1"/>
          </p:cNvSpPr>
          <p:nvPr/>
        </p:nvSpPr>
        <p:spPr bwMode="auto">
          <a:xfrm>
            <a:off x="1120775" y="5791200"/>
            <a:ext cx="60229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/>
              <a:t>Problems: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Need to be able to work out the slope of the function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 dirty="0"/>
              <a:t>Function needs to be quite linear.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/>
          <p:cNvSpPr txBox="1">
            <a:spLocks noChangeArrowheads="1"/>
          </p:cNvSpPr>
          <p:nvPr/>
        </p:nvSpPr>
        <p:spPr bwMode="auto">
          <a:xfrm>
            <a:off x="750888" y="3906838"/>
            <a:ext cx="7385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All statistical quantities come from integrating across all possible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values:</a:t>
            </a:r>
          </a:p>
        </p:txBody>
      </p:sp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1423988" y="4597400"/>
            <a:ext cx="127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Expected:</a:t>
            </a:r>
          </a:p>
        </p:txBody>
      </p:sp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1381125" y="5467350"/>
            <a:ext cx="1212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Variance:</a:t>
            </a:r>
          </a:p>
        </p:txBody>
      </p:sp>
      <p:graphicFrame>
        <p:nvGraphicFramePr>
          <p:cNvPr id="20485" name="Object 6"/>
          <p:cNvGraphicFramePr>
            <a:graphicFrameLocks noChangeAspect="1"/>
          </p:cNvGraphicFramePr>
          <p:nvPr/>
        </p:nvGraphicFramePr>
        <p:xfrm>
          <a:off x="3125788" y="4491038"/>
          <a:ext cx="466725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4" name="Equation" r:id="rId3" imgW="2374900" imgH="393700" progId="Equation.DSMT4">
                  <p:embed/>
                </p:oleObj>
              </mc:Choice>
              <mc:Fallback>
                <p:oleObj name="Equation" r:id="rId3" imgW="23749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4491038"/>
                        <a:ext cx="4667250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7"/>
          <p:cNvSpPr txBox="1">
            <a:spLocks noChangeArrowheads="1"/>
          </p:cNvSpPr>
          <p:nvPr/>
        </p:nvSpPr>
        <p:spPr bwMode="auto">
          <a:xfrm>
            <a:off x="1684338" y="6337300"/>
            <a:ext cx="490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How do we calculate these kinds of things?</a:t>
            </a:r>
          </a:p>
        </p:txBody>
      </p:sp>
      <p:sp>
        <p:nvSpPr>
          <p:cNvPr id="20487" name="Text Box 8"/>
          <p:cNvSpPr txBox="1">
            <a:spLocks noChangeArrowheads="1"/>
          </p:cNvSpPr>
          <p:nvPr/>
        </p:nvSpPr>
        <p:spPr bwMode="auto">
          <a:xfrm>
            <a:off x="301625" y="1158875"/>
            <a:ext cx="8388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The values of the parameters of our deterministic model are only known as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distributions:</a:t>
            </a:r>
          </a:p>
        </p:txBody>
      </p:sp>
      <p:pic>
        <p:nvPicPr>
          <p:cNvPr id="20488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1890713"/>
            <a:ext cx="20193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9" name="Text Box 10"/>
          <p:cNvSpPr txBox="1">
            <a:spLocks noChangeArrowheads="1"/>
          </p:cNvSpPr>
          <p:nvPr/>
        </p:nvSpPr>
        <p:spPr bwMode="auto">
          <a:xfrm>
            <a:off x="1825625" y="3435350"/>
            <a:ext cx="433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R</a:t>
            </a:r>
            <a:r>
              <a:rPr lang="en-GB" altLang="en-US" sz="1800" baseline="-25000"/>
              <a:t>0</a:t>
            </a:r>
          </a:p>
        </p:txBody>
      </p:sp>
      <p:pic>
        <p:nvPicPr>
          <p:cNvPr id="20490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1911350"/>
            <a:ext cx="29845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1" name="Text Box 12"/>
          <p:cNvSpPr txBox="1">
            <a:spLocks noChangeArrowheads="1"/>
          </p:cNvSpPr>
          <p:nvPr/>
        </p:nvSpPr>
        <p:spPr bwMode="auto">
          <a:xfrm>
            <a:off x="5622925" y="3406775"/>
            <a:ext cx="3317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I</a:t>
            </a:r>
            <a:r>
              <a:rPr lang="en-GB" altLang="en-US" sz="1800" baseline="-25000"/>
              <a:t>0</a:t>
            </a:r>
          </a:p>
        </p:txBody>
      </p:sp>
      <p:graphicFrame>
        <p:nvGraphicFramePr>
          <p:cNvPr id="20492" name="Object 13"/>
          <p:cNvGraphicFramePr>
            <a:graphicFrameLocks noChangeAspect="1"/>
          </p:cNvGraphicFramePr>
          <p:nvPr/>
        </p:nvGraphicFramePr>
        <p:xfrm>
          <a:off x="2686050" y="5367338"/>
          <a:ext cx="5189538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5" name="Equation" r:id="rId7" imgW="2641600" imgH="393700" progId="Equation.DSMT4">
                  <p:embed/>
                </p:oleObj>
              </mc:Choice>
              <mc:Fallback>
                <p:oleObj name="Equation" r:id="rId7" imgW="26416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5367338"/>
                        <a:ext cx="5189538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Text Box 14"/>
          <p:cNvSpPr txBox="1">
            <a:spLocks noChangeArrowheads="1"/>
          </p:cNvSpPr>
          <p:nvPr/>
        </p:nvSpPr>
        <p:spPr bwMode="auto">
          <a:xfrm rot="-5400000">
            <a:off x="466725" y="2416176"/>
            <a:ext cx="725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p(R</a:t>
            </a:r>
            <a:r>
              <a:rPr lang="en-GB" altLang="en-US" sz="1800" baseline="-25000"/>
              <a:t>0</a:t>
            </a:r>
            <a:r>
              <a:rPr lang="en-GB" altLang="en-US" sz="1800"/>
              <a:t>)</a:t>
            </a:r>
            <a:endParaRPr lang="en-US" altLang="en-US" sz="1800"/>
          </a:p>
        </p:txBody>
      </p:sp>
      <p:sp>
        <p:nvSpPr>
          <p:cNvPr id="20494" name="Text Box 15"/>
          <p:cNvSpPr txBox="1">
            <a:spLocks noChangeArrowheads="1"/>
          </p:cNvSpPr>
          <p:nvPr/>
        </p:nvSpPr>
        <p:spPr bwMode="auto">
          <a:xfrm rot="-5400000">
            <a:off x="3844925" y="2505076"/>
            <a:ext cx="6238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p(I</a:t>
            </a:r>
            <a:r>
              <a:rPr lang="en-GB" altLang="en-US" sz="1800" baseline="-25000"/>
              <a:t>0</a:t>
            </a:r>
            <a:r>
              <a:rPr lang="en-GB" altLang="en-US" sz="1800"/>
              <a:t>)</a:t>
            </a:r>
            <a:endParaRPr lang="en-US" altLang="en-US" sz="1800"/>
          </a:p>
        </p:txBody>
      </p:sp>
      <p:sp>
        <p:nvSpPr>
          <p:cNvPr id="20495" name="Text Box 16"/>
          <p:cNvSpPr txBox="1">
            <a:spLocks noChangeArrowheads="1"/>
          </p:cNvSpPr>
          <p:nvPr/>
        </p:nvSpPr>
        <p:spPr bwMode="auto">
          <a:xfrm>
            <a:off x="1908175" y="3225800"/>
            <a:ext cx="254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000"/>
              <a:t>2</a:t>
            </a:r>
            <a:endParaRPr lang="en-US" altLang="en-US" sz="1000"/>
          </a:p>
        </p:txBody>
      </p:sp>
      <p:sp>
        <p:nvSpPr>
          <p:cNvPr id="20496" name="Text Box 17"/>
          <p:cNvSpPr txBox="1">
            <a:spLocks noChangeArrowheads="1"/>
          </p:cNvSpPr>
          <p:nvPr/>
        </p:nvSpPr>
        <p:spPr bwMode="auto">
          <a:xfrm>
            <a:off x="2341563" y="3225800"/>
            <a:ext cx="3587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000"/>
              <a:t>2.5</a:t>
            </a:r>
            <a:endParaRPr lang="en-US" altLang="en-US" sz="1000"/>
          </a:p>
        </p:txBody>
      </p:sp>
      <p:sp>
        <p:nvSpPr>
          <p:cNvPr id="20497" name="Text Box 18"/>
          <p:cNvSpPr txBox="1">
            <a:spLocks noChangeArrowheads="1"/>
          </p:cNvSpPr>
          <p:nvPr/>
        </p:nvSpPr>
        <p:spPr bwMode="auto">
          <a:xfrm>
            <a:off x="1403350" y="3225800"/>
            <a:ext cx="3587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000"/>
              <a:t>1.5</a:t>
            </a:r>
            <a:endParaRPr lang="en-US" altLang="en-US" sz="1000"/>
          </a:p>
        </p:txBody>
      </p:sp>
      <p:sp>
        <p:nvSpPr>
          <p:cNvPr id="20498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in deterministic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5" r="8495" b="-681"/>
          <a:stretch>
            <a:fillRect/>
          </a:stretch>
        </p:blipFill>
        <p:spPr bwMode="auto">
          <a:xfrm>
            <a:off x="304800" y="1717675"/>
            <a:ext cx="3956050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1" r="8495" b="-1360"/>
          <a:stretch>
            <a:fillRect/>
          </a:stretch>
        </p:blipFill>
        <p:spPr bwMode="auto">
          <a:xfrm>
            <a:off x="4492625" y="1730375"/>
            <a:ext cx="408305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5"/>
          <p:cNvSpPr txBox="1">
            <a:spLocks noChangeArrowheads="1"/>
          </p:cNvSpPr>
          <p:nvPr/>
        </p:nvSpPr>
        <p:spPr bwMode="auto">
          <a:xfrm>
            <a:off x="3260725" y="4948238"/>
            <a:ext cx="331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I</a:t>
            </a:r>
            <a:r>
              <a:rPr lang="en-GB" altLang="en-US" sz="1800" baseline="-25000"/>
              <a:t>0</a:t>
            </a:r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4657725" y="4745038"/>
            <a:ext cx="3317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I</a:t>
            </a:r>
            <a:r>
              <a:rPr lang="en-GB" altLang="en-US" sz="1800" baseline="-25000"/>
              <a:t>0</a:t>
            </a:r>
          </a:p>
        </p:txBody>
      </p:sp>
      <p:sp>
        <p:nvSpPr>
          <p:cNvPr id="21510" name="Text Box 7"/>
          <p:cNvSpPr txBox="1">
            <a:spLocks noChangeArrowheads="1"/>
          </p:cNvSpPr>
          <p:nvPr/>
        </p:nvSpPr>
        <p:spPr bwMode="auto">
          <a:xfrm>
            <a:off x="962025" y="5113338"/>
            <a:ext cx="433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R</a:t>
            </a:r>
            <a:r>
              <a:rPr lang="en-GB" altLang="en-US" sz="1800" baseline="-25000"/>
              <a:t>0</a:t>
            </a:r>
          </a:p>
        </p:txBody>
      </p:sp>
      <p:sp>
        <p:nvSpPr>
          <p:cNvPr id="21511" name="Text Box 8"/>
          <p:cNvSpPr txBox="1">
            <a:spLocks noChangeArrowheads="1"/>
          </p:cNvSpPr>
          <p:nvPr/>
        </p:nvSpPr>
        <p:spPr bwMode="auto">
          <a:xfrm>
            <a:off x="7070725" y="5062538"/>
            <a:ext cx="433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R</a:t>
            </a:r>
            <a:r>
              <a:rPr lang="en-GB" altLang="en-US" sz="1800" baseline="-25000"/>
              <a:t>0</a:t>
            </a:r>
          </a:p>
        </p:txBody>
      </p:sp>
      <p:sp>
        <p:nvSpPr>
          <p:cNvPr id="21512" name="Text Box 9"/>
          <p:cNvSpPr txBox="1">
            <a:spLocks noChangeArrowheads="1"/>
          </p:cNvSpPr>
          <p:nvPr/>
        </p:nvSpPr>
        <p:spPr bwMode="auto">
          <a:xfrm rot="5400000">
            <a:off x="8136732" y="3056731"/>
            <a:ext cx="1212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Final size</a:t>
            </a:r>
          </a:p>
        </p:txBody>
      </p:sp>
      <p:sp>
        <p:nvSpPr>
          <p:cNvPr id="21513" name="Text Box 10"/>
          <p:cNvSpPr txBox="1">
            <a:spLocks noChangeArrowheads="1"/>
          </p:cNvSpPr>
          <p:nvPr/>
        </p:nvSpPr>
        <p:spPr bwMode="auto">
          <a:xfrm rot="-5400000">
            <a:off x="-499268" y="3209131"/>
            <a:ext cx="1365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Probability</a:t>
            </a:r>
          </a:p>
        </p:txBody>
      </p:sp>
      <p:sp>
        <p:nvSpPr>
          <p:cNvPr id="21514" name="Text Box 11"/>
          <p:cNvSpPr txBox="1">
            <a:spLocks noChangeArrowheads="1"/>
          </p:cNvSpPr>
          <p:nvPr/>
        </p:nvSpPr>
        <p:spPr bwMode="auto">
          <a:xfrm>
            <a:off x="568325" y="5697538"/>
            <a:ext cx="751522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Can split the range of the parameters into small, equally sized bits.</a:t>
            </a:r>
          </a:p>
          <a:p>
            <a:pPr eaLnBrk="1" hangingPunct="1">
              <a:spcBef>
                <a:spcPct val="0"/>
              </a:spcBef>
            </a:pPr>
            <a:endParaRPr lang="en-GB" altLang="en-US" sz="1800"/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For each square, i, calculate final size, </a:t>
            </a:r>
            <a:r>
              <a:rPr lang="en-GB" altLang="en-US" sz="1800" i="1">
                <a:latin typeface="Times New Roman" panose="02020603050405020304" pitchFamily="18" charset="0"/>
              </a:rPr>
              <a:t>f</a:t>
            </a:r>
            <a:r>
              <a:rPr lang="en-GB" altLang="en-US" sz="1800" baseline="-25000"/>
              <a:t>i</a:t>
            </a:r>
            <a:r>
              <a:rPr lang="en-GB" altLang="en-US" sz="1800"/>
              <a:t> and probability, p</a:t>
            </a:r>
            <a:r>
              <a:rPr lang="en-GB" altLang="en-US" sz="1800" baseline="-25000"/>
              <a:t>i</a:t>
            </a:r>
            <a:r>
              <a:rPr lang="en-GB" altLang="en-US" sz="1800"/>
              <a:t>. </a:t>
            </a:r>
          </a:p>
        </p:txBody>
      </p:sp>
      <p:sp>
        <p:nvSpPr>
          <p:cNvPr id="21515" name="Text Box 12"/>
          <p:cNvSpPr txBox="1">
            <a:spLocks noChangeArrowheads="1"/>
          </p:cNvSpPr>
          <p:nvPr/>
        </p:nvSpPr>
        <p:spPr bwMode="auto">
          <a:xfrm>
            <a:off x="225425" y="1201738"/>
            <a:ext cx="2152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The simplest way:</a:t>
            </a:r>
          </a:p>
        </p:txBody>
      </p:sp>
      <p:sp>
        <p:nvSpPr>
          <p:cNvPr id="21516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Direct calculation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3"/>
          <p:cNvGraphicFramePr>
            <a:graphicFrameLocks noChangeAspect="1"/>
          </p:cNvGraphicFramePr>
          <p:nvPr/>
        </p:nvGraphicFramePr>
        <p:xfrm>
          <a:off x="3324225" y="2320925"/>
          <a:ext cx="206216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3" name="Equation" r:id="rId3" imgW="736600" imgH="342900" progId="Equation.DSMT4">
                  <p:embed/>
                </p:oleObj>
              </mc:Choice>
              <mc:Fallback>
                <p:oleObj name="Equation" r:id="rId3" imgW="736600" imgH="342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2320925"/>
                        <a:ext cx="2062163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4"/>
          <p:cNvGraphicFramePr>
            <a:graphicFrameLocks noChangeAspect="1"/>
          </p:cNvGraphicFramePr>
          <p:nvPr/>
        </p:nvGraphicFramePr>
        <p:xfrm>
          <a:off x="2708275" y="3627438"/>
          <a:ext cx="360362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" name="Equation" r:id="rId5" imgW="1396394" imgH="342751" progId="Equation.DSMT4">
                  <p:embed/>
                </p:oleObj>
              </mc:Choice>
              <mc:Fallback>
                <p:oleObj name="Equation" r:id="rId5" imgW="1396394" imgH="34275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3627438"/>
                        <a:ext cx="360362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644525" y="1162050"/>
            <a:ext cx="742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Can now calculate various statistical quantities as weighted sums:</a:t>
            </a:r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492125" y="1797050"/>
            <a:ext cx="2368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E.g. mean final size:</a:t>
            </a:r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504825" y="3282950"/>
            <a:ext cx="1212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Variance:</a:t>
            </a:r>
          </a:p>
        </p:txBody>
      </p:sp>
      <p:sp>
        <p:nvSpPr>
          <p:cNvPr id="22535" name="Text Box 8"/>
          <p:cNvSpPr txBox="1">
            <a:spLocks noChangeArrowheads="1"/>
          </p:cNvSpPr>
          <p:nvPr/>
        </p:nvSpPr>
        <p:spPr bwMode="auto">
          <a:xfrm>
            <a:off x="517525" y="5454650"/>
            <a:ext cx="7905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Advantages: very simple, robust.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Disadvantages: possibly very inefficient if calculation of f is expensive.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	           : need to know the shape of the probability distribution. </a:t>
            </a:r>
          </a:p>
        </p:txBody>
      </p:sp>
      <p:sp>
        <p:nvSpPr>
          <p:cNvPr id="22536" name="Text Box 9"/>
          <p:cNvSpPr txBox="1">
            <a:spLocks noChangeArrowheads="1"/>
          </p:cNvSpPr>
          <p:nvPr/>
        </p:nvSpPr>
        <p:spPr bwMode="auto">
          <a:xfrm>
            <a:off x="631825" y="4806950"/>
            <a:ext cx="532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Mean final size = 760, Standard deviation = 108.</a:t>
            </a:r>
          </a:p>
        </p:txBody>
      </p:sp>
      <p:sp>
        <p:nvSpPr>
          <p:cNvPr id="22537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Direct calculation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3"/>
          <p:cNvSpPr txBox="1">
            <a:spLocks noChangeArrowheads="1"/>
          </p:cNvSpPr>
          <p:nvPr/>
        </p:nvSpPr>
        <p:spPr bwMode="auto">
          <a:xfrm>
            <a:off x="827088" y="5589588"/>
            <a:ext cx="70326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Chop the range of the parameter  into equally-likely segments.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Area under p.d.f. of each segment is the same.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Pick representative value for each one. 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Note the higher probability, closer together the values are. </a:t>
            </a:r>
          </a:p>
        </p:txBody>
      </p:sp>
      <p:grpSp>
        <p:nvGrpSpPr>
          <p:cNvPr id="23555" name="Group 4"/>
          <p:cNvGrpSpPr>
            <a:grpSpLocks/>
          </p:cNvGrpSpPr>
          <p:nvPr/>
        </p:nvGrpSpPr>
        <p:grpSpPr bwMode="auto">
          <a:xfrm>
            <a:off x="1385888" y="1333500"/>
            <a:ext cx="5915025" cy="4098925"/>
            <a:chOff x="68" y="1026"/>
            <a:chExt cx="3130" cy="2449"/>
          </a:xfrm>
        </p:grpSpPr>
        <p:pic>
          <p:nvPicPr>
            <p:cNvPr id="23557" name="Picture 5" descr="equiChunk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1026"/>
              <a:ext cx="2949" cy="2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58" name="Text Box 6"/>
            <p:cNvSpPr txBox="1">
              <a:spLocks noChangeArrowheads="1"/>
            </p:cNvSpPr>
            <p:nvPr/>
          </p:nvSpPr>
          <p:spPr bwMode="auto">
            <a:xfrm rot="-5400000">
              <a:off x="-214" y="1967"/>
              <a:ext cx="745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Probability</a:t>
              </a:r>
            </a:p>
          </p:txBody>
        </p:sp>
        <p:sp>
          <p:nvSpPr>
            <p:cNvPr id="23559" name="Text Box 7"/>
            <p:cNvSpPr txBox="1">
              <a:spLocks noChangeArrowheads="1"/>
            </p:cNvSpPr>
            <p:nvPr/>
          </p:nvSpPr>
          <p:spPr bwMode="auto">
            <a:xfrm>
              <a:off x="1565" y="2931"/>
              <a:ext cx="213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R</a:t>
              </a:r>
              <a:r>
                <a:rPr lang="en-GB" altLang="en-US" sz="1800" baseline="-25000"/>
                <a:t>0</a:t>
              </a:r>
            </a:p>
          </p:txBody>
        </p:sp>
        <p:sp>
          <p:nvSpPr>
            <p:cNvPr id="23560" name="Text Box 8"/>
            <p:cNvSpPr txBox="1">
              <a:spLocks noChangeArrowheads="1"/>
            </p:cNvSpPr>
            <p:nvPr/>
          </p:nvSpPr>
          <p:spPr bwMode="auto">
            <a:xfrm>
              <a:off x="1080" y="3093"/>
              <a:ext cx="217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>
                  <a:solidFill>
                    <a:srgbClr val="A50021"/>
                  </a:solidFill>
                </a:rPr>
                <a:t>R</a:t>
              </a:r>
              <a:r>
                <a:rPr lang="en-GB" altLang="en-US" sz="1400" baseline="-25000">
                  <a:solidFill>
                    <a:srgbClr val="A50021"/>
                  </a:solidFill>
                </a:rPr>
                <a:t>01</a:t>
              </a:r>
            </a:p>
          </p:txBody>
        </p:sp>
        <p:sp>
          <p:nvSpPr>
            <p:cNvPr id="23561" name="Text Box 9"/>
            <p:cNvSpPr txBox="1">
              <a:spLocks noChangeArrowheads="1"/>
            </p:cNvSpPr>
            <p:nvPr/>
          </p:nvSpPr>
          <p:spPr bwMode="auto">
            <a:xfrm>
              <a:off x="1415" y="3308"/>
              <a:ext cx="216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>
                  <a:solidFill>
                    <a:srgbClr val="A50021"/>
                  </a:solidFill>
                </a:rPr>
                <a:t>R</a:t>
              </a:r>
              <a:r>
                <a:rPr lang="en-GB" altLang="en-US" sz="1400" baseline="-25000">
                  <a:solidFill>
                    <a:srgbClr val="A50021"/>
                  </a:solidFill>
                </a:rPr>
                <a:t>03</a:t>
              </a:r>
            </a:p>
          </p:txBody>
        </p:sp>
        <p:sp>
          <p:nvSpPr>
            <p:cNvPr id="23562" name="Text Box 10"/>
            <p:cNvSpPr txBox="1">
              <a:spLocks noChangeArrowheads="1"/>
            </p:cNvSpPr>
            <p:nvPr/>
          </p:nvSpPr>
          <p:spPr bwMode="auto">
            <a:xfrm>
              <a:off x="1289" y="3111"/>
              <a:ext cx="217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>
                  <a:solidFill>
                    <a:srgbClr val="A50021"/>
                  </a:solidFill>
                </a:rPr>
                <a:t>R</a:t>
              </a:r>
              <a:r>
                <a:rPr lang="en-GB" altLang="en-US" sz="1400" baseline="-25000">
                  <a:solidFill>
                    <a:srgbClr val="A50021"/>
                  </a:solidFill>
                </a:rPr>
                <a:t>02</a:t>
              </a:r>
            </a:p>
          </p:txBody>
        </p:sp>
        <p:sp>
          <p:nvSpPr>
            <p:cNvPr id="23563" name="Line 11"/>
            <p:cNvSpPr>
              <a:spLocks noChangeShapeType="1"/>
            </p:cNvSpPr>
            <p:nvPr/>
          </p:nvSpPr>
          <p:spPr bwMode="auto">
            <a:xfrm flipV="1">
              <a:off x="1222" y="2919"/>
              <a:ext cx="1" cy="169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 flipV="1">
              <a:off x="1435" y="2915"/>
              <a:ext cx="1" cy="169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65" name="Line 13"/>
            <p:cNvSpPr>
              <a:spLocks noChangeShapeType="1"/>
            </p:cNvSpPr>
            <p:nvPr/>
          </p:nvSpPr>
          <p:spPr bwMode="auto">
            <a:xfrm flipV="1">
              <a:off x="1529" y="2909"/>
              <a:ext cx="1" cy="419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3556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A more efficient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3"/>
          <p:cNvGraphicFramePr>
            <a:graphicFrameLocks noChangeAspect="1"/>
          </p:cNvGraphicFramePr>
          <p:nvPr/>
        </p:nvGraphicFramePr>
        <p:xfrm>
          <a:off x="1547813" y="4976813"/>
          <a:ext cx="1741487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1" name="Equation" r:id="rId3" imgW="774364" imgH="418918" progId="Equation.DSMT4">
                  <p:embed/>
                </p:oleObj>
              </mc:Choice>
              <mc:Fallback>
                <p:oleObj name="Equation" r:id="rId3" imgW="774364" imgH="41891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976813"/>
                        <a:ext cx="1741487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4"/>
          <p:cNvGraphicFramePr>
            <a:graphicFrameLocks noChangeAspect="1"/>
          </p:cNvGraphicFramePr>
          <p:nvPr/>
        </p:nvGraphicFramePr>
        <p:xfrm>
          <a:off x="4970463" y="5003800"/>
          <a:ext cx="273526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2" name="Equation" r:id="rId5" imgW="1447800" imgH="419100" progId="Equation.DSMT4">
                  <p:embed/>
                </p:oleObj>
              </mc:Choice>
              <mc:Fallback>
                <p:oleObj name="Equation" r:id="rId5" imgW="14478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463" y="5003800"/>
                        <a:ext cx="273526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792163" y="6302375"/>
            <a:ext cx="7451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Need to be able to do subdivision easily (uniform, triangular, normal(?))</a:t>
            </a:r>
            <a:endParaRPr lang="en-US" altLang="en-US" sz="1800"/>
          </a:p>
        </p:txBody>
      </p:sp>
      <p:grpSp>
        <p:nvGrpSpPr>
          <p:cNvPr id="24581" name="Group 6"/>
          <p:cNvGrpSpPr>
            <a:grpSpLocks/>
          </p:cNvGrpSpPr>
          <p:nvPr/>
        </p:nvGrpSpPr>
        <p:grpSpPr bwMode="auto">
          <a:xfrm>
            <a:off x="277813" y="1217613"/>
            <a:ext cx="3959225" cy="3406775"/>
            <a:chOff x="2789" y="1162"/>
            <a:chExt cx="2494" cy="2146"/>
          </a:xfrm>
        </p:grpSpPr>
        <p:sp>
          <p:nvSpPr>
            <p:cNvPr id="24593" name="Rectangle 7"/>
            <p:cNvSpPr>
              <a:spLocks noChangeArrowheads="1"/>
            </p:cNvSpPr>
            <p:nvPr/>
          </p:nvSpPr>
          <p:spPr bwMode="auto">
            <a:xfrm>
              <a:off x="3152" y="1172"/>
              <a:ext cx="2131" cy="167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24594" name="Line 8"/>
            <p:cNvSpPr>
              <a:spLocks noChangeShapeType="1"/>
            </p:cNvSpPr>
            <p:nvPr/>
          </p:nvSpPr>
          <p:spPr bwMode="auto">
            <a:xfrm flipV="1">
              <a:off x="3514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5" name="Line 9"/>
            <p:cNvSpPr>
              <a:spLocks noChangeShapeType="1"/>
            </p:cNvSpPr>
            <p:nvPr/>
          </p:nvSpPr>
          <p:spPr bwMode="auto">
            <a:xfrm flipV="1">
              <a:off x="3787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6" name="Line 10"/>
            <p:cNvSpPr>
              <a:spLocks noChangeShapeType="1"/>
            </p:cNvSpPr>
            <p:nvPr/>
          </p:nvSpPr>
          <p:spPr bwMode="auto">
            <a:xfrm flipV="1">
              <a:off x="3968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7" name="Line 11"/>
            <p:cNvSpPr>
              <a:spLocks noChangeShapeType="1"/>
            </p:cNvSpPr>
            <p:nvPr/>
          </p:nvSpPr>
          <p:spPr bwMode="auto">
            <a:xfrm flipV="1">
              <a:off x="4104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8" name="Line 12"/>
            <p:cNvSpPr>
              <a:spLocks noChangeShapeType="1"/>
            </p:cNvSpPr>
            <p:nvPr/>
          </p:nvSpPr>
          <p:spPr bwMode="auto">
            <a:xfrm flipV="1">
              <a:off x="4195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9" name="Line 13"/>
            <p:cNvSpPr>
              <a:spLocks noChangeShapeType="1"/>
            </p:cNvSpPr>
            <p:nvPr/>
          </p:nvSpPr>
          <p:spPr bwMode="auto">
            <a:xfrm flipV="1">
              <a:off x="4286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0" name="Line 14"/>
            <p:cNvSpPr>
              <a:spLocks noChangeShapeType="1"/>
            </p:cNvSpPr>
            <p:nvPr/>
          </p:nvSpPr>
          <p:spPr bwMode="auto">
            <a:xfrm flipV="1">
              <a:off x="4422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1" name="Line 15"/>
            <p:cNvSpPr>
              <a:spLocks noChangeShapeType="1"/>
            </p:cNvSpPr>
            <p:nvPr/>
          </p:nvSpPr>
          <p:spPr bwMode="auto">
            <a:xfrm flipV="1">
              <a:off x="4648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2" name="Line 16"/>
            <p:cNvSpPr>
              <a:spLocks noChangeShapeType="1"/>
            </p:cNvSpPr>
            <p:nvPr/>
          </p:nvSpPr>
          <p:spPr bwMode="auto">
            <a:xfrm flipV="1">
              <a:off x="4921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3" name="Line 17"/>
            <p:cNvSpPr>
              <a:spLocks noChangeShapeType="1"/>
            </p:cNvSpPr>
            <p:nvPr/>
          </p:nvSpPr>
          <p:spPr bwMode="auto">
            <a:xfrm>
              <a:off x="3152" y="2714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4" name="Line 18"/>
            <p:cNvSpPr>
              <a:spLocks noChangeShapeType="1"/>
            </p:cNvSpPr>
            <p:nvPr/>
          </p:nvSpPr>
          <p:spPr bwMode="auto">
            <a:xfrm>
              <a:off x="3152" y="1354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5" name="Line 19"/>
            <p:cNvSpPr>
              <a:spLocks noChangeShapeType="1"/>
            </p:cNvSpPr>
            <p:nvPr/>
          </p:nvSpPr>
          <p:spPr bwMode="auto">
            <a:xfrm>
              <a:off x="3152" y="1535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6" name="Line 20"/>
            <p:cNvSpPr>
              <a:spLocks noChangeShapeType="1"/>
            </p:cNvSpPr>
            <p:nvPr/>
          </p:nvSpPr>
          <p:spPr bwMode="auto">
            <a:xfrm>
              <a:off x="3152" y="1716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7" name="Line 21"/>
            <p:cNvSpPr>
              <a:spLocks noChangeShapeType="1"/>
            </p:cNvSpPr>
            <p:nvPr/>
          </p:nvSpPr>
          <p:spPr bwMode="auto">
            <a:xfrm>
              <a:off x="3152" y="1898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8" name="Line 22"/>
            <p:cNvSpPr>
              <a:spLocks noChangeShapeType="1"/>
            </p:cNvSpPr>
            <p:nvPr/>
          </p:nvSpPr>
          <p:spPr bwMode="auto">
            <a:xfrm>
              <a:off x="3152" y="2079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09" name="Line 23"/>
            <p:cNvSpPr>
              <a:spLocks noChangeShapeType="1"/>
            </p:cNvSpPr>
            <p:nvPr/>
          </p:nvSpPr>
          <p:spPr bwMode="auto">
            <a:xfrm>
              <a:off x="3152" y="2261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10" name="Line 24"/>
            <p:cNvSpPr>
              <a:spLocks noChangeShapeType="1"/>
            </p:cNvSpPr>
            <p:nvPr/>
          </p:nvSpPr>
          <p:spPr bwMode="auto">
            <a:xfrm>
              <a:off x="3152" y="2442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11" name="Line 25"/>
            <p:cNvSpPr>
              <a:spLocks noChangeShapeType="1"/>
            </p:cNvSpPr>
            <p:nvPr/>
          </p:nvSpPr>
          <p:spPr bwMode="auto">
            <a:xfrm>
              <a:off x="3152" y="2578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12" name="Text Box 26"/>
            <p:cNvSpPr txBox="1">
              <a:spLocks noChangeArrowheads="1"/>
            </p:cNvSpPr>
            <p:nvPr/>
          </p:nvSpPr>
          <p:spPr bwMode="auto">
            <a:xfrm>
              <a:off x="2789" y="1853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I</a:t>
              </a:r>
              <a:r>
                <a:rPr lang="en-GB" altLang="en-US" sz="1800" baseline="-25000"/>
                <a:t>o</a:t>
              </a:r>
            </a:p>
          </p:txBody>
        </p:sp>
        <p:sp>
          <p:nvSpPr>
            <p:cNvPr id="24613" name="Text Box 27"/>
            <p:cNvSpPr txBox="1">
              <a:spLocks noChangeArrowheads="1"/>
            </p:cNvSpPr>
            <p:nvPr/>
          </p:nvSpPr>
          <p:spPr bwMode="auto">
            <a:xfrm>
              <a:off x="2974" y="116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1</a:t>
              </a:r>
            </a:p>
          </p:txBody>
        </p:sp>
        <p:sp>
          <p:nvSpPr>
            <p:cNvPr id="24614" name="Text Box 28"/>
            <p:cNvSpPr txBox="1">
              <a:spLocks noChangeArrowheads="1"/>
            </p:cNvSpPr>
            <p:nvPr/>
          </p:nvSpPr>
          <p:spPr bwMode="auto">
            <a:xfrm>
              <a:off x="2970" y="1354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2</a:t>
              </a:r>
            </a:p>
          </p:txBody>
        </p:sp>
        <p:sp>
          <p:nvSpPr>
            <p:cNvPr id="24615" name="Text Box 29"/>
            <p:cNvSpPr txBox="1">
              <a:spLocks noChangeArrowheads="1"/>
            </p:cNvSpPr>
            <p:nvPr/>
          </p:nvSpPr>
          <p:spPr bwMode="auto">
            <a:xfrm>
              <a:off x="2970" y="1535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3</a:t>
              </a:r>
            </a:p>
          </p:txBody>
        </p:sp>
        <p:sp>
          <p:nvSpPr>
            <p:cNvPr id="24616" name="Text Box 30"/>
            <p:cNvSpPr txBox="1">
              <a:spLocks noChangeArrowheads="1"/>
            </p:cNvSpPr>
            <p:nvPr/>
          </p:nvSpPr>
          <p:spPr bwMode="auto">
            <a:xfrm>
              <a:off x="2970" y="171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4</a:t>
              </a:r>
            </a:p>
          </p:txBody>
        </p:sp>
        <p:sp>
          <p:nvSpPr>
            <p:cNvPr id="24617" name="Text Box 31"/>
            <p:cNvSpPr txBox="1">
              <a:spLocks noChangeArrowheads="1"/>
            </p:cNvSpPr>
            <p:nvPr/>
          </p:nvSpPr>
          <p:spPr bwMode="auto">
            <a:xfrm>
              <a:off x="2970" y="189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5</a:t>
              </a:r>
            </a:p>
          </p:txBody>
        </p:sp>
        <p:sp>
          <p:nvSpPr>
            <p:cNvPr id="24618" name="Text Box 32"/>
            <p:cNvSpPr txBox="1">
              <a:spLocks noChangeArrowheads="1"/>
            </p:cNvSpPr>
            <p:nvPr/>
          </p:nvSpPr>
          <p:spPr bwMode="auto">
            <a:xfrm>
              <a:off x="2970" y="207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6</a:t>
              </a:r>
            </a:p>
          </p:txBody>
        </p:sp>
        <p:sp>
          <p:nvSpPr>
            <p:cNvPr id="24619" name="Text Box 33"/>
            <p:cNvSpPr txBox="1">
              <a:spLocks noChangeArrowheads="1"/>
            </p:cNvSpPr>
            <p:nvPr/>
          </p:nvSpPr>
          <p:spPr bwMode="auto">
            <a:xfrm>
              <a:off x="2970" y="2261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7</a:t>
              </a:r>
            </a:p>
          </p:txBody>
        </p:sp>
        <p:sp>
          <p:nvSpPr>
            <p:cNvPr id="24620" name="Text Box 34"/>
            <p:cNvSpPr txBox="1">
              <a:spLocks noChangeArrowheads="1"/>
            </p:cNvSpPr>
            <p:nvPr/>
          </p:nvSpPr>
          <p:spPr bwMode="auto">
            <a:xfrm>
              <a:off x="2970" y="244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8</a:t>
              </a:r>
            </a:p>
          </p:txBody>
        </p:sp>
        <p:sp>
          <p:nvSpPr>
            <p:cNvPr id="24621" name="Text Box 35"/>
            <p:cNvSpPr txBox="1">
              <a:spLocks noChangeArrowheads="1"/>
            </p:cNvSpPr>
            <p:nvPr/>
          </p:nvSpPr>
          <p:spPr bwMode="auto">
            <a:xfrm>
              <a:off x="2970" y="257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9</a:t>
              </a:r>
            </a:p>
          </p:txBody>
        </p:sp>
        <p:sp>
          <p:nvSpPr>
            <p:cNvPr id="24622" name="Text Box 36"/>
            <p:cNvSpPr txBox="1">
              <a:spLocks noChangeArrowheads="1"/>
            </p:cNvSpPr>
            <p:nvPr/>
          </p:nvSpPr>
          <p:spPr bwMode="auto">
            <a:xfrm>
              <a:off x="2925" y="2714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10</a:t>
              </a:r>
            </a:p>
          </p:txBody>
        </p:sp>
        <p:sp>
          <p:nvSpPr>
            <p:cNvPr id="24623" name="Text Box 37"/>
            <p:cNvSpPr txBox="1">
              <a:spLocks noChangeArrowheads="1"/>
            </p:cNvSpPr>
            <p:nvPr/>
          </p:nvSpPr>
          <p:spPr bwMode="auto">
            <a:xfrm>
              <a:off x="4013" y="3077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R</a:t>
              </a:r>
              <a:r>
                <a:rPr lang="en-GB" altLang="en-US" sz="1800" baseline="-25000"/>
                <a:t>0</a:t>
              </a:r>
            </a:p>
          </p:txBody>
        </p:sp>
        <p:sp>
          <p:nvSpPr>
            <p:cNvPr id="24624" name="Text Box 38"/>
            <p:cNvSpPr txBox="1">
              <a:spLocks noChangeArrowheads="1"/>
            </p:cNvSpPr>
            <p:nvPr/>
          </p:nvSpPr>
          <p:spPr bwMode="auto">
            <a:xfrm>
              <a:off x="3197" y="2850"/>
              <a:ext cx="2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R</a:t>
              </a:r>
              <a:r>
                <a:rPr lang="en-GB" altLang="en-US" sz="1400" baseline="-25000"/>
                <a:t>01</a:t>
              </a:r>
            </a:p>
          </p:txBody>
        </p:sp>
        <p:sp>
          <p:nvSpPr>
            <p:cNvPr id="24625" name="Text Box 39"/>
            <p:cNvSpPr txBox="1">
              <a:spLocks noChangeArrowheads="1"/>
            </p:cNvSpPr>
            <p:nvPr/>
          </p:nvSpPr>
          <p:spPr bwMode="auto">
            <a:xfrm>
              <a:off x="3514" y="2850"/>
              <a:ext cx="2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R</a:t>
              </a:r>
              <a:r>
                <a:rPr lang="en-GB" altLang="en-US" sz="1400" baseline="-25000"/>
                <a:t>02</a:t>
              </a:r>
            </a:p>
          </p:txBody>
        </p:sp>
        <p:sp>
          <p:nvSpPr>
            <p:cNvPr id="24626" name="Text Box 40"/>
            <p:cNvSpPr txBox="1">
              <a:spLocks noChangeArrowheads="1"/>
            </p:cNvSpPr>
            <p:nvPr/>
          </p:nvSpPr>
          <p:spPr bwMode="auto">
            <a:xfrm>
              <a:off x="3741" y="2850"/>
              <a:ext cx="2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R</a:t>
              </a:r>
              <a:r>
                <a:rPr lang="en-GB" altLang="en-US" sz="1400" baseline="-25000"/>
                <a:t>03</a:t>
              </a:r>
            </a:p>
          </p:txBody>
        </p:sp>
        <p:sp>
          <p:nvSpPr>
            <p:cNvPr id="24627" name="Text Box 41"/>
            <p:cNvSpPr txBox="1">
              <a:spLocks noChangeArrowheads="1"/>
            </p:cNvSpPr>
            <p:nvPr/>
          </p:nvSpPr>
          <p:spPr bwMode="auto">
            <a:xfrm>
              <a:off x="3918" y="2850"/>
              <a:ext cx="2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R</a:t>
              </a:r>
              <a:r>
                <a:rPr lang="en-GB" altLang="en-US" sz="1400" baseline="-25000"/>
                <a:t>04</a:t>
              </a:r>
            </a:p>
          </p:txBody>
        </p:sp>
        <p:sp>
          <p:nvSpPr>
            <p:cNvPr id="24628" name="Text Box 42"/>
            <p:cNvSpPr txBox="1">
              <a:spLocks noChangeArrowheads="1"/>
            </p:cNvSpPr>
            <p:nvPr/>
          </p:nvSpPr>
          <p:spPr bwMode="auto">
            <a:xfrm>
              <a:off x="4104" y="2805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…..</a:t>
              </a:r>
            </a:p>
          </p:txBody>
        </p:sp>
      </p:grpSp>
      <p:sp>
        <p:nvSpPr>
          <p:cNvPr id="24582" name="Text Box 43"/>
          <p:cNvSpPr txBox="1">
            <a:spLocks noChangeArrowheads="1"/>
          </p:cNvSpPr>
          <p:nvPr/>
        </p:nvSpPr>
        <p:spPr bwMode="auto">
          <a:xfrm>
            <a:off x="4584700" y="1173163"/>
            <a:ext cx="4497388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Each choice of a pair of an I</a:t>
            </a:r>
            <a:r>
              <a:rPr lang="en-GB" altLang="en-US" sz="1800" baseline="-25000"/>
              <a:t>0</a:t>
            </a:r>
            <a:r>
              <a:rPr lang="en-GB" altLang="en-US" sz="1800"/>
              <a:t> value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 and an R</a:t>
            </a:r>
            <a:r>
              <a:rPr lang="en-GB" altLang="en-US" sz="1800" baseline="-25000"/>
              <a:t>0</a:t>
            </a:r>
            <a:r>
              <a:rPr lang="en-GB" altLang="en-US" sz="1800"/>
              <a:t> value as ‘likely’ as any other.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Sample from all possible pairs or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 randomly to get a series of parameter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 sets:</a:t>
            </a:r>
          </a:p>
        </p:txBody>
      </p:sp>
      <p:graphicFrame>
        <p:nvGraphicFramePr>
          <p:cNvPr id="24583" name="Object 44"/>
          <p:cNvGraphicFramePr>
            <a:graphicFrameLocks noChangeAspect="1"/>
          </p:cNvGraphicFramePr>
          <p:nvPr/>
        </p:nvGraphicFramePr>
        <p:xfrm>
          <a:off x="4602163" y="3152775"/>
          <a:ext cx="44069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3" name="Equation" r:id="rId7" imgW="1854200" imgH="228600" progId="Equation.DSMT4">
                  <p:embed/>
                </p:oleObj>
              </mc:Choice>
              <mc:Fallback>
                <p:oleObj name="Equation" r:id="rId7" imgW="1854200" imgH="2286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3152775"/>
                        <a:ext cx="44069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Text Box 45"/>
          <p:cNvSpPr txBox="1">
            <a:spLocks noChangeArrowheads="1"/>
          </p:cNvSpPr>
          <p:nvPr/>
        </p:nvSpPr>
        <p:spPr bwMode="auto">
          <a:xfrm>
            <a:off x="5076825" y="4079875"/>
            <a:ext cx="4016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Times New Roman" panose="02020603050405020304" pitchFamily="18" charset="0"/>
              </a:rPr>
              <a:t> f</a:t>
            </a:r>
            <a:r>
              <a:rPr lang="en-GB" altLang="en-US" sz="1800" i="1" baseline="-25000"/>
              <a:t>1</a:t>
            </a:r>
          </a:p>
        </p:txBody>
      </p:sp>
      <p:sp>
        <p:nvSpPr>
          <p:cNvPr id="24585" name="Line 46"/>
          <p:cNvSpPr>
            <a:spLocks noChangeShapeType="1"/>
          </p:cNvSpPr>
          <p:nvPr/>
        </p:nvSpPr>
        <p:spPr bwMode="auto">
          <a:xfrm>
            <a:off x="5276850" y="3711575"/>
            <a:ext cx="0" cy="430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6" name="Text Box 47"/>
          <p:cNvSpPr txBox="1">
            <a:spLocks noChangeArrowheads="1"/>
          </p:cNvSpPr>
          <p:nvPr/>
        </p:nvSpPr>
        <p:spPr bwMode="auto">
          <a:xfrm>
            <a:off x="6362700" y="4070350"/>
            <a:ext cx="4016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Times New Roman" panose="02020603050405020304" pitchFamily="18" charset="0"/>
              </a:rPr>
              <a:t> f</a:t>
            </a:r>
            <a:r>
              <a:rPr lang="en-GB" altLang="en-US" sz="1800" i="1" baseline="-25000"/>
              <a:t>2</a:t>
            </a:r>
          </a:p>
        </p:txBody>
      </p:sp>
      <p:sp>
        <p:nvSpPr>
          <p:cNvPr id="24587" name="Line 48"/>
          <p:cNvSpPr>
            <a:spLocks noChangeShapeType="1"/>
          </p:cNvSpPr>
          <p:nvPr/>
        </p:nvSpPr>
        <p:spPr bwMode="auto">
          <a:xfrm>
            <a:off x="6562725" y="3702050"/>
            <a:ext cx="0" cy="430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88" name="Text Box 49"/>
          <p:cNvSpPr txBox="1">
            <a:spLocks noChangeArrowheads="1"/>
          </p:cNvSpPr>
          <p:nvPr/>
        </p:nvSpPr>
        <p:spPr bwMode="auto">
          <a:xfrm>
            <a:off x="7842250" y="4078288"/>
            <a:ext cx="4016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Times New Roman" panose="02020603050405020304" pitchFamily="18" charset="0"/>
              </a:rPr>
              <a:t> f</a:t>
            </a:r>
            <a:r>
              <a:rPr lang="en-GB" altLang="en-US" sz="1800" i="1" baseline="-25000"/>
              <a:t>3</a:t>
            </a:r>
          </a:p>
        </p:txBody>
      </p:sp>
      <p:sp>
        <p:nvSpPr>
          <p:cNvPr id="24589" name="Line 50"/>
          <p:cNvSpPr>
            <a:spLocks noChangeShapeType="1"/>
          </p:cNvSpPr>
          <p:nvPr/>
        </p:nvSpPr>
        <p:spPr bwMode="auto">
          <a:xfrm>
            <a:off x="8042275" y="3709988"/>
            <a:ext cx="0" cy="430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0" name="Text Box 51"/>
          <p:cNvSpPr txBox="1">
            <a:spLocks noChangeArrowheads="1"/>
          </p:cNvSpPr>
          <p:nvPr/>
        </p:nvSpPr>
        <p:spPr bwMode="auto">
          <a:xfrm>
            <a:off x="3286125" y="5281613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= 778</a:t>
            </a:r>
          </a:p>
        </p:txBody>
      </p:sp>
      <p:sp>
        <p:nvSpPr>
          <p:cNvPr id="24591" name="Text Box 52"/>
          <p:cNvSpPr txBox="1">
            <a:spLocks noChangeArrowheads="1"/>
          </p:cNvSpPr>
          <p:nvPr/>
        </p:nvSpPr>
        <p:spPr bwMode="auto">
          <a:xfrm>
            <a:off x="5153025" y="5764213"/>
            <a:ext cx="2755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Standard deviation = 95</a:t>
            </a:r>
          </a:p>
        </p:txBody>
      </p:sp>
      <p:sp>
        <p:nvSpPr>
          <p:cNvPr id="24592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A more efficient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512763" y="1254125"/>
            <a:ext cx="77311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If evaluation expensive, don’t want to go through all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LHC is a method of picking a subset of points that ‘span’ the region. </a:t>
            </a:r>
            <a:endParaRPr lang="en-US" altLang="en-US" sz="1800"/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908175" y="2405063"/>
            <a:ext cx="5327650" cy="3671887"/>
          </a:xfrm>
          <a:prstGeom prst="rect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cxnSp>
        <p:nvCxnSpPr>
          <p:cNvPr id="25604" name="Straight Connector 4"/>
          <p:cNvCxnSpPr>
            <a:cxnSpLocks noChangeShapeType="1"/>
            <a:stCxn id="25603" idx="0"/>
            <a:endCxn id="25603" idx="2"/>
          </p:cNvCxnSpPr>
          <p:nvPr/>
        </p:nvCxnSpPr>
        <p:spPr bwMode="auto">
          <a:xfrm>
            <a:off x="45720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5" name="Straight Connector 6"/>
          <p:cNvCxnSpPr>
            <a:cxnSpLocks noChangeShapeType="1"/>
            <a:stCxn id="25603" idx="1"/>
            <a:endCxn id="25603" idx="3"/>
          </p:cNvCxnSpPr>
          <p:nvPr/>
        </p:nvCxnSpPr>
        <p:spPr bwMode="auto">
          <a:xfrm>
            <a:off x="1908175" y="4241800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6" name="Straight Connector 68"/>
          <p:cNvCxnSpPr>
            <a:cxnSpLocks noChangeShapeType="1"/>
          </p:cNvCxnSpPr>
          <p:nvPr/>
        </p:nvCxnSpPr>
        <p:spPr bwMode="auto">
          <a:xfrm>
            <a:off x="58674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7" name="Straight Connector 69"/>
          <p:cNvCxnSpPr>
            <a:cxnSpLocks noChangeShapeType="1"/>
          </p:cNvCxnSpPr>
          <p:nvPr/>
        </p:nvCxnSpPr>
        <p:spPr bwMode="auto">
          <a:xfrm>
            <a:off x="32766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8" name="Straight Connector 70"/>
          <p:cNvCxnSpPr>
            <a:cxnSpLocks noChangeShapeType="1"/>
          </p:cNvCxnSpPr>
          <p:nvPr/>
        </p:nvCxnSpPr>
        <p:spPr bwMode="auto">
          <a:xfrm>
            <a:off x="1908175" y="5141913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9" name="Straight Connector 71"/>
          <p:cNvCxnSpPr>
            <a:cxnSpLocks noChangeShapeType="1"/>
          </p:cNvCxnSpPr>
          <p:nvPr/>
        </p:nvCxnSpPr>
        <p:spPr bwMode="auto">
          <a:xfrm>
            <a:off x="1908175" y="3341688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0" name="TextBox 9"/>
          <p:cNvSpPr txBox="1">
            <a:spLocks noChangeArrowheads="1"/>
          </p:cNvSpPr>
          <p:nvPr/>
        </p:nvSpPr>
        <p:spPr bwMode="auto">
          <a:xfrm>
            <a:off x="1908175" y="6294438"/>
            <a:ext cx="5327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1: </a:t>
            </a:r>
            <a:r>
              <a:rPr lang="en-GB" altLang="en-US" sz="1800" i="1"/>
              <a:t>R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25611" name="TextBox 73"/>
          <p:cNvSpPr txBox="1">
            <a:spLocks noChangeArrowheads="1"/>
          </p:cNvSpPr>
          <p:nvPr/>
        </p:nvSpPr>
        <p:spPr bwMode="auto">
          <a:xfrm rot="-5400000">
            <a:off x="-283369" y="4020344"/>
            <a:ext cx="374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2: </a:t>
            </a:r>
            <a:r>
              <a:rPr lang="en-GB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25612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Latin hypercube sampling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512763" y="1254125"/>
            <a:ext cx="77311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If evaluation expensive, don’t want to go through all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LHC is a method of picking a subset of points that ‘span’ the region. </a:t>
            </a:r>
            <a:endParaRPr lang="en-US" altLang="en-US" sz="1800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1908175" y="2405063"/>
            <a:ext cx="5327650" cy="3671887"/>
          </a:xfrm>
          <a:prstGeom prst="rect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cxnSp>
        <p:nvCxnSpPr>
          <p:cNvPr id="26628" name="Straight Connector 4"/>
          <p:cNvCxnSpPr>
            <a:cxnSpLocks noChangeShapeType="1"/>
            <a:stCxn id="26627" idx="0"/>
            <a:endCxn id="26627" idx="2"/>
          </p:cNvCxnSpPr>
          <p:nvPr/>
        </p:nvCxnSpPr>
        <p:spPr bwMode="auto">
          <a:xfrm>
            <a:off x="45720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29" name="Straight Connector 6"/>
          <p:cNvCxnSpPr>
            <a:cxnSpLocks noChangeShapeType="1"/>
            <a:stCxn id="26627" idx="1"/>
            <a:endCxn id="26627" idx="3"/>
          </p:cNvCxnSpPr>
          <p:nvPr/>
        </p:nvCxnSpPr>
        <p:spPr bwMode="auto">
          <a:xfrm>
            <a:off x="1908175" y="4241800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0" name="Straight Connector 68"/>
          <p:cNvCxnSpPr>
            <a:cxnSpLocks noChangeShapeType="1"/>
          </p:cNvCxnSpPr>
          <p:nvPr/>
        </p:nvCxnSpPr>
        <p:spPr bwMode="auto">
          <a:xfrm>
            <a:off x="58674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1" name="Straight Connector 69"/>
          <p:cNvCxnSpPr>
            <a:cxnSpLocks noChangeShapeType="1"/>
          </p:cNvCxnSpPr>
          <p:nvPr/>
        </p:nvCxnSpPr>
        <p:spPr bwMode="auto">
          <a:xfrm>
            <a:off x="32766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2" name="Straight Connector 70"/>
          <p:cNvCxnSpPr>
            <a:cxnSpLocks noChangeShapeType="1"/>
          </p:cNvCxnSpPr>
          <p:nvPr/>
        </p:nvCxnSpPr>
        <p:spPr bwMode="auto">
          <a:xfrm>
            <a:off x="1908175" y="5141913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3" name="Straight Connector 71"/>
          <p:cNvCxnSpPr>
            <a:cxnSpLocks noChangeShapeType="1"/>
          </p:cNvCxnSpPr>
          <p:nvPr/>
        </p:nvCxnSpPr>
        <p:spPr bwMode="auto">
          <a:xfrm>
            <a:off x="1908175" y="3341688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4" name="TextBox 9"/>
          <p:cNvSpPr txBox="1">
            <a:spLocks noChangeArrowheads="1"/>
          </p:cNvSpPr>
          <p:nvPr/>
        </p:nvSpPr>
        <p:spPr bwMode="auto">
          <a:xfrm>
            <a:off x="1908175" y="6294438"/>
            <a:ext cx="5327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1: </a:t>
            </a:r>
            <a:r>
              <a:rPr lang="en-GB" altLang="en-US" sz="1800" i="1"/>
              <a:t>R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26635" name="TextBox 73"/>
          <p:cNvSpPr txBox="1">
            <a:spLocks noChangeArrowheads="1"/>
          </p:cNvSpPr>
          <p:nvPr/>
        </p:nvSpPr>
        <p:spPr bwMode="auto">
          <a:xfrm rot="-5400000">
            <a:off x="-283369" y="4020344"/>
            <a:ext cx="374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2: </a:t>
            </a:r>
            <a:r>
              <a:rPr lang="en-GB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11" name="Multiply 10"/>
          <p:cNvSpPr/>
          <p:nvPr/>
        </p:nvSpPr>
        <p:spPr bwMode="auto">
          <a:xfrm>
            <a:off x="2268538" y="3557588"/>
            <a:ext cx="503237" cy="503237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26637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Latin hypercube sampling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512763" y="1254125"/>
            <a:ext cx="77311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If evaluation expensive, don’t want to go through all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LHC is a method of picking a subset of points that ‘span’ the region. </a:t>
            </a:r>
            <a:endParaRPr lang="en-US" altLang="en-US" sz="1800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908175" y="2405063"/>
            <a:ext cx="5327650" cy="3671887"/>
          </a:xfrm>
          <a:prstGeom prst="rect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cxnSp>
        <p:nvCxnSpPr>
          <p:cNvPr id="27652" name="Straight Connector 4"/>
          <p:cNvCxnSpPr>
            <a:cxnSpLocks noChangeShapeType="1"/>
            <a:stCxn id="27651" idx="0"/>
            <a:endCxn id="27651" idx="2"/>
          </p:cNvCxnSpPr>
          <p:nvPr/>
        </p:nvCxnSpPr>
        <p:spPr bwMode="auto">
          <a:xfrm>
            <a:off x="45720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3" name="Straight Connector 6"/>
          <p:cNvCxnSpPr>
            <a:cxnSpLocks noChangeShapeType="1"/>
            <a:stCxn id="27651" idx="1"/>
            <a:endCxn id="27651" idx="3"/>
          </p:cNvCxnSpPr>
          <p:nvPr/>
        </p:nvCxnSpPr>
        <p:spPr bwMode="auto">
          <a:xfrm>
            <a:off x="1908175" y="4241800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4" name="Straight Connector 68"/>
          <p:cNvCxnSpPr>
            <a:cxnSpLocks noChangeShapeType="1"/>
          </p:cNvCxnSpPr>
          <p:nvPr/>
        </p:nvCxnSpPr>
        <p:spPr bwMode="auto">
          <a:xfrm>
            <a:off x="58674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5" name="Straight Connector 69"/>
          <p:cNvCxnSpPr>
            <a:cxnSpLocks noChangeShapeType="1"/>
          </p:cNvCxnSpPr>
          <p:nvPr/>
        </p:nvCxnSpPr>
        <p:spPr bwMode="auto">
          <a:xfrm>
            <a:off x="32766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6" name="Straight Connector 70"/>
          <p:cNvCxnSpPr>
            <a:cxnSpLocks noChangeShapeType="1"/>
          </p:cNvCxnSpPr>
          <p:nvPr/>
        </p:nvCxnSpPr>
        <p:spPr bwMode="auto">
          <a:xfrm>
            <a:off x="1908175" y="5141913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7" name="Straight Connector 71"/>
          <p:cNvCxnSpPr>
            <a:cxnSpLocks noChangeShapeType="1"/>
          </p:cNvCxnSpPr>
          <p:nvPr/>
        </p:nvCxnSpPr>
        <p:spPr bwMode="auto">
          <a:xfrm>
            <a:off x="1908175" y="3341688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8" name="TextBox 9"/>
          <p:cNvSpPr txBox="1">
            <a:spLocks noChangeArrowheads="1"/>
          </p:cNvSpPr>
          <p:nvPr/>
        </p:nvSpPr>
        <p:spPr bwMode="auto">
          <a:xfrm>
            <a:off x="1908175" y="6294438"/>
            <a:ext cx="5327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1: </a:t>
            </a:r>
            <a:r>
              <a:rPr lang="en-GB" altLang="en-US" sz="1800" i="1"/>
              <a:t>R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27659" name="TextBox 73"/>
          <p:cNvSpPr txBox="1">
            <a:spLocks noChangeArrowheads="1"/>
          </p:cNvSpPr>
          <p:nvPr/>
        </p:nvSpPr>
        <p:spPr bwMode="auto">
          <a:xfrm rot="-5400000">
            <a:off x="-283369" y="4020344"/>
            <a:ext cx="374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2: </a:t>
            </a:r>
            <a:r>
              <a:rPr lang="en-GB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11" name="Multiply 10"/>
          <p:cNvSpPr/>
          <p:nvPr/>
        </p:nvSpPr>
        <p:spPr bwMode="auto">
          <a:xfrm>
            <a:off x="2268538" y="3557588"/>
            <a:ext cx="503237" cy="503237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4" name="Multiply 13"/>
          <p:cNvSpPr/>
          <p:nvPr/>
        </p:nvSpPr>
        <p:spPr bwMode="auto">
          <a:xfrm>
            <a:off x="3635375" y="4421188"/>
            <a:ext cx="504825" cy="504825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27663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Latin hypercube sampling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512763" y="1254125"/>
            <a:ext cx="77311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If evaluation expensive, don’t want to go through all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LHC is a method of picking a subset of points that ‘span’ the region. </a:t>
            </a:r>
            <a:endParaRPr lang="en-US" altLang="en-US" sz="1800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908175" y="2405063"/>
            <a:ext cx="5327650" cy="3671887"/>
          </a:xfrm>
          <a:prstGeom prst="rect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cxnSp>
        <p:nvCxnSpPr>
          <p:cNvPr id="27652" name="Straight Connector 4"/>
          <p:cNvCxnSpPr>
            <a:cxnSpLocks noChangeShapeType="1"/>
            <a:stCxn id="27651" idx="0"/>
            <a:endCxn id="27651" idx="2"/>
          </p:cNvCxnSpPr>
          <p:nvPr/>
        </p:nvCxnSpPr>
        <p:spPr bwMode="auto">
          <a:xfrm>
            <a:off x="45720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3" name="Straight Connector 6"/>
          <p:cNvCxnSpPr>
            <a:cxnSpLocks noChangeShapeType="1"/>
            <a:stCxn id="27651" idx="1"/>
            <a:endCxn id="27651" idx="3"/>
          </p:cNvCxnSpPr>
          <p:nvPr/>
        </p:nvCxnSpPr>
        <p:spPr bwMode="auto">
          <a:xfrm>
            <a:off x="1908175" y="4241800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4" name="Straight Connector 68"/>
          <p:cNvCxnSpPr>
            <a:cxnSpLocks noChangeShapeType="1"/>
          </p:cNvCxnSpPr>
          <p:nvPr/>
        </p:nvCxnSpPr>
        <p:spPr bwMode="auto">
          <a:xfrm>
            <a:off x="58674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5" name="Straight Connector 69"/>
          <p:cNvCxnSpPr>
            <a:cxnSpLocks noChangeShapeType="1"/>
          </p:cNvCxnSpPr>
          <p:nvPr/>
        </p:nvCxnSpPr>
        <p:spPr bwMode="auto">
          <a:xfrm>
            <a:off x="32766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6" name="Straight Connector 70"/>
          <p:cNvCxnSpPr>
            <a:cxnSpLocks noChangeShapeType="1"/>
          </p:cNvCxnSpPr>
          <p:nvPr/>
        </p:nvCxnSpPr>
        <p:spPr bwMode="auto">
          <a:xfrm>
            <a:off x="1908175" y="5141913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57" name="Straight Connector 71"/>
          <p:cNvCxnSpPr>
            <a:cxnSpLocks noChangeShapeType="1"/>
          </p:cNvCxnSpPr>
          <p:nvPr/>
        </p:nvCxnSpPr>
        <p:spPr bwMode="auto">
          <a:xfrm>
            <a:off x="1908175" y="3341688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8" name="TextBox 9"/>
          <p:cNvSpPr txBox="1">
            <a:spLocks noChangeArrowheads="1"/>
          </p:cNvSpPr>
          <p:nvPr/>
        </p:nvSpPr>
        <p:spPr bwMode="auto">
          <a:xfrm>
            <a:off x="1908175" y="6294438"/>
            <a:ext cx="5327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1: </a:t>
            </a:r>
            <a:r>
              <a:rPr lang="en-GB" altLang="en-US" sz="1800" i="1"/>
              <a:t>R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27659" name="TextBox 73"/>
          <p:cNvSpPr txBox="1">
            <a:spLocks noChangeArrowheads="1"/>
          </p:cNvSpPr>
          <p:nvPr/>
        </p:nvSpPr>
        <p:spPr bwMode="auto">
          <a:xfrm rot="-5400000">
            <a:off x="-283369" y="4020344"/>
            <a:ext cx="374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2: </a:t>
            </a:r>
            <a:r>
              <a:rPr lang="en-GB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11" name="Multiply 10"/>
          <p:cNvSpPr/>
          <p:nvPr/>
        </p:nvSpPr>
        <p:spPr bwMode="auto">
          <a:xfrm>
            <a:off x="2268538" y="3557588"/>
            <a:ext cx="503237" cy="503237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4" name="Multiply 13"/>
          <p:cNvSpPr/>
          <p:nvPr/>
        </p:nvSpPr>
        <p:spPr bwMode="auto">
          <a:xfrm>
            <a:off x="3635375" y="4421188"/>
            <a:ext cx="504825" cy="504825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8" name="Multiply 17"/>
          <p:cNvSpPr/>
          <p:nvPr/>
        </p:nvSpPr>
        <p:spPr bwMode="auto">
          <a:xfrm>
            <a:off x="3635375" y="5305425"/>
            <a:ext cx="504825" cy="503238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27663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Latin hypercube sampling</a:t>
            </a:r>
          </a:p>
        </p:txBody>
      </p:sp>
    </p:spTree>
    <p:extLst>
      <p:ext uri="{BB962C8B-B14F-4D97-AF65-F5344CB8AC3E}">
        <p14:creationId xmlns:p14="http://schemas.microsoft.com/office/powerpoint/2010/main" val="187260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3"/>
          <p:cNvSpPr txBox="1">
            <a:spLocks noChangeArrowheads="1"/>
          </p:cNvSpPr>
          <p:nvPr/>
        </p:nvSpPr>
        <p:spPr bwMode="auto">
          <a:xfrm>
            <a:off x="512763" y="1254125"/>
            <a:ext cx="77311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If evaluation expensive, don’t want to go through all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LHC is a method of picking a subset of points that ‘span’ the region. </a:t>
            </a:r>
            <a:endParaRPr lang="en-US" altLang="en-US" sz="1800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1908175" y="2405063"/>
            <a:ext cx="5327650" cy="3671887"/>
          </a:xfrm>
          <a:prstGeom prst="rect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cxnSp>
        <p:nvCxnSpPr>
          <p:cNvPr id="28676" name="Straight Connector 4"/>
          <p:cNvCxnSpPr>
            <a:cxnSpLocks noChangeShapeType="1"/>
            <a:stCxn id="28675" idx="0"/>
            <a:endCxn id="28675" idx="2"/>
          </p:cNvCxnSpPr>
          <p:nvPr/>
        </p:nvCxnSpPr>
        <p:spPr bwMode="auto">
          <a:xfrm>
            <a:off x="45720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7" name="Straight Connector 6"/>
          <p:cNvCxnSpPr>
            <a:cxnSpLocks noChangeShapeType="1"/>
            <a:stCxn id="28675" idx="1"/>
            <a:endCxn id="28675" idx="3"/>
          </p:cNvCxnSpPr>
          <p:nvPr/>
        </p:nvCxnSpPr>
        <p:spPr bwMode="auto">
          <a:xfrm>
            <a:off x="1908175" y="4241800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8" name="Straight Connector 68"/>
          <p:cNvCxnSpPr>
            <a:cxnSpLocks noChangeShapeType="1"/>
          </p:cNvCxnSpPr>
          <p:nvPr/>
        </p:nvCxnSpPr>
        <p:spPr bwMode="auto">
          <a:xfrm>
            <a:off x="58674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9" name="Straight Connector 69"/>
          <p:cNvCxnSpPr>
            <a:cxnSpLocks noChangeShapeType="1"/>
          </p:cNvCxnSpPr>
          <p:nvPr/>
        </p:nvCxnSpPr>
        <p:spPr bwMode="auto">
          <a:xfrm>
            <a:off x="32766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0" name="Straight Connector 70"/>
          <p:cNvCxnSpPr>
            <a:cxnSpLocks noChangeShapeType="1"/>
          </p:cNvCxnSpPr>
          <p:nvPr/>
        </p:nvCxnSpPr>
        <p:spPr bwMode="auto">
          <a:xfrm>
            <a:off x="1908175" y="5141913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1" name="Straight Connector 71"/>
          <p:cNvCxnSpPr>
            <a:cxnSpLocks noChangeShapeType="1"/>
          </p:cNvCxnSpPr>
          <p:nvPr/>
        </p:nvCxnSpPr>
        <p:spPr bwMode="auto">
          <a:xfrm>
            <a:off x="1908175" y="3341688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2" name="TextBox 9"/>
          <p:cNvSpPr txBox="1">
            <a:spLocks noChangeArrowheads="1"/>
          </p:cNvSpPr>
          <p:nvPr/>
        </p:nvSpPr>
        <p:spPr bwMode="auto">
          <a:xfrm>
            <a:off x="1908175" y="6294438"/>
            <a:ext cx="5327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1: </a:t>
            </a:r>
            <a:r>
              <a:rPr lang="en-GB" altLang="en-US" sz="1800" i="1"/>
              <a:t>R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28683" name="TextBox 73"/>
          <p:cNvSpPr txBox="1">
            <a:spLocks noChangeArrowheads="1"/>
          </p:cNvSpPr>
          <p:nvPr/>
        </p:nvSpPr>
        <p:spPr bwMode="auto">
          <a:xfrm rot="-5400000">
            <a:off x="-283369" y="4020344"/>
            <a:ext cx="374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2: </a:t>
            </a:r>
            <a:r>
              <a:rPr lang="en-GB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11" name="Multiply 10"/>
          <p:cNvSpPr/>
          <p:nvPr/>
        </p:nvSpPr>
        <p:spPr bwMode="auto">
          <a:xfrm>
            <a:off x="2268538" y="3557588"/>
            <a:ext cx="503237" cy="503237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4" name="Multiply 13"/>
          <p:cNvSpPr/>
          <p:nvPr/>
        </p:nvSpPr>
        <p:spPr bwMode="auto">
          <a:xfrm>
            <a:off x="3635375" y="4421188"/>
            <a:ext cx="504825" cy="504825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6" name="Multiply 15"/>
          <p:cNvSpPr/>
          <p:nvPr/>
        </p:nvSpPr>
        <p:spPr bwMode="auto">
          <a:xfrm>
            <a:off x="4932363" y="2620963"/>
            <a:ext cx="503237" cy="504825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28687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Latin hypercube sampling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3"/>
          <p:cNvSpPr txBox="1">
            <a:spLocks noChangeArrowheads="1"/>
          </p:cNvSpPr>
          <p:nvPr/>
        </p:nvSpPr>
        <p:spPr bwMode="auto">
          <a:xfrm>
            <a:off x="512763" y="1254125"/>
            <a:ext cx="77311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If evaluation expensive, don’t want to go through all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LHC is a method of picking a subset of points that ‘span’ the region. </a:t>
            </a:r>
            <a:endParaRPr lang="en-US" altLang="en-US" sz="1800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1908175" y="2405063"/>
            <a:ext cx="5327650" cy="3671887"/>
          </a:xfrm>
          <a:prstGeom prst="rect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cxnSp>
        <p:nvCxnSpPr>
          <p:cNvPr id="29700" name="Straight Connector 4"/>
          <p:cNvCxnSpPr>
            <a:cxnSpLocks noChangeShapeType="1"/>
            <a:stCxn id="29699" idx="0"/>
            <a:endCxn id="29699" idx="2"/>
          </p:cNvCxnSpPr>
          <p:nvPr/>
        </p:nvCxnSpPr>
        <p:spPr bwMode="auto">
          <a:xfrm>
            <a:off x="45720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1" name="Straight Connector 6"/>
          <p:cNvCxnSpPr>
            <a:cxnSpLocks noChangeShapeType="1"/>
            <a:stCxn id="29699" idx="1"/>
            <a:endCxn id="29699" idx="3"/>
          </p:cNvCxnSpPr>
          <p:nvPr/>
        </p:nvCxnSpPr>
        <p:spPr bwMode="auto">
          <a:xfrm>
            <a:off x="1908175" y="4241800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2" name="Straight Connector 68"/>
          <p:cNvCxnSpPr>
            <a:cxnSpLocks noChangeShapeType="1"/>
          </p:cNvCxnSpPr>
          <p:nvPr/>
        </p:nvCxnSpPr>
        <p:spPr bwMode="auto">
          <a:xfrm>
            <a:off x="58674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3" name="Straight Connector 69"/>
          <p:cNvCxnSpPr>
            <a:cxnSpLocks noChangeShapeType="1"/>
          </p:cNvCxnSpPr>
          <p:nvPr/>
        </p:nvCxnSpPr>
        <p:spPr bwMode="auto">
          <a:xfrm>
            <a:off x="3276600" y="2405063"/>
            <a:ext cx="0" cy="3671887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4" name="Straight Connector 70"/>
          <p:cNvCxnSpPr>
            <a:cxnSpLocks noChangeShapeType="1"/>
          </p:cNvCxnSpPr>
          <p:nvPr/>
        </p:nvCxnSpPr>
        <p:spPr bwMode="auto">
          <a:xfrm>
            <a:off x="1908175" y="5141913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5" name="Straight Connector 71"/>
          <p:cNvCxnSpPr>
            <a:cxnSpLocks noChangeShapeType="1"/>
          </p:cNvCxnSpPr>
          <p:nvPr/>
        </p:nvCxnSpPr>
        <p:spPr bwMode="auto">
          <a:xfrm>
            <a:off x="1908175" y="3341688"/>
            <a:ext cx="532765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6" name="TextBox 9"/>
          <p:cNvSpPr txBox="1">
            <a:spLocks noChangeArrowheads="1"/>
          </p:cNvSpPr>
          <p:nvPr/>
        </p:nvSpPr>
        <p:spPr bwMode="auto">
          <a:xfrm>
            <a:off x="1908175" y="6294438"/>
            <a:ext cx="5327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1: </a:t>
            </a:r>
            <a:r>
              <a:rPr lang="en-GB" altLang="en-US" sz="1800" i="1"/>
              <a:t>R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29707" name="TextBox 73"/>
          <p:cNvSpPr txBox="1">
            <a:spLocks noChangeArrowheads="1"/>
          </p:cNvSpPr>
          <p:nvPr/>
        </p:nvSpPr>
        <p:spPr bwMode="auto">
          <a:xfrm rot="-5400000">
            <a:off x="-283369" y="4020344"/>
            <a:ext cx="374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parameter 2: </a:t>
            </a:r>
            <a:r>
              <a:rPr lang="en-GB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en-US" sz="1800" baseline="-25000"/>
              <a:t>0</a:t>
            </a:r>
            <a:endParaRPr lang="en-GB" altLang="en-US" sz="1800"/>
          </a:p>
        </p:txBody>
      </p:sp>
      <p:sp>
        <p:nvSpPr>
          <p:cNvPr id="11" name="Multiply 10"/>
          <p:cNvSpPr/>
          <p:nvPr/>
        </p:nvSpPr>
        <p:spPr bwMode="auto">
          <a:xfrm>
            <a:off x="2268538" y="3557588"/>
            <a:ext cx="503237" cy="503237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4" name="Multiply 13"/>
          <p:cNvSpPr/>
          <p:nvPr/>
        </p:nvSpPr>
        <p:spPr bwMode="auto">
          <a:xfrm>
            <a:off x="3635375" y="4421188"/>
            <a:ext cx="504825" cy="504825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6" name="Multiply 15"/>
          <p:cNvSpPr/>
          <p:nvPr/>
        </p:nvSpPr>
        <p:spPr bwMode="auto">
          <a:xfrm>
            <a:off x="4932363" y="2620963"/>
            <a:ext cx="503237" cy="504825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7" name="Multiply 16"/>
          <p:cNvSpPr/>
          <p:nvPr/>
        </p:nvSpPr>
        <p:spPr bwMode="auto">
          <a:xfrm>
            <a:off x="6300788" y="5357813"/>
            <a:ext cx="503237" cy="503237"/>
          </a:xfrm>
          <a:prstGeom prst="mathMultiply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29712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Latin hypercube sampling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512763" y="1201738"/>
            <a:ext cx="773112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 dirty="0"/>
              <a:t>If evaluation expensive, don’t want to go through all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/>
          </a:p>
          <a:p>
            <a:pPr eaLnBrk="1" hangingPunct="1">
              <a:spcBef>
                <a:spcPct val="0"/>
              </a:spcBef>
            </a:pPr>
            <a:r>
              <a:rPr lang="en-GB" altLang="en-US" sz="1800" dirty="0"/>
              <a:t>LHC is a method of picking a subset of points that ‘span’ the region. </a:t>
            </a:r>
            <a:endParaRPr lang="en-US" altLang="en-US" sz="1800" dirty="0"/>
          </a:p>
        </p:txBody>
      </p:sp>
      <p:graphicFrame>
        <p:nvGraphicFramePr>
          <p:cNvPr id="30723" name="Object 4"/>
          <p:cNvGraphicFramePr>
            <a:graphicFrameLocks noGrp="1" noChangeAspect="1"/>
          </p:cNvGraphicFramePr>
          <p:nvPr>
            <p:ph/>
          </p:nvPr>
        </p:nvGraphicFramePr>
        <p:xfrm>
          <a:off x="768350" y="2914650"/>
          <a:ext cx="601663" cy="240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6" name="Equation" r:id="rId3" imgW="330057" imgH="1320227" progId="Equation.DSMT4">
                  <p:embed/>
                </p:oleObj>
              </mc:Choice>
              <mc:Fallback>
                <p:oleObj name="Equation" r:id="rId3" imgW="330057" imgH="132022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2914650"/>
                        <a:ext cx="601663" cy="240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AutoShape 5"/>
          <p:cNvSpPr>
            <a:spLocks noChangeArrowheads="1"/>
          </p:cNvSpPr>
          <p:nvPr/>
        </p:nvSpPr>
        <p:spPr bwMode="auto">
          <a:xfrm>
            <a:off x="1849438" y="3810000"/>
            <a:ext cx="976312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1651000" y="3154363"/>
            <a:ext cx="1314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choose an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R</a:t>
            </a:r>
            <a:r>
              <a:rPr lang="en-GB" altLang="en-US" sz="1800" baseline="-25000"/>
              <a:t>0</a:t>
            </a:r>
            <a:endParaRPr lang="en-US" altLang="en-US" sz="1800" baseline="-25000"/>
          </a:p>
        </p:txBody>
      </p:sp>
      <p:sp>
        <p:nvSpPr>
          <p:cNvPr id="30726" name="Text Box 7"/>
          <p:cNvSpPr txBox="1">
            <a:spLocks noChangeArrowheads="1"/>
          </p:cNvSpPr>
          <p:nvPr/>
        </p:nvSpPr>
        <p:spPr bwMode="auto">
          <a:xfrm>
            <a:off x="1543050" y="6111875"/>
            <a:ext cx="5889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1800"/>
              <a:t>Each parameter value appears once and only once. 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800"/>
              <a:t>Can repeat the process to get further sets. </a:t>
            </a:r>
            <a:endParaRPr lang="en-US" altLang="en-US" sz="1800"/>
          </a:p>
        </p:txBody>
      </p:sp>
      <p:sp>
        <p:nvSpPr>
          <p:cNvPr id="30727" name="Text Box 8"/>
          <p:cNvSpPr txBox="1">
            <a:spLocks noChangeArrowheads="1"/>
          </p:cNvSpPr>
          <p:nvPr/>
        </p:nvSpPr>
        <p:spPr bwMode="auto">
          <a:xfrm>
            <a:off x="347663" y="2389188"/>
            <a:ext cx="2825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From previous example:</a:t>
            </a:r>
            <a:endParaRPr lang="en-US" altLang="en-US" sz="1800"/>
          </a:p>
        </p:txBody>
      </p:sp>
      <p:grpSp>
        <p:nvGrpSpPr>
          <p:cNvPr id="30728" name="Group 9"/>
          <p:cNvGrpSpPr>
            <a:grpSpLocks/>
          </p:cNvGrpSpPr>
          <p:nvPr/>
        </p:nvGrpSpPr>
        <p:grpSpPr bwMode="auto">
          <a:xfrm>
            <a:off x="4672013" y="2665413"/>
            <a:ext cx="3959225" cy="3406775"/>
            <a:chOff x="2789" y="1162"/>
            <a:chExt cx="2494" cy="2146"/>
          </a:xfrm>
        </p:grpSpPr>
        <p:sp>
          <p:nvSpPr>
            <p:cNvPr id="30745" name="Rectangle 10"/>
            <p:cNvSpPr>
              <a:spLocks noChangeArrowheads="1"/>
            </p:cNvSpPr>
            <p:nvPr/>
          </p:nvSpPr>
          <p:spPr bwMode="auto">
            <a:xfrm>
              <a:off x="3152" y="1172"/>
              <a:ext cx="2131" cy="167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30746" name="Line 11"/>
            <p:cNvSpPr>
              <a:spLocks noChangeShapeType="1"/>
            </p:cNvSpPr>
            <p:nvPr/>
          </p:nvSpPr>
          <p:spPr bwMode="auto">
            <a:xfrm flipV="1">
              <a:off x="3514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7" name="Line 12"/>
            <p:cNvSpPr>
              <a:spLocks noChangeShapeType="1"/>
            </p:cNvSpPr>
            <p:nvPr/>
          </p:nvSpPr>
          <p:spPr bwMode="auto">
            <a:xfrm flipV="1">
              <a:off x="3787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8" name="Line 13"/>
            <p:cNvSpPr>
              <a:spLocks noChangeShapeType="1"/>
            </p:cNvSpPr>
            <p:nvPr/>
          </p:nvSpPr>
          <p:spPr bwMode="auto">
            <a:xfrm flipV="1">
              <a:off x="3968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9" name="Line 14"/>
            <p:cNvSpPr>
              <a:spLocks noChangeShapeType="1"/>
            </p:cNvSpPr>
            <p:nvPr/>
          </p:nvSpPr>
          <p:spPr bwMode="auto">
            <a:xfrm flipV="1">
              <a:off x="4104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0" name="Line 15"/>
            <p:cNvSpPr>
              <a:spLocks noChangeShapeType="1"/>
            </p:cNvSpPr>
            <p:nvPr/>
          </p:nvSpPr>
          <p:spPr bwMode="auto">
            <a:xfrm flipV="1">
              <a:off x="4195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1" name="Line 16"/>
            <p:cNvSpPr>
              <a:spLocks noChangeShapeType="1"/>
            </p:cNvSpPr>
            <p:nvPr/>
          </p:nvSpPr>
          <p:spPr bwMode="auto">
            <a:xfrm flipV="1">
              <a:off x="4286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2" name="Line 17"/>
            <p:cNvSpPr>
              <a:spLocks noChangeShapeType="1"/>
            </p:cNvSpPr>
            <p:nvPr/>
          </p:nvSpPr>
          <p:spPr bwMode="auto">
            <a:xfrm flipV="1">
              <a:off x="4422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3" name="Line 18"/>
            <p:cNvSpPr>
              <a:spLocks noChangeShapeType="1"/>
            </p:cNvSpPr>
            <p:nvPr/>
          </p:nvSpPr>
          <p:spPr bwMode="auto">
            <a:xfrm flipV="1">
              <a:off x="4648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4" name="Line 19"/>
            <p:cNvSpPr>
              <a:spLocks noChangeShapeType="1"/>
            </p:cNvSpPr>
            <p:nvPr/>
          </p:nvSpPr>
          <p:spPr bwMode="auto">
            <a:xfrm flipV="1">
              <a:off x="4921" y="1172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5" name="Line 20"/>
            <p:cNvSpPr>
              <a:spLocks noChangeShapeType="1"/>
            </p:cNvSpPr>
            <p:nvPr/>
          </p:nvSpPr>
          <p:spPr bwMode="auto">
            <a:xfrm>
              <a:off x="3152" y="2714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6" name="Line 21"/>
            <p:cNvSpPr>
              <a:spLocks noChangeShapeType="1"/>
            </p:cNvSpPr>
            <p:nvPr/>
          </p:nvSpPr>
          <p:spPr bwMode="auto">
            <a:xfrm>
              <a:off x="3152" y="1354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7" name="Line 22"/>
            <p:cNvSpPr>
              <a:spLocks noChangeShapeType="1"/>
            </p:cNvSpPr>
            <p:nvPr/>
          </p:nvSpPr>
          <p:spPr bwMode="auto">
            <a:xfrm>
              <a:off x="3152" y="1535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8" name="Line 23"/>
            <p:cNvSpPr>
              <a:spLocks noChangeShapeType="1"/>
            </p:cNvSpPr>
            <p:nvPr/>
          </p:nvSpPr>
          <p:spPr bwMode="auto">
            <a:xfrm>
              <a:off x="3152" y="1716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9" name="Line 24"/>
            <p:cNvSpPr>
              <a:spLocks noChangeShapeType="1"/>
            </p:cNvSpPr>
            <p:nvPr/>
          </p:nvSpPr>
          <p:spPr bwMode="auto">
            <a:xfrm>
              <a:off x="3152" y="1898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0" name="Line 25"/>
            <p:cNvSpPr>
              <a:spLocks noChangeShapeType="1"/>
            </p:cNvSpPr>
            <p:nvPr/>
          </p:nvSpPr>
          <p:spPr bwMode="auto">
            <a:xfrm>
              <a:off x="3152" y="2079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1" name="Line 26"/>
            <p:cNvSpPr>
              <a:spLocks noChangeShapeType="1"/>
            </p:cNvSpPr>
            <p:nvPr/>
          </p:nvSpPr>
          <p:spPr bwMode="auto">
            <a:xfrm>
              <a:off x="3152" y="2261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2" name="Line 27"/>
            <p:cNvSpPr>
              <a:spLocks noChangeShapeType="1"/>
            </p:cNvSpPr>
            <p:nvPr/>
          </p:nvSpPr>
          <p:spPr bwMode="auto">
            <a:xfrm>
              <a:off x="3152" y="2442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3" name="Line 28"/>
            <p:cNvSpPr>
              <a:spLocks noChangeShapeType="1"/>
            </p:cNvSpPr>
            <p:nvPr/>
          </p:nvSpPr>
          <p:spPr bwMode="auto">
            <a:xfrm>
              <a:off x="3152" y="2578"/>
              <a:ext cx="2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4" name="Text Box 29"/>
            <p:cNvSpPr txBox="1">
              <a:spLocks noChangeArrowheads="1"/>
            </p:cNvSpPr>
            <p:nvPr/>
          </p:nvSpPr>
          <p:spPr bwMode="auto">
            <a:xfrm>
              <a:off x="2789" y="1853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I</a:t>
              </a:r>
              <a:r>
                <a:rPr lang="en-GB" altLang="en-US" sz="1800" baseline="-25000"/>
                <a:t>o</a:t>
              </a:r>
            </a:p>
          </p:txBody>
        </p:sp>
        <p:sp>
          <p:nvSpPr>
            <p:cNvPr id="30765" name="Text Box 30"/>
            <p:cNvSpPr txBox="1">
              <a:spLocks noChangeArrowheads="1"/>
            </p:cNvSpPr>
            <p:nvPr/>
          </p:nvSpPr>
          <p:spPr bwMode="auto">
            <a:xfrm>
              <a:off x="2974" y="116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1</a:t>
              </a:r>
            </a:p>
          </p:txBody>
        </p:sp>
        <p:sp>
          <p:nvSpPr>
            <p:cNvPr id="30766" name="Text Box 31"/>
            <p:cNvSpPr txBox="1">
              <a:spLocks noChangeArrowheads="1"/>
            </p:cNvSpPr>
            <p:nvPr/>
          </p:nvSpPr>
          <p:spPr bwMode="auto">
            <a:xfrm>
              <a:off x="2970" y="1354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2</a:t>
              </a:r>
            </a:p>
          </p:txBody>
        </p:sp>
        <p:sp>
          <p:nvSpPr>
            <p:cNvPr id="30767" name="Text Box 32"/>
            <p:cNvSpPr txBox="1">
              <a:spLocks noChangeArrowheads="1"/>
            </p:cNvSpPr>
            <p:nvPr/>
          </p:nvSpPr>
          <p:spPr bwMode="auto">
            <a:xfrm>
              <a:off x="2970" y="1535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3</a:t>
              </a:r>
            </a:p>
          </p:txBody>
        </p:sp>
        <p:sp>
          <p:nvSpPr>
            <p:cNvPr id="30768" name="Text Box 33"/>
            <p:cNvSpPr txBox="1">
              <a:spLocks noChangeArrowheads="1"/>
            </p:cNvSpPr>
            <p:nvPr/>
          </p:nvSpPr>
          <p:spPr bwMode="auto">
            <a:xfrm>
              <a:off x="2970" y="171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4</a:t>
              </a:r>
            </a:p>
          </p:txBody>
        </p:sp>
        <p:sp>
          <p:nvSpPr>
            <p:cNvPr id="30769" name="Text Box 34"/>
            <p:cNvSpPr txBox="1">
              <a:spLocks noChangeArrowheads="1"/>
            </p:cNvSpPr>
            <p:nvPr/>
          </p:nvSpPr>
          <p:spPr bwMode="auto">
            <a:xfrm>
              <a:off x="2970" y="189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5</a:t>
              </a:r>
            </a:p>
          </p:txBody>
        </p:sp>
        <p:sp>
          <p:nvSpPr>
            <p:cNvPr id="30770" name="Text Box 35"/>
            <p:cNvSpPr txBox="1">
              <a:spLocks noChangeArrowheads="1"/>
            </p:cNvSpPr>
            <p:nvPr/>
          </p:nvSpPr>
          <p:spPr bwMode="auto">
            <a:xfrm>
              <a:off x="2970" y="207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6</a:t>
              </a:r>
            </a:p>
          </p:txBody>
        </p:sp>
        <p:sp>
          <p:nvSpPr>
            <p:cNvPr id="30771" name="Text Box 36"/>
            <p:cNvSpPr txBox="1">
              <a:spLocks noChangeArrowheads="1"/>
            </p:cNvSpPr>
            <p:nvPr/>
          </p:nvSpPr>
          <p:spPr bwMode="auto">
            <a:xfrm>
              <a:off x="2970" y="2261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7</a:t>
              </a:r>
            </a:p>
          </p:txBody>
        </p:sp>
        <p:sp>
          <p:nvSpPr>
            <p:cNvPr id="30772" name="Text Box 37"/>
            <p:cNvSpPr txBox="1">
              <a:spLocks noChangeArrowheads="1"/>
            </p:cNvSpPr>
            <p:nvPr/>
          </p:nvSpPr>
          <p:spPr bwMode="auto">
            <a:xfrm>
              <a:off x="2970" y="244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8</a:t>
              </a:r>
            </a:p>
          </p:txBody>
        </p:sp>
        <p:sp>
          <p:nvSpPr>
            <p:cNvPr id="30773" name="Text Box 38"/>
            <p:cNvSpPr txBox="1">
              <a:spLocks noChangeArrowheads="1"/>
            </p:cNvSpPr>
            <p:nvPr/>
          </p:nvSpPr>
          <p:spPr bwMode="auto">
            <a:xfrm>
              <a:off x="2970" y="2578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9</a:t>
              </a:r>
            </a:p>
          </p:txBody>
        </p:sp>
        <p:sp>
          <p:nvSpPr>
            <p:cNvPr id="30774" name="Text Box 39"/>
            <p:cNvSpPr txBox="1">
              <a:spLocks noChangeArrowheads="1"/>
            </p:cNvSpPr>
            <p:nvPr/>
          </p:nvSpPr>
          <p:spPr bwMode="auto">
            <a:xfrm>
              <a:off x="2925" y="2714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10</a:t>
              </a:r>
            </a:p>
          </p:txBody>
        </p:sp>
        <p:sp>
          <p:nvSpPr>
            <p:cNvPr id="30775" name="Text Box 40"/>
            <p:cNvSpPr txBox="1">
              <a:spLocks noChangeArrowheads="1"/>
            </p:cNvSpPr>
            <p:nvPr/>
          </p:nvSpPr>
          <p:spPr bwMode="auto">
            <a:xfrm>
              <a:off x="4013" y="3077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R</a:t>
              </a:r>
              <a:r>
                <a:rPr lang="en-GB" altLang="en-US" sz="1800" baseline="-25000"/>
                <a:t>0</a:t>
              </a:r>
            </a:p>
          </p:txBody>
        </p:sp>
        <p:sp>
          <p:nvSpPr>
            <p:cNvPr id="30776" name="Text Box 41"/>
            <p:cNvSpPr txBox="1">
              <a:spLocks noChangeArrowheads="1"/>
            </p:cNvSpPr>
            <p:nvPr/>
          </p:nvSpPr>
          <p:spPr bwMode="auto">
            <a:xfrm>
              <a:off x="3197" y="2850"/>
              <a:ext cx="2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R</a:t>
              </a:r>
              <a:r>
                <a:rPr lang="en-GB" altLang="en-US" sz="1400" baseline="-25000"/>
                <a:t>01</a:t>
              </a:r>
            </a:p>
          </p:txBody>
        </p:sp>
        <p:sp>
          <p:nvSpPr>
            <p:cNvPr id="30777" name="Text Box 42"/>
            <p:cNvSpPr txBox="1">
              <a:spLocks noChangeArrowheads="1"/>
            </p:cNvSpPr>
            <p:nvPr/>
          </p:nvSpPr>
          <p:spPr bwMode="auto">
            <a:xfrm>
              <a:off x="3514" y="2850"/>
              <a:ext cx="2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R</a:t>
              </a:r>
              <a:r>
                <a:rPr lang="en-GB" altLang="en-US" sz="1400" baseline="-25000"/>
                <a:t>02</a:t>
              </a:r>
            </a:p>
          </p:txBody>
        </p:sp>
        <p:sp>
          <p:nvSpPr>
            <p:cNvPr id="30778" name="Text Box 43"/>
            <p:cNvSpPr txBox="1">
              <a:spLocks noChangeArrowheads="1"/>
            </p:cNvSpPr>
            <p:nvPr/>
          </p:nvSpPr>
          <p:spPr bwMode="auto">
            <a:xfrm>
              <a:off x="3741" y="2850"/>
              <a:ext cx="2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R</a:t>
              </a:r>
              <a:r>
                <a:rPr lang="en-GB" altLang="en-US" sz="1400" baseline="-25000"/>
                <a:t>03</a:t>
              </a:r>
            </a:p>
          </p:txBody>
        </p:sp>
        <p:sp>
          <p:nvSpPr>
            <p:cNvPr id="30779" name="Text Box 44"/>
            <p:cNvSpPr txBox="1">
              <a:spLocks noChangeArrowheads="1"/>
            </p:cNvSpPr>
            <p:nvPr/>
          </p:nvSpPr>
          <p:spPr bwMode="auto">
            <a:xfrm>
              <a:off x="3918" y="2850"/>
              <a:ext cx="2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/>
                <a:t>R</a:t>
              </a:r>
              <a:r>
                <a:rPr lang="en-GB" altLang="en-US" sz="1400" baseline="-25000"/>
                <a:t>04</a:t>
              </a:r>
            </a:p>
          </p:txBody>
        </p:sp>
        <p:sp>
          <p:nvSpPr>
            <p:cNvPr id="30780" name="Text Box 45"/>
            <p:cNvSpPr txBox="1">
              <a:spLocks noChangeArrowheads="1"/>
            </p:cNvSpPr>
            <p:nvPr/>
          </p:nvSpPr>
          <p:spPr bwMode="auto">
            <a:xfrm>
              <a:off x="4104" y="2805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/>
                <a:t>…..</a:t>
              </a:r>
            </a:p>
          </p:txBody>
        </p:sp>
      </p:grpSp>
      <p:graphicFrame>
        <p:nvGraphicFramePr>
          <p:cNvPr id="30729" name="Object 46"/>
          <p:cNvGraphicFramePr>
            <a:graphicFrameLocks noChangeAspect="1"/>
          </p:cNvGraphicFramePr>
          <p:nvPr/>
        </p:nvGraphicFramePr>
        <p:xfrm>
          <a:off x="3117850" y="2882900"/>
          <a:ext cx="1049338" cy="237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7" name="Equation" r:id="rId5" imgW="583947" imgH="1320227" progId="Equation.DSMT4">
                  <p:embed/>
                </p:oleObj>
              </mc:Choice>
              <mc:Fallback>
                <p:oleObj name="Equation" r:id="rId5" imgW="583947" imgH="1320227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2882900"/>
                        <a:ext cx="1049338" cy="237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Text Box 47"/>
          <p:cNvSpPr txBox="1">
            <a:spLocks noChangeArrowheads="1"/>
          </p:cNvSpPr>
          <p:nvPr/>
        </p:nvSpPr>
        <p:spPr bwMode="auto">
          <a:xfrm>
            <a:off x="6651625" y="38084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31" name="Text Box 48"/>
          <p:cNvSpPr txBox="1">
            <a:spLocks noChangeArrowheads="1"/>
          </p:cNvSpPr>
          <p:nvPr/>
        </p:nvSpPr>
        <p:spPr bwMode="auto">
          <a:xfrm>
            <a:off x="6804025" y="50403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32" name="Text Box 49"/>
          <p:cNvSpPr txBox="1">
            <a:spLocks noChangeArrowheads="1"/>
          </p:cNvSpPr>
          <p:nvPr/>
        </p:nvSpPr>
        <p:spPr bwMode="auto">
          <a:xfrm>
            <a:off x="6994525" y="26654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33" name="Text Box 50"/>
          <p:cNvSpPr txBox="1">
            <a:spLocks noChangeArrowheads="1"/>
          </p:cNvSpPr>
          <p:nvPr/>
        </p:nvSpPr>
        <p:spPr bwMode="auto">
          <a:xfrm>
            <a:off x="6486525" y="41005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34" name="Text Box 51"/>
          <p:cNvSpPr txBox="1">
            <a:spLocks noChangeArrowheads="1"/>
          </p:cNvSpPr>
          <p:nvPr/>
        </p:nvSpPr>
        <p:spPr bwMode="auto">
          <a:xfrm>
            <a:off x="8150225" y="43799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35" name="Text Box 52"/>
          <p:cNvSpPr txBox="1">
            <a:spLocks noChangeArrowheads="1"/>
          </p:cNvSpPr>
          <p:nvPr/>
        </p:nvSpPr>
        <p:spPr bwMode="auto">
          <a:xfrm>
            <a:off x="5368925" y="35290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36" name="Text Box 53"/>
          <p:cNvSpPr txBox="1">
            <a:spLocks noChangeArrowheads="1"/>
          </p:cNvSpPr>
          <p:nvPr/>
        </p:nvSpPr>
        <p:spPr bwMode="auto">
          <a:xfrm>
            <a:off x="7693025" y="48625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37" name="Text Box 54"/>
          <p:cNvSpPr txBox="1">
            <a:spLocks noChangeArrowheads="1"/>
          </p:cNvSpPr>
          <p:nvPr/>
        </p:nvSpPr>
        <p:spPr bwMode="auto">
          <a:xfrm>
            <a:off x="7299325" y="29448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38" name="Text Box 55"/>
          <p:cNvSpPr txBox="1">
            <a:spLocks noChangeArrowheads="1"/>
          </p:cNvSpPr>
          <p:nvPr/>
        </p:nvSpPr>
        <p:spPr bwMode="auto">
          <a:xfrm>
            <a:off x="5864225" y="46212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39" name="Text Box 56"/>
          <p:cNvSpPr txBox="1">
            <a:spLocks noChangeArrowheads="1"/>
          </p:cNvSpPr>
          <p:nvPr/>
        </p:nvSpPr>
        <p:spPr bwMode="auto">
          <a:xfrm>
            <a:off x="6232525" y="32369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X</a:t>
            </a:r>
          </a:p>
        </p:txBody>
      </p:sp>
      <p:sp>
        <p:nvSpPr>
          <p:cNvPr id="30740" name="Text Box 57"/>
          <p:cNvSpPr txBox="1">
            <a:spLocks noChangeArrowheads="1"/>
          </p:cNvSpPr>
          <p:nvPr/>
        </p:nvSpPr>
        <p:spPr bwMode="auto">
          <a:xfrm>
            <a:off x="428625" y="5624513"/>
            <a:ext cx="3854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10X10 cube: mean = 780, s.d. = 86</a:t>
            </a:r>
          </a:p>
        </p:txBody>
      </p:sp>
      <p:sp>
        <p:nvSpPr>
          <p:cNvPr id="30741" name="Text Box 58"/>
          <p:cNvSpPr txBox="1">
            <a:spLocks noChangeArrowheads="1"/>
          </p:cNvSpPr>
          <p:nvPr/>
        </p:nvSpPr>
        <p:spPr bwMode="auto">
          <a:xfrm rot="-5400000">
            <a:off x="-484187" y="3871913"/>
            <a:ext cx="145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/>
              <a:t>Increasing size</a:t>
            </a:r>
            <a:endParaRPr lang="en-US" altLang="en-US" sz="1400"/>
          </a:p>
        </p:txBody>
      </p:sp>
      <p:sp>
        <p:nvSpPr>
          <p:cNvPr id="30742" name="Line 59"/>
          <p:cNvSpPr>
            <a:spLocks noChangeShapeType="1"/>
          </p:cNvSpPr>
          <p:nvPr/>
        </p:nvSpPr>
        <p:spPr bwMode="auto">
          <a:xfrm>
            <a:off x="419100" y="3124200"/>
            <a:ext cx="0" cy="17653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43" name="Text Box 60"/>
          <p:cNvSpPr txBox="1">
            <a:spLocks noChangeArrowheads="1"/>
          </p:cNvSpPr>
          <p:nvPr/>
        </p:nvSpPr>
        <p:spPr bwMode="auto">
          <a:xfrm>
            <a:off x="1787525" y="4367213"/>
            <a:ext cx="1073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for each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I</a:t>
            </a:r>
            <a:r>
              <a:rPr lang="en-GB" altLang="en-US" sz="1800" baseline="-25000"/>
              <a:t>0</a:t>
            </a:r>
          </a:p>
        </p:txBody>
      </p:sp>
      <p:sp>
        <p:nvSpPr>
          <p:cNvPr id="30744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 dirty="0">
                <a:solidFill>
                  <a:srgbClr val="0033CC"/>
                </a:solidFill>
              </a:rPr>
              <a:t>Latin hypercube sampling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 Box 11"/>
          <p:cNvSpPr txBox="1">
            <a:spLocks noChangeArrowheads="1"/>
          </p:cNvSpPr>
          <p:nvPr/>
        </p:nvSpPr>
        <p:spPr bwMode="auto">
          <a:xfrm>
            <a:off x="323850" y="3284538"/>
            <a:ext cx="760977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0"/>
              <a:t>First, create a way of randomly picking a new set of params from the old.</a:t>
            </a:r>
          </a:p>
          <a:p>
            <a:pPr eaLnBrk="1" hangingPunct="1"/>
            <a:r>
              <a:rPr lang="en-GB" altLang="en-US" sz="1800" b="0"/>
              <a:t>(must be symmetrical. E.g. Add normal deviate to each). </a:t>
            </a:r>
          </a:p>
          <a:p>
            <a:pPr eaLnBrk="1" hangingPunct="1"/>
            <a:endParaRPr lang="en-GB" altLang="en-US" sz="1800" b="0"/>
          </a:p>
          <a:p>
            <a:pPr eaLnBrk="1" hangingPunct="1">
              <a:buFontTx/>
              <a:buChar char="•"/>
            </a:pPr>
            <a:r>
              <a:rPr lang="en-GB" altLang="en-US" sz="1800" b="0"/>
              <a:t>From last point, (x</a:t>
            </a:r>
            <a:r>
              <a:rPr lang="en-GB" altLang="en-US" sz="1800" b="0" baseline="-25000"/>
              <a:t>1</a:t>
            </a:r>
            <a:r>
              <a:rPr lang="en-GB" altLang="en-US" sz="1800" b="0"/>
              <a:t>,x</a:t>
            </a:r>
            <a:r>
              <a:rPr lang="en-GB" altLang="en-US" sz="1800" b="0" baseline="-25000"/>
              <a:t>2</a:t>
            </a:r>
            <a:r>
              <a:rPr lang="en-GB" altLang="en-US" sz="1800" b="0"/>
              <a:t>), generate new point, </a:t>
            </a:r>
          </a:p>
          <a:p>
            <a:pPr eaLnBrk="1" hangingPunct="1">
              <a:buFontTx/>
              <a:buChar char="•"/>
            </a:pPr>
            <a:endParaRPr lang="en-GB" altLang="en-US" sz="1800" b="0"/>
          </a:p>
          <a:p>
            <a:pPr eaLnBrk="1" hangingPunct="1">
              <a:buFontTx/>
              <a:buChar char="•"/>
            </a:pPr>
            <a:r>
              <a:rPr lang="en-GB" altLang="en-US" sz="1800" b="0"/>
              <a:t>Calculate A, where </a:t>
            </a:r>
          </a:p>
          <a:p>
            <a:pPr eaLnBrk="1" hangingPunct="1">
              <a:buFontTx/>
              <a:buChar char="•"/>
            </a:pPr>
            <a:endParaRPr lang="en-GB" altLang="en-US" sz="1800" b="0"/>
          </a:p>
          <a:p>
            <a:pPr eaLnBrk="1" hangingPunct="1">
              <a:buFontTx/>
              <a:buChar char="•"/>
            </a:pPr>
            <a:r>
              <a:rPr lang="en-GB" altLang="en-US" sz="1800" b="0"/>
              <a:t>Get a random number, u, between [0,1]. </a:t>
            </a:r>
          </a:p>
          <a:p>
            <a:pPr eaLnBrk="1" hangingPunct="1">
              <a:buFontTx/>
              <a:buChar char="•"/>
            </a:pPr>
            <a:endParaRPr lang="en-GB" altLang="en-US" sz="1800" b="0"/>
          </a:p>
          <a:p>
            <a:pPr eaLnBrk="1" hangingPunct="1">
              <a:buFontTx/>
              <a:buChar char="•"/>
            </a:pPr>
            <a:r>
              <a:rPr lang="en-GB" altLang="en-US" sz="1800" b="0"/>
              <a:t>If u&lt;A, accept new point. Otherwise use old one again. </a:t>
            </a:r>
            <a:endParaRPr lang="en-US" altLang="en-US" sz="1800" b="0"/>
          </a:p>
        </p:txBody>
      </p:sp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2174967" y="340956"/>
            <a:ext cx="4660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800" dirty="0">
                <a:solidFill>
                  <a:srgbClr val="0033CC"/>
                </a:solidFill>
              </a:rPr>
              <a:t>Monte Carlo Markov chain</a:t>
            </a:r>
            <a:endParaRPr lang="en-US" altLang="en-US" sz="2800" dirty="0">
              <a:solidFill>
                <a:srgbClr val="0033CC"/>
              </a:solidFill>
            </a:endParaRPr>
          </a:p>
        </p:txBody>
      </p:sp>
      <p:sp>
        <p:nvSpPr>
          <p:cNvPr id="11271" name="Text Box 5"/>
          <p:cNvSpPr txBox="1">
            <a:spLocks noChangeArrowheads="1"/>
          </p:cNvSpPr>
          <p:nvPr/>
        </p:nvSpPr>
        <p:spPr bwMode="auto">
          <a:xfrm>
            <a:off x="273417" y="1181382"/>
            <a:ext cx="816441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GB" altLang="en-US" sz="1800" b="0" dirty="0"/>
              <a:t>MCMC is a way of generating a sequence of parameter sets which appear to </a:t>
            </a:r>
          </a:p>
          <a:p>
            <a:pPr eaLnBrk="1" hangingPunct="1"/>
            <a:r>
              <a:rPr lang="en-GB" altLang="en-US" sz="1800" b="0" dirty="0"/>
              <a:t> have come from distribution. </a:t>
            </a:r>
          </a:p>
          <a:p>
            <a:pPr eaLnBrk="1" hangingPunct="1">
              <a:buFontTx/>
              <a:buChar char="•"/>
            </a:pPr>
            <a:r>
              <a:rPr lang="en-GB" altLang="en-US" sz="1800" b="0" dirty="0"/>
              <a:t>Each new set generated from previous one, hence ‘chain’, by a rule. </a:t>
            </a:r>
            <a:endParaRPr lang="en-US" altLang="en-US" sz="1800" b="0" dirty="0"/>
          </a:p>
        </p:txBody>
      </p:sp>
      <p:sp>
        <p:nvSpPr>
          <p:cNvPr id="11272" name="Text Box 7"/>
          <p:cNvSpPr txBox="1">
            <a:spLocks noChangeArrowheads="1"/>
          </p:cNvSpPr>
          <p:nvPr/>
        </p:nvSpPr>
        <p:spPr bwMode="auto">
          <a:xfrm>
            <a:off x="323850" y="2708275"/>
            <a:ext cx="22750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0" u="sng"/>
              <a:t>Metropolis Algorithm</a:t>
            </a:r>
            <a:endParaRPr lang="en-US" altLang="en-US" sz="1800" b="0" u="sng"/>
          </a:p>
        </p:txBody>
      </p:sp>
      <p:graphicFrame>
        <p:nvGraphicFramePr>
          <p:cNvPr id="55305" name="Object 9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55560220"/>
              </p:ext>
            </p:extLst>
          </p:nvPr>
        </p:nvGraphicFramePr>
        <p:xfrm>
          <a:off x="3059113" y="2247541"/>
          <a:ext cx="25923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1" name="Equation" r:id="rId3" imgW="1295280" imgH="228600" progId="Equation.DSMT4">
                  <p:embed/>
                </p:oleObj>
              </mc:Choice>
              <mc:Fallback>
                <p:oleObj name="Equation" r:id="rId3" imgW="1295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247541"/>
                        <a:ext cx="25923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12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395537779"/>
              </p:ext>
            </p:extLst>
          </p:nvPr>
        </p:nvGraphicFramePr>
        <p:xfrm>
          <a:off x="5004707" y="4021138"/>
          <a:ext cx="94773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2" name="Equation" r:id="rId5" imgW="469800" imgH="241200" progId="Equation.DSMT4">
                  <p:embed/>
                </p:oleObj>
              </mc:Choice>
              <mc:Fallback>
                <p:oleObj name="Equation" r:id="rId5" imgW="469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707" y="4021138"/>
                        <a:ext cx="947738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1" name="Object 1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050317865"/>
              </p:ext>
            </p:extLst>
          </p:nvPr>
        </p:nvGraphicFramePr>
        <p:xfrm>
          <a:off x="2586487" y="4581525"/>
          <a:ext cx="28908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3" name="Equation" r:id="rId7" imgW="1447560" imgH="241200" progId="Equation.DSMT4">
                  <p:embed/>
                </p:oleObj>
              </mc:Choice>
              <mc:Fallback>
                <p:oleObj name="Equation" r:id="rId7" imgW="1447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487" y="4581525"/>
                        <a:ext cx="289083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AutoShape 18"/>
          <p:cNvSpPr>
            <a:spLocks noChangeArrowheads="1"/>
          </p:cNvSpPr>
          <p:nvPr/>
        </p:nvSpPr>
        <p:spPr bwMode="auto">
          <a:xfrm rot="-5400000">
            <a:off x="6372225" y="4221163"/>
            <a:ext cx="2270125" cy="1549400"/>
          </a:xfrm>
          <a:prstGeom prst="curvedUpArrow">
            <a:avLst>
              <a:gd name="adj1" fmla="val 29303"/>
              <a:gd name="adj2" fmla="val 58607"/>
              <a:gd name="adj3" fmla="val 332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1274" name="Text Box 19"/>
          <p:cNvSpPr txBox="1">
            <a:spLocks noChangeArrowheads="1"/>
          </p:cNvSpPr>
          <p:nvPr/>
        </p:nvSpPr>
        <p:spPr bwMode="auto">
          <a:xfrm>
            <a:off x="1835150" y="6329363"/>
            <a:ext cx="499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/>
              <a:t>N.B. successive points are </a:t>
            </a:r>
            <a:r>
              <a:rPr lang="en-GB" altLang="en-US" sz="1800" i="1" u="sng"/>
              <a:t>not</a:t>
            </a:r>
            <a:r>
              <a:rPr lang="en-GB" altLang="en-US" sz="1800"/>
              <a:t> independent!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97334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2"/>
          <p:cNvSpPr txBox="1">
            <a:spLocks noChangeArrowheads="1"/>
          </p:cNvSpPr>
          <p:nvPr/>
        </p:nvSpPr>
        <p:spPr bwMode="auto">
          <a:xfrm>
            <a:off x="404199" y="494128"/>
            <a:ext cx="82333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800" dirty="0">
                <a:solidFill>
                  <a:srgbClr val="0033CC"/>
                </a:solidFill>
              </a:rPr>
              <a:t>Stochastic </a:t>
            </a:r>
            <a:r>
              <a:rPr lang="en-GB" altLang="en-US" sz="2800" dirty="0" smtClean="0">
                <a:solidFill>
                  <a:srgbClr val="0033CC"/>
                </a:solidFill>
              </a:rPr>
              <a:t>and probabilistic models</a:t>
            </a:r>
            <a:r>
              <a:rPr lang="en-GB" altLang="en-US" sz="2800" dirty="0">
                <a:solidFill>
                  <a:srgbClr val="0033CC"/>
                </a:solidFill>
              </a:rPr>
              <a:t>: likelihood</a:t>
            </a:r>
            <a:endParaRPr lang="en-US" altLang="en-US" sz="2800" dirty="0">
              <a:solidFill>
                <a:srgbClr val="0033CC"/>
              </a:solidFill>
            </a:endParaRP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107950" y="1152525"/>
            <a:ext cx="843371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GB" altLang="en-US" sz="1800" b="0" dirty="0"/>
              <a:t>Stochastic models incorporate the randomness of the processes they represent,</a:t>
            </a:r>
          </a:p>
          <a:p>
            <a:pPr eaLnBrk="1" hangingPunct="1"/>
            <a:r>
              <a:rPr lang="en-GB" altLang="en-US" sz="1800" b="0" dirty="0"/>
              <a:t>  e.g. infection, recovery, death, etc.</a:t>
            </a:r>
          </a:p>
          <a:p>
            <a:pPr eaLnBrk="1" hangingPunct="1">
              <a:buFontTx/>
              <a:buChar char="•"/>
            </a:pPr>
            <a:r>
              <a:rPr lang="en-GB" altLang="en-US" sz="1800" b="0" dirty="0"/>
              <a:t>Hence each run of the model will produce different results from the same </a:t>
            </a:r>
          </a:p>
          <a:p>
            <a:pPr eaLnBrk="1" hangingPunct="1"/>
            <a:r>
              <a:rPr lang="en-GB" altLang="en-US" sz="1800" b="0" dirty="0"/>
              <a:t>  parameters.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250825" y="2320925"/>
            <a:ext cx="80890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0" dirty="0">
                <a:latin typeface="+mn-lt"/>
              </a:rPr>
              <a:t>Consider an epidemic model: we want to know what values of </a:t>
            </a:r>
            <a:r>
              <a:rPr lang="el-GR" altLang="en-US" sz="1800" b="0" dirty="0" smtClean="0">
                <a:latin typeface="+mn-lt"/>
              </a:rPr>
              <a:t>β</a:t>
            </a:r>
            <a:r>
              <a:rPr lang="en-GB" altLang="en-US" sz="1800" b="0" dirty="0" smtClean="0">
                <a:latin typeface="+mn-lt"/>
              </a:rPr>
              <a:t> </a:t>
            </a:r>
            <a:r>
              <a:rPr lang="en-GB" altLang="en-US" sz="1800" b="0" dirty="0">
                <a:latin typeface="+mn-lt"/>
              </a:rPr>
              <a:t>produce an </a:t>
            </a:r>
          </a:p>
          <a:p>
            <a:pPr eaLnBrk="1" hangingPunct="1"/>
            <a:r>
              <a:rPr lang="en-GB" altLang="en-US" sz="1800" b="0" dirty="0">
                <a:latin typeface="+mn-lt"/>
              </a:rPr>
              <a:t>observed final epidemic size. </a:t>
            </a:r>
          </a:p>
        </p:txBody>
      </p:sp>
      <p:grpSp>
        <p:nvGrpSpPr>
          <p:cNvPr id="15366" name="Group 11"/>
          <p:cNvGrpSpPr>
            <a:grpSpLocks/>
          </p:cNvGrpSpPr>
          <p:nvPr/>
        </p:nvGrpSpPr>
        <p:grpSpPr bwMode="auto">
          <a:xfrm>
            <a:off x="2936875" y="3722688"/>
            <a:ext cx="1274763" cy="914400"/>
            <a:chOff x="2517" y="2341"/>
            <a:chExt cx="803" cy="576"/>
          </a:xfrm>
        </p:grpSpPr>
        <p:sp>
          <p:nvSpPr>
            <p:cNvPr id="15375" name="Rectangle 5"/>
            <p:cNvSpPr>
              <a:spLocks noChangeArrowheads="1"/>
            </p:cNvSpPr>
            <p:nvPr/>
          </p:nvSpPr>
          <p:spPr bwMode="auto">
            <a:xfrm>
              <a:off x="2517" y="2341"/>
              <a:ext cx="803" cy="57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5376" name="Text Box 6"/>
            <p:cNvSpPr txBox="1">
              <a:spLocks noChangeArrowheads="1"/>
            </p:cNvSpPr>
            <p:nvPr/>
          </p:nvSpPr>
          <p:spPr bwMode="auto">
            <a:xfrm>
              <a:off x="2653" y="2523"/>
              <a:ext cx="5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800" dirty="0"/>
                <a:t>Model</a:t>
              </a:r>
            </a:p>
          </p:txBody>
        </p:sp>
      </p:grpSp>
      <p:graphicFrame>
        <p:nvGraphicFramePr>
          <p:cNvPr id="1536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686515"/>
              </p:ext>
            </p:extLst>
          </p:nvPr>
        </p:nvGraphicFramePr>
        <p:xfrm>
          <a:off x="776288" y="3795713"/>
          <a:ext cx="531812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6" name="Equation" r:id="rId3" imgW="152280" imgH="203040" progId="Equation.DSMT4">
                  <p:embed/>
                </p:oleObj>
              </mc:Choice>
              <mc:Fallback>
                <p:oleObj name="Equation" r:id="rId3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3795713"/>
                        <a:ext cx="531812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AutoShape 8"/>
          <p:cNvSpPr>
            <a:spLocks noChangeArrowheads="1"/>
          </p:cNvSpPr>
          <p:nvPr/>
        </p:nvSpPr>
        <p:spPr bwMode="auto">
          <a:xfrm>
            <a:off x="1639888" y="3940175"/>
            <a:ext cx="976312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368" name="AutoShape 9"/>
          <p:cNvSpPr>
            <a:spLocks noChangeArrowheads="1"/>
          </p:cNvSpPr>
          <p:nvPr/>
        </p:nvSpPr>
        <p:spPr bwMode="auto">
          <a:xfrm>
            <a:off x="4376738" y="3940175"/>
            <a:ext cx="976312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pic>
        <p:nvPicPr>
          <p:cNvPr id="1536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675" y="3198813"/>
            <a:ext cx="3124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0" name="Text Box 12"/>
          <p:cNvSpPr txBox="1">
            <a:spLocks noChangeArrowheads="1"/>
          </p:cNvSpPr>
          <p:nvPr/>
        </p:nvSpPr>
        <p:spPr bwMode="auto">
          <a:xfrm>
            <a:off x="6715125" y="5286375"/>
            <a:ext cx="828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/>
              <a:t>final size</a:t>
            </a:r>
          </a:p>
        </p:txBody>
      </p:sp>
      <p:sp>
        <p:nvSpPr>
          <p:cNvPr id="15371" name="Line 13"/>
          <p:cNvSpPr>
            <a:spLocks noChangeShapeType="1"/>
          </p:cNvSpPr>
          <p:nvPr/>
        </p:nvSpPr>
        <p:spPr bwMode="auto">
          <a:xfrm flipV="1">
            <a:off x="7761288" y="3054350"/>
            <a:ext cx="0" cy="23050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372" name="Text Box 14"/>
          <p:cNvSpPr txBox="1">
            <a:spLocks noChangeArrowheads="1"/>
          </p:cNvSpPr>
          <p:nvPr/>
        </p:nvSpPr>
        <p:spPr bwMode="auto">
          <a:xfrm>
            <a:off x="7688263" y="2981325"/>
            <a:ext cx="860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/>
              <a:t>observed</a:t>
            </a:r>
          </a:p>
        </p:txBody>
      </p:sp>
      <p:sp>
        <p:nvSpPr>
          <p:cNvPr id="15373" name="Text Box 15"/>
          <p:cNvSpPr txBox="1">
            <a:spLocks noChangeArrowheads="1"/>
          </p:cNvSpPr>
          <p:nvPr/>
        </p:nvSpPr>
        <p:spPr bwMode="auto">
          <a:xfrm>
            <a:off x="4376738" y="4060825"/>
            <a:ext cx="946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0" i="1" dirty="0"/>
              <a:t>Many</a:t>
            </a:r>
            <a:r>
              <a:rPr lang="en-GB" altLang="en-US" sz="1200" i="1" dirty="0"/>
              <a:t> runs</a:t>
            </a:r>
          </a:p>
        </p:txBody>
      </p:sp>
      <p:sp>
        <p:nvSpPr>
          <p:cNvPr id="15374" name="Text Box 16"/>
          <p:cNvSpPr txBox="1">
            <a:spLocks noChangeArrowheads="1"/>
          </p:cNvSpPr>
          <p:nvPr/>
        </p:nvSpPr>
        <p:spPr bwMode="auto">
          <a:xfrm>
            <a:off x="1550988" y="5530850"/>
            <a:ext cx="488146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dirty="0">
                <a:latin typeface="+mn-lt"/>
              </a:rPr>
              <a:t>Questions:</a:t>
            </a:r>
          </a:p>
          <a:p>
            <a:pPr eaLnBrk="1" hangingPunct="1">
              <a:buFontTx/>
              <a:buChar char="•"/>
            </a:pPr>
            <a:r>
              <a:rPr lang="en-GB" altLang="en-US" sz="1800" dirty="0">
                <a:latin typeface="+mn-lt"/>
              </a:rPr>
              <a:t>What is the ‘best’ value </a:t>
            </a:r>
            <a:r>
              <a:rPr lang="en-GB" altLang="en-US" sz="1800" dirty="0" smtClean="0">
                <a:latin typeface="+mn-lt"/>
              </a:rPr>
              <a:t>for</a:t>
            </a:r>
            <a:r>
              <a:rPr lang="el-GR" altLang="en-US" sz="1800" dirty="0" smtClean="0"/>
              <a:t> </a:t>
            </a:r>
            <a:r>
              <a:rPr lang="el-GR" altLang="en-US" sz="1800" dirty="0"/>
              <a:t>β</a:t>
            </a:r>
            <a:r>
              <a:rPr lang="en-GB" altLang="en-US" sz="1800" dirty="0" smtClean="0">
                <a:latin typeface="+mn-lt"/>
              </a:rPr>
              <a:t>?</a:t>
            </a:r>
            <a:endParaRPr lang="en-GB" altLang="en-US" sz="1800" dirty="0">
              <a:latin typeface="+mn-lt"/>
            </a:endParaRPr>
          </a:p>
          <a:p>
            <a:pPr eaLnBrk="1" hangingPunct="1">
              <a:buFontTx/>
              <a:buChar char="•"/>
            </a:pPr>
            <a:r>
              <a:rPr lang="en-GB" altLang="en-US" sz="1800" dirty="0">
                <a:latin typeface="+mn-lt"/>
              </a:rPr>
              <a:t>What range of values of </a:t>
            </a:r>
            <a:r>
              <a:rPr lang="el-GR" altLang="en-US" sz="1800" dirty="0" smtClean="0"/>
              <a:t>β </a:t>
            </a:r>
            <a:r>
              <a:rPr lang="en-GB" altLang="en-US" sz="1800" dirty="0" smtClean="0">
                <a:latin typeface="+mn-lt"/>
              </a:rPr>
              <a:t>are </a:t>
            </a:r>
            <a:r>
              <a:rPr lang="en-GB" altLang="en-US" sz="1800" dirty="0">
                <a:latin typeface="+mn-lt"/>
              </a:rPr>
              <a:t>acceptable?</a:t>
            </a:r>
          </a:p>
        </p:txBody>
      </p:sp>
    </p:spTree>
    <p:extLst>
      <p:ext uri="{BB962C8B-B14F-4D97-AF65-F5344CB8AC3E}">
        <p14:creationId xmlns:p14="http://schemas.microsoft.com/office/powerpoint/2010/main" val="279393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Text Box 2"/>
          <p:cNvSpPr txBox="1">
            <a:spLocks noChangeArrowheads="1"/>
          </p:cNvSpPr>
          <p:nvPr/>
        </p:nvSpPr>
        <p:spPr bwMode="auto">
          <a:xfrm>
            <a:off x="3515408" y="348510"/>
            <a:ext cx="18069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800" b="0">
                <a:solidFill>
                  <a:srgbClr val="0033CC"/>
                </a:solidFill>
              </a:rPr>
              <a:t>Likelihood</a:t>
            </a:r>
            <a:endParaRPr lang="en-US" altLang="en-US" sz="2800" b="0">
              <a:solidFill>
                <a:srgbClr val="0033CC"/>
              </a:solidFill>
            </a:endParaRPr>
          </a:p>
        </p:txBody>
      </p:sp>
      <p:sp>
        <p:nvSpPr>
          <p:cNvPr id="16392" name="Text Box 3"/>
          <p:cNvSpPr txBox="1">
            <a:spLocks noChangeArrowheads="1"/>
          </p:cNvSpPr>
          <p:nvPr/>
        </p:nvSpPr>
        <p:spPr bwMode="auto">
          <a:xfrm>
            <a:off x="612988" y="1139662"/>
            <a:ext cx="20569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800" b="0" dirty="0"/>
              <a:t>Likelihood of data,</a:t>
            </a:r>
          </a:p>
          <a:p>
            <a:pPr algn="ctr" eaLnBrk="1" hangingPunct="1"/>
            <a:r>
              <a:rPr lang="en-GB" altLang="en-US" sz="1800" b="0" dirty="0"/>
              <a:t>given parameters </a:t>
            </a:r>
          </a:p>
        </p:txBody>
      </p:sp>
      <p:sp>
        <p:nvSpPr>
          <p:cNvPr id="16393" name="Text Box 4"/>
          <p:cNvSpPr txBox="1">
            <a:spLocks noChangeArrowheads="1"/>
          </p:cNvSpPr>
          <p:nvPr/>
        </p:nvSpPr>
        <p:spPr bwMode="auto">
          <a:xfrm>
            <a:off x="3888521" y="1139662"/>
            <a:ext cx="490390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800" b="0" dirty="0"/>
              <a:t>Probability that the observed data is</a:t>
            </a:r>
          </a:p>
          <a:p>
            <a:pPr algn="ctr" eaLnBrk="1" hangingPunct="1"/>
            <a:r>
              <a:rPr lang="en-GB" altLang="en-US" sz="1800" b="0" dirty="0"/>
              <a:t>generated by the model, given the parameters</a:t>
            </a:r>
          </a:p>
        </p:txBody>
      </p:sp>
      <p:sp>
        <p:nvSpPr>
          <p:cNvPr id="16394" name="Text Box 5"/>
          <p:cNvSpPr txBox="1">
            <a:spLocks noChangeArrowheads="1"/>
          </p:cNvSpPr>
          <p:nvPr/>
        </p:nvSpPr>
        <p:spPr bwMode="auto">
          <a:xfrm>
            <a:off x="3132138" y="1282537"/>
            <a:ext cx="317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0" dirty="0"/>
              <a:t>=</a:t>
            </a:r>
          </a:p>
        </p:txBody>
      </p:sp>
      <p:grpSp>
        <p:nvGrpSpPr>
          <p:cNvPr id="16395" name="Group 6"/>
          <p:cNvGrpSpPr>
            <a:grpSpLocks/>
          </p:cNvGrpSpPr>
          <p:nvPr/>
        </p:nvGrpSpPr>
        <p:grpSpPr bwMode="auto">
          <a:xfrm>
            <a:off x="2454958" y="2488666"/>
            <a:ext cx="1274762" cy="914400"/>
            <a:chOff x="2517" y="2341"/>
            <a:chExt cx="803" cy="576"/>
          </a:xfrm>
        </p:grpSpPr>
        <p:sp>
          <p:nvSpPr>
            <p:cNvPr id="16408" name="Rectangle 7"/>
            <p:cNvSpPr>
              <a:spLocks noChangeArrowheads="1"/>
            </p:cNvSpPr>
            <p:nvPr/>
          </p:nvSpPr>
          <p:spPr bwMode="auto">
            <a:xfrm>
              <a:off x="2517" y="2341"/>
              <a:ext cx="803" cy="57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6409" name="Text Box 8"/>
            <p:cNvSpPr txBox="1">
              <a:spLocks noChangeArrowheads="1"/>
            </p:cNvSpPr>
            <p:nvPr/>
          </p:nvSpPr>
          <p:spPr bwMode="auto">
            <a:xfrm>
              <a:off x="2653" y="2523"/>
              <a:ext cx="5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800" dirty="0"/>
                <a:t>Model</a:t>
              </a:r>
            </a:p>
          </p:txBody>
        </p:sp>
      </p:grpSp>
      <p:graphicFrame>
        <p:nvGraphicFramePr>
          <p:cNvPr id="1638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456496"/>
              </p:ext>
            </p:extLst>
          </p:nvPr>
        </p:nvGraphicFramePr>
        <p:xfrm>
          <a:off x="367395" y="2561691"/>
          <a:ext cx="531813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8" name="Equation" r:id="rId3" imgW="152280" imgH="203040" progId="Equation.DSMT4">
                  <p:embed/>
                </p:oleObj>
              </mc:Choice>
              <mc:Fallback>
                <p:oleObj name="Equation" r:id="rId3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95" y="2561691"/>
                        <a:ext cx="531813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AutoShape 10"/>
          <p:cNvSpPr>
            <a:spLocks noChangeArrowheads="1"/>
          </p:cNvSpPr>
          <p:nvPr/>
        </p:nvSpPr>
        <p:spPr bwMode="auto">
          <a:xfrm>
            <a:off x="1230995" y="2706154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6397" name="AutoShape 11"/>
          <p:cNvSpPr>
            <a:spLocks noChangeArrowheads="1"/>
          </p:cNvSpPr>
          <p:nvPr/>
        </p:nvSpPr>
        <p:spPr bwMode="auto">
          <a:xfrm>
            <a:off x="3967845" y="2706154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6398" name="Text Box 12"/>
          <p:cNvSpPr txBox="1">
            <a:spLocks noChangeArrowheads="1"/>
          </p:cNvSpPr>
          <p:nvPr/>
        </p:nvSpPr>
        <p:spPr bwMode="auto">
          <a:xfrm>
            <a:off x="3967845" y="2826804"/>
            <a:ext cx="946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i="1"/>
              <a:t>Many runs</a:t>
            </a:r>
          </a:p>
        </p:txBody>
      </p:sp>
      <p:pic>
        <p:nvPicPr>
          <p:cNvPr id="1639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595" y="1926691"/>
            <a:ext cx="3249613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00" name="Text Box 14"/>
          <p:cNvSpPr txBox="1">
            <a:spLocks noChangeArrowheads="1"/>
          </p:cNvSpPr>
          <p:nvPr/>
        </p:nvSpPr>
        <p:spPr bwMode="auto">
          <a:xfrm>
            <a:off x="6384020" y="4146016"/>
            <a:ext cx="828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/>
              <a:t>final size</a:t>
            </a:r>
          </a:p>
        </p:txBody>
      </p:sp>
      <p:sp>
        <p:nvSpPr>
          <p:cNvPr id="16401" name="Line 15"/>
          <p:cNvSpPr>
            <a:spLocks noChangeShapeType="1"/>
          </p:cNvSpPr>
          <p:nvPr/>
        </p:nvSpPr>
        <p:spPr bwMode="auto">
          <a:xfrm flipV="1">
            <a:off x="7320645" y="1912404"/>
            <a:ext cx="0" cy="23050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02" name="Text Box 16"/>
          <p:cNvSpPr txBox="1">
            <a:spLocks noChangeArrowheads="1"/>
          </p:cNvSpPr>
          <p:nvPr/>
        </p:nvSpPr>
        <p:spPr bwMode="auto">
          <a:xfrm>
            <a:off x="7352395" y="1766354"/>
            <a:ext cx="860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/>
              <a:t>observed</a:t>
            </a:r>
          </a:p>
        </p:txBody>
      </p:sp>
      <p:sp>
        <p:nvSpPr>
          <p:cNvPr id="16403" name="Line 17"/>
          <p:cNvSpPr>
            <a:spLocks noChangeShapeType="1"/>
          </p:cNvSpPr>
          <p:nvPr/>
        </p:nvSpPr>
        <p:spPr bwMode="auto">
          <a:xfrm>
            <a:off x="5375958" y="3136366"/>
            <a:ext cx="28813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1638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740221"/>
              </p:ext>
            </p:extLst>
          </p:nvPr>
        </p:nvGraphicFramePr>
        <p:xfrm>
          <a:off x="8255683" y="2979204"/>
          <a:ext cx="68421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9" name="Equation" r:id="rId6" imgW="355320" imgH="203040" progId="Equation.DSMT4">
                  <p:embed/>
                </p:oleObj>
              </mc:Choice>
              <mc:Fallback>
                <p:oleObj name="Equation" r:id="rId6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683" y="2979204"/>
                        <a:ext cx="684212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404" name="Picture 2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4365625"/>
            <a:ext cx="3178175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388" name="Object 21"/>
          <p:cNvGraphicFramePr>
            <a:graphicFrameLocks noChangeAspect="1"/>
          </p:cNvGraphicFramePr>
          <p:nvPr/>
        </p:nvGraphicFramePr>
        <p:xfrm>
          <a:off x="4427538" y="4508500"/>
          <a:ext cx="68421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0" name="Equation" r:id="rId9" imgW="355320" imgH="203040" progId="Equation.DSMT4">
                  <p:embed/>
                </p:oleObj>
              </mc:Choice>
              <mc:Fallback>
                <p:oleObj name="Equation" r:id="rId9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508500"/>
                        <a:ext cx="68421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22"/>
          <p:cNvGraphicFramePr>
            <a:graphicFrameLocks noChangeAspect="1"/>
          </p:cNvGraphicFramePr>
          <p:nvPr/>
        </p:nvGraphicFramePr>
        <p:xfrm>
          <a:off x="8027988" y="6237288"/>
          <a:ext cx="3143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1" name="Equation" r:id="rId11" imgW="152280" imgH="203040" progId="Equation.DSMT4">
                  <p:embed/>
                </p:oleObj>
              </mc:Choice>
              <mc:Fallback>
                <p:oleObj name="Equation" r:id="rId11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6237288"/>
                        <a:ext cx="3143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Text Box 23"/>
          <p:cNvSpPr txBox="1">
            <a:spLocks noChangeArrowheads="1"/>
          </p:cNvSpPr>
          <p:nvPr/>
        </p:nvSpPr>
        <p:spPr bwMode="auto">
          <a:xfrm>
            <a:off x="179388" y="4515307"/>
            <a:ext cx="353237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0" dirty="0">
                <a:latin typeface="+mn-lt"/>
              </a:rPr>
              <a:t>By repeating for a range of </a:t>
            </a:r>
            <a:r>
              <a:rPr lang="el-GR" altLang="en-US" sz="1800" b="0" dirty="0" smtClean="0">
                <a:latin typeface="+mn-lt"/>
              </a:rPr>
              <a:t>β</a:t>
            </a:r>
            <a:r>
              <a:rPr lang="en-GB" altLang="en-US" sz="1800" b="0" dirty="0" smtClean="0">
                <a:latin typeface="+mn-lt"/>
              </a:rPr>
              <a:t>’s</a:t>
            </a:r>
            <a:r>
              <a:rPr lang="en-GB" altLang="en-US" sz="1800" b="0" dirty="0">
                <a:latin typeface="+mn-lt"/>
              </a:rPr>
              <a:t>, </a:t>
            </a:r>
          </a:p>
          <a:p>
            <a:pPr eaLnBrk="1" hangingPunct="1"/>
            <a:r>
              <a:rPr lang="en-GB" altLang="en-US" sz="1800" b="0" dirty="0">
                <a:latin typeface="+mn-lt"/>
              </a:rPr>
              <a:t>we can generate a graph of </a:t>
            </a:r>
          </a:p>
          <a:p>
            <a:pPr eaLnBrk="1" hangingPunct="1"/>
            <a:r>
              <a:rPr lang="en-GB" altLang="en-US" sz="1800" b="0" dirty="0">
                <a:latin typeface="+mn-lt"/>
              </a:rPr>
              <a:t>likelihood against </a:t>
            </a:r>
            <a:r>
              <a:rPr lang="el-GR" altLang="en-US" sz="1800" b="0" dirty="0"/>
              <a:t>β</a:t>
            </a:r>
            <a:r>
              <a:rPr lang="en-GB" altLang="en-US" sz="1800" b="0" dirty="0" smtClean="0">
                <a:latin typeface="+mn-lt"/>
              </a:rPr>
              <a:t>. </a:t>
            </a:r>
            <a:endParaRPr lang="en-GB" altLang="en-US" sz="1800" b="0" dirty="0">
              <a:latin typeface="+mn-lt"/>
            </a:endParaRPr>
          </a:p>
        </p:txBody>
      </p:sp>
      <p:sp>
        <p:nvSpPr>
          <p:cNvPr id="16406" name="Line 24"/>
          <p:cNvSpPr>
            <a:spLocks noChangeShapeType="1"/>
          </p:cNvSpPr>
          <p:nvPr/>
        </p:nvSpPr>
        <p:spPr bwMode="auto">
          <a:xfrm flipV="1">
            <a:off x="6948488" y="4652963"/>
            <a:ext cx="0" cy="172878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16390" name="Object 25"/>
          <p:cNvGraphicFramePr>
            <a:graphicFrameLocks noChangeAspect="1"/>
          </p:cNvGraphicFramePr>
          <p:nvPr/>
        </p:nvGraphicFramePr>
        <p:xfrm>
          <a:off x="6778625" y="6389688"/>
          <a:ext cx="3143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2" name="Equation" r:id="rId12" imgW="152280" imgH="241200" progId="Equation.DSMT4">
                  <p:embed/>
                </p:oleObj>
              </mc:Choice>
              <mc:Fallback>
                <p:oleObj name="Equation" r:id="rId12" imgW="152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6389688"/>
                        <a:ext cx="3143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7" name="Text Box 26"/>
          <p:cNvSpPr txBox="1">
            <a:spLocks noChangeArrowheads="1"/>
          </p:cNvSpPr>
          <p:nvPr/>
        </p:nvSpPr>
        <p:spPr bwMode="auto">
          <a:xfrm>
            <a:off x="107950" y="5647195"/>
            <a:ext cx="44464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0"/>
              <a:t>The peak indicates the ‘best’ value, called</a:t>
            </a:r>
          </a:p>
          <a:p>
            <a:pPr eaLnBrk="1" hangingPunct="1"/>
            <a:r>
              <a:rPr lang="en-GB" altLang="en-US" sz="1800" b="0"/>
              <a:t>the maximum likelihood estimator (MLE).</a:t>
            </a:r>
          </a:p>
        </p:txBody>
      </p:sp>
    </p:spTree>
    <p:extLst>
      <p:ext uri="{BB962C8B-B14F-4D97-AF65-F5344CB8AC3E}">
        <p14:creationId xmlns:p14="http://schemas.microsoft.com/office/powerpoint/2010/main" val="411121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3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3465513"/>
            <a:ext cx="4338637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 Box 2"/>
          <p:cNvSpPr txBox="1">
            <a:spLocks noChangeArrowheads="1"/>
          </p:cNvSpPr>
          <p:nvPr/>
        </p:nvSpPr>
        <p:spPr bwMode="auto">
          <a:xfrm>
            <a:off x="1265877" y="364856"/>
            <a:ext cx="6187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800" b="0" dirty="0">
                <a:solidFill>
                  <a:srgbClr val="0033CC"/>
                </a:solidFill>
              </a:rPr>
              <a:t>Log likelihood and confidence interval</a:t>
            </a:r>
            <a:endParaRPr lang="en-US" altLang="en-US" sz="2800" b="0" dirty="0">
              <a:solidFill>
                <a:srgbClr val="0033CC"/>
              </a:solidFill>
            </a:endParaRPr>
          </a:p>
        </p:txBody>
      </p:sp>
      <p:graphicFrame>
        <p:nvGraphicFramePr>
          <p:cNvPr id="17410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6281092"/>
              </p:ext>
            </p:extLst>
          </p:nvPr>
        </p:nvGraphicFramePr>
        <p:xfrm>
          <a:off x="3326540" y="2125128"/>
          <a:ext cx="199231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8" name="Equation" r:id="rId4" imgW="876240" imgH="393480" progId="Equation.DSMT4">
                  <p:embed/>
                </p:oleObj>
              </mc:Choice>
              <mc:Fallback>
                <p:oleObj name="Equation" r:id="rId4" imgW="876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540" y="2125128"/>
                        <a:ext cx="1992312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Line 14"/>
          <p:cNvSpPr>
            <a:spLocks noChangeShapeType="1"/>
          </p:cNvSpPr>
          <p:nvPr/>
        </p:nvSpPr>
        <p:spPr bwMode="auto">
          <a:xfrm>
            <a:off x="6240463" y="4041775"/>
            <a:ext cx="0" cy="792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6" name="Text Box 15"/>
          <p:cNvSpPr txBox="1">
            <a:spLocks noChangeArrowheads="1"/>
          </p:cNvSpPr>
          <p:nvPr/>
        </p:nvSpPr>
        <p:spPr bwMode="auto">
          <a:xfrm>
            <a:off x="6240463" y="4184650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/>
              <a:t>Q</a:t>
            </a:r>
            <a:endParaRPr lang="en-US" altLang="en-US" sz="2400"/>
          </a:p>
        </p:txBody>
      </p:sp>
      <p:sp>
        <p:nvSpPr>
          <p:cNvPr id="17417" name="Line 18"/>
          <p:cNvSpPr>
            <a:spLocks noChangeShapeType="1"/>
          </p:cNvSpPr>
          <p:nvPr/>
        </p:nvSpPr>
        <p:spPr bwMode="auto">
          <a:xfrm>
            <a:off x="3287713" y="4041775"/>
            <a:ext cx="3095625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8" name="Line 19"/>
          <p:cNvSpPr>
            <a:spLocks noChangeShapeType="1"/>
          </p:cNvSpPr>
          <p:nvPr/>
        </p:nvSpPr>
        <p:spPr bwMode="auto">
          <a:xfrm>
            <a:off x="2855913" y="4833938"/>
            <a:ext cx="3527425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19" name="Text Box 20"/>
          <p:cNvSpPr txBox="1">
            <a:spLocks noChangeArrowheads="1"/>
          </p:cNvSpPr>
          <p:nvPr/>
        </p:nvSpPr>
        <p:spPr bwMode="auto">
          <a:xfrm>
            <a:off x="250825" y="1119010"/>
            <a:ext cx="803136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0" dirty="0"/>
              <a:t>The shape of the log of the likelihood curve gives us the range of values of </a:t>
            </a:r>
            <a:r>
              <a:rPr lang="en-GB" altLang="en-US" sz="1800" b="0" dirty="0">
                <a:latin typeface="Symbol" panose="05050102010706020507" pitchFamily="18" charset="2"/>
              </a:rPr>
              <a:t>b</a:t>
            </a:r>
            <a:r>
              <a:rPr lang="en-GB" altLang="en-US" sz="1800" b="0" dirty="0"/>
              <a:t> </a:t>
            </a:r>
          </a:p>
          <a:p>
            <a:pPr eaLnBrk="1" hangingPunct="1"/>
            <a:r>
              <a:rPr lang="en-GB" altLang="en-US" sz="1800" b="0" dirty="0"/>
              <a:t>that fit well.</a:t>
            </a:r>
          </a:p>
          <a:p>
            <a:pPr eaLnBrk="1" hangingPunct="1"/>
            <a:r>
              <a:rPr lang="en-GB" altLang="en-US" sz="1800" b="0" dirty="0"/>
              <a:t>If we measure down Q from top of the curve,</a:t>
            </a:r>
          </a:p>
        </p:txBody>
      </p:sp>
      <p:graphicFrame>
        <p:nvGraphicFramePr>
          <p:cNvPr id="17411" name="Object 21"/>
          <p:cNvGraphicFramePr>
            <a:graphicFrameLocks noChangeAspect="1"/>
          </p:cNvGraphicFramePr>
          <p:nvPr/>
        </p:nvGraphicFramePr>
        <p:xfrm>
          <a:off x="1116013" y="4724400"/>
          <a:ext cx="110013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9" name="Equation" r:id="rId6" imgW="571320" imgH="203040" progId="Equation.DSMT4">
                  <p:embed/>
                </p:oleObj>
              </mc:Choice>
              <mc:Fallback>
                <p:oleObj name="Equation" r:id="rId6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724400"/>
                        <a:ext cx="110013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22"/>
          <p:cNvGraphicFramePr>
            <a:graphicFrameLocks noChangeAspect="1"/>
          </p:cNvGraphicFramePr>
          <p:nvPr/>
        </p:nvGraphicFramePr>
        <p:xfrm>
          <a:off x="5292725" y="4148138"/>
          <a:ext cx="3143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0" name="Equation" r:id="rId8" imgW="152280" imgH="203040" progId="Equation.DSMT4">
                  <p:embed/>
                </p:oleObj>
              </mc:Choice>
              <mc:Fallback>
                <p:oleObj name="Equation" r:id="rId8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148138"/>
                        <a:ext cx="3143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23"/>
          <p:cNvSpPr txBox="1">
            <a:spLocks noChangeArrowheads="1"/>
          </p:cNvSpPr>
          <p:nvPr/>
        </p:nvSpPr>
        <p:spPr bwMode="auto">
          <a:xfrm>
            <a:off x="341402" y="3178182"/>
            <a:ext cx="61478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0"/>
              <a:t>This defines the 95% confidence for the parameter values.</a:t>
            </a:r>
          </a:p>
        </p:txBody>
      </p:sp>
    </p:spTree>
    <p:extLst>
      <p:ext uri="{BB962C8B-B14F-4D97-AF65-F5344CB8AC3E}">
        <p14:creationId xmlns:p14="http://schemas.microsoft.com/office/powerpoint/2010/main" val="92106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330200" y="1254125"/>
            <a:ext cx="83312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Consider sampling a population to estimate the proportion seropositive for a malaria antigen. Assume that: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Individuals sampled = </a:t>
            </a:r>
            <a:r>
              <a:rPr lang="en-US" altLang="en-US" sz="1800" b="1"/>
              <a:t>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Individuals seropositive = </a:t>
            </a:r>
            <a:r>
              <a:rPr lang="en-US" altLang="en-US" sz="1800" b="1"/>
              <a:t>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Need to estimate the proportion seropositive </a:t>
            </a:r>
            <a:r>
              <a:rPr lang="en-US" altLang="en-US" sz="1800" b="1"/>
              <a:t>p</a:t>
            </a:r>
            <a:r>
              <a:rPr lang="en-US" altLang="en-US" sz="1800"/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We use a binomial likelihood function:</a:t>
            </a:r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2619375" y="4310063"/>
          <a:ext cx="3430588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Equation" r:id="rId3" imgW="1358900" imgH="457200" progId="Equation.DSMT4">
                  <p:embed/>
                </p:oleObj>
              </mc:Choice>
              <mc:Fallback>
                <p:oleObj name="Equation" r:id="rId3" imgW="13589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75" y="4310063"/>
                        <a:ext cx="3430588" cy="115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1235075"/>
            <a:ext cx="7970838" cy="554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1235075"/>
            <a:ext cx="7970838" cy="554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TextBox 1"/>
          <p:cNvSpPr txBox="1">
            <a:spLocks noChangeArrowheads="1"/>
          </p:cNvSpPr>
          <p:nvPr/>
        </p:nvSpPr>
        <p:spPr bwMode="auto">
          <a:xfrm>
            <a:off x="5014913" y="1978025"/>
            <a:ext cx="26003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maximum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likelihood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estimate</a:t>
            </a:r>
          </a:p>
        </p:txBody>
      </p:sp>
      <p:cxnSp>
        <p:nvCxnSpPr>
          <p:cNvPr id="5" name="Straight Arrow Connector 4"/>
          <p:cNvCxnSpPr>
            <a:stCxn id="33796" idx="1"/>
          </p:cNvCxnSpPr>
          <p:nvPr/>
        </p:nvCxnSpPr>
        <p:spPr>
          <a:xfrm flipH="1" flipV="1">
            <a:off x="3095625" y="1843088"/>
            <a:ext cx="1919288" cy="5969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1223963"/>
            <a:ext cx="7962900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1201738"/>
            <a:ext cx="8064500" cy="561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176338"/>
            <a:ext cx="8086725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  <p:sp>
        <p:nvSpPr>
          <p:cNvPr id="36868" name="TextBox 4"/>
          <p:cNvSpPr txBox="1">
            <a:spLocks noChangeArrowheads="1"/>
          </p:cNvSpPr>
          <p:nvPr/>
        </p:nvSpPr>
        <p:spPr bwMode="auto">
          <a:xfrm>
            <a:off x="5014913" y="1978025"/>
            <a:ext cx="26003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maximum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likelihood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estimate</a:t>
            </a:r>
          </a:p>
        </p:txBody>
      </p:sp>
      <p:cxnSp>
        <p:nvCxnSpPr>
          <p:cNvPr id="6" name="Straight Arrow Connector 5"/>
          <p:cNvCxnSpPr>
            <a:stCxn id="36868" idx="1"/>
          </p:cNvCxnSpPr>
          <p:nvPr/>
        </p:nvCxnSpPr>
        <p:spPr>
          <a:xfrm flipH="1">
            <a:off x="3170238" y="2439988"/>
            <a:ext cx="1844675" cy="40005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176338"/>
            <a:ext cx="8086725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176338"/>
            <a:ext cx="8086725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  <p:sp>
        <p:nvSpPr>
          <p:cNvPr id="38916" name="TextBox 4"/>
          <p:cNvSpPr txBox="1">
            <a:spLocks noChangeArrowheads="1"/>
          </p:cNvSpPr>
          <p:nvPr/>
        </p:nvSpPr>
        <p:spPr bwMode="auto">
          <a:xfrm>
            <a:off x="5014913" y="1978025"/>
            <a:ext cx="26003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maximum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likelihood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estimate</a:t>
            </a:r>
          </a:p>
        </p:txBody>
      </p:sp>
      <p:cxnSp>
        <p:nvCxnSpPr>
          <p:cNvPr id="6" name="Straight Arrow Connector 5"/>
          <p:cNvCxnSpPr>
            <a:stCxn id="38916" idx="1"/>
          </p:cNvCxnSpPr>
          <p:nvPr/>
        </p:nvCxnSpPr>
        <p:spPr>
          <a:xfrm flipH="1">
            <a:off x="3170238" y="2439988"/>
            <a:ext cx="1844675" cy="40005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136775" y="2840038"/>
            <a:ext cx="0" cy="830262"/>
          </a:xfrm>
          <a:prstGeom prst="straightConnector1">
            <a:avLst/>
          </a:prstGeom>
          <a:ln w="1905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9" name="TextBox 17"/>
          <p:cNvSpPr txBox="1">
            <a:spLocks noChangeArrowheads="1"/>
          </p:cNvSpPr>
          <p:nvPr/>
        </p:nvSpPr>
        <p:spPr bwMode="auto">
          <a:xfrm>
            <a:off x="1344613" y="3055938"/>
            <a:ext cx="744537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B050"/>
                </a:solidFill>
              </a:rPr>
              <a:t>1.92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176338"/>
            <a:ext cx="8086725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  <p:sp>
        <p:nvSpPr>
          <p:cNvPr id="39940" name="TextBox 4"/>
          <p:cNvSpPr txBox="1">
            <a:spLocks noChangeArrowheads="1"/>
          </p:cNvSpPr>
          <p:nvPr/>
        </p:nvSpPr>
        <p:spPr bwMode="auto">
          <a:xfrm>
            <a:off x="5014913" y="1978025"/>
            <a:ext cx="26003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maximum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likelihood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estimate</a:t>
            </a:r>
          </a:p>
        </p:txBody>
      </p:sp>
      <p:cxnSp>
        <p:nvCxnSpPr>
          <p:cNvPr id="6" name="Straight Arrow Connector 5"/>
          <p:cNvCxnSpPr>
            <a:stCxn id="39940" idx="1"/>
          </p:cNvCxnSpPr>
          <p:nvPr/>
        </p:nvCxnSpPr>
        <p:spPr>
          <a:xfrm flipH="1">
            <a:off x="3170238" y="2439988"/>
            <a:ext cx="1844675" cy="40005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2" name="TextBox 7"/>
          <p:cNvSpPr txBox="1">
            <a:spLocks noChangeArrowheads="1"/>
          </p:cNvSpPr>
          <p:nvPr/>
        </p:nvSpPr>
        <p:spPr bwMode="auto">
          <a:xfrm>
            <a:off x="5167313" y="4024313"/>
            <a:ext cx="2600325" cy="6477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B050"/>
                </a:solidFill>
              </a:rPr>
              <a:t>95% confidence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B050"/>
                </a:solidFill>
              </a:rPr>
              <a:t>intervals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2555875" y="3670300"/>
            <a:ext cx="2611438" cy="677863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9942" idx="1"/>
          </p:cNvCxnSpPr>
          <p:nvPr/>
        </p:nvCxnSpPr>
        <p:spPr>
          <a:xfrm flipH="1" flipV="1">
            <a:off x="3800475" y="3670300"/>
            <a:ext cx="1366838" cy="677863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136775" y="2840038"/>
            <a:ext cx="0" cy="830262"/>
          </a:xfrm>
          <a:prstGeom prst="straightConnector1">
            <a:avLst/>
          </a:prstGeom>
          <a:ln w="1905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6" name="TextBox 17"/>
          <p:cNvSpPr txBox="1">
            <a:spLocks noChangeArrowheads="1"/>
          </p:cNvSpPr>
          <p:nvPr/>
        </p:nvSpPr>
        <p:spPr bwMode="auto">
          <a:xfrm>
            <a:off x="1344613" y="3055938"/>
            <a:ext cx="744537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B050"/>
                </a:solidFill>
              </a:rPr>
              <a:t>1.92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176338"/>
            <a:ext cx="8086725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  <p:sp>
        <p:nvSpPr>
          <p:cNvPr id="40964" name="TextBox 4"/>
          <p:cNvSpPr txBox="1">
            <a:spLocks noChangeArrowheads="1"/>
          </p:cNvSpPr>
          <p:nvPr/>
        </p:nvSpPr>
        <p:spPr bwMode="auto">
          <a:xfrm>
            <a:off x="5014913" y="1978025"/>
            <a:ext cx="26003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maximum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likelihood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estimate</a:t>
            </a:r>
          </a:p>
        </p:txBody>
      </p:sp>
      <p:cxnSp>
        <p:nvCxnSpPr>
          <p:cNvPr id="6" name="Straight Arrow Connector 5"/>
          <p:cNvCxnSpPr>
            <a:stCxn id="40964" idx="1"/>
          </p:cNvCxnSpPr>
          <p:nvPr/>
        </p:nvCxnSpPr>
        <p:spPr>
          <a:xfrm flipH="1">
            <a:off x="3170238" y="2439988"/>
            <a:ext cx="1844675" cy="40005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6" name="TextBox 7"/>
          <p:cNvSpPr txBox="1">
            <a:spLocks noChangeArrowheads="1"/>
          </p:cNvSpPr>
          <p:nvPr/>
        </p:nvSpPr>
        <p:spPr bwMode="auto">
          <a:xfrm>
            <a:off x="5167313" y="4024313"/>
            <a:ext cx="2600325" cy="6477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B050"/>
                </a:solidFill>
              </a:rPr>
              <a:t>95% confidence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B050"/>
                </a:solidFill>
              </a:rPr>
              <a:t>intervals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2555875" y="3670300"/>
            <a:ext cx="2611438" cy="677863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0966" idx="1"/>
          </p:cNvCxnSpPr>
          <p:nvPr/>
        </p:nvCxnSpPr>
        <p:spPr>
          <a:xfrm flipH="1" flipV="1">
            <a:off x="3800475" y="3670300"/>
            <a:ext cx="1366838" cy="677863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136775" y="2840038"/>
            <a:ext cx="0" cy="830262"/>
          </a:xfrm>
          <a:prstGeom prst="straightConnector1">
            <a:avLst/>
          </a:prstGeom>
          <a:ln w="1905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0" name="TextBox 17"/>
          <p:cNvSpPr txBox="1">
            <a:spLocks noChangeArrowheads="1"/>
          </p:cNvSpPr>
          <p:nvPr/>
        </p:nvSpPr>
        <p:spPr bwMode="auto">
          <a:xfrm>
            <a:off x="1344613" y="3055938"/>
            <a:ext cx="744537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00B050"/>
                </a:solidFill>
              </a:rPr>
              <a:t>1.92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arising from data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30200" y="1254125"/>
            <a:ext cx="83312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 smtClean="0"/>
              <a:t>In general: </a:t>
            </a:r>
          </a:p>
          <a:p>
            <a:pPr marL="285750" indent="-285750" eaLnBrk="1" hangingPunct="1">
              <a:spcBef>
                <a:spcPct val="0"/>
              </a:spcBef>
              <a:defRPr/>
            </a:pPr>
            <a:endParaRPr lang="en-US" altLang="en-US" sz="2000" dirty="0" smtClean="0"/>
          </a:p>
          <a:p>
            <a:pPr marL="285750" indent="-285750" eaLnBrk="1" hangingPunct="1">
              <a:spcBef>
                <a:spcPct val="0"/>
              </a:spcBef>
              <a:defRPr/>
            </a:pPr>
            <a:r>
              <a:rPr lang="en-US" altLang="en-US" sz="2000" dirty="0" smtClean="0"/>
              <a:t>more data =&gt; less uncertainty</a:t>
            </a:r>
          </a:p>
          <a:p>
            <a:pPr marL="285750" indent="-285750" eaLnBrk="1" hangingPunct="1">
              <a:spcBef>
                <a:spcPct val="0"/>
              </a:spcBef>
              <a:defRPr/>
            </a:pPr>
            <a:endParaRPr lang="en-US" altLang="en-US" sz="2000" dirty="0" smtClean="0"/>
          </a:p>
          <a:p>
            <a:pPr marL="285750" indent="-285750" eaLnBrk="1" hangingPunct="1">
              <a:spcBef>
                <a:spcPct val="0"/>
              </a:spcBef>
              <a:defRPr/>
            </a:pPr>
            <a:r>
              <a:rPr lang="en-US" altLang="en-US" sz="2000" dirty="0" smtClean="0"/>
              <a:t>more data =&gt; narrower confidence intervals</a:t>
            </a:r>
            <a:br>
              <a:rPr lang="en-US" altLang="en-US" sz="2000" dirty="0" smtClean="0"/>
            </a:br>
            <a:endParaRPr lang="en-US" altLang="en-US" sz="2000" dirty="0" smtClean="0"/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 smtClean="0"/>
              <a:t>Can depend on the choice of model, e.g. a badly chosen model will not be helped by more data.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4"/>
          <p:cNvSpPr txBox="1">
            <a:spLocks noChangeArrowheads="1"/>
          </p:cNvSpPr>
          <p:nvPr/>
        </p:nvSpPr>
        <p:spPr bwMode="auto">
          <a:xfrm>
            <a:off x="3447405" y="398327"/>
            <a:ext cx="17235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800" b="0" dirty="0">
                <a:solidFill>
                  <a:srgbClr val="0033CC"/>
                </a:solidFill>
              </a:rPr>
              <a:t>Summary</a:t>
            </a:r>
            <a:endParaRPr lang="en-US" altLang="en-US" sz="2800" b="0" dirty="0">
              <a:solidFill>
                <a:srgbClr val="0033CC"/>
              </a:solidFill>
            </a:endParaRPr>
          </a:p>
        </p:txBody>
      </p:sp>
      <p:sp>
        <p:nvSpPr>
          <p:cNvPr id="41987" name="Text Box 5"/>
          <p:cNvSpPr txBox="1">
            <a:spLocks noChangeArrowheads="1"/>
          </p:cNvSpPr>
          <p:nvPr/>
        </p:nvSpPr>
        <p:spPr bwMode="auto">
          <a:xfrm>
            <a:off x="395288" y="1341438"/>
            <a:ext cx="835164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1800" b="0" dirty="0" smtClean="0"/>
              <a:t>   Looked </a:t>
            </a:r>
            <a:r>
              <a:rPr lang="en-US" altLang="en-US" sz="1800" b="0" dirty="0"/>
              <a:t>at a number of ways to explore possible parameter values and </a:t>
            </a:r>
          </a:p>
          <a:p>
            <a:pPr eaLnBrk="1" hangingPunct="1"/>
            <a:r>
              <a:rPr lang="en-US" altLang="en-US" sz="1800" b="0" dirty="0"/>
              <a:t> estimate the distribution and sensitivity of outcome variables. </a:t>
            </a:r>
          </a:p>
          <a:p>
            <a:pPr eaLnBrk="1" hangingPunct="1"/>
            <a:endParaRPr lang="en-US" altLang="en-US" sz="1800" b="0" dirty="0"/>
          </a:p>
          <a:p>
            <a:pPr eaLnBrk="1" hangingPunct="1">
              <a:buFontTx/>
              <a:buChar char="•"/>
            </a:pPr>
            <a:r>
              <a:rPr lang="en-US" altLang="en-US" sz="1800" b="0" dirty="0" smtClean="0"/>
              <a:t>   Another </a:t>
            </a:r>
            <a:r>
              <a:rPr lang="en-US" altLang="en-US" sz="1800" b="0" dirty="0"/>
              <a:t>method for generating parameter set for analysis is through </a:t>
            </a:r>
          </a:p>
          <a:p>
            <a:pPr eaLnBrk="1" hangingPunct="1"/>
            <a:r>
              <a:rPr lang="en-US" altLang="en-US" sz="1800" b="0" dirty="0"/>
              <a:t> Monte Carlo Markov Chain algorithms. Very simple and robust algorithm </a:t>
            </a:r>
          </a:p>
          <a:p>
            <a:pPr eaLnBrk="1" hangingPunct="1"/>
            <a:r>
              <a:rPr lang="en-US" altLang="en-US" sz="1800" b="0" dirty="0"/>
              <a:t> in common use. </a:t>
            </a:r>
            <a:r>
              <a:rPr lang="en-US" altLang="en-US" sz="1800" b="0" dirty="0" smtClean="0"/>
              <a:t> </a:t>
            </a:r>
            <a:endParaRPr lang="en-US" altLang="en-US" sz="1800" b="0" dirty="0"/>
          </a:p>
          <a:p>
            <a:pPr eaLnBrk="1" hangingPunct="1"/>
            <a:endParaRPr lang="en-US" altLang="en-US" sz="1800" b="0" dirty="0"/>
          </a:p>
          <a:p>
            <a:pPr eaLnBrk="1" hangingPunct="1">
              <a:buFontTx/>
              <a:buChar char="•"/>
            </a:pPr>
            <a:r>
              <a:rPr lang="en-US" altLang="en-US" sz="1800" b="0" dirty="0" smtClean="0"/>
              <a:t>   Likelihood </a:t>
            </a:r>
            <a:r>
              <a:rPr lang="en-US" altLang="en-US" sz="1800" b="0" dirty="0"/>
              <a:t>methods very powerful for finding parameter ranges </a:t>
            </a:r>
          </a:p>
          <a:p>
            <a:pPr eaLnBrk="1" hangingPunct="1"/>
            <a:r>
              <a:rPr lang="en-US" altLang="en-US" sz="1800" b="0" dirty="0"/>
              <a:t> corresponding to observed data. Calculating the likelihood becomes more </a:t>
            </a:r>
          </a:p>
          <a:p>
            <a:pPr eaLnBrk="1" hangingPunct="1"/>
            <a:r>
              <a:rPr lang="en-US" altLang="en-US" sz="1800" b="0" dirty="0"/>
              <a:t> difficult with more complicated data sets, e.g. incidence curves. </a:t>
            </a:r>
            <a:endParaRPr lang="en-US" altLang="en-US" sz="1800" b="0" dirty="0" smtClean="0"/>
          </a:p>
          <a:p>
            <a:pPr eaLnBrk="1" hangingPunct="1"/>
            <a:endParaRPr lang="en-US" altLang="en-US" sz="1800" b="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0" dirty="0" smtClean="0"/>
              <a:t>The more data you have, the more accurate your parameter estimate. 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lang="en-US" altLang="en-US" sz="1800" b="0" dirty="0" smtClean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800" b="0" dirty="0" smtClean="0"/>
              <a:t>If the model’s no good, you can still get a best fit, so check it’s not nonsense. </a:t>
            </a:r>
            <a:endParaRPr lang="en-US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51824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50950"/>
            <a:ext cx="8532812" cy="51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Uncertainty: sero-prevalence example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47813" y="1349375"/>
            <a:ext cx="2160587" cy="792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 err="1">
                <a:solidFill>
                  <a:schemeClr val="tx1"/>
                </a:solidFill>
              </a:rPr>
              <a:t>seronegative</a:t>
            </a:r>
            <a:r>
              <a:rPr lang="en-GB" dirty="0">
                <a:solidFill>
                  <a:schemeClr val="tx1"/>
                </a:solidFill>
              </a:rPr>
              <a:t>:</a:t>
            </a:r>
          </a:p>
          <a:p>
            <a:pPr algn="ctr">
              <a:defRPr/>
            </a:pPr>
            <a:endParaRPr lang="en-GB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GB" dirty="0">
                <a:solidFill>
                  <a:schemeClr val="tx1"/>
                </a:solidFill>
              </a:rPr>
              <a:t>1 - </a:t>
            </a:r>
            <a:r>
              <a:rPr lang="en-GB" i="1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35600" y="1349375"/>
            <a:ext cx="2160588" cy="792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</a:rPr>
              <a:t>seropositive:</a:t>
            </a:r>
          </a:p>
          <a:p>
            <a:pPr algn="ctr">
              <a:defRPr/>
            </a:pPr>
            <a:endParaRPr lang="en-GB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GB" i="1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708400" y="1493838"/>
            <a:ext cx="1727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3708400" y="1925638"/>
            <a:ext cx="1727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8" name="TextBox 6"/>
          <p:cNvSpPr txBox="1">
            <a:spLocks noChangeArrowheads="1"/>
          </p:cNvSpPr>
          <p:nvPr/>
        </p:nvSpPr>
        <p:spPr bwMode="auto">
          <a:xfrm>
            <a:off x="4427538" y="1125538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i="1"/>
              <a:t>λ</a:t>
            </a:r>
            <a:endParaRPr lang="en-GB" altLang="en-US" i="1"/>
          </a:p>
        </p:txBody>
      </p:sp>
      <p:sp>
        <p:nvSpPr>
          <p:cNvPr id="44039" name="TextBox 7"/>
          <p:cNvSpPr txBox="1">
            <a:spLocks noChangeArrowheads="1"/>
          </p:cNvSpPr>
          <p:nvPr/>
        </p:nvSpPr>
        <p:spPr bwMode="auto">
          <a:xfrm>
            <a:off x="4427538" y="1916113"/>
            <a:ext cx="360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i="1"/>
              <a:t>ρ</a:t>
            </a:r>
            <a:endParaRPr lang="en-GB" altLang="en-US" i="1"/>
          </a:p>
        </p:txBody>
      </p:sp>
      <p:sp>
        <p:nvSpPr>
          <p:cNvPr id="44040" name="TextBox 8"/>
          <p:cNvSpPr txBox="1">
            <a:spLocks noChangeArrowheads="1"/>
          </p:cNvSpPr>
          <p:nvPr/>
        </p:nvSpPr>
        <p:spPr bwMode="auto">
          <a:xfrm>
            <a:off x="179388" y="2565400"/>
            <a:ext cx="871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Participants seroconvert at rate:</a:t>
            </a:r>
          </a:p>
        </p:txBody>
      </p:sp>
      <p:graphicFrame>
        <p:nvGraphicFramePr>
          <p:cNvPr id="44041" name="Object 9"/>
          <p:cNvGraphicFramePr>
            <a:graphicFrameLocks noChangeAspect="1"/>
          </p:cNvGraphicFramePr>
          <p:nvPr/>
        </p:nvGraphicFramePr>
        <p:xfrm>
          <a:off x="4787900" y="2565400"/>
          <a:ext cx="11525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0" name="Equation" r:id="rId3" imgW="533160" imgH="203040" progId="Equation.DSMT4">
                  <p:embed/>
                </p:oleObj>
              </mc:Choice>
              <mc:Fallback>
                <p:oleObj name="Equation" r:id="rId3" imgW="53316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565400"/>
                        <a:ext cx="11525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2" name="TextBox 10"/>
          <p:cNvSpPr txBox="1">
            <a:spLocks noChangeArrowheads="1"/>
          </p:cNvSpPr>
          <p:nvPr/>
        </p:nvSpPr>
        <p:spPr bwMode="auto">
          <a:xfrm>
            <a:off x="179388" y="3278188"/>
            <a:ext cx="871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Participants serorevert at rate:</a:t>
            </a:r>
          </a:p>
        </p:txBody>
      </p:sp>
      <p:graphicFrame>
        <p:nvGraphicFramePr>
          <p:cNvPr id="44043" name="Object 11"/>
          <p:cNvGraphicFramePr>
            <a:graphicFrameLocks noChangeAspect="1"/>
          </p:cNvGraphicFramePr>
          <p:nvPr/>
        </p:nvGraphicFramePr>
        <p:xfrm>
          <a:off x="4787900" y="3278188"/>
          <a:ext cx="5492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1" name="Equation" r:id="rId5" imgW="253800" imgH="203040" progId="Equation.DSMT4">
                  <p:embed/>
                </p:oleObj>
              </mc:Choice>
              <mc:Fallback>
                <p:oleObj name="Equation" r:id="rId5" imgW="25380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278188"/>
                        <a:ext cx="5492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4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Catalytic models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47813" y="1349375"/>
            <a:ext cx="2160587" cy="792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 err="1">
                <a:solidFill>
                  <a:schemeClr val="tx1"/>
                </a:solidFill>
              </a:rPr>
              <a:t>seronegative</a:t>
            </a:r>
            <a:r>
              <a:rPr lang="en-GB" dirty="0">
                <a:solidFill>
                  <a:schemeClr val="tx1"/>
                </a:solidFill>
              </a:rPr>
              <a:t>:</a:t>
            </a:r>
          </a:p>
          <a:p>
            <a:pPr algn="ctr">
              <a:defRPr/>
            </a:pPr>
            <a:endParaRPr lang="en-GB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GB" dirty="0">
                <a:solidFill>
                  <a:schemeClr val="tx1"/>
                </a:solidFill>
              </a:rPr>
              <a:t>1 - </a:t>
            </a:r>
            <a:r>
              <a:rPr lang="en-GB" i="1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35600" y="1349375"/>
            <a:ext cx="2160588" cy="792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</a:rPr>
              <a:t>seropositive:</a:t>
            </a:r>
          </a:p>
          <a:p>
            <a:pPr algn="ctr">
              <a:defRPr/>
            </a:pPr>
            <a:endParaRPr lang="en-GB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GB" i="1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708400" y="1493838"/>
            <a:ext cx="1727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3708400" y="1925638"/>
            <a:ext cx="1727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2" name="TextBox 6"/>
          <p:cNvSpPr txBox="1">
            <a:spLocks noChangeArrowheads="1"/>
          </p:cNvSpPr>
          <p:nvPr/>
        </p:nvSpPr>
        <p:spPr bwMode="auto">
          <a:xfrm>
            <a:off x="4427538" y="1125538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i="1"/>
              <a:t>λ</a:t>
            </a:r>
            <a:endParaRPr lang="en-GB" altLang="en-US" i="1"/>
          </a:p>
        </p:txBody>
      </p:sp>
      <p:sp>
        <p:nvSpPr>
          <p:cNvPr id="45063" name="TextBox 7"/>
          <p:cNvSpPr txBox="1">
            <a:spLocks noChangeArrowheads="1"/>
          </p:cNvSpPr>
          <p:nvPr/>
        </p:nvSpPr>
        <p:spPr bwMode="auto">
          <a:xfrm>
            <a:off x="4427538" y="1916113"/>
            <a:ext cx="360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i="1"/>
              <a:t>ρ</a:t>
            </a:r>
            <a:endParaRPr lang="en-GB" altLang="en-US" i="1"/>
          </a:p>
        </p:txBody>
      </p:sp>
      <p:sp>
        <p:nvSpPr>
          <p:cNvPr id="45064" name="TextBox 8"/>
          <p:cNvSpPr txBox="1">
            <a:spLocks noChangeArrowheads="1"/>
          </p:cNvSpPr>
          <p:nvPr/>
        </p:nvSpPr>
        <p:spPr bwMode="auto">
          <a:xfrm>
            <a:off x="179388" y="2565400"/>
            <a:ext cx="871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Participants seroconvert at rate:</a:t>
            </a:r>
          </a:p>
        </p:txBody>
      </p:sp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>
          <a:off x="4787900" y="2565400"/>
          <a:ext cx="11525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3" name="Equation" r:id="rId3" imgW="533160" imgH="203040" progId="Equation.DSMT4">
                  <p:embed/>
                </p:oleObj>
              </mc:Choice>
              <mc:Fallback>
                <p:oleObj name="Equation" r:id="rId3" imgW="53316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565400"/>
                        <a:ext cx="11525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TextBox 10"/>
          <p:cNvSpPr txBox="1">
            <a:spLocks noChangeArrowheads="1"/>
          </p:cNvSpPr>
          <p:nvPr/>
        </p:nvSpPr>
        <p:spPr bwMode="auto">
          <a:xfrm>
            <a:off x="179388" y="3278188"/>
            <a:ext cx="871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Participants serorevert at rate:</a:t>
            </a:r>
          </a:p>
        </p:txBody>
      </p:sp>
      <p:graphicFrame>
        <p:nvGraphicFramePr>
          <p:cNvPr id="45067" name="Object 11"/>
          <p:cNvGraphicFramePr>
            <a:graphicFrameLocks noChangeAspect="1"/>
          </p:cNvGraphicFramePr>
          <p:nvPr/>
        </p:nvGraphicFramePr>
        <p:xfrm>
          <a:off x="4787900" y="3278188"/>
          <a:ext cx="5492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4" name="Equation" r:id="rId5" imgW="253800" imgH="203040" progId="Equation.DSMT4">
                  <p:embed/>
                </p:oleObj>
              </mc:Choice>
              <mc:Fallback>
                <p:oleObj name="Equation" r:id="rId5" imgW="25380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278188"/>
                        <a:ext cx="5492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8" name="TextBox 12"/>
          <p:cNvSpPr txBox="1">
            <a:spLocks noChangeArrowheads="1"/>
          </p:cNvSpPr>
          <p:nvPr/>
        </p:nvSpPr>
        <p:spPr bwMode="auto">
          <a:xfrm>
            <a:off x="179388" y="4070350"/>
            <a:ext cx="871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Proportion seropositive (</a:t>
            </a:r>
            <a:r>
              <a:rPr lang="en-GB" altLang="en-US" sz="2000" i="1"/>
              <a:t>P</a:t>
            </a:r>
            <a:r>
              <a:rPr lang="en-GB" altLang="en-US" sz="2000"/>
              <a:t>) given by:</a:t>
            </a:r>
          </a:p>
        </p:txBody>
      </p:sp>
      <p:graphicFrame>
        <p:nvGraphicFramePr>
          <p:cNvPr id="45069" name="Object 13"/>
          <p:cNvGraphicFramePr>
            <a:graphicFrameLocks noChangeAspect="1"/>
          </p:cNvGraphicFramePr>
          <p:nvPr/>
        </p:nvGraphicFramePr>
        <p:xfrm>
          <a:off x="4787900" y="3865563"/>
          <a:ext cx="269081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5" name="Equation" r:id="rId7" imgW="1244520" imgH="393480" progId="Equation.DSMT4">
                  <p:embed/>
                </p:oleObj>
              </mc:Choice>
              <mc:Fallback>
                <p:oleObj name="Equation" r:id="rId7" imgW="124452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865563"/>
                        <a:ext cx="269081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0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Catalytic models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47813" y="1349375"/>
            <a:ext cx="2160587" cy="792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 err="1">
                <a:solidFill>
                  <a:schemeClr val="tx1"/>
                </a:solidFill>
              </a:rPr>
              <a:t>seronegative</a:t>
            </a:r>
            <a:r>
              <a:rPr lang="en-GB" dirty="0">
                <a:solidFill>
                  <a:schemeClr val="tx1"/>
                </a:solidFill>
              </a:rPr>
              <a:t>:</a:t>
            </a:r>
          </a:p>
          <a:p>
            <a:pPr algn="ctr">
              <a:defRPr/>
            </a:pPr>
            <a:endParaRPr lang="en-GB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GB" dirty="0">
                <a:solidFill>
                  <a:schemeClr val="tx1"/>
                </a:solidFill>
              </a:rPr>
              <a:t>1 - </a:t>
            </a:r>
            <a:r>
              <a:rPr lang="en-GB" i="1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35600" y="1349375"/>
            <a:ext cx="2160588" cy="792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tx1"/>
                </a:solidFill>
              </a:rPr>
              <a:t>seropositive:</a:t>
            </a:r>
          </a:p>
          <a:p>
            <a:pPr algn="ctr">
              <a:defRPr/>
            </a:pPr>
            <a:endParaRPr lang="en-GB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GB" i="1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708400" y="1493838"/>
            <a:ext cx="1727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3708400" y="1925638"/>
            <a:ext cx="1727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86" name="TextBox 6"/>
          <p:cNvSpPr txBox="1">
            <a:spLocks noChangeArrowheads="1"/>
          </p:cNvSpPr>
          <p:nvPr/>
        </p:nvSpPr>
        <p:spPr bwMode="auto">
          <a:xfrm>
            <a:off x="4427538" y="1125538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i="1"/>
              <a:t>λ</a:t>
            </a:r>
            <a:endParaRPr lang="en-GB" altLang="en-US" i="1"/>
          </a:p>
        </p:txBody>
      </p:sp>
      <p:sp>
        <p:nvSpPr>
          <p:cNvPr id="46087" name="TextBox 7"/>
          <p:cNvSpPr txBox="1">
            <a:spLocks noChangeArrowheads="1"/>
          </p:cNvSpPr>
          <p:nvPr/>
        </p:nvSpPr>
        <p:spPr bwMode="auto">
          <a:xfrm>
            <a:off x="4427538" y="1916113"/>
            <a:ext cx="360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i="1"/>
              <a:t>ρ</a:t>
            </a:r>
            <a:endParaRPr lang="en-GB" altLang="en-US" i="1"/>
          </a:p>
        </p:txBody>
      </p:sp>
      <p:sp>
        <p:nvSpPr>
          <p:cNvPr id="46088" name="TextBox 8"/>
          <p:cNvSpPr txBox="1">
            <a:spLocks noChangeArrowheads="1"/>
          </p:cNvSpPr>
          <p:nvPr/>
        </p:nvSpPr>
        <p:spPr bwMode="auto">
          <a:xfrm>
            <a:off x="179388" y="2565400"/>
            <a:ext cx="871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Participants seroconvert at rate:</a:t>
            </a:r>
          </a:p>
        </p:txBody>
      </p:sp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4787900" y="2565400"/>
          <a:ext cx="11525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6" name="Equation" r:id="rId3" imgW="533160" imgH="203040" progId="Equation.DSMT4">
                  <p:embed/>
                </p:oleObj>
              </mc:Choice>
              <mc:Fallback>
                <p:oleObj name="Equation" r:id="rId3" imgW="53316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565400"/>
                        <a:ext cx="11525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0" name="TextBox 10"/>
          <p:cNvSpPr txBox="1">
            <a:spLocks noChangeArrowheads="1"/>
          </p:cNvSpPr>
          <p:nvPr/>
        </p:nvSpPr>
        <p:spPr bwMode="auto">
          <a:xfrm>
            <a:off x="179388" y="3278188"/>
            <a:ext cx="871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Participants serorevert at rate:</a:t>
            </a:r>
          </a:p>
        </p:txBody>
      </p:sp>
      <p:graphicFrame>
        <p:nvGraphicFramePr>
          <p:cNvPr id="46091" name="Object 11"/>
          <p:cNvGraphicFramePr>
            <a:graphicFrameLocks noChangeAspect="1"/>
          </p:cNvGraphicFramePr>
          <p:nvPr/>
        </p:nvGraphicFramePr>
        <p:xfrm>
          <a:off x="4787900" y="3278188"/>
          <a:ext cx="5492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7" name="Equation" r:id="rId5" imgW="253800" imgH="203040" progId="Equation.DSMT4">
                  <p:embed/>
                </p:oleObj>
              </mc:Choice>
              <mc:Fallback>
                <p:oleObj name="Equation" r:id="rId5" imgW="25380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278188"/>
                        <a:ext cx="5492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2" name="TextBox 12"/>
          <p:cNvSpPr txBox="1">
            <a:spLocks noChangeArrowheads="1"/>
          </p:cNvSpPr>
          <p:nvPr/>
        </p:nvSpPr>
        <p:spPr bwMode="auto">
          <a:xfrm>
            <a:off x="179388" y="4070350"/>
            <a:ext cx="871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Proportion seropositive (</a:t>
            </a:r>
            <a:r>
              <a:rPr lang="en-GB" altLang="en-US" sz="2000" i="1"/>
              <a:t>P</a:t>
            </a:r>
            <a:r>
              <a:rPr lang="en-GB" altLang="en-US" sz="2000"/>
              <a:t>) given by:</a:t>
            </a:r>
          </a:p>
        </p:txBody>
      </p:sp>
      <p:graphicFrame>
        <p:nvGraphicFramePr>
          <p:cNvPr id="46093" name="Object 13"/>
          <p:cNvGraphicFramePr>
            <a:graphicFrameLocks noChangeAspect="1"/>
          </p:cNvGraphicFramePr>
          <p:nvPr/>
        </p:nvGraphicFramePr>
        <p:xfrm>
          <a:off x="4787900" y="3865563"/>
          <a:ext cx="269081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8" name="Equation" r:id="rId7" imgW="1244520" imgH="393480" progId="Equation.DSMT4">
                  <p:embed/>
                </p:oleObj>
              </mc:Choice>
              <mc:Fallback>
                <p:oleObj name="Equation" r:id="rId7" imgW="124452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865563"/>
                        <a:ext cx="269081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4" name="TextBox 14"/>
          <p:cNvSpPr txBox="1">
            <a:spLocks noChangeArrowheads="1"/>
          </p:cNvSpPr>
          <p:nvPr/>
        </p:nvSpPr>
        <p:spPr bwMode="auto">
          <a:xfrm>
            <a:off x="179388" y="5016500"/>
            <a:ext cx="8713787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/>
              <a:t>which can be solved to give:</a:t>
            </a:r>
          </a:p>
        </p:txBody>
      </p:sp>
      <p:graphicFrame>
        <p:nvGraphicFramePr>
          <p:cNvPr id="46095" name="Object 15"/>
          <p:cNvGraphicFramePr>
            <a:graphicFrameLocks noChangeAspect="1"/>
          </p:cNvGraphicFramePr>
          <p:nvPr/>
        </p:nvGraphicFramePr>
        <p:xfrm>
          <a:off x="4778375" y="4784725"/>
          <a:ext cx="332263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9" name="Equation" r:id="rId9" imgW="1536480" imgH="419040" progId="Equation.DSMT4">
                  <p:embed/>
                </p:oleObj>
              </mc:Choice>
              <mc:Fallback>
                <p:oleObj name="Equation" r:id="rId9" imgW="1536480" imgH="4190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4784725"/>
                        <a:ext cx="3322638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6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Catalytic models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50950"/>
            <a:ext cx="8532812" cy="51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7107" name="Object 1"/>
          <p:cNvGraphicFramePr>
            <a:graphicFrameLocks noChangeAspect="1"/>
          </p:cNvGraphicFramePr>
          <p:nvPr/>
        </p:nvGraphicFramePr>
        <p:xfrm>
          <a:off x="4148138" y="4424363"/>
          <a:ext cx="3322637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Equation" r:id="rId4" imgW="1536700" imgH="419100" progId="Equation.DSMT4">
                  <p:embed/>
                </p:oleObj>
              </mc:Choice>
              <mc:Fallback>
                <p:oleObj name="Equation" r:id="rId4" imgW="15367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138" y="4424363"/>
                        <a:ext cx="3322637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Catalytic models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50950"/>
            <a:ext cx="8532812" cy="51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TextBox 1"/>
          <p:cNvSpPr txBox="1">
            <a:spLocks noChangeArrowheads="1"/>
          </p:cNvSpPr>
          <p:nvPr/>
        </p:nvSpPr>
        <p:spPr bwMode="auto">
          <a:xfrm>
            <a:off x="3079750" y="6378575"/>
            <a:ext cx="3756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/>
              <a:t>λ</a:t>
            </a:r>
            <a:r>
              <a:rPr lang="en-GB" altLang="en-US"/>
              <a:t> = 0.13,  </a:t>
            </a:r>
            <a:r>
              <a:rPr lang="el-GR" altLang="en-US"/>
              <a:t>ρ</a:t>
            </a:r>
            <a:r>
              <a:rPr lang="en-GB" altLang="en-US"/>
              <a:t> = 0.06</a:t>
            </a:r>
          </a:p>
        </p:txBody>
      </p:sp>
      <p:sp>
        <p:nvSpPr>
          <p:cNvPr id="48132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in parameters of catalytic models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50950"/>
            <a:ext cx="8532812" cy="51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TextBox 3"/>
          <p:cNvSpPr txBox="1">
            <a:spLocks noChangeArrowheads="1"/>
          </p:cNvSpPr>
          <p:nvPr/>
        </p:nvSpPr>
        <p:spPr bwMode="auto">
          <a:xfrm>
            <a:off x="3079750" y="6378575"/>
            <a:ext cx="3756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/>
              <a:t>λ</a:t>
            </a:r>
            <a:r>
              <a:rPr lang="en-GB" altLang="en-US"/>
              <a:t> = 0.12,  </a:t>
            </a:r>
            <a:r>
              <a:rPr lang="el-GR" altLang="en-US"/>
              <a:t>ρ</a:t>
            </a:r>
            <a:r>
              <a:rPr lang="en-GB" altLang="en-US"/>
              <a:t> = 0.05</a:t>
            </a:r>
          </a:p>
        </p:txBody>
      </p:sp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in parameters of catalytic models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50950"/>
            <a:ext cx="8532812" cy="51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TextBox 3"/>
          <p:cNvSpPr txBox="1">
            <a:spLocks noChangeArrowheads="1"/>
          </p:cNvSpPr>
          <p:nvPr/>
        </p:nvSpPr>
        <p:spPr bwMode="auto">
          <a:xfrm>
            <a:off x="3079750" y="6378575"/>
            <a:ext cx="3756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/>
              <a:t>λ</a:t>
            </a:r>
            <a:r>
              <a:rPr lang="en-GB" altLang="en-US"/>
              <a:t> = 0.14,  </a:t>
            </a:r>
            <a:r>
              <a:rPr lang="el-GR" altLang="en-US"/>
              <a:t>ρ</a:t>
            </a:r>
            <a:r>
              <a:rPr lang="en-GB" altLang="en-US"/>
              <a:t> = 0.07</a:t>
            </a: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in parameters of catalytic models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50950"/>
            <a:ext cx="8532812" cy="51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TextBox 3"/>
          <p:cNvSpPr txBox="1">
            <a:spLocks noChangeArrowheads="1"/>
          </p:cNvSpPr>
          <p:nvPr/>
        </p:nvSpPr>
        <p:spPr bwMode="auto">
          <a:xfrm>
            <a:off x="3079750" y="6378575"/>
            <a:ext cx="3756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/>
              <a:t>λ</a:t>
            </a:r>
            <a:r>
              <a:rPr lang="en-GB" altLang="en-US"/>
              <a:t> = 0.39,  </a:t>
            </a:r>
            <a:r>
              <a:rPr lang="el-GR" altLang="en-US"/>
              <a:t>ρ</a:t>
            </a:r>
            <a:r>
              <a:rPr lang="en-GB" altLang="en-US"/>
              <a:t> = 0.05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in parameters of catalytic models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50950"/>
            <a:ext cx="8532812" cy="51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TextBox 3"/>
          <p:cNvSpPr txBox="1">
            <a:spLocks noChangeArrowheads="1"/>
          </p:cNvSpPr>
          <p:nvPr/>
        </p:nvSpPr>
        <p:spPr bwMode="auto">
          <a:xfrm>
            <a:off x="3079750" y="6378575"/>
            <a:ext cx="3756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/>
              <a:t>λ</a:t>
            </a:r>
            <a:r>
              <a:rPr lang="en-GB" altLang="en-US"/>
              <a:t> = 0.03,  </a:t>
            </a:r>
            <a:r>
              <a:rPr lang="el-GR" altLang="en-US"/>
              <a:t>ρ</a:t>
            </a:r>
            <a:r>
              <a:rPr lang="en-GB" altLang="en-US"/>
              <a:t> = 0.10</a:t>
            </a: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in parameters of catalytic models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438275"/>
            <a:ext cx="8532812" cy="512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431800" y="27463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0033CC"/>
                </a:solidFill>
              </a:rPr>
              <a:t>Uncertainty in parameters of catalytic models</a:t>
            </a:r>
          </a:p>
        </p:txBody>
      </p:sp>
      <p:sp>
        <p:nvSpPr>
          <p:cNvPr id="53252" name="TextBox 1"/>
          <p:cNvSpPr txBox="1">
            <a:spLocks noChangeArrowheads="1"/>
          </p:cNvSpPr>
          <p:nvPr/>
        </p:nvSpPr>
        <p:spPr bwMode="auto">
          <a:xfrm>
            <a:off x="719138" y="1371600"/>
            <a:ext cx="7810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b="1"/>
              <a:t>Profile likelihood plots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17517</TotalTime>
  <Words>1985</Words>
  <Application>Microsoft Macintosh PowerPoint</Application>
  <PresentationFormat>On-screen Show (4:3)</PresentationFormat>
  <Paragraphs>448</Paragraphs>
  <Slides>54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Calibri</vt:lpstr>
      <vt:lpstr>Symbol</vt:lpstr>
      <vt:lpstr>Times New Roman</vt:lpstr>
      <vt:lpstr>Arial</vt:lpstr>
      <vt:lpstr>Custom Design</vt:lpstr>
      <vt:lpstr>Chart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Imperial College Faculty of Medicine</Company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models</dc:title>
  <dc:creator>Neil Ferguson, Deirdre Hollingsworth</dc:creator>
  <cp:lastModifiedBy>Microsoft Office User</cp:lastModifiedBy>
  <cp:revision>334</cp:revision>
  <dcterms:created xsi:type="dcterms:W3CDTF">2001-03-21T10:54:00Z</dcterms:created>
  <dcterms:modified xsi:type="dcterms:W3CDTF">2017-11-29T09:24:41Z</dcterms:modified>
</cp:coreProperties>
</file>